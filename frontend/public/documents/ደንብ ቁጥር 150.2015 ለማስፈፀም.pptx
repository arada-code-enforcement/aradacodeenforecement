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260" r:id="rId9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4660"/>
  </p:normalViewPr>
  <p:slideViewPr>
    <p:cSldViewPr>
      <p:cViewPr varScale="1">
        <p:scale>
          <a:sx n="67" d="100"/>
          <a:sy n="67" d="100"/>
        </p:scale>
        <p:origin x="-146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hape102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38137"/>
            <a:ext cx="1600200" cy="1516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shape102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39000" y="457199"/>
            <a:ext cx="1583690" cy="113728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Oval 6"/>
          <p:cNvSpPr/>
          <p:nvPr/>
        </p:nvSpPr>
        <p:spPr>
          <a:xfrm>
            <a:off x="1981200" y="254316"/>
            <a:ext cx="5257800" cy="248888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1000"/>
              </a:spcAft>
              <a:tabLst>
                <a:tab pos="4010025" algn="l"/>
              </a:tabLst>
            </a:pPr>
            <a:r>
              <a:rPr lang="en-US" sz="2400" b="1" dirty="0" err="1">
                <a:latin typeface="Power Geez Unicode1"/>
                <a:ea typeface="Times New Roman"/>
                <a:cs typeface="Times New Roman"/>
              </a:rPr>
              <a:t>በአዲስ</a:t>
            </a:r>
            <a:r>
              <a:rPr lang="en-US" sz="24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Power Geez Unicode1"/>
                <a:ea typeface="Times New Roman"/>
                <a:cs typeface="Times New Roman"/>
              </a:rPr>
              <a:t>አበባ</a:t>
            </a:r>
            <a:r>
              <a:rPr lang="en-US" sz="24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Power Geez Unicode1"/>
                <a:ea typeface="Times New Roman"/>
                <a:cs typeface="Times New Roman"/>
              </a:rPr>
              <a:t>ከተማ</a:t>
            </a:r>
            <a:r>
              <a:rPr lang="en-US" sz="24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Power Geez Unicode1"/>
                <a:ea typeface="Times New Roman"/>
                <a:cs typeface="Times New Roman"/>
              </a:rPr>
              <a:t>አስተዳደር</a:t>
            </a:r>
            <a:endParaRPr lang="en-US" sz="1200" dirty="0">
              <a:ea typeface="Calibri"/>
              <a:cs typeface="Arial"/>
            </a:endParaRPr>
          </a:p>
          <a:p>
            <a:pPr algn="ctr">
              <a:lnSpc>
                <a:spcPct val="150000"/>
              </a:lnSpc>
              <a:spcAft>
                <a:spcPts val="1000"/>
              </a:spcAft>
              <a:tabLst>
                <a:tab pos="680720" algn="l"/>
                <a:tab pos="3143250" algn="ctr"/>
                <a:tab pos="4010025" algn="l"/>
              </a:tabLst>
            </a:pPr>
            <a:r>
              <a:rPr lang="en-US" sz="2400" b="1" dirty="0" err="1">
                <a:latin typeface="Power Geez Unicode1"/>
                <a:ea typeface="Times New Roman"/>
                <a:cs typeface="Times New Roman"/>
              </a:rPr>
              <a:t>የደንብ</a:t>
            </a:r>
            <a:r>
              <a:rPr lang="en-US" sz="24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Power Geez Unicode1"/>
                <a:ea typeface="Times New Roman"/>
                <a:cs typeface="Times New Roman"/>
              </a:rPr>
              <a:t>ማስከበር</a:t>
            </a:r>
            <a:r>
              <a:rPr lang="en-US" sz="24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Power Geez Unicode1"/>
                <a:ea typeface="Times New Roman"/>
                <a:cs typeface="Times New Roman"/>
              </a:rPr>
              <a:t>ባለስልጣን</a:t>
            </a:r>
            <a:endParaRPr lang="en-US" sz="1200" dirty="0">
              <a:ea typeface="Calibri"/>
              <a:cs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38200" y="2743200"/>
            <a:ext cx="7772400" cy="35052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1000"/>
              </a:spcAft>
              <a:tabLst>
                <a:tab pos="680720" algn="l"/>
                <a:tab pos="3143250" algn="ctr"/>
                <a:tab pos="4010025" algn="l"/>
              </a:tabLst>
            </a:pPr>
            <a:r>
              <a:rPr lang="en-US" sz="3600" b="1" dirty="0" err="1">
                <a:solidFill>
                  <a:srgbClr val="FFFF00"/>
                </a:solidFill>
                <a:latin typeface="Power Geez Unicode1"/>
                <a:ea typeface="Times New Roman"/>
                <a:cs typeface="Times New Roman"/>
              </a:rPr>
              <a:t>ደንብ</a:t>
            </a:r>
            <a:r>
              <a:rPr lang="en-US" sz="3600" b="1" dirty="0">
                <a:solidFill>
                  <a:srgbClr val="FFFF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600" b="1" dirty="0" err="1">
                <a:solidFill>
                  <a:srgbClr val="FFFF00"/>
                </a:solidFill>
                <a:latin typeface="Power Geez Unicode1"/>
                <a:ea typeface="Times New Roman"/>
                <a:cs typeface="Times New Roman"/>
              </a:rPr>
              <a:t>ቁጥር</a:t>
            </a:r>
            <a:r>
              <a:rPr lang="en-US" sz="3600" b="1" dirty="0">
                <a:solidFill>
                  <a:srgbClr val="FFFF00"/>
                </a:solidFill>
                <a:latin typeface="Power Geez Unicode1"/>
                <a:ea typeface="Times New Roman"/>
                <a:cs typeface="Times New Roman"/>
              </a:rPr>
              <a:t> 150/2015 </a:t>
            </a:r>
            <a:r>
              <a:rPr lang="en-US" sz="3600" b="1" dirty="0" err="1">
                <a:solidFill>
                  <a:srgbClr val="FFFF00"/>
                </a:solidFill>
                <a:latin typeface="Power Geez Unicode1"/>
                <a:ea typeface="Times New Roman"/>
                <a:cs typeface="Times New Roman"/>
              </a:rPr>
              <a:t>ለማስፈፀም</a:t>
            </a:r>
            <a:r>
              <a:rPr lang="en-US" sz="3600" b="1" dirty="0">
                <a:solidFill>
                  <a:srgbClr val="FFFF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600" b="1" dirty="0" err="1">
                <a:solidFill>
                  <a:srgbClr val="FFFF00"/>
                </a:solidFill>
                <a:latin typeface="Power Geez Unicode1"/>
                <a:ea typeface="Times New Roman"/>
                <a:cs typeface="Times New Roman"/>
              </a:rPr>
              <a:t>የወጣ</a:t>
            </a:r>
            <a:endParaRPr lang="en-US" b="1" dirty="0">
              <a:solidFill>
                <a:srgbClr val="FFFF00"/>
              </a:solidFill>
              <a:ea typeface="Calibri"/>
              <a:cs typeface="Arial"/>
            </a:endParaRPr>
          </a:p>
          <a:p>
            <a:pPr algn="ctr"/>
            <a:r>
              <a:rPr lang="en-US" sz="3600" b="1" dirty="0" err="1">
                <a:solidFill>
                  <a:srgbClr val="FFFF00"/>
                </a:solidFill>
                <a:latin typeface="Power Geez Unicode1"/>
                <a:ea typeface="Times New Roman"/>
                <a:cs typeface="Times New Roman"/>
              </a:rPr>
              <a:t>የአፈፃፀም</a:t>
            </a:r>
            <a:r>
              <a:rPr lang="en-US" sz="3600" b="1" dirty="0">
                <a:solidFill>
                  <a:srgbClr val="FFFF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600" b="1" dirty="0" err="1">
                <a:solidFill>
                  <a:srgbClr val="FFFF00"/>
                </a:solidFill>
                <a:latin typeface="Power Geez Unicode1"/>
                <a:ea typeface="Times New Roman"/>
                <a:cs typeface="Times New Roman"/>
              </a:rPr>
              <a:t>መመሪያ</a:t>
            </a:r>
            <a:r>
              <a:rPr lang="en-US" sz="3600" b="1" dirty="0">
                <a:solidFill>
                  <a:srgbClr val="FFFF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600" b="1" dirty="0" err="1">
                <a:solidFill>
                  <a:srgbClr val="FFFF00"/>
                </a:solidFill>
                <a:latin typeface="Power Geez Unicode1"/>
                <a:ea typeface="Times New Roman"/>
                <a:cs typeface="Times New Roman"/>
              </a:rPr>
              <a:t>ቁጥር</a:t>
            </a:r>
            <a:r>
              <a:rPr lang="en-US" sz="3600" b="1" dirty="0">
                <a:solidFill>
                  <a:srgbClr val="FFFF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600" b="1" dirty="0" smtClean="0">
                <a:solidFill>
                  <a:srgbClr val="FFFF00"/>
                </a:solidFill>
                <a:latin typeface="Power Geez Unicode1"/>
                <a:ea typeface="Times New Roman"/>
                <a:cs typeface="Times New Roman"/>
              </a:rPr>
              <a:t>02/2015 </a:t>
            </a:r>
            <a:endParaRPr lang="en-US" sz="36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599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  <a:tabLst>
                <a:tab pos="4010025" algn="l"/>
              </a:tabLst>
            </a:pPr>
            <a:r>
              <a:rPr lang="en-US" sz="3200" b="1" dirty="0" smtClean="0">
                <a:latin typeface="Power Geez Unicode1"/>
                <a:ea typeface="Times New Roman"/>
                <a:cs typeface="Times New Roman"/>
              </a:rPr>
              <a:t/>
            </a:r>
            <a:br>
              <a:rPr lang="en-US" sz="3200" b="1" dirty="0" smtClean="0">
                <a:latin typeface="Power Geez Unicode1"/>
                <a:ea typeface="Times New Roman"/>
                <a:cs typeface="Times New Roman"/>
              </a:rPr>
            </a:br>
            <a:r>
              <a:rPr lang="en-US" sz="3200" b="1" dirty="0" err="1" smtClean="0">
                <a:latin typeface="Power Geez Unicode1"/>
                <a:ea typeface="Times New Roman"/>
                <a:cs typeface="Times New Roman"/>
              </a:rPr>
              <a:t>መግቢያ</a:t>
            </a:r>
            <a:r>
              <a:rPr lang="en-US" sz="2800" dirty="0">
                <a:ea typeface="Calibri"/>
                <a:cs typeface="Arial"/>
              </a:rPr>
              <a:t/>
            </a:r>
            <a:br>
              <a:rPr lang="en-US" sz="2800" dirty="0">
                <a:ea typeface="Calibri"/>
                <a:cs typeface="Arial"/>
              </a:rPr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50000"/>
              </a:lnSpc>
              <a:spcAft>
                <a:spcPts val="1000"/>
              </a:spcAft>
              <a:buNone/>
              <a:tabLst>
                <a:tab pos="4010025" algn="l"/>
              </a:tabLst>
            </a:pPr>
            <a:r>
              <a:rPr lang="en-US" dirty="0" err="1">
                <a:latin typeface="Power Geez Unicode1"/>
                <a:ea typeface="Times New Roman"/>
                <a:cs typeface="Times New Roman"/>
              </a:rPr>
              <a:t>የአዲስ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አበባ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ከተማ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አስተዳደር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አስፈጻሚ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አካላትን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እንደገና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ለማቋቋም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ባወጣው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Power Geez Unicode1"/>
                <a:ea typeface="Times New Roman"/>
                <a:cs typeface="Times New Roman"/>
              </a:rPr>
              <a:t>አዋጅ</a:t>
            </a:r>
            <a:r>
              <a:rPr lang="en-US" dirty="0">
                <a:solidFill>
                  <a:srgbClr val="0070C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Power Geez Unicode1"/>
                <a:ea typeface="Times New Roman"/>
                <a:cs typeface="Times New Roman"/>
              </a:rPr>
              <a:t>ቁጥር</a:t>
            </a:r>
            <a:r>
              <a:rPr lang="en-US" dirty="0">
                <a:solidFill>
                  <a:srgbClr val="0070C0"/>
                </a:solidFill>
                <a:latin typeface="Power Geez Unicode1"/>
                <a:ea typeface="Times New Roman"/>
                <a:cs typeface="Times New Roman"/>
              </a:rPr>
              <a:t> 74/2014 </a:t>
            </a:r>
            <a:r>
              <a:rPr lang="en-US" dirty="0" err="1">
                <a:solidFill>
                  <a:srgbClr val="0070C0"/>
                </a:solidFill>
                <a:latin typeface="Power Geez Unicode1"/>
                <a:ea typeface="Times New Roman"/>
                <a:cs typeface="Times New Roman"/>
              </a:rPr>
              <a:t>አንቀጽ</a:t>
            </a:r>
            <a:r>
              <a:rPr lang="en-US" dirty="0">
                <a:solidFill>
                  <a:srgbClr val="0070C0"/>
                </a:solidFill>
                <a:latin typeface="Power Geez Unicode1"/>
                <a:ea typeface="Times New Roman"/>
                <a:cs typeface="Times New Roman"/>
              </a:rPr>
              <a:t> 47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መሰረት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ደንብ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ማስከበር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ባለስልጣን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ሆኖ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የተቋቋመ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ሲሆን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ስራውን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ወጥ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ግልጽና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ተጠያቂነት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በሰፈነበት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ሁኔታ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ለማከናወን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የሚያስችለውን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የአሰራር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ስርዓት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መዘርጋት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አስፈለጊ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ሆኖ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በመገኘቱ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፤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ደንብ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መተላለፍን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ለመከላከል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ለመቆጣጠር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፣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እርምጃ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ለመውሰድ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እና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ለማስወሰድ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የወጣው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ደንብ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ቁጥር150/2015ን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ለማስፈፀም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እንዲያመች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በዚሁ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ደንብ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አንቀጽ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57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በተደነገገው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መሰረት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ባለስልጣኑ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ደንቡን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ለማስፈፀም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የሚያስችለውን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ይህንን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የአፈፃፀም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መመሪያ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አውጥ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SimSun"/>
                <a:cs typeface="SimSun"/>
              </a:rPr>
              <a:t>ቷ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ል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፡፡</a:t>
            </a:r>
            <a:endParaRPr lang="en-US" sz="2800" dirty="0">
              <a:solidFill>
                <a:srgbClr val="FF0000"/>
              </a:solidFill>
              <a:ea typeface="Calibri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839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4010025" algn="l"/>
              </a:tabLst>
            </a:pPr>
            <a:r>
              <a:rPr lang="en-US" sz="3200" b="1" dirty="0" err="1">
                <a:latin typeface="Power Geez Unicode1"/>
                <a:ea typeface="Times New Roman"/>
                <a:cs typeface="Times New Roman"/>
              </a:rPr>
              <a:t>ክፍል</a:t>
            </a:r>
            <a:r>
              <a:rPr lang="en-US" sz="32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200" b="1" dirty="0" err="1">
                <a:latin typeface="Power Geez Unicode1"/>
                <a:ea typeface="Times New Roman"/>
                <a:cs typeface="Times New Roman"/>
              </a:rPr>
              <a:t>አንድ</a:t>
            </a:r>
            <a:r>
              <a:rPr lang="en-US" sz="2800" dirty="0">
                <a:ea typeface="Calibri"/>
                <a:cs typeface="Arial"/>
              </a:rPr>
              <a:t/>
            </a:r>
            <a:br>
              <a:rPr lang="en-US" sz="2800" dirty="0">
                <a:ea typeface="Calibri"/>
                <a:cs typeface="Arial"/>
              </a:rPr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 algn="ctr">
              <a:buNone/>
            </a:pPr>
            <a:r>
              <a:rPr lang="en-US" b="1" dirty="0" err="1" smtClean="0">
                <a:latin typeface="Power Geez Unicode1"/>
                <a:ea typeface="Times New Roman"/>
                <a:cs typeface="Times New Roman"/>
              </a:rPr>
              <a:t>ጠቅላላ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 smtClean="0">
                <a:latin typeface="Power Geez Unicode1"/>
                <a:ea typeface="Times New Roman"/>
                <a:cs typeface="Times New Roman"/>
              </a:rPr>
              <a:t>ድንጋጌ</a:t>
            </a:r>
            <a:r>
              <a:rPr lang="en-US" sz="2800" dirty="0" smtClean="0">
                <a:ea typeface="Calibri"/>
                <a:cs typeface="Arial"/>
              </a:rPr>
              <a:t/>
            </a:r>
            <a:br>
              <a:rPr lang="en-US" sz="2800" dirty="0" smtClean="0">
                <a:ea typeface="Calibri"/>
                <a:cs typeface="Arial"/>
              </a:rPr>
            </a:br>
            <a:r>
              <a:rPr lang="en-US" b="1" dirty="0" err="1" smtClean="0">
                <a:latin typeface="Power Geez Unicode1"/>
                <a:ea typeface="Times New Roman"/>
                <a:cs typeface="Nyala"/>
              </a:rPr>
              <a:t>አ</a:t>
            </a:r>
            <a:r>
              <a:rPr lang="en-US" b="1" dirty="0" err="1" smtClean="0">
                <a:latin typeface="Power Geez Unicode1"/>
                <a:ea typeface="Times New Roman"/>
                <a:cs typeface="Times New Roman"/>
              </a:rPr>
              <a:t>ጭር</a:t>
            </a:r>
            <a:r>
              <a:rPr lang="en-US" b="1" dirty="0" smtClean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 smtClean="0">
                <a:latin typeface="Power Geez Unicode1"/>
                <a:ea typeface="Times New Roman"/>
                <a:cs typeface="Times New Roman"/>
              </a:rPr>
              <a:t>ርዕስ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>
                <a:latin typeface="Power Geez Unicode1" pitchFamily="2" charset="0"/>
              </a:rPr>
              <a:t>ይህ</a:t>
            </a:r>
            <a:r>
              <a:rPr lang="en-US" dirty="0">
                <a:latin typeface="Power Geez Unicode1" pitchFamily="2" charset="0"/>
              </a:rPr>
              <a:t> </a:t>
            </a:r>
            <a:r>
              <a:rPr lang="en-US" dirty="0" err="1">
                <a:latin typeface="Power Geez Unicode1" pitchFamily="2" charset="0"/>
              </a:rPr>
              <a:t>መመሪያ</a:t>
            </a:r>
            <a:r>
              <a:rPr lang="en-US" dirty="0">
                <a:latin typeface="Power Geez Unicode1" pitchFamily="2" charset="0"/>
              </a:rPr>
              <a:t> </a:t>
            </a:r>
            <a:r>
              <a:rPr lang="en-US" dirty="0" err="1">
                <a:latin typeface="Power Geez Unicode1" pitchFamily="2" charset="0"/>
              </a:rPr>
              <a:t>በአዲስ</a:t>
            </a:r>
            <a:r>
              <a:rPr lang="en-US" dirty="0">
                <a:latin typeface="Power Geez Unicode1" pitchFamily="2" charset="0"/>
              </a:rPr>
              <a:t> </a:t>
            </a:r>
            <a:r>
              <a:rPr lang="en-US" dirty="0" err="1">
                <a:latin typeface="Power Geez Unicode1" pitchFamily="2" charset="0"/>
              </a:rPr>
              <a:t>አበባ</a:t>
            </a:r>
            <a:r>
              <a:rPr lang="en-US" dirty="0">
                <a:latin typeface="Power Geez Unicode1" pitchFamily="2" charset="0"/>
              </a:rPr>
              <a:t> </a:t>
            </a:r>
            <a:r>
              <a:rPr lang="en-US" dirty="0" err="1">
                <a:latin typeface="Power Geez Unicode1" pitchFamily="2" charset="0"/>
              </a:rPr>
              <a:t>ከተማ</a:t>
            </a:r>
            <a:r>
              <a:rPr lang="en-US" dirty="0">
                <a:latin typeface="Power Geez Unicode1" pitchFamily="2" charset="0"/>
              </a:rPr>
              <a:t> </a:t>
            </a:r>
            <a:r>
              <a:rPr lang="en-US" dirty="0" err="1">
                <a:latin typeface="Power Geez Unicode1" pitchFamily="2" charset="0"/>
              </a:rPr>
              <a:t>አስተዳደር</a:t>
            </a:r>
            <a:r>
              <a:rPr lang="en-US" dirty="0">
                <a:latin typeface="Power Geez Unicode1" pitchFamily="2" charset="0"/>
              </a:rPr>
              <a:t> </a:t>
            </a:r>
            <a:r>
              <a:rPr lang="en-US" dirty="0" err="1">
                <a:latin typeface="Power Geez Unicode1" pitchFamily="2" charset="0"/>
              </a:rPr>
              <a:t>ውስጥ</a:t>
            </a:r>
            <a:r>
              <a:rPr lang="en-US" dirty="0">
                <a:latin typeface="Power Geez Unicode1" pitchFamily="2" charset="0"/>
              </a:rPr>
              <a:t> </a:t>
            </a:r>
            <a:r>
              <a:rPr lang="en-US" dirty="0" err="1">
                <a:latin typeface="Power Geez Unicode1" pitchFamily="2" charset="0"/>
              </a:rPr>
              <a:t>የሚፈፀሙ</a:t>
            </a:r>
            <a:r>
              <a:rPr lang="en-US" dirty="0">
                <a:latin typeface="Power Geez Unicode1" pitchFamily="2" charset="0"/>
              </a:rPr>
              <a:t> </a:t>
            </a:r>
            <a:r>
              <a:rPr lang="en-US" dirty="0" err="1">
                <a:latin typeface="Power Geez Unicode1" pitchFamily="2" charset="0"/>
              </a:rPr>
              <a:t>የደንብ</a:t>
            </a:r>
            <a:r>
              <a:rPr lang="en-US" dirty="0">
                <a:latin typeface="Power Geez Unicode1" pitchFamily="2" charset="0"/>
              </a:rPr>
              <a:t> </a:t>
            </a:r>
            <a:r>
              <a:rPr lang="en-US" dirty="0" err="1">
                <a:latin typeface="Power Geez Unicode1" pitchFamily="2" charset="0"/>
              </a:rPr>
              <a:t>መተላለፍና</a:t>
            </a:r>
            <a:r>
              <a:rPr lang="en-US" dirty="0">
                <a:latin typeface="Power Geez Unicode1" pitchFamily="2" charset="0"/>
              </a:rPr>
              <a:t> </a:t>
            </a:r>
            <a:r>
              <a:rPr lang="en-US" dirty="0" err="1">
                <a:latin typeface="Power Geez Unicode1" pitchFamily="2" charset="0"/>
              </a:rPr>
              <a:t>ተያያዥ</a:t>
            </a:r>
            <a:r>
              <a:rPr lang="en-US" dirty="0">
                <a:latin typeface="Power Geez Unicode1" pitchFamily="2" charset="0"/>
              </a:rPr>
              <a:t> </a:t>
            </a:r>
            <a:r>
              <a:rPr lang="en-US" dirty="0" err="1">
                <a:latin typeface="Power Geez Unicode1" pitchFamily="2" charset="0"/>
              </a:rPr>
              <a:t>ህገወጥ</a:t>
            </a:r>
            <a:r>
              <a:rPr lang="en-US" dirty="0">
                <a:latin typeface="Power Geez Unicode1" pitchFamily="2" charset="0"/>
              </a:rPr>
              <a:t> </a:t>
            </a:r>
            <a:r>
              <a:rPr lang="en-US" dirty="0" err="1">
                <a:latin typeface="Power Geez Unicode1" pitchFamily="2" charset="0"/>
              </a:rPr>
              <a:t>ተግባራትን</a:t>
            </a:r>
            <a:r>
              <a:rPr lang="en-US" dirty="0">
                <a:latin typeface="Power Geez Unicode1" pitchFamily="2" charset="0"/>
              </a:rPr>
              <a:t> </a:t>
            </a:r>
            <a:r>
              <a:rPr lang="en-US" dirty="0" err="1">
                <a:latin typeface="Power Geez Unicode1" pitchFamily="2" charset="0"/>
              </a:rPr>
              <a:t>ለመከላከል</a:t>
            </a:r>
            <a:r>
              <a:rPr lang="en-US" dirty="0">
                <a:latin typeface="Power Geez Unicode1" pitchFamily="2" charset="0"/>
              </a:rPr>
              <a:t> </a:t>
            </a:r>
            <a:r>
              <a:rPr lang="en-US" dirty="0" err="1">
                <a:latin typeface="Power Geez Unicode1" pitchFamily="2" charset="0"/>
              </a:rPr>
              <a:t>ለመቆጣጠርና</a:t>
            </a:r>
            <a:r>
              <a:rPr lang="en-US" dirty="0">
                <a:latin typeface="Power Geez Unicode1" pitchFamily="2" charset="0"/>
              </a:rPr>
              <a:t> </a:t>
            </a:r>
            <a:r>
              <a:rPr lang="en-US" dirty="0" err="1">
                <a:latin typeface="Power Geez Unicode1" pitchFamily="2" charset="0"/>
              </a:rPr>
              <a:t>እርምጃ</a:t>
            </a:r>
            <a:r>
              <a:rPr lang="en-US" dirty="0">
                <a:latin typeface="Power Geez Unicode1" pitchFamily="2" charset="0"/>
              </a:rPr>
              <a:t> </a:t>
            </a:r>
            <a:r>
              <a:rPr lang="en-US" dirty="0" err="1">
                <a:latin typeface="Power Geez Unicode1" pitchFamily="2" charset="0"/>
              </a:rPr>
              <a:t>ለመውሰድ</a:t>
            </a:r>
            <a:r>
              <a:rPr lang="en-US" dirty="0">
                <a:latin typeface="Power Geez Unicode1" pitchFamily="2" charset="0"/>
              </a:rPr>
              <a:t> </a:t>
            </a:r>
            <a:r>
              <a:rPr lang="en-US" dirty="0" err="1">
                <a:latin typeface="Power Geez Unicode1" pitchFamily="2" charset="0"/>
              </a:rPr>
              <a:t>የወጣ</a:t>
            </a:r>
            <a:r>
              <a:rPr lang="en-US" dirty="0">
                <a:latin typeface="Power Geez Unicode1" pitchFamily="2" charset="0"/>
              </a:rPr>
              <a:t> </a:t>
            </a:r>
            <a:r>
              <a:rPr lang="en-US" dirty="0" err="1">
                <a:latin typeface="Power Geez Unicode1" pitchFamily="2" charset="0"/>
              </a:rPr>
              <a:t>የአፈጻጸም</a:t>
            </a:r>
            <a:r>
              <a:rPr lang="en-US" dirty="0">
                <a:latin typeface="Power Geez Unicode1" pitchFamily="2" charset="0"/>
              </a:rPr>
              <a:t> </a:t>
            </a:r>
            <a:r>
              <a:rPr lang="en-US" dirty="0" err="1">
                <a:latin typeface="Power Geez Unicode1" pitchFamily="2" charset="0"/>
              </a:rPr>
              <a:t>መመሪያ</a:t>
            </a:r>
            <a:r>
              <a:rPr lang="en-US" dirty="0">
                <a:latin typeface="Power Geez Unicode1" pitchFamily="2" charset="0"/>
              </a:rPr>
              <a:t> </a:t>
            </a:r>
            <a:r>
              <a:rPr lang="en-US" b="1" dirty="0" err="1">
                <a:latin typeface="Power Geez Unicode1" pitchFamily="2" charset="0"/>
              </a:rPr>
              <a:t>ቁጥር</a:t>
            </a:r>
            <a:r>
              <a:rPr lang="en-US" b="1" dirty="0">
                <a:latin typeface="Power Geez Unicode1" pitchFamily="2" charset="0"/>
              </a:rPr>
              <a:t> 02/2015</a:t>
            </a:r>
            <a:r>
              <a:rPr lang="en-US" dirty="0">
                <a:latin typeface="Power Geez Unicode1" pitchFamily="2" charset="0"/>
              </a:rPr>
              <a:t> </a:t>
            </a:r>
            <a:r>
              <a:rPr lang="en-US" dirty="0" err="1">
                <a:latin typeface="Power Geez Unicode1" pitchFamily="2" charset="0"/>
              </a:rPr>
              <a:t>ተብሎ</a:t>
            </a:r>
            <a:r>
              <a:rPr lang="en-US" dirty="0">
                <a:latin typeface="Power Geez Unicode1" pitchFamily="2" charset="0"/>
              </a:rPr>
              <a:t> </a:t>
            </a:r>
            <a:r>
              <a:rPr lang="en-US" dirty="0" err="1">
                <a:latin typeface="Power Geez Unicode1" pitchFamily="2" charset="0"/>
              </a:rPr>
              <a:t>ሊጠቀስ</a:t>
            </a:r>
            <a:r>
              <a:rPr lang="en-US" dirty="0">
                <a:latin typeface="Power Geez Unicode1" pitchFamily="2" charset="0"/>
              </a:rPr>
              <a:t> </a:t>
            </a:r>
            <a:r>
              <a:rPr lang="en-US" dirty="0" err="1">
                <a:latin typeface="Power Geez Unicode1" pitchFamily="2" charset="0"/>
              </a:rPr>
              <a:t>ይችላል</a:t>
            </a:r>
            <a:r>
              <a:rPr lang="en-US" dirty="0">
                <a:latin typeface="Power Geez Unicode1" pitchFamily="2" charset="0"/>
              </a:rPr>
              <a:t>፡፡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94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lvl="0" algn="l">
              <a:lnSpc>
                <a:spcPct val="150000"/>
              </a:lnSpc>
              <a:spcAft>
                <a:spcPts val="1000"/>
              </a:spcAft>
              <a:tabLst>
                <a:tab pos="4010025" algn="l"/>
              </a:tabLst>
            </a:pPr>
            <a:r>
              <a:rPr lang="en-US" sz="3200" b="1" dirty="0" smtClean="0">
                <a:latin typeface="Power Geez Unicode1"/>
                <a:ea typeface="Times New Roman"/>
                <a:cs typeface="Ebrima"/>
              </a:rPr>
              <a:t/>
            </a:r>
            <a:br>
              <a:rPr lang="en-US" sz="3200" b="1" dirty="0" smtClean="0">
                <a:latin typeface="Power Geez Unicode1"/>
                <a:ea typeface="Times New Roman"/>
                <a:cs typeface="Ebrima"/>
              </a:rPr>
            </a:br>
            <a:r>
              <a:rPr lang="en-US" sz="3200" b="1" dirty="0" err="1" smtClean="0">
                <a:latin typeface="Power Geez Unicode1"/>
                <a:ea typeface="Times New Roman"/>
                <a:cs typeface="Ebrima"/>
              </a:rPr>
              <a:t>ትርጓሜ</a:t>
            </a:r>
            <a:r>
              <a:rPr lang="en-US" sz="3200" b="1" dirty="0" smtClean="0">
                <a:latin typeface="Power Geez Unicode1"/>
                <a:ea typeface="Times New Roman"/>
                <a:cs typeface="Ebrima"/>
              </a:rPr>
              <a:t>፡-</a:t>
            </a:r>
            <a:r>
              <a:rPr lang="en-US" sz="2800" dirty="0">
                <a:ea typeface="Times New Roman"/>
                <a:cs typeface="Times New Roman"/>
              </a:rPr>
              <a:t/>
            </a:r>
            <a:br>
              <a:rPr lang="en-US" sz="2800" dirty="0">
                <a:ea typeface="Times New Roman"/>
                <a:cs typeface="Times New Roman"/>
              </a:rPr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  <a:solidFill>
            <a:schemeClr val="bg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 fontScale="32500" lnSpcReduction="20000"/>
          </a:bodyPr>
          <a:lstStyle/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4900" dirty="0" err="1">
                <a:latin typeface="Power Geez Unicode1"/>
                <a:ea typeface="Times New Roman"/>
                <a:cs typeface="Ebrima"/>
              </a:rPr>
              <a:t>የቃሉ</a:t>
            </a:r>
            <a:r>
              <a:rPr lang="en-US" sz="4900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Ebrima"/>
              </a:rPr>
              <a:t>አገባብ</a:t>
            </a:r>
            <a:r>
              <a:rPr lang="en-US" sz="4900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Ebrima"/>
              </a:rPr>
              <a:t>ሌላ</a:t>
            </a:r>
            <a:r>
              <a:rPr lang="en-US" sz="4900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Ebrima"/>
              </a:rPr>
              <a:t>ትርጉም</a:t>
            </a:r>
            <a:r>
              <a:rPr lang="en-US" sz="4900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Ebrima"/>
              </a:rPr>
              <a:t>የሚያሰጠው</a:t>
            </a:r>
            <a:r>
              <a:rPr lang="en-US" sz="4900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Ebrima"/>
              </a:rPr>
              <a:t>ካልሆነ</a:t>
            </a:r>
            <a:r>
              <a:rPr lang="en-US" sz="4900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Ebrima"/>
              </a:rPr>
              <a:t>በስተቀር</a:t>
            </a:r>
            <a:r>
              <a:rPr lang="en-US" sz="4900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Ebrima"/>
              </a:rPr>
              <a:t>በዚህ</a:t>
            </a:r>
            <a:r>
              <a:rPr lang="en-US" sz="4900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Ebrima"/>
              </a:rPr>
              <a:t>ደንብ</a:t>
            </a:r>
            <a:r>
              <a:rPr lang="en-US" sz="4900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Ebrima"/>
              </a:rPr>
              <a:t>ውስጥ</a:t>
            </a:r>
            <a:r>
              <a:rPr lang="en-US" sz="4900" dirty="0">
                <a:latin typeface="Power Geez Unicode1"/>
                <a:ea typeface="Times New Roman"/>
                <a:cs typeface="Ebrima"/>
              </a:rPr>
              <a:t>፡</a:t>
            </a:r>
            <a:r>
              <a:rPr lang="en-US" sz="4900" dirty="0">
                <a:latin typeface="Power Geez Unicode1"/>
                <a:ea typeface="Times New Roman"/>
                <a:cs typeface="Times New Roman"/>
              </a:rPr>
              <a:t>-</a:t>
            </a:r>
            <a:endParaRPr lang="en-US" sz="4900" dirty="0">
              <a:ea typeface="Calibri"/>
              <a:cs typeface="Arial"/>
            </a:endParaRPr>
          </a:p>
          <a:p>
            <a:pPr lvl="1" algn="just">
              <a:lnSpc>
                <a:spcPct val="150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4900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sz="4900" b="1" dirty="0" err="1">
                <a:latin typeface="Power Geez Unicode1"/>
                <a:ea typeface="Times New Roman"/>
                <a:cs typeface="VG2000 Main"/>
              </a:rPr>
              <a:t>ከተማ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”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የአዲስ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አበባ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ከተማ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፤</a:t>
            </a:r>
            <a:endParaRPr lang="en-US" sz="4300" dirty="0">
              <a:ea typeface="Times New Roman"/>
              <a:cs typeface="Times New Roman"/>
            </a:endParaRPr>
          </a:p>
          <a:p>
            <a:pPr lvl="1" algn="just">
              <a:lnSpc>
                <a:spcPct val="150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4900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sz="4900" b="1" dirty="0" err="1">
                <a:latin typeface="Power Geez Unicode1"/>
                <a:ea typeface="Times New Roman"/>
                <a:cs typeface="VG2000 Main"/>
              </a:rPr>
              <a:t>አስተዳደር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’’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የአዲስ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አበባ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ከተማ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አስተዳደር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፤</a:t>
            </a:r>
            <a:endParaRPr lang="en-US" sz="4300" dirty="0">
              <a:ea typeface="Times New Roman"/>
              <a:cs typeface="Times New Roman"/>
            </a:endParaRPr>
          </a:p>
          <a:p>
            <a:pPr lvl="1" algn="just">
              <a:lnSpc>
                <a:spcPct val="150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4900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sz="4900" b="1" dirty="0" err="1">
                <a:latin typeface="Power Geez Unicode1"/>
                <a:ea typeface="Times New Roman"/>
                <a:cs typeface="VG2000 Main"/>
              </a:rPr>
              <a:t>አዋጅ</a:t>
            </a:r>
            <a:r>
              <a:rPr lang="en-US" sz="4900" b="1" dirty="0">
                <a:latin typeface="Power Geez Unicode1"/>
                <a:ea typeface="Times New Roman"/>
                <a:cs typeface="VG2000 Main"/>
              </a:rPr>
              <a:t>’’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የአዲስ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አበባ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ከተማ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አስተዳደር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አስፈጻሚ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አካላትን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ሥልጣንና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ተግባር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ለመወሰን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የወጣው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አዋጅ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ቁጥር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74/2014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፤</a:t>
            </a:r>
            <a:endParaRPr lang="en-US" sz="4300" dirty="0">
              <a:ea typeface="Times New Roman"/>
              <a:cs typeface="Times New Roman"/>
            </a:endParaRPr>
          </a:p>
          <a:p>
            <a:pPr lvl="1" algn="just">
              <a:lnSpc>
                <a:spcPct val="150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4900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sz="4900" b="1" dirty="0" err="1">
                <a:latin typeface="Power Geez Unicode1"/>
                <a:ea typeface="Times New Roman"/>
                <a:cs typeface="VG2000 Main"/>
              </a:rPr>
              <a:t>ደንብ</a:t>
            </a:r>
            <a:r>
              <a:rPr lang="en-US" sz="4900" b="1" dirty="0">
                <a:latin typeface="Power Geez Unicode1"/>
                <a:ea typeface="Times New Roman"/>
                <a:cs typeface="VG2000 Main"/>
              </a:rPr>
              <a:t>’’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ለደንብ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ማስከበር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ባለስልጣን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በአዋጅ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ቁጥር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74/2014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በአንቀፅ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47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የተሰጠውን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ኃላፊነትና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ተግባርን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ለማስፈፀም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የወጣ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ደንብ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ቁጥር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150/2015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፡፡</a:t>
            </a:r>
            <a:endParaRPr lang="en-US" sz="4300" dirty="0">
              <a:ea typeface="Times New Roman"/>
              <a:cs typeface="Times New Roman"/>
            </a:endParaRPr>
          </a:p>
          <a:p>
            <a:pPr lvl="1" algn="just">
              <a:lnSpc>
                <a:spcPct val="150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4900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sz="4900" b="1" dirty="0" err="1">
                <a:latin typeface="Power Geez Unicode1"/>
                <a:ea typeface="Times New Roman"/>
                <a:cs typeface="VG2000 Main"/>
              </a:rPr>
              <a:t>ባለስልጣን</a:t>
            </a:r>
            <a:r>
              <a:rPr lang="en-US" sz="4900" b="1" dirty="0">
                <a:latin typeface="Power Geez Unicode1"/>
                <a:ea typeface="Times New Roman"/>
                <a:cs typeface="VG2000 Main"/>
              </a:rPr>
              <a:t>’’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የአዲስ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አበባ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ከተማ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አስተዳደር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የደንብ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ማስከበር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ባለስልጣን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፤</a:t>
            </a:r>
            <a:endParaRPr lang="en-US" sz="4300" dirty="0">
              <a:ea typeface="Times New Roman"/>
              <a:cs typeface="Times New Roman"/>
            </a:endParaRPr>
          </a:p>
          <a:p>
            <a:pPr lvl="1" algn="just">
              <a:lnSpc>
                <a:spcPct val="150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4900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sz="4900" b="1" dirty="0" err="1">
                <a:latin typeface="Power Geez Unicode1"/>
                <a:ea typeface="Times New Roman"/>
                <a:cs typeface="VG2000 Main"/>
              </a:rPr>
              <a:t>ጽሕፈት</a:t>
            </a:r>
            <a:r>
              <a:rPr lang="en-US" sz="4900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b="1" dirty="0" err="1">
                <a:latin typeface="Power Geez Unicode1"/>
                <a:ea typeface="Times New Roman"/>
                <a:cs typeface="VG2000 Main"/>
              </a:rPr>
              <a:t>ቤት</a:t>
            </a:r>
            <a:r>
              <a:rPr lang="en-US" sz="4900" b="1" dirty="0">
                <a:latin typeface="Power Geez Unicode1"/>
                <a:ea typeface="Times New Roman"/>
                <a:cs typeface="VG2000 Main"/>
              </a:rPr>
              <a:t>”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በክፍለ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ከተማና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በወረዳ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ደረጃ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የተደራጀ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የደንብ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ማስከበር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ጽሕፈት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ቤት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፤</a:t>
            </a:r>
            <a:endParaRPr lang="en-US" sz="4300" dirty="0">
              <a:ea typeface="Times New Roman"/>
              <a:cs typeface="Times New Roman"/>
            </a:endParaRPr>
          </a:p>
          <a:p>
            <a:pPr lvl="1" algn="just">
              <a:lnSpc>
                <a:spcPct val="150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4900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sz="4900" b="1" dirty="0" err="1">
                <a:latin typeface="Power Geez Unicode1"/>
                <a:ea typeface="Times New Roman"/>
                <a:cs typeface="VG2000 Main"/>
              </a:rPr>
              <a:t>ፓራሚሊታሪ</a:t>
            </a:r>
            <a:r>
              <a:rPr lang="en-US" sz="4900" b="1" dirty="0">
                <a:latin typeface="Power Geez Unicode1"/>
                <a:ea typeface="Times New Roman"/>
                <a:cs typeface="VG2000 Main"/>
              </a:rPr>
              <a:t>”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በአደረጃጀት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በአሰራር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በአስተዳደር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በስልጠና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እና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በሥነ-ምግባር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የታነጸ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ከፊል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ወታደራዊ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ስልጠና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ወስዶ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ደንብ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የሚያስከብር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ሙያ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፤ </a:t>
            </a:r>
            <a:endParaRPr lang="en-US" sz="4300" dirty="0">
              <a:ea typeface="Times New Roman"/>
              <a:cs typeface="Times New Roman"/>
            </a:endParaRPr>
          </a:p>
          <a:p>
            <a:pPr lvl="1" algn="just">
              <a:lnSpc>
                <a:spcPct val="150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sz="4900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sz="4900" b="1" dirty="0" err="1">
                <a:latin typeface="Power Geez Unicode1"/>
                <a:ea typeface="Times New Roman"/>
                <a:cs typeface="VG2000 Main"/>
              </a:rPr>
              <a:t>ፓራሚሊተሪ</a:t>
            </a:r>
            <a:r>
              <a:rPr lang="en-US" sz="4900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b="1" dirty="0" err="1">
                <a:latin typeface="Power Geez Unicode1"/>
                <a:ea typeface="Times New Roman"/>
                <a:cs typeface="VG2000 Main"/>
              </a:rPr>
              <a:t>ኦፊሰር</a:t>
            </a:r>
            <a:r>
              <a:rPr lang="en-US" sz="4900" b="1" dirty="0">
                <a:latin typeface="Power Geez Unicode1"/>
                <a:ea typeface="Times New Roman"/>
                <a:cs typeface="VG2000 Main"/>
              </a:rPr>
              <a:t>”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ባለሥልጣኑ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የሚሰጠውን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ከፊል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ወታደራዊ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ስልጠና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ወስዶ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ያጠናቀቀ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እና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የደንብ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መተላለፍ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ድርጊቶችን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የሚከላከል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እርምጃ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የሚወስድና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የሚያስወስድ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ባለሙያ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4900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sz="4900" dirty="0">
                <a:latin typeface="Power Geez Unicode1"/>
                <a:ea typeface="Times New Roman"/>
                <a:cs typeface="VG2000 Main"/>
              </a:rPr>
              <a:t>፤</a:t>
            </a:r>
            <a:endParaRPr lang="en-US" sz="4300" dirty="0">
              <a:ea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548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GB" dirty="0" err="1" smtClean="0"/>
              <a:t>የቀጠለ</a:t>
            </a:r>
            <a:r>
              <a:rPr lang="en-GB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  <a:solidFill>
            <a:schemeClr val="bg1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pPr marL="457200" lvl="1" indent="0" algn="just">
              <a:lnSpc>
                <a:spcPct val="150000"/>
              </a:lnSpc>
              <a:buNone/>
              <a:tabLst>
                <a:tab pos="228600" algn="l"/>
              </a:tabLst>
            </a:pPr>
            <a:r>
              <a:rPr lang="en-US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የሽፍት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አስተባባሪ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በባለስልጣኑ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በየደረጃው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ባለው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መዋቅር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ውስጥ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የሚገኙ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ሽፍት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መሪዎችን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የሚመራ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</a:t>
            </a:r>
            <a:endParaRPr lang="en-US" sz="2400" dirty="0">
              <a:ea typeface="Times New Roman"/>
              <a:cs typeface="Times New Roman"/>
            </a:endParaRPr>
          </a:p>
          <a:p>
            <a:pPr marL="457200" lvl="1" indent="0" algn="just">
              <a:lnSpc>
                <a:spcPct val="150000"/>
              </a:lnSpc>
              <a:buNone/>
              <a:tabLst>
                <a:tab pos="228600" algn="l"/>
              </a:tabLst>
            </a:pPr>
            <a:r>
              <a:rPr lang="en-US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ሽፍት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መሪ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በባለስልጣኑ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በየደረጃው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ባለው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መዋቅር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ውስጥ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የሚገኙ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ፓራ-ሚሊተሪዎችን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የሚመራ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፡፡  </a:t>
            </a:r>
            <a:endParaRPr lang="en-US" sz="2400" dirty="0">
              <a:ea typeface="Times New Roman"/>
              <a:cs typeface="Times New Roman"/>
            </a:endParaRPr>
          </a:p>
          <a:p>
            <a:pPr marL="457200" lvl="1" indent="0" algn="just">
              <a:lnSpc>
                <a:spcPct val="150000"/>
              </a:lnSpc>
              <a:buNone/>
              <a:tabLst>
                <a:tab pos="228600" algn="l"/>
              </a:tabLst>
            </a:pPr>
            <a:r>
              <a:rPr lang="en-US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የደንብ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መተላለፍ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ቁጥጥርና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እርምጃ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አወሳሰድ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ኦፊሰር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በዚህ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ደንብ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የተመለከተውን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የደንብ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መተላለፍ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ድርጊት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ለመለየት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ለመከላከል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ለመቆጣጠር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እርምጃ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ለመዉሰድ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እና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ለማስወሰድ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የተቀጠረ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የተመደበ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ፓራሚሊተሪ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ኦፊሰር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 </a:t>
            </a:r>
            <a:endParaRPr lang="en-US" sz="2400" dirty="0">
              <a:ea typeface="Times New Roman"/>
              <a:cs typeface="Times New Roman"/>
            </a:endParaRPr>
          </a:p>
          <a:p>
            <a:pPr marL="457200" lvl="1" indent="0" algn="just">
              <a:lnSpc>
                <a:spcPct val="150000"/>
              </a:lnSpc>
              <a:buNone/>
              <a:tabLst>
                <a:tab pos="228600" algn="l"/>
              </a:tabLst>
            </a:pPr>
            <a:r>
              <a:rPr lang="en-US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የደንብ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መተላለፍ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ቅድመ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መከላከል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ኦፊሰር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በዚህ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ደንብ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የተመለከተውን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የደንብ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መተላለፍ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ድርጊቶች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እንዳይፈፀሙ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አስቀድሞ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በተለያዩ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የግንዛቤ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ማስጨበጫ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መንገዶች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ለህብረተሰቡ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ስለ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ደንብ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መተላለፍ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ተግባራት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ግንዛቤ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የሚሰጥ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የፓራሚሊተሪ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ኦፊሰር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</a:t>
            </a:r>
            <a:endParaRPr lang="en-US" sz="2400" dirty="0">
              <a:ea typeface="Times New Roman"/>
              <a:cs typeface="Times New Roman"/>
            </a:endParaRPr>
          </a:p>
          <a:p>
            <a:pPr marL="457200" lvl="1" indent="0" algn="just">
              <a:lnSpc>
                <a:spcPct val="150000"/>
              </a:lnSpc>
              <a:buNone/>
              <a:tabLst>
                <a:tab pos="228600" algn="l"/>
              </a:tabLst>
            </a:pPr>
            <a:r>
              <a:rPr lang="en-US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ግብረ-ሀይል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ከወረዳው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ጽህፈት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ቤት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አቅም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በላይ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የተፈጸሙ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የደንብ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መተላለፎችን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በመለየት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እርምጃ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የሚወስድ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የሚያስወስድና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የሚያስተባባር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አካል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</a:t>
            </a:r>
            <a:endParaRPr lang="en-US" sz="2400" dirty="0">
              <a:ea typeface="Times New Roman"/>
              <a:cs typeface="Times New Roman"/>
            </a:endParaRPr>
          </a:p>
          <a:p>
            <a:pPr marL="457200" lvl="1" indent="0" algn="just">
              <a:lnSpc>
                <a:spcPct val="150000"/>
              </a:lnSpc>
              <a:buNone/>
              <a:tabLst>
                <a:tab pos="228600" algn="l"/>
              </a:tabLst>
            </a:pPr>
            <a:r>
              <a:rPr lang="en-US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ተላላፊ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አግባብ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ባለው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ባለሥልጣን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የወጣውን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ሕግ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ደንብ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ትዕዛዝ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መመሪያ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የጥንቃቄ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እርምጃ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የጣሰ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ሰው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ነዉ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</a:t>
            </a:r>
            <a:endParaRPr lang="en-US" sz="2400" dirty="0">
              <a:ea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253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GB" dirty="0" err="1" smtClean="0"/>
              <a:t>የቀጠለ</a:t>
            </a:r>
            <a:r>
              <a:rPr lang="en-GB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pPr marL="457200" lvl="1" indent="0" algn="just">
              <a:lnSpc>
                <a:spcPct val="150000"/>
              </a:lnSpc>
              <a:buNone/>
              <a:tabLst>
                <a:tab pos="228600" algn="l"/>
              </a:tabLst>
            </a:pPr>
            <a:r>
              <a:rPr lang="en-US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በሕገ-ወጥ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መንገድ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መሬትን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መያዝ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መሬትን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መውረር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’’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የከተማ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ቦታን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በሊዝ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ስለመያዝ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የወጣዉን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አዋጅ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ደንብና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መመሪያ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በመተላለፍ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አግባብ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ካለው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የከተማው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አስተዳደር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አካል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ፈቃድ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ሳያገኝ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መሬትን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መያዝ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መውረር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</a:t>
            </a:r>
            <a:endParaRPr lang="en-US" sz="2400" dirty="0">
              <a:ea typeface="Times New Roman"/>
              <a:cs typeface="Times New Roman"/>
            </a:endParaRPr>
          </a:p>
          <a:p>
            <a:pPr marL="457200" lvl="1" indent="0" algn="just">
              <a:lnSpc>
                <a:spcPct val="150000"/>
              </a:lnSpc>
              <a:buNone/>
              <a:tabLst>
                <a:tab pos="228600" algn="l"/>
              </a:tabLst>
            </a:pPr>
            <a:r>
              <a:rPr lang="en-US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ሕገ-ወጥ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የመሬት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ይዞታ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ማስፋፋት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’’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አግባብ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ካለው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የከተማው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አስተዳደር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አካል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በሕጋዊ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መንገድ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ከተሰጠው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ቦታ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በተጨማሪነት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አዋሳኙ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የሆነዉን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መሬት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አስፋፍቶ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መያዝ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</a:t>
            </a:r>
            <a:endParaRPr lang="en-US" sz="2400" dirty="0">
              <a:ea typeface="Times New Roman"/>
              <a:cs typeface="Times New Roman"/>
            </a:endParaRPr>
          </a:p>
          <a:p>
            <a:pPr marL="457200" lvl="1" indent="0" algn="just">
              <a:lnSpc>
                <a:spcPct val="150000"/>
              </a:lnSpc>
              <a:buNone/>
              <a:tabLst>
                <a:tab pos="228600" algn="l"/>
              </a:tabLst>
            </a:pPr>
            <a:r>
              <a:rPr lang="en-US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ሕገ-ወጥ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ግንባታ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’’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በሕገወጥ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መንገድ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መሬትን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በመያዝ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ሕገወጥ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የመሬት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ይዞታ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በማስፋፋት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በተያዘ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ቦታ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በሕጋዊ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ይዞታ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ላይ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ያለ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ግንባታ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ፈቃድ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በእንጨት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በፕላስቲክ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በሸራ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በብሎኬት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በብረት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በማናቸዉም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ቁሳቁስ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ከላይኛዉ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የመሬት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ገጽታ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በላይም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ሆነ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በታች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የተገነባ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ማንኛውም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ግንባታ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ሆኖ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የመጠን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የቁስም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ሆነ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የዲዛይን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ለዉጥ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ያደረገ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ሲሆን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እድሳትንም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ያካተተ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</a:t>
            </a:r>
            <a:endParaRPr lang="en-US" sz="2400" dirty="0">
              <a:ea typeface="Times New Roman"/>
              <a:cs typeface="Times New Roman"/>
            </a:endParaRPr>
          </a:p>
          <a:p>
            <a:pPr marL="457200" lvl="1" indent="0" algn="just">
              <a:lnSpc>
                <a:spcPct val="150000"/>
              </a:lnSpc>
              <a:buNone/>
              <a:tabLst>
                <a:tab pos="228600" algn="l"/>
              </a:tabLst>
            </a:pPr>
            <a:r>
              <a:rPr lang="en-US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መንገድ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’’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በከተማ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አስተዳደሩ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የሚገኙ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ዋና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መንገዶች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መለስተኛ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መንገዶች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መጋቢ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መንገዶች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የውስጥ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ለውስጥ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መንገዶች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የመንደር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መንገዶች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አደባባይ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የአደባባይ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ዙሪያዎች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የመንገድ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አካፋይ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ደሴቶች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በመንገድ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ግራና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ቀኝ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ያሉ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የእግረኛ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የብስክሌት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ማስተላለፊያዎች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የባቡር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ሀዲዶች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ድልድይ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የጎርፍ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ማስወገጃ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መስመሮችን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በከተማው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መሪ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ኘላን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መሠረት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ለመንገድነት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የተያዘን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ቦታ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ይጨምራል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</a:t>
            </a:r>
            <a:endParaRPr lang="en-US" sz="2400" dirty="0">
              <a:ea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620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GB" dirty="0" err="1" smtClean="0"/>
              <a:t>የቀጠለ</a:t>
            </a:r>
            <a:r>
              <a:rPr lang="en-GB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pPr lvl="1" algn="just">
              <a:lnSpc>
                <a:spcPct val="150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ሕገ-ወጥ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የመንገድ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ላይ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ንግድ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(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የጎዳና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ላይ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ንግድ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)’’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በከተማ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አስተዳደሩ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በተወሰኑ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ቀን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እና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ሰዓት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በመንገድ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ላይ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ለመነገድ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ከተፈቀደባቸው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መንገዶች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ውጪ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በሌላ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በማንኛውም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መንገድ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ቦታ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ላይ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የሚካሄድ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ማንኛውም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የንግድ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ሥራ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</a:t>
            </a:r>
            <a:endParaRPr lang="en-US" sz="2400" dirty="0">
              <a:ea typeface="Times New Roman"/>
              <a:cs typeface="Times New Roman"/>
            </a:endParaRPr>
          </a:p>
          <a:p>
            <a:pPr lvl="1" algn="just">
              <a:lnSpc>
                <a:spcPct val="150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በረንዳ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ንግድ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’’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ማንኛውም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ሰው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በህጋዊ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መንገድ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ለንግድ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አገልግሎት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ከተፈቀደለት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ቦታ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ውጪ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አዋሳኝ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በሆነ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መንገዶች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ቦታ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ላይ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የንግድ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ተግባር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ማከናወን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፡</a:t>
            </a:r>
            <a:endParaRPr lang="en-US" sz="2400" dirty="0">
              <a:ea typeface="Times New Roman"/>
              <a:cs typeface="Times New Roman"/>
            </a:endParaRPr>
          </a:p>
          <a:p>
            <a:pPr lvl="1" algn="just">
              <a:lnSpc>
                <a:spcPct val="150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ህገ-ወጥ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የውጭ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ማስታወቂያ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’’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በመንገድ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ላይ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ባለ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የትራፊክ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መብራቶች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ምልክቶች፤ፖሎች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በድልድች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በእግረኛ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መከላከያ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እና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በሌሎች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አጥሮች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ያለፍቃድ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ማንኛውንም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የውጭ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ማስታወቂያ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በራሪ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ወረቀት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ብሮሸር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መለጠፍ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ማንጠልጠል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ማሰራጨትን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የሚያጠቃልል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 </a:t>
            </a:r>
            <a:endParaRPr lang="en-US" sz="2400" dirty="0">
              <a:ea typeface="Times New Roman"/>
              <a:cs typeface="Times New Roman"/>
            </a:endParaRPr>
          </a:p>
          <a:p>
            <a:pPr lvl="1" algn="just">
              <a:lnSpc>
                <a:spcPct val="150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ደረቅ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ቆሻሻ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’’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ከመኖሪያ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ቤት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ከንግድ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ከኢንዱስትሪ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ከጋራዥ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ከመንገድ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ፅዳት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ከግንባታ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ከግብርና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ከመሬት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ቁፋሮ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ከጠቅላላው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የሕብረተሰቡ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ሥራዎች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በእንስሳት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ምክንያት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የሚፈጠር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ጠጣር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ከፊል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ጠጣር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ቆሻሻ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</a:t>
            </a:r>
            <a:endParaRPr lang="en-US" sz="2400" dirty="0">
              <a:ea typeface="Times New Roman"/>
              <a:cs typeface="Times New Roman"/>
            </a:endParaRPr>
          </a:p>
          <a:p>
            <a:pPr lvl="1" algn="just">
              <a:lnSpc>
                <a:spcPct val="150000"/>
              </a:lnSpc>
              <a:buFont typeface="+mj-lt"/>
              <a:buAutoNum type="arabicPeriod"/>
              <a:tabLst>
                <a:tab pos="228600" algn="l"/>
              </a:tabLst>
            </a:pPr>
            <a:r>
              <a:rPr lang="en-US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ፍሳሽ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ቆሻሻ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’’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ከመኖሪያ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ቤት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ከኢንዱስትሪ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ከጋራዥ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ከማንኛውም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መንግሥታዊና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መንግስታዊ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ካልሆኑ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ድርጅቶች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የሚወጣ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የልብስ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የምግብ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እቃዎች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የመጠጥ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ዕቃዎች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እጣቢ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አተላ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አምቡላ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የመፀዳጃ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ቤት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ፈሳሽ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የእንስሳት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ማደሪያ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ፍሳሽ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መርዛማ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ንጥረ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ነገር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ያዘለ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ያላዘለ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ፍሳሽ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የመሳሰሉት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</a:t>
            </a:r>
            <a:endParaRPr lang="en-US" sz="2400" dirty="0">
              <a:ea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755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pPr marL="457200" lvl="1" indent="0" algn="just">
              <a:lnSpc>
                <a:spcPct val="150000"/>
              </a:lnSpc>
              <a:buNone/>
              <a:tabLst>
                <a:tab pos="228600" algn="l"/>
              </a:tabLst>
            </a:pPr>
            <a:r>
              <a:rPr lang="en-US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ልዩ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ቆሻሻ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’’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ከመኖሪያ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ቤት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፣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ከንግድ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ተቋማት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ከሌሎች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ድርጅቶች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የሚወጡ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የቤት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ቁሳቁስ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የመኪና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ልዩ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ልዩ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እቃዎች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ባትሪ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ጎማ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የመኪና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ዘይት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ኤሌክትሮኒክስ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እቃዎች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ምድጃ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ፍሪጅ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የላውንደሪ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መሳሪያዎች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ቀለሞች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ሌሎች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ትላልቅ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እቃዎችና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ለብቻቸው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መሰብሰብና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መወገድ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ያለባቸው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ከተለመደው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የዕለት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ተዕለት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ቆሻሻዎቸ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ለየት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ያሉ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ተብሎ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በጽዳት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አስተዳደር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ኤጀንሲ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የሚወሰኑ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ቆሻሻዎችን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የሚያጠቃልል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dirty="0" smtClean="0">
                <a:latin typeface="Power Geez Unicode1"/>
                <a:ea typeface="Times New Roman"/>
                <a:cs typeface="VG2000 Main"/>
              </a:rPr>
              <a:t>፤</a:t>
            </a:r>
            <a:endParaRPr lang="en-US" sz="2400" dirty="0">
              <a:ea typeface="Times New Roman"/>
              <a:cs typeface="Times New Roman"/>
            </a:endParaRPr>
          </a:p>
          <a:p>
            <a:pPr marL="457200" lvl="1" indent="0" algn="just">
              <a:lnSpc>
                <a:spcPct val="150000"/>
              </a:lnSpc>
              <a:buNone/>
              <a:tabLst>
                <a:tab pos="228600" algn="l"/>
              </a:tabLst>
            </a:pPr>
            <a:r>
              <a:rPr lang="en-US" b="1" dirty="0" smtClean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አደገኛ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ቆሻሻ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የሚፈነዱ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በቀላሉ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በእሳት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የሚቀጣጠሉ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መርዛማ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ነገሮች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ራዲዬአክቲቭ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ቁሶች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ልዩ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ልዩ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ኬሚካሎች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የደም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ንኪኪ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ያላቸው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ሆነው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ከኢንዱስትሪ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ከማምረቻ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ተቋማት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ከጤና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ተቋማት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ከቤተ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ሙከራ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የሚወጡና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በሰው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በእንስሳ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በእጽዋትና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በአካባቢ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ላይ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ጉዳት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የሚያደርስ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ማንኛውም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ቆሻሻ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</a:t>
            </a:r>
            <a:endParaRPr lang="en-US" sz="2400" dirty="0">
              <a:ea typeface="Times New Roman"/>
              <a:cs typeface="Times New Roman"/>
            </a:endParaRPr>
          </a:p>
          <a:p>
            <a:pPr marL="457200" lvl="1" indent="0" algn="just">
              <a:lnSpc>
                <a:spcPct val="150000"/>
              </a:lnSpc>
              <a:buNone/>
              <a:tabLst>
                <a:tab pos="228600" algn="l"/>
              </a:tabLst>
            </a:pPr>
            <a:r>
              <a:rPr lang="en-US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አዋኪ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VG2000 Main"/>
              </a:rPr>
              <a:t>ድርጊት</a:t>
            </a:r>
            <a:r>
              <a:rPr lang="en-US" b="1" dirty="0">
                <a:latin typeface="Power Geez Unicode1"/>
                <a:ea typeface="Times New Roman"/>
                <a:cs typeface="VG2000 Main"/>
              </a:rPr>
              <a:t>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በባለቤትነት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በተከራይነት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በማናቸውም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መልኩ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በይዞታነት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በያዘው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ቦታ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ቤት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ውስጥ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የመማር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ማስተማር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ሂደቱን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በሚያውክ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አኳኽን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በትምህርት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ቤት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ዙሪያ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እስከ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200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ሜትር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መጠነ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ዙሪያ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ክልል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ውስጥ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ቁማር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እንዲጫወቱበት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እዲያጫውቱበት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የመኝታ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ቤት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ንግድ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አገልግሎት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መክፈት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ፊልም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እና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ቪዲዮ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ማሳየት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የቀንም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ሆነ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የሌሊት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ጭፈራ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መፈጸም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ማንኛውንም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አይነት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የአልኮል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መጠጥ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መሸጥ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እና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የመሳሰሉትን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VG2000 Main"/>
              </a:rPr>
              <a:t>ያጠቃልላል</a:t>
            </a:r>
            <a:r>
              <a:rPr lang="en-US" dirty="0">
                <a:latin typeface="Power Geez Unicode1"/>
                <a:ea typeface="Times New Roman"/>
                <a:cs typeface="VG2000 Main"/>
              </a:rPr>
              <a:t>፤</a:t>
            </a:r>
            <a:endParaRPr lang="en-US" sz="2400" dirty="0">
              <a:ea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764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638800"/>
          </a:xfrm>
          <a:solidFill>
            <a:schemeClr val="bg1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pPr marL="457200" lvl="1" indent="0" algn="just">
              <a:lnSpc>
                <a:spcPct val="150000"/>
              </a:lnSpc>
              <a:buNone/>
              <a:tabLst>
                <a:tab pos="228600" algn="l"/>
              </a:tabLst>
            </a:pPr>
            <a:r>
              <a:rPr lang="en-US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sz="2900" b="1" dirty="0" err="1">
                <a:latin typeface="Power Geez Unicode1"/>
                <a:ea typeface="Times New Roman"/>
                <a:cs typeface="VG2000 Main"/>
              </a:rPr>
              <a:t>ጫት</a:t>
            </a:r>
            <a:r>
              <a:rPr lang="en-US" sz="2900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VG2000 Main"/>
              </a:rPr>
              <a:t>ማስቃም</a:t>
            </a:r>
            <a:r>
              <a:rPr lang="en-US" sz="2900" b="1" dirty="0">
                <a:latin typeface="Power Geez Unicode1"/>
                <a:ea typeface="Times New Roman"/>
                <a:cs typeface="VG2000 Main"/>
              </a:rPr>
              <a:t>”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በባለቤትነት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በተከራይነት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በማናቸውም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መልኩ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በይዞታነት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የያዘዉን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የሚያስተዳድረውን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ቦታ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ቤት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ውስጥ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ገቢ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ለማግኘት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ለሌላ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አካል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ገቢ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ለማስገኘት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ጫት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እንዲቃምበት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ማድረግ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፤</a:t>
            </a:r>
            <a:endParaRPr lang="en-US" sz="2500" dirty="0">
              <a:ea typeface="Times New Roman"/>
              <a:cs typeface="Times New Roman"/>
            </a:endParaRPr>
          </a:p>
          <a:p>
            <a:pPr marL="457200" lvl="1" indent="0" algn="just">
              <a:lnSpc>
                <a:spcPct val="150000"/>
              </a:lnSpc>
              <a:buNone/>
              <a:tabLst>
                <a:tab pos="228600" algn="l"/>
              </a:tabLst>
            </a:pPr>
            <a:r>
              <a:rPr lang="en-US" sz="2900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sz="2900" b="1" dirty="0" err="1">
                <a:latin typeface="Power Geez Unicode1"/>
                <a:ea typeface="Times New Roman"/>
                <a:cs typeface="VG2000 Main"/>
              </a:rPr>
              <a:t>ሺሻ</a:t>
            </a:r>
            <a:r>
              <a:rPr lang="en-US" sz="2900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VG2000 Main"/>
              </a:rPr>
              <a:t>ማስጨስ</a:t>
            </a:r>
            <a:r>
              <a:rPr lang="en-US" sz="2900" b="1" dirty="0">
                <a:latin typeface="Power Geez Unicode1"/>
                <a:ea typeface="Times New Roman"/>
                <a:cs typeface="VG2000 Main"/>
              </a:rPr>
              <a:t>”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በባለቤትነት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በተከራይነት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፣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በማናቸውም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መልኩ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በይዞታነት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የያዘዉን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የሚያስተዳድረውን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ማንኛውንም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ቦታ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ቤት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ውስጥ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ሺሻ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ማስጨስ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ለሌላ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አካል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ሺሻ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እንዲጨስበት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ማድረግን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ያጠቃልላል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፤ </a:t>
            </a:r>
            <a:endParaRPr lang="en-US" sz="2500" dirty="0">
              <a:ea typeface="Times New Roman"/>
              <a:cs typeface="Times New Roman"/>
            </a:endParaRPr>
          </a:p>
          <a:p>
            <a:pPr marL="457200" lvl="1" indent="0" algn="just">
              <a:lnSpc>
                <a:spcPct val="150000"/>
              </a:lnSpc>
              <a:buNone/>
              <a:tabLst>
                <a:tab pos="228600" algn="l"/>
              </a:tabLst>
            </a:pPr>
            <a:r>
              <a:rPr lang="en-US" sz="2900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sz="2900" b="1" dirty="0" err="1">
                <a:latin typeface="Power Geez Unicode1"/>
                <a:ea typeface="Times New Roman"/>
                <a:cs typeface="VG2000 Main"/>
              </a:rPr>
              <a:t>ሰርቪላንስ</a:t>
            </a:r>
            <a:r>
              <a:rPr lang="en-US" sz="2900" b="1" dirty="0">
                <a:latin typeface="Power Geez Unicode1"/>
                <a:ea typeface="Times New Roman"/>
                <a:cs typeface="VG2000 Main"/>
              </a:rPr>
              <a:t> (</a:t>
            </a:r>
            <a:r>
              <a:rPr lang="en-US" sz="2900" b="1" dirty="0" err="1">
                <a:latin typeface="Power Geez Unicode1"/>
                <a:ea typeface="Times New Roman"/>
                <a:cs typeface="VG2000 Main"/>
              </a:rPr>
              <a:t>ክትትል</a:t>
            </a:r>
            <a:r>
              <a:rPr lang="en-US" sz="2900" b="1" dirty="0">
                <a:latin typeface="Power Geez Unicode1"/>
                <a:ea typeface="Times New Roman"/>
                <a:cs typeface="VG2000 Main"/>
              </a:rPr>
              <a:t>)”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የደንብ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መተላለፍ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መነሻ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ምክንያት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ምንጭ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የሆኑትን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ተግባራት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ሚስጥራዊ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በሆነ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መንገድ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የሚለይ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፤</a:t>
            </a:r>
            <a:endParaRPr lang="en-US" sz="2500" dirty="0">
              <a:ea typeface="Times New Roman"/>
              <a:cs typeface="Times New Roman"/>
            </a:endParaRPr>
          </a:p>
          <a:p>
            <a:pPr marL="457200" lvl="1" indent="0" algn="just">
              <a:lnSpc>
                <a:spcPct val="150000"/>
              </a:lnSpc>
              <a:buNone/>
              <a:tabLst>
                <a:tab pos="228600" algn="l"/>
              </a:tabLst>
            </a:pPr>
            <a:r>
              <a:rPr lang="en-US" sz="2900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sz="2900" b="1" dirty="0" err="1">
                <a:latin typeface="Power Geez Unicode1"/>
                <a:ea typeface="Times New Roman"/>
                <a:cs typeface="VG2000 Main"/>
              </a:rPr>
              <a:t>የሥራ</a:t>
            </a:r>
            <a:r>
              <a:rPr lang="en-US" sz="2900" b="1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VG2000 Main"/>
              </a:rPr>
              <a:t>መደብ</a:t>
            </a:r>
            <a:r>
              <a:rPr lang="en-US" sz="2900" b="1" dirty="0">
                <a:latin typeface="Power Geez Unicode1"/>
                <a:ea typeface="Times New Roman"/>
                <a:cs typeface="VG2000 Main"/>
              </a:rPr>
              <a:t>”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በፓራሚሊተሪ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የሚተዳደሩ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ሰራተኞች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ሙሉ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የሥራ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ጊዜ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እንዲከናወኑ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በባለስልጣኑ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የተሰጡ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ተግባርና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ኃላፊነቶች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ናቸው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፤</a:t>
            </a:r>
            <a:endParaRPr lang="en-US" sz="2500" dirty="0">
              <a:ea typeface="Times New Roman"/>
              <a:cs typeface="Times New Roman"/>
            </a:endParaRPr>
          </a:p>
          <a:p>
            <a:pPr marL="457200" lvl="1" indent="0" algn="just">
              <a:lnSpc>
                <a:spcPct val="150000"/>
              </a:lnSpc>
              <a:buNone/>
              <a:tabLst>
                <a:tab pos="228600" algn="l"/>
              </a:tabLst>
            </a:pPr>
            <a:r>
              <a:rPr lang="en-US" sz="2900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sz="2900" b="1" dirty="0" err="1">
                <a:latin typeface="Power Geez Unicode1"/>
                <a:ea typeface="Times New Roman"/>
                <a:cs typeface="Times New Roman"/>
              </a:rPr>
              <a:t>የተከለከሉ</a:t>
            </a:r>
            <a:r>
              <a:rPr lang="en-US" sz="29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Times New Roman"/>
              </a:rPr>
              <a:t>ድርጊት</a:t>
            </a:r>
            <a:r>
              <a:rPr lang="en-US" sz="2900" b="1" dirty="0">
                <a:latin typeface="Power Geez Unicode1"/>
                <a:ea typeface="Times New Roman"/>
                <a:cs typeface="VG2000 Main"/>
              </a:rPr>
              <a:t>”</a:t>
            </a:r>
            <a:r>
              <a:rPr lang="en-US" sz="29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Times New Roman"/>
              </a:rPr>
              <a:t>ማለት</a:t>
            </a:r>
            <a:r>
              <a:rPr lang="en-US" sz="2900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Times New Roman"/>
              </a:rPr>
              <a:t>በደንብ</a:t>
            </a:r>
            <a:r>
              <a:rPr lang="en-US" sz="2900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Times New Roman"/>
              </a:rPr>
              <a:t>ቁጥር</a:t>
            </a:r>
            <a:r>
              <a:rPr lang="en-US" sz="2900" dirty="0">
                <a:latin typeface="Power Geez Unicode1"/>
                <a:ea typeface="Times New Roman"/>
                <a:cs typeface="Times New Roman"/>
              </a:rPr>
              <a:t> 150/2015 </a:t>
            </a:r>
            <a:r>
              <a:rPr lang="en-US" sz="2900" dirty="0" err="1">
                <a:latin typeface="Power Geez Unicode1"/>
                <a:ea typeface="Times New Roman"/>
                <a:cs typeface="Times New Roman"/>
              </a:rPr>
              <a:t>መሰረት</a:t>
            </a:r>
            <a:r>
              <a:rPr lang="en-US" sz="2900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Times New Roman"/>
              </a:rPr>
              <a:t>ፍቃድ</a:t>
            </a:r>
            <a:r>
              <a:rPr lang="en-US" sz="2900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Times New Roman"/>
              </a:rPr>
              <a:t>የማይሰጥባቸው</a:t>
            </a:r>
            <a:r>
              <a:rPr lang="en-US" sz="2900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Times New Roman"/>
              </a:rPr>
              <a:t>የተከለከሉ</a:t>
            </a:r>
            <a:r>
              <a:rPr lang="en-US" sz="2900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Times New Roman"/>
              </a:rPr>
              <a:t>የደንብ</a:t>
            </a:r>
            <a:r>
              <a:rPr lang="en-US" sz="2900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Times New Roman"/>
              </a:rPr>
              <a:t>መተላለፎችና</a:t>
            </a:r>
            <a:r>
              <a:rPr lang="en-US" sz="2900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Times New Roman"/>
              </a:rPr>
              <a:t>ተያያዥ</a:t>
            </a:r>
            <a:r>
              <a:rPr lang="en-US" sz="2900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Times New Roman"/>
              </a:rPr>
              <a:t>ህገ-ወጥ</a:t>
            </a:r>
            <a:r>
              <a:rPr lang="en-US" sz="2900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Times New Roman"/>
              </a:rPr>
              <a:t>ተግባራት</a:t>
            </a:r>
            <a:r>
              <a:rPr lang="en-US" sz="2900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Times New Roman"/>
              </a:rPr>
              <a:t>ናቸው</a:t>
            </a:r>
            <a:r>
              <a:rPr lang="en-US" sz="2900" dirty="0">
                <a:latin typeface="Power Geez Unicode1"/>
                <a:ea typeface="Times New Roman"/>
                <a:cs typeface="Times New Roman"/>
              </a:rPr>
              <a:t>፤</a:t>
            </a:r>
            <a:endParaRPr lang="en-US" sz="2900" dirty="0">
              <a:ea typeface="Times New Roman"/>
              <a:cs typeface="Times New Roman"/>
            </a:endParaRPr>
          </a:p>
          <a:p>
            <a:pPr marL="457200" lvl="1" indent="0" algn="just">
              <a:lnSpc>
                <a:spcPct val="150000"/>
              </a:lnSpc>
              <a:buNone/>
              <a:tabLst>
                <a:tab pos="228600" algn="l"/>
              </a:tabLst>
            </a:pPr>
            <a:r>
              <a:rPr lang="en-US" sz="2900" b="1" dirty="0">
                <a:latin typeface="Power Geez Unicode1"/>
                <a:ea typeface="Times New Roman"/>
                <a:cs typeface="VG2000 Main"/>
              </a:rPr>
              <a:t>“</a:t>
            </a:r>
            <a:r>
              <a:rPr lang="en-US" sz="2900" b="1" dirty="0" err="1">
                <a:latin typeface="Power Geez Unicode1"/>
                <a:ea typeface="Times New Roman"/>
                <a:cs typeface="VG2000 Main"/>
              </a:rPr>
              <a:t>ሰው</a:t>
            </a:r>
            <a:r>
              <a:rPr lang="en-US" sz="2900" b="1" dirty="0">
                <a:latin typeface="Power Geez Unicode1"/>
                <a:ea typeface="Times New Roman"/>
                <a:cs typeface="VG2000 Main"/>
              </a:rPr>
              <a:t>”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ማለት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የተፈጥሮ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ሰው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ወይም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በሕግ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የሰውነት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መብት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የተሰጠው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አካል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 </a:t>
            </a:r>
            <a:r>
              <a:rPr lang="en-US" sz="2900" dirty="0" err="1">
                <a:latin typeface="Power Geez Unicode1"/>
                <a:ea typeface="Times New Roman"/>
                <a:cs typeface="VG2000 Main"/>
              </a:rPr>
              <a:t>ነው</a:t>
            </a:r>
            <a:r>
              <a:rPr lang="en-US" sz="2900" dirty="0">
                <a:latin typeface="Power Geez Unicode1"/>
                <a:ea typeface="Times New Roman"/>
                <a:cs typeface="VG2000 Main"/>
              </a:rPr>
              <a:t>፡፡</a:t>
            </a:r>
            <a:endParaRPr lang="en-US" sz="2500" dirty="0">
              <a:ea typeface="Times New Roman"/>
              <a:cs typeface="Times New Roman"/>
            </a:endParaRP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8901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0" lvl="0" indent="0" algn="ctr">
              <a:lnSpc>
                <a:spcPct val="150000"/>
              </a:lnSpc>
              <a:buNone/>
            </a:pPr>
            <a:r>
              <a:rPr lang="en-US" b="1" dirty="0" err="1">
                <a:latin typeface="Power Geez Unicode1"/>
                <a:ea typeface="Times New Roman"/>
                <a:cs typeface="Ebrima"/>
              </a:rPr>
              <a:t>ስለ</a:t>
            </a:r>
            <a:r>
              <a:rPr lang="en-US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Ebrima"/>
              </a:rPr>
              <a:t>ጾታ</a:t>
            </a:r>
            <a:r>
              <a:rPr lang="en-US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Ebrima"/>
              </a:rPr>
              <a:t>አገላለጽ</a:t>
            </a:r>
            <a:endParaRPr lang="en-US" dirty="0"/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dirty="0" err="1">
                <a:latin typeface="Power Geez Unicode1"/>
                <a:ea typeface="Times New Roman"/>
                <a:cs typeface="Ebrima"/>
              </a:rPr>
              <a:t>በዚህ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Ebrima"/>
              </a:rPr>
              <a:t>መመሪያ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Ebrima"/>
              </a:rPr>
              <a:t>ውስጥ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Ebrima"/>
              </a:rPr>
              <a:t>በወንድ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Ebrima"/>
              </a:rPr>
              <a:t>ፆታ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Ebrima"/>
              </a:rPr>
              <a:t>የተደነገገው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Ebrima"/>
              </a:rPr>
              <a:t>የሴትንም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Ebrima"/>
              </a:rPr>
              <a:t>ጾታ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Ebrima"/>
              </a:rPr>
              <a:t>ያካትታል</a:t>
            </a:r>
            <a:r>
              <a:rPr lang="en-US" dirty="0">
                <a:latin typeface="Power Geez Unicode1"/>
                <a:ea typeface="Times New Roman"/>
                <a:cs typeface="Ebrima"/>
              </a:rPr>
              <a:t>፡፡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endParaRPr lang="en-US" sz="2800" dirty="0">
              <a:ea typeface="Calibri"/>
              <a:cs typeface="Arial"/>
            </a:endParaRPr>
          </a:p>
          <a:p>
            <a:pPr marL="0" lvl="0" indent="0" algn="ctr">
              <a:lnSpc>
                <a:spcPct val="150000"/>
              </a:lnSpc>
              <a:buNone/>
            </a:pPr>
            <a:r>
              <a:rPr lang="en-US" b="1" dirty="0" err="1">
                <a:latin typeface="Power Geez Unicode1"/>
                <a:ea typeface="Times New Roman"/>
                <a:cs typeface="Ebrima"/>
              </a:rPr>
              <a:t>የተፈፃ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ሚነት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ወሰን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  <a:tabLst>
                <a:tab pos="4010025" algn="l"/>
              </a:tabLst>
            </a:pPr>
            <a:r>
              <a:rPr lang="en-US" dirty="0" err="1">
                <a:latin typeface="Power Geez Unicode1"/>
                <a:ea typeface="Times New Roman"/>
                <a:cs typeface="Times New Roman"/>
              </a:rPr>
              <a:t>ይህ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የአፈጻጸም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መመሪያ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በአዲስ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አበባ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ከተማ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አስተዳደር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ክልል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ስር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በሚፈፀሙ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የደንብ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መተለላፍና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ተያያዥ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ህገወጥ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ተግባራት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እና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ደንብ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ተላላፊዎች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ላይ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ተፈፃሚነት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ይኖረዋል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፡፡</a:t>
            </a:r>
            <a:endParaRPr lang="en-US" dirty="0"/>
          </a:p>
          <a:p>
            <a:pPr algn="just">
              <a:lnSpc>
                <a:spcPct val="150000"/>
              </a:lnSpc>
              <a:tabLst>
                <a:tab pos="4010025" algn="l"/>
              </a:tabLst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47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lvl="0" algn="l">
              <a:lnSpc>
                <a:spcPct val="150000"/>
              </a:lnSpc>
              <a:spcAft>
                <a:spcPts val="1000"/>
              </a:spcAft>
              <a:tabLst>
                <a:tab pos="4010025" algn="l"/>
              </a:tabLst>
            </a:pPr>
            <a:r>
              <a:rPr lang="en-US" b="1" dirty="0" smtClean="0">
                <a:latin typeface="Power Geez Unicode1"/>
                <a:ea typeface="Times New Roman"/>
                <a:cs typeface="Times New Roman"/>
              </a:rPr>
              <a:t/>
            </a:r>
            <a:br>
              <a:rPr lang="en-US" b="1" dirty="0" smtClean="0">
                <a:latin typeface="Power Geez Unicode1"/>
                <a:ea typeface="Times New Roman"/>
                <a:cs typeface="Times New Roman"/>
              </a:rPr>
            </a:br>
            <a:r>
              <a:rPr lang="en-US" b="1" dirty="0" err="1" smtClean="0">
                <a:latin typeface="Power Geez Unicode1"/>
                <a:ea typeface="Times New Roman"/>
                <a:cs typeface="Times New Roman"/>
              </a:rPr>
              <a:t>ዓላማ</a:t>
            </a:r>
            <a:r>
              <a:rPr lang="en-US" b="1" dirty="0" smtClean="0">
                <a:latin typeface="Power Geez Unicode1"/>
                <a:ea typeface="Times New Roman"/>
                <a:cs typeface="Times New Roman"/>
              </a:rPr>
              <a:t>፡-</a:t>
            </a:r>
            <a:r>
              <a:rPr lang="en-US" sz="4000" dirty="0">
                <a:ea typeface="Times New Roman"/>
                <a:cs typeface="Times New Roman"/>
              </a:rPr>
              <a:t/>
            </a:r>
            <a:br>
              <a:rPr lang="en-US" sz="4000" dirty="0">
                <a:ea typeface="Times New Roman"/>
                <a:cs typeface="Times New Roman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b="1" dirty="0" err="1">
                <a:latin typeface="Power Geez Unicode1"/>
                <a:ea typeface="Calibri"/>
                <a:cs typeface="Ebrima"/>
              </a:rPr>
              <a:t>ባለስልጣኑ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የተሰጠውን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ተግባር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እና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ኃላፊነትን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በተገቢው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መልኩ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ለመወጣት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የሚያስችል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ጠንካራ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አደረጃጀትና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አሰራርን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በመፍጠር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በከተማዋ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እየተስተዋለ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የሚገኘውን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የደንብ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መተላለፎች</a:t>
            </a:r>
            <a:r>
              <a:rPr lang="en-US" b="1" dirty="0">
                <a:latin typeface="Power Geez Unicode1"/>
                <a:ea typeface="Calibri"/>
                <a:cs typeface="Ebrim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እና</a:t>
            </a:r>
            <a:r>
              <a:rPr lang="en-US" b="1" dirty="0">
                <a:latin typeface="Power Geez Unicode1"/>
                <a:ea typeface="Calibri"/>
                <a:cs typeface="Ebrim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ተያያዥ</a:t>
            </a:r>
            <a:r>
              <a:rPr lang="en-US" b="1" dirty="0">
                <a:latin typeface="Power Geez Unicode1"/>
                <a:ea typeface="Calibri"/>
                <a:cs typeface="Ebrim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ህገ-ወጥ</a:t>
            </a:r>
            <a:r>
              <a:rPr lang="en-US" b="1" dirty="0">
                <a:latin typeface="Power Geez Unicode1"/>
                <a:ea typeface="Calibri"/>
                <a:cs typeface="Ebrim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ተግባራትን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ለመከላከል</a:t>
            </a:r>
            <a:r>
              <a:rPr lang="en-US" b="1" dirty="0">
                <a:latin typeface="Power Geez Unicode1"/>
                <a:ea typeface="Calibri"/>
                <a:cs typeface="Ebrima"/>
              </a:rPr>
              <a:t>፤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ለመቆጣጠር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ብሎም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እርምጃ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ለመውሰድ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የሚያስችል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ቅጣትን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በመወሰን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ከተማዋ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ለነዋሪዎቿ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ምቹ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እና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የህግ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የበላይነት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የሰፈነባት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Nyala"/>
              </a:rPr>
              <a:t>ለ</a:t>
            </a:r>
            <a:r>
              <a:rPr lang="en-US" b="1" dirty="0" err="1">
                <a:latin typeface="Power Geez Unicode1"/>
                <a:ea typeface="Calibri"/>
                <a:cs typeface="Ebrima"/>
              </a:rPr>
              <a:t>ማድረግ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Nyala"/>
              </a:rPr>
              <a:t>የሚያስችል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Nyala"/>
              </a:rPr>
              <a:t>ይህን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Nyala"/>
              </a:rPr>
              <a:t>የአፈፃፀም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Nyala"/>
              </a:rPr>
              <a:t>መመሪያ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Nyala"/>
              </a:rPr>
              <a:t>ማውጣት</a:t>
            </a:r>
            <a:r>
              <a:rPr lang="en-US" b="1" dirty="0">
                <a:latin typeface="Power Geez Unicode1"/>
                <a:ea typeface="Calibri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Calibri"/>
                <a:cs typeface="Nyala"/>
              </a:rPr>
              <a:t>አስፈልጓል</a:t>
            </a:r>
            <a:r>
              <a:rPr lang="en-US" b="1" dirty="0">
                <a:latin typeface="Power Geez Unicode1"/>
                <a:ea typeface="Calibri"/>
                <a:cs typeface="Nyala"/>
              </a:rPr>
              <a:t>፡፡</a:t>
            </a:r>
            <a:endParaRPr lang="en-US" sz="2800" b="1" dirty="0">
              <a:ea typeface="Calibri"/>
              <a:cs typeface="Arial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26997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lvl="0">
              <a:lnSpc>
                <a:spcPct val="150000"/>
              </a:lnSpc>
              <a:spcAft>
                <a:spcPts val="1000"/>
              </a:spcAft>
              <a:tabLst>
                <a:tab pos="4010025" algn="l"/>
              </a:tabLst>
            </a:pPr>
            <a:r>
              <a:rPr lang="en-US" b="1" dirty="0" smtClean="0">
                <a:latin typeface="Power Geez Unicode1"/>
                <a:ea typeface="Times New Roman"/>
                <a:cs typeface="Nyala"/>
              </a:rPr>
              <a:t/>
            </a:r>
            <a:br>
              <a:rPr lang="en-US" b="1" dirty="0" smtClean="0">
                <a:latin typeface="Power Geez Unicode1"/>
                <a:ea typeface="Times New Roman"/>
                <a:cs typeface="Nyala"/>
              </a:rPr>
            </a:br>
            <a:r>
              <a:rPr lang="en-US" sz="3600" b="1" dirty="0" err="1" smtClean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የደንብ</a:t>
            </a:r>
            <a:r>
              <a:rPr lang="en-US" sz="3600" b="1" dirty="0" smtClean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3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ቅድመ</a:t>
            </a:r>
            <a:r>
              <a:rPr lang="en-US" sz="3600" b="1" dirty="0">
                <a:solidFill>
                  <a:srgbClr val="0070C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መከላከል</a:t>
            </a:r>
            <a:r>
              <a:rPr lang="en-US" sz="3600" b="1" dirty="0">
                <a:solidFill>
                  <a:srgbClr val="0070C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ተግባራት</a:t>
            </a:r>
            <a:r>
              <a:rPr lang="en-US" sz="3600" dirty="0">
                <a:ea typeface="Times New Roman"/>
                <a:cs typeface="Times New Roman"/>
              </a:rPr>
              <a:t/>
            </a:r>
            <a:br>
              <a:rPr lang="en-US" sz="3600" dirty="0">
                <a:ea typeface="Times New Roman"/>
                <a:cs typeface="Times New Roman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334000"/>
          </a:xfrm>
          <a:solidFill>
            <a:schemeClr val="accent1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62500" lnSpcReduction="20000"/>
          </a:bodyPr>
          <a:lstStyle/>
          <a:p>
            <a:pPr marL="457200" lvl="1" indent="0" algn="just">
              <a:lnSpc>
                <a:spcPct val="150000"/>
              </a:lnSpc>
              <a:buSzPts val="1200"/>
              <a:buNone/>
            </a:pPr>
            <a:r>
              <a:rPr lang="en-GB" dirty="0" err="1">
                <a:latin typeface="Visual Geez Unicode"/>
                <a:ea typeface="Times New Roman"/>
                <a:cs typeface="Nyala"/>
              </a:rPr>
              <a:t>በየጊዜው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እየጨመረና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እየተለዋወጠ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የሚሄድን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የደንብ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መተላለፍን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ለመቀነስ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ባለስልጣኑ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የቅድመ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መከላከል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ኦፊሰሮች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ከህብረተሰቡ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በመመልመል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Visual Geez Unicode"/>
              </a:rPr>
              <a:t>ከፊል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Visual Geez Unicode"/>
              </a:rPr>
              <a:t>ወታደራዊ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Visual Geez Unicode"/>
              </a:rPr>
              <a:t>ስልጠና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ሰልጥነው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ወደ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ስራ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ማስገባት</a:t>
            </a:r>
            <a:r>
              <a:rPr lang="en-GB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የቻለ</a:t>
            </a:r>
            <a:r>
              <a:rPr lang="en-GB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ሲሆን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ከልዩ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ልዩ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የህዝብ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አደረጃጀቶች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እና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በጎፈቃደኞች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እና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ኮሚኒቲ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ፖሊሲንግ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ጋር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በጋራ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በመስራት</a:t>
            </a:r>
            <a:r>
              <a:rPr lang="en-GB" dirty="0">
                <a:latin typeface="Visual Geez Unicode"/>
                <a:ea typeface="Times New Roman"/>
                <a:cs typeface="Nyala"/>
              </a:rPr>
              <a:t>፤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ህብረተሰቡ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ስለ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ደንብ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መተላለፍ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ያለውን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ግንዛቤ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በማሳደግና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የቅድመ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መከላከል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ተግባር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ላይ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በቀጥታ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ተሳታፊ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በማድረግ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የደንብ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መተላለፍ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የቀነሰባት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እና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ለነዋሪዎቿ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ምቹ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የሆነች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ከተማ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መፍጠር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ማስቻል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ነው</a:t>
            </a:r>
            <a:r>
              <a:rPr lang="en-GB" dirty="0">
                <a:latin typeface="Visual Geez Unicode"/>
                <a:ea typeface="Times New Roman"/>
                <a:cs typeface="Nyala"/>
              </a:rPr>
              <a:t>፡፡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ስለሆነም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የቅድመ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መከላከል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ኦፊሰሮች</a:t>
            </a:r>
            <a:r>
              <a:rPr lang="en-GB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አሰልጥኖ</a:t>
            </a:r>
            <a:r>
              <a:rPr lang="en-GB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ወደ</a:t>
            </a:r>
            <a:r>
              <a:rPr lang="en-GB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ስራ</a:t>
            </a:r>
            <a:r>
              <a:rPr lang="en-GB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ማስገባት</a:t>
            </a:r>
            <a:r>
              <a:rPr lang="en-GB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ያስፈለገበት</a:t>
            </a:r>
            <a:r>
              <a:rPr lang="en-GB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ምክንያት</a:t>
            </a:r>
            <a:r>
              <a:rPr lang="en-GB" dirty="0">
                <a:latin typeface="Visual Geez Unicode"/>
                <a:ea typeface="Times New Roman"/>
                <a:cs typeface="Nyala"/>
              </a:rPr>
              <a:t>፡-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endParaRPr lang="en-US" sz="2400" dirty="0">
              <a:ea typeface="Times New Roman"/>
              <a:cs typeface="Visual Geez Unicode"/>
            </a:endParaRPr>
          </a:p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GB" dirty="0" err="1" smtClean="0">
                <a:latin typeface="Visual Geez Unicode"/>
                <a:ea typeface="Times New Roman"/>
                <a:cs typeface="Nyala"/>
              </a:rPr>
              <a:t>በአንዳንድ</a:t>
            </a:r>
            <a:r>
              <a:rPr lang="en-GB" dirty="0" smtClean="0">
                <a:latin typeface="Visual Geez Unicode"/>
                <a:ea typeface="Times New Roman"/>
                <a:cs typeface="Nyala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የህብረተሰብ</a:t>
            </a:r>
            <a:r>
              <a:rPr lang="en-GB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ክፍሎች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ስለ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ደንብ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ማስከበር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Visual Geez Unicode"/>
              </a:rPr>
              <a:t>ባለስልጣን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ያለው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ግንዛቤ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አናሳ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በመሆኑ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የደንብ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መተላለፍ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ከመከላከል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ይልቅ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ከህገወጦች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ጋር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የቆመ</a:t>
            </a:r>
            <a:r>
              <a:rPr lang="en-GB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እና</a:t>
            </a:r>
            <a:r>
              <a:rPr lang="en-GB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ዝምታን</a:t>
            </a:r>
            <a:r>
              <a:rPr lang="en-GB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የሚመርጥ</a:t>
            </a:r>
            <a:r>
              <a:rPr lang="en-GB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በመሆኑ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ግንዛቤውን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በማሳደግ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በደንብ</a:t>
            </a:r>
            <a:r>
              <a:rPr lang="en-GB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መተላለፍ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ተግባር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ተሳታፊ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እንዳይሆንና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በቅድመ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መከላከል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ስራ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ላይ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ዋና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ተዋናይ</a:t>
            </a:r>
            <a:r>
              <a:rPr lang="en-GB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እንዲሆን</a:t>
            </a:r>
            <a:r>
              <a:rPr lang="en-GB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ማድረግ</a:t>
            </a:r>
            <a:r>
              <a:rPr lang="en-GB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dirty="0" err="1">
                <a:latin typeface="Visual Geez Unicode"/>
                <a:ea typeface="Times New Roman"/>
                <a:cs typeface="Nyala"/>
              </a:rPr>
              <a:t>በማስፈለጉ</a:t>
            </a:r>
            <a:r>
              <a:rPr lang="en-GB" dirty="0">
                <a:solidFill>
                  <a:srgbClr val="FF0000"/>
                </a:solidFill>
                <a:latin typeface="Visual Geez Unicode"/>
                <a:ea typeface="Times New Roman"/>
                <a:cs typeface="Nyala"/>
              </a:rPr>
              <a:t>፤</a:t>
            </a:r>
            <a:endParaRPr lang="en-US" sz="2800" dirty="0">
              <a:ea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838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229600" cy="5334000"/>
          </a:xfr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47500" lnSpcReduction="20000"/>
          </a:bodyPr>
          <a:lstStyle/>
          <a:p>
            <a:pPr lvl="0" algn="just">
              <a:lnSpc>
                <a:spcPct val="150000"/>
              </a:lnSpc>
              <a:buFont typeface="Wingdings"/>
              <a:buChar char=""/>
            </a:pPr>
            <a:r>
              <a:rPr lang="en-GB" sz="3400" dirty="0" err="1">
                <a:latin typeface="Visual Geez Unicode"/>
                <a:ea typeface="Times New Roman"/>
                <a:cs typeface="Nyala"/>
              </a:rPr>
              <a:t>የባለስልጣኑ</a:t>
            </a:r>
            <a:r>
              <a:rPr lang="en-GB" sz="3400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ቀድሞ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የነበረው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አደረጃጀት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Visual Geez Unicode"/>
              </a:rPr>
              <a:t>በደንብ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Visual Geez Unicode"/>
              </a:rPr>
              <a:t>መተላለፍ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ቁጥጥርና</a:t>
            </a:r>
            <a:r>
              <a:rPr lang="en-GB" sz="3400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እርምጃ</a:t>
            </a:r>
            <a:r>
              <a:rPr lang="en-GB" sz="3400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አወሳሰድ</a:t>
            </a:r>
            <a:r>
              <a:rPr lang="en-GB" sz="3400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ኦፊሰሩ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ላይ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ያተኮረና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ህብረተሰቡን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ያላሳተፈ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ከመሆኑ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በተጨማሪ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የደንብ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መተላለፍ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ቀድሞ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ለመከላከል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በተደራጀ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መልኩ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ባለመሰራቱ</a:t>
            </a:r>
            <a:r>
              <a:rPr lang="en-GB" sz="3400" dirty="0">
                <a:latin typeface="Visual Geez Unicode"/>
                <a:ea typeface="Times New Roman"/>
                <a:cs typeface="Nyala"/>
              </a:rPr>
              <a:t>፤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በከተማዋ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የደንብ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መተላለፍ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ከመቀነስ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ፈንታ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በአይነቱና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እና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በመጠኑ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እየተስፋፋ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መምጣቱ</a:t>
            </a:r>
            <a:r>
              <a:rPr lang="en-GB" sz="3400" dirty="0">
                <a:latin typeface="Visual Geez Unicode"/>
                <a:ea typeface="Times New Roman"/>
                <a:cs typeface="Nyala"/>
              </a:rPr>
              <a:t>፤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ይህንን</a:t>
            </a:r>
            <a:r>
              <a:rPr lang="en-GB" sz="3400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አሰራር</a:t>
            </a:r>
            <a:r>
              <a:rPr lang="en-GB" sz="3400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በመቀየር</a:t>
            </a:r>
            <a:r>
              <a:rPr lang="en-GB" sz="3400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ደንብ</a:t>
            </a:r>
            <a:r>
              <a:rPr lang="en-GB" sz="3400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መተላለፉ</a:t>
            </a:r>
            <a:r>
              <a:rPr lang="en-GB" sz="3400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ቀድሞ</a:t>
            </a:r>
            <a:r>
              <a:rPr lang="en-GB" sz="3400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ሳይፈፀም</a:t>
            </a:r>
            <a:r>
              <a:rPr lang="en-GB" sz="3400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ለህብረተሰቡ</a:t>
            </a:r>
            <a:r>
              <a:rPr lang="en-GB" sz="3400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የቅድመ</a:t>
            </a:r>
            <a:r>
              <a:rPr lang="en-GB" sz="3400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መከላከል</a:t>
            </a:r>
            <a:r>
              <a:rPr lang="en-GB" sz="3400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ግንዛቤ</a:t>
            </a:r>
            <a:r>
              <a:rPr lang="en-GB" sz="3400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መፍጠር</a:t>
            </a:r>
            <a:r>
              <a:rPr lang="en-GB" sz="3400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በማስፈለጉ</a:t>
            </a:r>
            <a:r>
              <a:rPr lang="en-GB" sz="3400" dirty="0">
                <a:solidFill>
                  <a:srgbClr val="FF0000"/>
                </a:solidFill>
                <a:latin typeface="Visual Geez Unicode"/>
                <a:ea typeface="Times New Roman"/>
                <a:cs typeface="Nyala"/>
              </a:rPr>
              <a:t>፤</a:t>
            </a:r>
            <a:endParaRPr lang="en-US" sz="2900" dirty="0"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Wingdings"/>
              <a:buChar char=""/>
            </a:pPr>
            <a:r>
              <a:rPr lang="en-GB" sz="3400" dirty="0" err="1">
                <a:latin typeface="Visual Geez Unicode"/>
                <a:ea typeface="Times New Roman"/>
                <a:cs typeface="Nyala"/>
              </a:rPr>
              <a:t>የቅድመ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መከላከል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ኦፊሰሮች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በማህበረሰቡ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ዘንድ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ተቀባይነት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ካላቸዉ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የበጎ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ፈቃድ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አገልግሎት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ሰጭዎች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ጋር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በመሆን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የደንብ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 smtClean="0">
                <a:latin typeface="Visual Geez Unicode"/>
                <a:ea typeface="Times New Roman"/>
                <a:cs typeface="Nyala"/>
              </a:rPr>
              <a:t>መተላለፍን</a:t>
            </a:r>
            <a:r>
              <a:rPr lang="en-GB" sz="3400" dirty="0" smtClean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Visual Geez Unicode"/>
              </a:rPr>
              <a:t>ለ</a:t>
            </a:r>
            <a:r>
              <a:rPr lang="en-GB" sz="3400" dirty="0" err="1" smtClean="0">
                <a:latin typeface="Visual Geez Unicode"/>
                <a:ea typeface="Times New Roman"/>
                <a:cs typeface="Nyala"/>
              </a:rPr>
              <a:t>መቀነስ</a:t>
            </a:r>
            <a:r>
              <a:rPr lang="en-GB" sz="3400" dirty="0" smtClean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ምቹ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ሁኔታ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Visual Geez Unicode"/>
              </a:rPr>
              <a:t>ለመፍጠር</a:t>
            </a:r>
            <a:r>
              <a:rPr lang="en-GB" sz="3400" dirty="0">
                <a:solidFill>
                  <a:srgbClr val="FF0000"/>
                </a:solidFill>
                <a:latin typeface="Visual Geez Unicode"/>
                <a:ea typeface="Times New Roman"/>
                <a:cs typeface="Nyala"/>
              </a:rPr>
              <a:t>፤</a:t>
            </a:r>
            <a:r>
              <a:rPr lang="en-GB" sz="3400" dirty="0">
                <a:solidFill>
                  <a:srgbClr val="FF0000"/>
                </a:solidFill>
                <a:latin typeface="Visual Geez Unicode"/>
                <a:ea typeface="Times New Roman"/>
                <a:cs typeface="Visual Geez Unicode"/>
              </a:rPr>
              <a:t> </a:t>
            </a:r>
            <a:endParaRPr lang="en-US" sz="2900" dirty="0"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Wingdings"/>
              <a:buChar char=""/>
            </a:pPr>
            <a:r>
              <a:rPr lang="en-GB" sz="3400" dirty="0" err="1">
                <a:latin typeface="Visual Geez Unicode"/>
                <a:ea typeface="Times New Roman"/>
                <a:cs typeface="Nyala"/>
              </a:rPr>
              <a:t>በህብረተሰቡ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ውስጥ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የሚገኙ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ልዩ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ልዩ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አደረጃጀቶችን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በመጠቀም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ህብረተሰቡ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በእኔነት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ስሜት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ደንብ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መተላለፍን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ቀድሞ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የመከላከልና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ተፈጽሞ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ሲገኝም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ጥቆማ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በመስጠት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ሂደት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ላይ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ተሳታፊ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ማድረግ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Visual Geez Unicode"/>
              </a:rPr>
              <a:t>በማስፈለጉ</a:t>
            </a:r>
            <a:r>
              <a:rPr lang="en-GB" sz="3400" dirty="0">
                <a:solidFill>
                  <a:srgbClr val="FF0000"/>
                </a:solidFill>
                <a:latin typeface="Visual Geez Unicode"/>
                <a:ea typeface="Times New Roman"/>
                <a:cs typeface="Nyala"/>
              </a:rPr>
              <a:t>፤ </a:t>
            </a:r>
            <a:endParaRPr lang="en-GB" sz="3400" dirty="0" smtClean="0">
              <a:solidFill>
                <a:srgbClr val="FF0000"/>
              </a:solidFill>
              <a:latin typeface="Visual Geez Unicode"/>
              <a:ea typeface="Times New Roman"/>
              <a:cs typeface="Nyala"/>
            </a:endParaRPr>
          </a:p>
          <a:p>
            <a:pPr lvl="0" algn="just">
              <a:lnSpc>
                <a:spcPct val="150000"/>
              </a:lnSpc>
              <a:buFont typeface="Wingdings"/>
              <a:buChar char=""/>
            </a:pPr>
            <a:r>
              <a:rPr lang="en-GB" sz="3400" dirty="0" err="1">
                <a:latin typeface="Visual Geez Unicode"/>
                <a:ea typeface="Times New Roman"/>
                <a:cs typeface="Nyala"/>
              </a:rPr>
              <a:t>ደንብ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መተላላፍ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የሚፈጸምባቸው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የመንግስትና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የህዝብ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ሀብቶችን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በመንከባከብና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በመጠበቅ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ህብረተሰቡ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ፍትሀዊ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የሀብት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ክፍፍል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ተጠቃሚ</a:t>
            </a:r>
            <a:r>
              <a:rPr lang="en-GB" sz="3400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እንዲሆን</a:t>
            </a:r>
            <a:r>
              <a:rPr lang="en-GB" sz="3400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ኃላፊነት</a:t>
            </a:r>
            <a:r>
              <a:rPr lang="en-GB" sz="3400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3400" dirty="0" err="1">
                <a:latin typeface="Visual Geez Unicode"/>
                <a:ea typeface="Times New Roman"/>
                <a:cs typeface="Nyala"/>
              </a:rPr>
              <a:t>ይኖርበታል</a:t>
            </a:r>
            <a:r>
              <a:rPr lang="en-GB" sz="2900" dirty="0">
                <a:latin typeface="Visual Geez Unicode"/>
                <a:ea typeface="Times New Roman"/>
                <a:cs typeface="Nyala"/>
              </a:rPr>
              <a:t>፡፡</a:t>
            </a:r>
            <a:endParaRPr lang="en-US" sz="2300" dirty="0"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Wingdings"/>
              <a:buChar char=""/>
            </a:pPr>
            <a:endParaRPr lang="en-US" sz="2900" dirty="0">
              <a:ea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613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lvl="0">
              <a:lnSpc>
                <a:spcPct val="150000"/>
              </a:lnSpc>
              <a:buSzPts val="1200"/>
            </a:pPr>
            <a:r>
              <a:rPr lang="en-GB" sz="2700" b="1" dirty="0" smtClean="0">
                <a:latin typeface="Visual Geez Unicode"/>
                <a:ea typeface="Times New Roman"/>
                <a:cs typeface="Nyala"/>
              </a:rPr>
              <a:t/>
            </a:r>
            <a:br>
              <a:rPr lang="en-GB" sz="2700" b="1" dirty="0" smtClean="0">
                <a:latin typeface="Visual Geez Unicode"/>
                <a:ea typeface="Times New Roman"/>
                <a:cs typeface="Nyala"/>
              </a:rPr>
            </a:br>
            <a:r>
              <a:rPr lang="en-GB" sz="2700" b="1" dirty="0" smtClean="0">
                <a:latin typeface="Visual Geez Unicode"/>
                <a:ea typeface="Times New Roman"/>
                <a:cs typeface="Nyala"/>
              </a:rPr>
              <a:t/>
            </a:r>
            <a:br>
              <a:rPr lang="en-GB" sz="2700" b="1" dirty="0" smtClean="0">
                <a:latin typeface="Visual Geez Unicode"/>
                <a:ea typeface="Times New Roman"/>
                <a:cs typeface="Nyala"/>
              </a:rPr>
            </a:br>
            <a:r>
              <a:rPr lang="en-GB" sz="2700" b="1" dirty="0" err="1" smtClean="0">
                <a:latin typeface="Visual Geez Unicode"/>
                <a:ea typeface="Times New Roman"/>
                <a:cs typeface="Nyala"/>
              </a:rPr>
              <a:t>የደንብ</a:t>
            </a:r>
            <a:r>
              <a:rPr lang="en-GB" sz="2700" b="1" dirty="0" smtClean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2700" b="1" dirty="0" err="1">
                <a:latin typeface="Visual Geez Unicode"/>
                <a:ea typeface="Times New Roman"/>
                <a:cs typeface="Nyala"/>
              </a:rPr>
              <a:t>መተላለፍ</a:t>
            </a:r>
            <a:r>
              <a:rPr lang="en-GB" sz="2700" b="1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2700" b="1" dirty="0" err="1">
                <a:latin typeface="Visual Geez Unicode"/>
                <a:ea typeface="Times New Roman"/>
                <a:cs typeface="Nyala"/>
              </a:rPr>
              <a:t>ክትትል</a:t>
            </a:r>
            <a:r>
              <a:rPr lang="en-GB" sz="2700" b="1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2700" b="1" dirty="0" err="1">
                <a:latin typeface="Visual Geez Unicode"/>
                <a:ea typeface="Times New Roman"/>
                <a:cs typeface="Nyala"/>
              </a:rPr>
              <a:t>ቁጥጥርና</a:t>
            </a:r>
            <a:r>
              <a:rPr lang="en-GB" sz="2700" b="1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2700" b="1" dirty="0" err="1">
                <a:latin typeface="Visual Geez Unicode"/>
                <a:ea typeface="Times New Roman"/>
                <a:cs typeface="Nyala"/>
              </a:rPr>
              <a:t>እርምጃ</a:t>
            </a:r>
            <a:r>
              <a:rPr lang="en-GB" sz="2700" b="1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2700" b="1" dirty="0" err="1">
                <a:latin typeface="Visual Geez Unicode"/>
                <a:ea typeface="Times New Roman"/>
                <a:cs typeface="Nyala"/>
              </a:rPr>
              <a:t>አወሳሰድ</a:t>
            </a:r>
            <a:r>
              <a:rPr lang="en-GB" sz="2700" b="1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GB" sz="2700" b="1" dirty="0" err="1">
                <a:latin typeface="Visual Geez Unicode"/>
                <a:ea typeface="Times New Roman"/>
                <a:cs typeface="Nyala"/>
              </a:rPr>
              <a:t>ኦፊሰር</a:t>
            </a:r>
            <a:r>
              <a:rPr lang="en-GB" sz="2700" b="1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US" sz="2700" b="1" dirty="0" err="1">
                <a:latin typeface="Power Geez Unicode1"/>
                <a:ea typeface="Times New Roman"/>
                <a:cs typeface="Nyala"/>
              </a:rPr>
              <a:t>ተግባራት</a:t>
            </a:r>
            <a:r>
              <a:rPr lang="en-US" sz="2700" b="1" dirty="0">
                <a:latin typeface="Visual Geez Unicode"/>
                <a:ea typeface="Times New Roman"/>
                <a:cs typeface="Nyala"/>
              </a:rPr>
              <a:t> </a:t>
            </a:r>
            <a:r>
              <a:rPr lang="en-US" sz="4000" dirty="0">
                <a:ea typeface="Times New Roman"/>
                <a:cs typeface="Nyala"/>
              </a:rPr>
              <a:t/>
            </a:r>
            <a:br>
              <a:rPr lang="en-US" sz="4000" dirty="0">
                <a:ea typeface="Times New Roman"/>
                <a:cs typeface="Nyala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  <a:solidFill>
            <a:schemeClr val="bg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 fontScale="47500" lnSpcReduction="20000"/>
          </a:bodyPr>
          <a:lstStyle/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የደንብ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መተላላፍና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ተያያዥ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ህገወጥ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ተግባራት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የሚፈፀምበት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አይነት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፤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ጊዜ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፤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መጠንና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ተለዋዋጭ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ባህርያትን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መሰረት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በማድረግ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በ(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ቀጠና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)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ብሎኮች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ውስጥ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የሚፈፀሙ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ደንብ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መተላለፎችን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ለመከታተል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፤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ለመቆጣጠር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፤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እና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እርምጃ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ለመውሰድ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የሚያስችል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ዳሰሳዊ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ጥናት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ማድረግ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፣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ስልት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መንደፍና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ተግባሩ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ቀድሞ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እንዳይፈፀም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የመከላከል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ሂደትን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በመምራት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እንዲሁም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ተፈጽሞ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ሲገኝ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እርምጃ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እንዲወሰድ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በማስተባበር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ደንብ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መተላላፍን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ለመቀነስ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እንዲቻል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የሚከተሉትን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ተግባራት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 </a:t>
            </a:r>
            <a:r>
              <a:rPr lang="en-US" b="1" dirty="0" err="1">
                <a:latin typeface="Visual Geez Unicode"/>
                <a:ea typeface="Times New Roman"/>
                <a:cs typeface="Visual Geez Unicode"/>
              </a:rPr>
              <a:t>ያከናውናል</a:t>
            </a:r>
            <a:r>
              <a:rPr lang="en-US" b="1" dirty="0">
                <a:latin typeface="Visual Geez Unicode"/>
                <a:ea typeface="Times New Roman"/>
                <a:cs typeface="Visual Geez Unicode"/>
              </a:rPr>
              <a:t>፤</a:t>
            </a:r>
            <a:endParaRPr lang="en-US" sz="2800" b="1" dirty="0"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Symbol"/>
              <a:buChar char=""/>
            </a:pP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በብሎኩ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(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ቀጠናው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)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ላይ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የሚፈፀሙ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መተላለፎችን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መከላከል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መቆጣጠርና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እርምጃ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መውሰድ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የሚቻልበት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አሰራር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በጥናት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ይለያል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፤</a:t>
            </a:r>
            <a:endParaRPr lang="en-US" sz="2800" b="1" dirty="0"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Symbol"/>
              <a:buChar char=""/>
            </a:pP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በብሎኩ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የደንብ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መተላለፍና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ተያያዥ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ህገወጥ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ተግባራን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የዳሰሳ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ጥናት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በማድረግ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በአይነት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እና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በደረጃ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ይለያል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፤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በተለዩት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መተላለፍ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ተግባራት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ዙርያ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ላይ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እርምጃ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የሚወሰድበትን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ስልት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ያዘጋጃል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፤ </a:t>
            </a:r>
            <a:endParaRPr lang="en-US" sz="2800" b="1" dirty="0"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Symbol"/>
              <a:buChar char=""/>
            </a:pPr>
            <a:r>
              <a:rPr lang="en-US" b="1" dirty="0" err="1">
                <a:latin typeface="Power Geez Unicode1"/>
              </a:rPr>
              <a:t>በተለዩት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የደንብ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መተላለፍ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መቆጣጠርና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እርምጃ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አወሳሰድ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ስልት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መሰረት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የእርምጃ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አወሳሰድ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ተግባር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ያከናውናል</a:t>
            </a:r>
            <a:r>
              <a:rPr lang="en-US" b="1" dirty="0">
                <a:latin typeface="Power Geez Unicode1"/>
              </a:rPr>
              <a:t>፣ </a:t>
            </a:r>
            <a:endParaRPr lang="en-US" b="1" dirty="0"/>
          </a:p>
          <a:p>
            <a:pPr lvl="0" algn="just">
              <a:lnSpc>
                <a:spcPct val="150000"/>
              </a:lnSpc>
              <a:buFont typeface="Symbol"/>
              <a:buChar char=""/>
            </a:pPr>
            <a:r>
              <a:rPr lang="en-US" b="1" dirty="0" err="1">
                <a:latin typeface="Power Geez Unicode1"/>
              </a:rPr>
              <a:t>በየእለቱ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እንደ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ደንብ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መተላለፉ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አይነትና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ስፋት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በተሰጠው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ስምሪት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መረጃ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መሰረት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የእርምጃ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አወሳሰድ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ተግባሩን</a:t>
            </a:r>
            <a:r>
              <a:rPr lang="en-US" b="1" dirty="0">
                <a:latin typeface="Power Geez Unicode1"/>
              </a:rPr>
              <a:t> </a:t>
            </a:r>
            <a:r>
              <a:rPr lang="en-US" b="1" dirty="0" err="1">
                <a:latin typeface="Power Geez Unicode1"/>
              </a:rPr>
              <a:t>ይፈፅማል</a:t>
            </a:r>
            <a:r>
              <a:rPr lang="en-US" b="1" dirty="0">
                <a:latin typeface="Power Geez Unicode1"/>
              </a:rPr>
              <a:t>፤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36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957374"/>
              </p:ext>
            </p:extLst>
          </p:nvPr>
        </p:nvGraphicFramePr>
        <p:xfrm>
          <a:off x="457200" y="1295400"/>
          <a:ext cx="8229600" cy="5257800"/>
        </p:xfrm>
        <a:graphic>
          <a:graphicData uri="http://schemas.openxmlformats.org/drawingml/2006/table">
            <a:tbl>
              <a:tblPr/>
              <a:tblGrid>
                <a:gridCol w="8229600"/>
              </a:tblGrid>
              <a:tr h="5257800"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በእለታዊ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ስምሪት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ወቅት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ከሽፍት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መሪው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የተሰጠውን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ተግባራት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በመደበኛ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የክትትል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ቁጥጥርና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እርምጃ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አወሳሰድ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ሂደት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ላይ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ተፈፃሚ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ያደርጋል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፤</a:t>
                      </a:r>
                      <a:endParaRPr lang="en-US" sz="14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ተመሳሳይና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ቁርኝት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ካላቸው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ብሎኮች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ጋር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ስምሪቱን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በጋራ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ተግባራትን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ያከናውናል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፤</a:t>
                      </a:r>
                      <a:endParaRPr lang="en-US" sz="14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በእለቱ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የተከናወኑ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ተግባራትና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ያጋጠሙ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ችግሮችንና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የተወሰዱ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መፍትሄዎችን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መረጃዎችን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በመለየትና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በማጠናከር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ሪፖርት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ያደርጋል</a:t>
                      </a:r>
                      <a:endParaRPr lang="en-US" sz="14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የቅጣት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ፓድ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ከንብረት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ክፍል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በመረከብና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በጥንቃቄ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ይይዛል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፣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ቅጣት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የሚጣልበት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የደንብ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ተላላፊ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ላይ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የቅጣት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ወረቀት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ይሰጣል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፤</a:t>
                      </a:r>
                      <a:endParaRPr lang="en-US" sz="14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የቅጣት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ወረቀት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የተሰጠው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ደንብ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ተላላፊ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የተጣለበትን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የቅጣት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መጠን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ገቢ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ማድረጉን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ይከታተላል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፤</a:t>
                      </a:r>
                      <a:endParaRPr lang="en-US" sz="14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በተሰጠው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ጊዜ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ገደብ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የተጣለበትን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ቅጣት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ገቢ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ያላደረገ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የደንብ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ተላላፊ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መረጃዎችን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በማጠናከር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ክስ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እንዲቀርብበት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ለሽፈት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መሪ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መረጃ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ይሰጣል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፤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አፈጻጸሙን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ይከታተላል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፤ </a:t>
                      </a:r>
                      <a:endParaRPr lang="en-US" sz="14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ከደንብ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ተላላፊዎች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የሚወረሱ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ንብረቶችን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በደረሰኝ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ለንብረት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ክፍል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ያስረክባል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፣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ያስረከበበትን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Ebrima"/>
                        </a:rPr>
                        <a:t>ቀሪ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Ebrima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Ebrima"/>
                        </a:rPr>
                        <a:t>ወስዶ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Ebrima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Ebrima"/>
                        </a:rPr>
                        <a:t>በአግባቡ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Ebrima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Ebrima"/>
                        </a:rPr>
                        <a:t>ለራሱ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Ebrima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Power Geez Unicode1"/>
                          <a:ea typeface="Times New Roman"/>
                          <a:cs typeface="Ebrima"/>
                        </a:rPr>
                        <a:t>ይይዛል</a:t>
                      </a:r>
                      <a:r>
                        <a:rPr lang="en-US" sz="1600" b="1" dirty="0">
                          <a:effectLst/>
                          <a:latin typeface="Power Geez Unicode1"/>
                          <a:ea typeface="Times New Roman"/>
                          <a:cs typeface="Ebrima"/>
                        </a:rPr>
                        <a:t>፤</a:t>
                      </a:r>
                      <a:endParaRPr lang="en-US" sz="1400" b="1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8786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dirty="0" err="1" smtClean="0"/>
              <a:t>የቀጠለ</a:t>
            </a:r>
            <a:r>
              <a:rPr lang="en-US" dirty="0" smtClean="0"/>
              <a:t>..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3726021"/>
          <a:ext cx="8229600" cy="274320"/>
        </p:xfrm>
        <a:graphic>
          <a:graphicData uri="http://schemas.openxmlformats.org/drawingml/2006/table">
            <a:tbl>
              <a:tblPr/>
              <a:tblGrid>
                <a:gridCol w="8229600"/>
              </a:tblGrid>
              <a:tr h="0"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በየእለቱ ስለተቀጡ ግለሰቦችና ስለተወረሰ ንብረት ሪፖርት በጹሁፍ ለሽፍት መሪው ያቀርባል፡፡</a:t>
                      </a:r>
                      <a:endParaRPr lang="en-US" sz="110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10938"/>
              </p:ext>
            </p:extLst>
          </p:nvPr>
        </p:nvGraphicFramePr>
        <p:xfrm>
          <a:off x="457200" y="1600200"/>
          <a:ext cx="8229600" cy="4495800"/>
        </p:xfrm>
        <a:graphic>
          <a:graphicData uri="http://schemas.openxmlformats.org/drawingml/2006/table">
            <a:tbl>
              <a:tblPr/>
              <a:tblGrid>
                <a:gridCol w="8229600"/>
              </a:tblGrid>
              <a:tr h="4495800"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የደንብ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መተላለፍ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የፈጸሙ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አካላትን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በመለየት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በራሳቸው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እንዲያነሱ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ማስጠንቀቂያ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እንዲሰጣቸው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ያደርጋል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፤</a:t>
                      </a:r>
                      <a:endParaRPr lang="en-US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ወዳያውኑ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እርምጃ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የማይወሰድባቸውን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ደንብ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መተላለፎች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ተፈፅሞ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ሲገኝ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ደንብ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ተላላፊው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እንዲያነሳ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ወይም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እንዲያፈርስ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የሚያዝ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የማስጠንቀቂያ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ወረቀት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ይሰጣል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፤</a:t>
                      </a:r>
                      <a:endParaRPr lang="en-US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በተቀመጠው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ጊዜ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ገደብ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ውስጥ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የተሰጠውን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ማስጠንቀቂያ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ላይ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ማስተካከያ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ባላደረገ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ደንብ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ተላላፊ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ላይ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ህጋዊ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እርምጃ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ይወስዳል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ያስወስዳል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፤</a:t>
                      </a:r>
                      <a:endParaRPr lang="en-US" sz="110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የተፈፀመው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ደንብ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መተላለፍ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ከክትትል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ቁጥጥር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ኦፊሰሩ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አቅም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በላይ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የሆነና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በግብረ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ኃይል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እርምጃ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መወሰድ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የሚገባው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ከሆኑ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የደንብ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መተላለፉን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ዓይነትና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መጠንን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በመለየት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ለሺፍት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መሪው</a:t>
                      </a:r>
                      <a:r>
                        <a:rPr lang="en-US" sz="1200" dirty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ያሳውቃል</a:t>
                      </a:r>
                      <a:r>
                        <a:rPr lang="en-US" sz="1200" dirty="0" smtClean="0">
                          <a:effectLst/>
                          <a:latin typeface="Power Geez Unicode1"/>
                          <a:ea typeface="Times New Roman"/>
                          <a:cs typeface="Times New Roman"/>
                        </a:rPr>
                        <a:t>፤</a:t>
                      </a:r>
                    </a:p>
                    <a:p>
                      <a:pPr marL="342900" lvl="0" indent="-3429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endParaRPr lang="en-US" sz="1200" dirty="0" smtClean="0">
                        <a:effectLst/>
                        <a:latin typeface="Power Geez Unicode1"/>
                        <a:ea typeface="Times New Roman"/>
                        <a:cs typeface="Times New Roman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627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marL="228600">
              <a:lnSpc>
                <a:spcPct val="150000"/>
              </a:lnSpc>
              <a:tabLst>
                <a:tab pos="4010025" algn="l"/>
              </a:tabLst>
            </a:pPr>
            <a:r>
              <a:rPr lang="en-US" sz="4000" b="1" dirty="0" smtClean="0">
                <a:latin typeface="Power Geez Unicode1"/>
                <a:ea typeface="Times New Roman"/>
                <a:cs typeface="Times New Roman"/>
              </a:rPr>
              <a:t/>
            </a:r>
            <a:br>
              <a:rPr lang="en-US" sz="4000" b="1" dirty="0" smtClean="0">
                <a:latin typeface="Power Geez Unicode1"/>
                <a:ea typeface="Times New Roman"/>
                <a:cs typeface="Times New Roman"/>
              </a:rPr>
            </a:br>
            <a:r>
              <a:rPr lang="en-US" sz="4000" b="1" dirty="0" err="1" smtClean="0">
                <a:latin typeface="Power Geez Unicode1"/>
                <a:ea typeface="Times New Roman"/>
                <a:cs typeface="Times New Roman"/>
              </a:rPr>
              <a:t>ክፍል</a:t>
            </a:r>
            <a:r>
              <a:rPr lang="en-US" sz="4000" b="1" dirty="0" smtClean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Times New Roman"/>
              </a:rPr>
              <a:t>ሁለት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  <a:solidFill>
            <a:schemeClr val="bg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 fontScale="62500" lnSpcReduction="20000"/>
          </a:bodyPr>
          <a:lstStyle/>
          <a:p>
            <a:pPr marL="0" indent="0" algn="ctr">
              <a:lnSpc>
                <a:spcPct val="150000"/>
              </a:lnSpc>
              <a:spcAft>
                <a:spcPts val="1000"/>
              </a:spcAft>
              <a:buNone/>
              <a:tabLst>
                <a:tab pos="4010025" algn="l"/>
              </a:tabLst>
            </a:pPr>
            <a:endParaRPr lang="en-US" sz="3400" b="1" dirty="0" smtClean="0">
              <a:latin typeface="Power Geez Unicode1"/>
              <a:ea typeface="Times New Roman"/>
              <a:cs typeface="Ebrima"/>
            </a:endParaRPr>
          </a:p>
          <a:p>
            <a:pPr marL="0" indent="0" algn="ctr">
              <a:lnSpc>
                <a:spcPct val="150000"/>
              </a:lnSpc>
              <a:spcAft>
                <a:spcPts val="1000"/>
              </a:spcAft>
              <a:buNone/>
              <a:tabLst>
                <a:tab pos="4010025" algn="l"/>
              </a:tabLst>
            </a:pPr>
            <a:r>
              <a:rPr lang="en-US" sz="3400" b="1" dirty="0" err="1" smtClean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የእርምጃ</a:t>
            </a:r>
            <a:r>
              <a:rPr lang="en-US" sz="3400" b="1" dirty="0" smtClean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አወሳሰድ</a:t>
            </a:r>
            <a:r>
              <a:rPr lang="en-US" sz="34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ስነ-ስርዓት</a:t>
            </a:r>
            <a:endParaRPr lang="en-US" sz="2900" dirty="0">
              <a:solidFill>
                <a:srgbClr val="00B0F0"/>
              </a:solidFill>
              <a:ea typeface="Calibri"/>
              <a:cs typeface="Arial"/>
            </a:endParaRPr>
          </a:p>
          <a:p>
            <a:pPr marL="0" lvl="0" indent="0" algn="ctr">
              <a:lnSpc>
                <a:spcPct val="150000"/>
              </a:lnSpc>
              <a:spcAft>
                <a:spcPts val="1000"/>
              </a:spcAft>
              <a:buSzPts val="1200"/>
              <a:buNone/>
              <a:tabLst>
                <a:tab pos="4010025" algn="l"/>
              </a:tabLst>
            </a:pP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ስለ</a:t>
            </a:r>
            <a:r>
              <a:rPr lang="en-US" sz="3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መሬት</a:t>
            </a:r>
            <a:r>
              <a:rPr lang="en-US" sz="3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ወረራ</a:t>
            </a:r>
            <a:r>
              <a:rPr lang="en-US" sz="3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፣ 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መሬት</a:t>
            </a:r>
            <a:r>
              <a:rPr lang="en-US" sz="3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ማስፋፋትና</a:t>
            </a:r>
            <a:r>
              <a:rPr lang="en-US" sz="3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ህገ-ወጥ</a:t>
            </a:r>
            <a:r>
              <a:rPr lang="en-US" sz="3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ግንባታን</a:t>
            </a:r>
            <a:r>
              <a:rPr lang="en-US" sz="3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በተመለከተ</a:t>
            </a:r>
            <a:endParaRPr lang="en-US" sz="2900" dirty="0">
              <a:solidFill>
                <a:srgbClr val="00B0F0"/>
              </a:solidFill>
              <a:ea typeface="Times New Roman"/>
              <a:cs typeface="Nyala"/>
            </a:endParaRPr>
          </a:p>
          <a:p>
            <a:pPr marL="228600" algn="ctr">
              <a:lnSpc>
                <a:spcPct val="150000"/>
              </a:lnSpc>
              <a:tabLst>
                <a:tab pos="4010025" algn="l"/>
              </a:tabLst>
            </a:pPr>
            <a:r>
              <a:rPr lang="en-US" b="1" dirty="0" err="1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የቅጣት</a:t>
            </a:r>
            <a:r>
              <a:rPr lang="en-US" b="1" dirty="0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ሰንጠረዥ</a:t>
            </a:r>
            <a:r>
              <a:rPr lang="en-US" b="1" dirty="0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 1</a:t>
            </a:r>
            <a:endParaRPr lang="en-US" dirty="0">
              <a:solidFill>
                <a:srgbClr val="00B050"/>
              </a:solidFill>
            </a:endParaRPr>
          </a:p>
          <a:p>
            <a:pPr marL="228600" algn="ctr">
              <a:lnSpc>
                <a:spcPct val="150000"/>
              </a:lnSpc>
              <a:tabLst>
                <a:tab pos="4010025" algn="l"/>
              </a:tabLst>
            </a:pPr>
            <a:r>
              <a:rPr lang="en-US" b="1" dirty="0" err="1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በህገወጥ</a:t>
            </a:r>
            <a:r>
              <a:rPr lang="en-US" b="1" dirty="0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መንግድ</a:t>
            </a:r>
            <a:r>
              <a:rPr lang="en-US" b="1" dirty="0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መሬት</a:t>
            </a:r>
            <a:r>
              <a:rPr lang="en-US" b="1" dirty="0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መያዝ፣ማስፋፋትና</a:t>
            </a:r>
            <a:r>
              <a:rPr lang="en-US" b="1" dirty="0" smtClean="0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ህገወጥ</a:t>
            </a:r>
            <a:r>
              <a:rPr lang="en-US" b="1" dirty="0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ግንባታ</a:t>
            </a:r>
            <a:endParaRPr lang="en-US" dirty="0">
              <a:solidFill>
                <a:srgbClr val="00B050"/>
              </a:solidFill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የ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መሬት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ወረራ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፣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ማስፋፋት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እና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ህገወጥ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ግንባታ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መፈፀሙን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በጥቆማ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ለደንብ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መተላለፍ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ክትትል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ቁጥጥር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እርምጃ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አወሳሰድ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ኦፊሰሩ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ሲደርሰዉ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፣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ወይም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በራሱ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በክትትልና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ቁጥጥር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ሲደርስበት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ደንብ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መተላለፍ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መፈፀሙን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ያረጋግጣል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፣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ድርጊቱን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በማስቆም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የሚከተለውን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ተግባራት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Times New Roman"/>
              </a:rPr>
              <a:t>ያከናውናል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፡፡</a:t>
            </a:r>
            <a:endParaRPr lang="en-US" sz="2800" dirty="0">
              <a:ea typeface="Calibri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549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457200" lvl="1" algn="l">
              <a:lnSpc>
                <a:spcPct val="150000"/>
              </a:lnSpc>
              <a:spcAft>
                <a:spcPts val="1000"/>
              </a:spcAft>
              <a:buSzPts val="1200"/>
              <a:tabLst>
                <a:tab pos="4010025" algn="l"/>
              </a:tabLst>
            </a:pPr>
            <a:r>
              <a:rPr lang="en-US" sz="2800" b="1" dirty="0" smtClean="0">
                <a:effectLst/>
                <a:latin typeface="Power Geez Unicode1"/>
                <a:ea typeface="Times New Roman"/>
                <a:cs typeface="Ebrima"/>
              </a:rPr>
              <a:t/>
            </a:r>
            <a:br>
              <a:rPr lang="en-US" sz="2800" b="1" dirty="0" smtClean="0">
                <a:effectLst/>
                <a:latin typeface="Power Geez Unicode1"/>
                <a:ea typeface="Times New Roman"/>
                <a:cs typeface="Ebrima"/>
              </a:rPr>
            </a:br>
            <a:r>
              <a:rPr lang="en-US" sz="2800" b="1" dirty="0" err="1" smtClean="0">
                <a:effectLst/>
                <a:latin typeface="Power Geez Unicode1"/>
                <a:ea typeface="Times New Roman"/>
                <a:cs typeface="Ebrima"/>
              </a:rPr>
              <a:t>በ</a:t>
            </a:r>
            <a:r>
              <a:rPr lang="en-US" sz="2800" b="1" dirty="0" err="1" smtClean="0">
                <a:effectLst/>
                <a:latin typeface="Power Geez Unicode1"/>
                <a:ea typeface="Times New Roman"/>
                <a:cs typeface="Nyala"/>
              </a:rPr>
              <a:t>ህገ-ወጥ</a:t>
            </a:r>
            <a:r>
              <a:rPr lang="en-US" sz="2800" b="1" dirty="0" smtClean="0">
                <a:effectLst/>
                <a:latin typeface="Power Geez Unicode1"/>
                <a:ea typeface="Times New Roman"/>
                <a:cs typeface="Nyala"/>
              </a:rPr>
              <a:t> </a:t>
            </a:r>
            <a:r>
              <a:rPr lang="en-US" sz="2800" b="1" dirty="0" err="1" smtClean="0">
                <a:effectLst/>
                <a:latin typeface="Power Geez Unicode1"/>
                <a:ea typeface="Times New Roman"/>
                <a:cs typeface="Nyala"/>
              </a:rPr>
              <a:t>መንገድ</a:t>
            </a:r>
            <a:r>
              <a:rPr lang="en-US" sz="2800" b="1" dirty="0" smtClean="0">
                <a:effectLst/>
                <a:latin typeface="Power Geez Unicode1"/>
                <a:ea typeface="Times New Roman"/>
                <a:cs typeface="Nyala"/>
              </a:rPr>
              <a:t> </a:t>
            </a:r>
            <a:r>
              <a:rPr lang="en-US" sz="2800" b="1" dirty="0" err="1" smtClean="0">
                <a:effectLst/>
                <a:latin typeface="Power Geez Unicode1"/>
                <a:ea typeface="Times New Roman"/>
                <a:cs typeface="Nyala"/>
              </a:rPr>
              <a:t>መሬትን</a:t>
            </a:r>
            <a:r>
              <a:rPr lang="en-US" sz="2800" b="1" dirty="0" smtClean="0">
                <a:effectLst/>
                <a:latin typeface="Power Geez Unicode1"/>
                <a:ea typeface="Times New Roman"/>
                <a:cs typeface="Nyala"/>
              </a:rPr>
              <a:t> </a:t>
            </a:r>
            <a:r>
              <a:rPr lang="en-US" sz="2800" b="1" dirty="0" err="1" smtClean="0">
                <a:effectLst/>
                <a:latin typeface="Power Geez Unicode1"/>
                <a:ea typeface="Times New Roman"/>
                <a:cs typeface="Nyala"/>
              </a:rPr>
              <a:t>ስለመያዝ</a:t>
            </a:r>
            <a:r>
              <a:rPr lang="en-US" sz="2800" b="1" dirty="0" smtClean="0">
                <a:effectLst/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2400" dirty="0" smtClean="0">
                <a:effectLst/>
                <a:latin typeface="Calibri"/>
                <a:ea typeface="Times New Roman"/>
                <a:cs typeface="Nyala"/>
              </a:rPr>
              <a:t/>
            </a:r>
            <a:br>
              <a:rPr lang="en-US" sz="2400" dirty="0" smtClean="0">
                <a:effectLst/>
                <a:latin typeface="Calibri"/>
                <a:ea typeface="Times New Roman"/>
                <a:cs typeface="Nyala"/>
              </a:rPr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1"/>
            <a:ext cx="8229600" cy="4419600"/>
          </a:xfrm>
          <a:solidFill>
            <a:schemeClr val="bg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 fontScale="62500" lnSpcReduction="20000"/>
          </a:bodyPr>
          <a:lstStyle/>
          <a:p>
            <a:pPr marL="914400" lvl="2" indent="0" algn="just">
              <a:lnSpc>
                <a:spcPct val="150000"/>
              </a:lnSpc>
              <a:buNone/>
              <a:tabLst>
                <a:tab pos="4010025" algn="l"/>
              </a:tabLst>
            </a:pP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በህገወጥ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መንገድ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መሬትን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በመያዝ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የግንባታ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ማቴሪያሎችን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እንዲሁም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ሌሎች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ማንኛውም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ዓይነት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ንብረቶችን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ያከማቸውን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ቋሚና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ጊዜያዊ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ዛፍና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አትክልቶችን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የተከለውን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በ24 </a:t>
            </a:r>
            <a:r>
              <a:rPr lang="en-US" sz="2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ሰዓት</a:t>
            </a:r>
            <a:r>
              <a:rPr lang="en-US" sz="2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ጊዜ</a:t>
            </a:r>
            <a:r>
              <a:rPr lang="en-US" sz="2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2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ማስጠንቀቂያ</a:t>
            </a:r>
            <a:r>
              <a:rPr lang="en-US" sz="2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በተሰጠው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ጊዜ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ንብረቱን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ካላነሳ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ይወረሳል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እንዲሁም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ድርጊቱን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የፈፀመው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አካልን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መሬቱን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በመውረሩ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በሊዝ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አዋጅ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721/2004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መሰረት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በክፍለ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በኩል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ለፍትህ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ይላካል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</a:t>
            </a:r>
            <a:endParaRPr lang="en-US" sz="22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marL="914400" lvl="2" indent="0" algn="just">
              <a:lnSpc>
                <a:spcPct val="150000"/>
              </a:lnSpc>
              <a:buNone/>
              <a:tabLst>
                <a:tab pos="4010025" algn="l"/>
              </a:tabLst>
            </a:pPr>
            <a:r>
              <a:rPr lang="en-US" sz="2600" b="1" dirty="0" err="1" smtClean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በህገወጥ</a:t>
            </a:r>
            <a:r>
              <a:rPr lang="en-US" sz="2600" b="1" dirty="0" smtClean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መንገድ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መሬትን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በመያዝ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ቋሚና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ጊዜያዊ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ግንባታዎችን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መገንባት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እንዲሁም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በሌሎች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በማንኛውም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መንገድ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መሬቱን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ማጠር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በመከለል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መሬት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ሲያዝ</a:t>
            </a:r>
            <a:r>
              <a:rPr lang="en-US" sz="2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sz="2600" b="1" dirty="0">
                <a:solidFill>
                  <a:srgbClr val="FFFF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ግንባታንውን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በማፍረስ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ንብረቱን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ይወረሳል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እንዲሁም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ድርጊቱን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የፈፀመው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አካልን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መሬቱን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በመውረሩ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በሊዝ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አዋጅ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721/2004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መሰረት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በክፍለ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በኩል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ለፍትህ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ይላካል</a:t>
            </a:r>
            <a:r>
              <a:rPr lang="en-US" sz="2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</a:t>
            </a:r>
            <a:endParaRPr lang="en-US" sz="22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45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12" y="1447800"/>
            <a:ext cx="8458200" cy="5334000"/>
          </a:xfrm>
          <a:solidFill>
            <a:schemeClr val="bg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lvl="2" algn="just">
              <a:lnSpc>
                <a:spcPct val="150000"/>
              </a:lnSpc>
              <a:tabLst>
                <a:tab pos="4010025" algn="l"/>
              </a:tabLst>
            </a:pPr>
            <a:r>
              <a:rPr lang="en-US" sz="18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ደንብ</a:t>
            </a:r>
            <a:r>
              <a:rPr lang="en-US" sz="18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ተላላፊዉ</a:t>
            </a:r>
            <a:r>
              <a:rPr lang="en-US" sz="18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በፈጸመው</a:t>
            </a:r>
            <a:r>
              <a:rPr lang="en-US" sz="18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ህገወጥ</a:t>
            </a:r>
            <a:r>
              <a:rPr lang="en-US" sz="18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ተግባር</a:t>
            </a:r>
            <a:r>
              <a:rPr lang="en-US" sz="18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18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18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እንዳይወሰድበት</a:t>
            </a:r>
            <a:r>
              <a:rPr lang="en-US" sz="18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የፍ</a:t>
            </a:r>
            <a:r>
              <a:rPr lang="en-US" sz="18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/</a:t>
            </a:r>
            <a:r>
              <a:rPr lang="en-US" sz="18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8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የእግድ</a:t>
            </a:r>
            <a:r>
              <a:rPr lang="en-US" sz="18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ትእዛዝ</a:t>
            </a:r>
            <a:r>
              <a:rPr lang="en-US" sz="18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ያመጣ</a:t>
            </a:r>
            <a:r>
              <a:rPr lang="en-US" sz="18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እንደሆነ</a:t>
            </a:r>
            <a:r>
              <a:rPr lang="en-US" sz="18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የእግድ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ትእዛዙ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እንዲነሳ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የተሟላ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ማስረጃዎችን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ያቀርባል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</a:t>
            </a:r>
            <a:endParaRPr lang="en-US" sz="16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2" algn="just">
              <a:lnSpc>
                <a:spcPct val="150000"/>
              </a:lnSpc>
              <a:tabLst>
                <a:tab pos="4010025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የክ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ፍለ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ቤትም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እግዱ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መነሳቱን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ለወረዳው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ሲያሳውቅ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ከወረዳው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ግብረ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ኃይል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ጋር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በጋራ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በመሆን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በተፈፀመው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ይወስዳል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 </a:t>
            </a:r>
            <a:endParaRPr lang="en-US" sz="16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2" algn="just">
              <a:lnSpc>
                <a:spcPct val="150000"/>
              </a:lnSpc>
              <a:spcAft>
                <a:spcPts val="1000"/>
              </a:spcAft>
              <a:tabLst>
                <a:tab pos="4010025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የወረዳው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መተላለፉ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ከወረዳው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ግብረ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ኃይል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አቅም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በላይ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መሆኑን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በክፍለ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ግብረ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ኃይል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እንዲፈርስ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መረጃዎችን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የከፍለ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ግብረ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ኃይል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ሲወሰድ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በጋራ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ተግሩን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ይፈፅማል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16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02110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457200" lvl="1" algn="ctr">
              <a:lnSpc>
                <a:spcPct val="150000"/>
              </a:lnSpc>
              <a:spcAft>
                <a:spcPts val="1000"/>
              </a:spcAft>
              <a:buSzPts val="1200"/>
            </a:pPr>
            <a:r>
              <a:rPr lang="en-US" sz="2400" b="1" dirty="0" smtClean="0">
                <a:effectLst/>
                <a:latin typeface="Power Geez Unicode1"/>
                <a:ea typeface="Times New Roman"/>
                <a:cs typeface="Nyala"/>
              </a:rPr>
              <a:t/>
            </a:r>
            <a:br>
              <a:rPr lang="en-US" sz="2400" b="1" dirty="0" smtClean="0">
                <a:effectLst/>
                <a:latin typeface="Power Geez Unicode1"/>
                <a:ea typeface="Times New Roman"/>
                <a:cs typeface="Nyala"/>
              </a:rPr>
            </a:br>
            <a:r>
              <a:rPr lang="en-US" sz="2400" b="1" dirty="0" err="1" smtClean="0">
                <a:effectLst/>
                <a:latin typeface="Power Geez Unicode1"/>
                <a:ea typeface="Times New Roman"/>
                <a:cs typeface="Nyala"/>
              </a:rPr>
              <a:t>በህገ-ወጥ</a:t>
            </a:r>
            <a:r>
              <a:rPr lang="en-US" sz="2400" b="1" dirty="0" smtClean="0">
                <a:effectLst/>
                <a:latin typeface="Power Geez Unicode1"/>
                <a:ea typeface="Times New Roman"/>
                <a:cs typeface="Nyala"/>
              </a:rPr>
              <a:t> </a:t>
            </a:r>
            <a:r>
              <a:rPr lang="en-US" sz="2400" b="1" dirty="0" err="1" smtClean="0">
                <a:effectLst/>
                <a:latin typeface="Power Geez Unicode1"/>
                <a:ea typeface="Times New Roman"/>
                <a:cs typeface="Nyala"/>
              </a:rPr>
              <a:t>መንገድ</a:t>
            </a:r>
            <a:r>
              <a:rPr lang="en-US" sz="2400" b="1" dirty="0" smtClean="0">
                <a:effectLst/>
                <a:latin typeface="Power Geez Unicode1"/>
                <a:ea typeface="Times New Roman"/>
                <a:cs typeface="Nyala"/>
              </a:rPr>
              <a:t> </a:t>
            </a:r>
            <a:r>
              <a:rPr lang="en-US" sz="2400" b="1" dirty="0" err="1" smtClean="0">
                <a:effectLst/>
                <a:latin typeface="Power Geez Unicode1"/>
                <a:ea typeface="Times New Roman"/>
                <a:cs typeface="Nyala"/>
              </a:rPr>
              <a:t>መሬትን</a:t>
            </a:r>
            <a:r>
              <a:rPr lang="en-US" sz="2400" b="1" dirty="0" smtClean="0">
                <a:effectLst/>
                <a:latin typeface="Power Geez Unicode1"/>
                <a:ea typeface="Times New Roman"/>
                <a:cs typeface="Nyala"/>
              </a:rPr>
              <a:t> </a:t>
            </a:r>
            <a:r>
              <a:rPr lang="en-US" sz="2400" b="1" dirty="0" err="1" smtClean="0">
                <a:effectLst/>
                <a:latin typeface="Power Geez Unicode1"/>
                <a:ea typeface="Times New Roman"/>
                <a:cs typeface="Nyala"/>
              </a:rPr>
              <a:t>ስለ</a:t>
            </a:r>
            <a:r>
              <a:rPr lang="en-US" sz="2400" b="1" dirty="0" smtClean="0">
                <a:effectLst/>
                <a:latin typeface="Power Geez Unicode1"/>
                <a:ea typeface="Times New Roman"/>
                <a:cs typeface="Nyala"/>
              </a:rPr>
              <a:t> </a:t>
            </a:r>
            <a:r>
              <a:rPr lang="en-US" sz="2400" b="1" dirty="0" err="1" smtClean="0">
                <a:effectLst/>
                <a:latin typeface="Power Geez Unicode1"/>
                <a:ea typeface="Times New Roman"/>
                <a:cs typeface="Nyala"/>
              </a:rPr>
              <a:t>ማስፋፋት</a:t>
            </a:r>
            <a:r>
              <a:rPr lang="en-US" sz="2400" b="1" dirty="0" smtClean="0">
                <a:effectLst/>
                <a:latin typeface="Power Geez Unicode1"/>
                <a:ea typeface="Times New Roman"/>
                <a:cs typeface="Nyala"/>
              </a:rPr>
              <a:t>፤</a:t>
            </a:r>
            <a:r>
              <a:rPr lang="en-US" sz="2000" dirty="0" smtClean="0">
                <a:effectLst/>
                <a:latin typeface="Calibri"/>
                <a:ea typeface="Times New Roman"/>
                <a:cs typeface="Nyala"/>
              </a:rPr>
              <a:t/>
            </a:r>
            <a:br>
              <a:rPr lang="en-US" sz="2000" dirty="0" smtClean="0">
                <a:effectLst/>
                <a:latin typeface="Calibri"/>
                <a:ea typeface="Times New Roman"/>
                <a:cs typeface="Nyala"/>
              </a:rPr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  <a:solidFill>
            <a:schemeClr val="bg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 fontScale="62500" lnSpcReduction="20000"/>
          </a:bodyPr>
          <a:lstStyle/>
          <a:p>
            <a:pPr lvl="2" algn="just">
              <a:lnSpc>
                <a:spcPct val="150000"/>
              </a:lnSpc>
            </a:pP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በህጋዊ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መልኩ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ከያዘው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ይዞታ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ውጪ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ከሚመለከተው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ፍቃድ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ሳያገኝ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ከራሱ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ይዞታ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ጋር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በማገናኘት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የግንባታ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ማቴሪያሎችን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እንዲሁም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ሌሎች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ማንኛውም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ዓይነት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ንብረቶችን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ያከማቸውን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ቋሚና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ጊዜያዊ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ዛፍና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አትክልቶችን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የተከለውን</a:t>
            </a:r>
            <a:r>
              <a:rPr lang="en-US" sz="2600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2600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600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በ24 </a:t>
            </a:r>
            <a:r>
              <a:rPr lang="en-US" sz="2600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ሰዓት</a:t>
            </a:r>
            <a:r>
              <a:rPr lang="en-US" sz="2600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ጊዜ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ማስጠንቀቂያ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በተሰጠው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ጊዜ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ንብረቱን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ካላነሳ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ይወረሳል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እንዲሁም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ድርጊቱን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የፈፀመው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አካልን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መረጃ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መሬት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በማስፋፋቱ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በሊዝ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አዋጅ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721/2004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መሰረት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በክፍለ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በኩል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ለፍትህ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መረጃው</a:t>
            </a:r>
            <a:r>
              <a:rPr lang="en-US" sz="26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2600" dirty="0">
                <a:latin typeface="Power Geez Unicode1"/>
                <a:ea typeface="Times New Roman"/>
                <a:cs typeface="Nyala"/>
              </a:rPr>
              <a:t>፤</a:t>
            </a:r>
            <a:endParaRPr lang="en-US" sz="2200" dirty="0">
              <a:ea typeface="Times New Roman"/>
              <a:cs typeface="Nyala"/>
            </a:endParaRPr>
          </a:p>
          <a:p>
            <a:pPr lvl="2" algn="just">
              <a:lnSpc>
                <a:spcPct val="150000"/>
              </a:lnSpc>
              <a:spcAft>
                <a:spcPts val="1000"/>
              </a:spcAft>
            </a:pP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በህጋዊ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መልኩ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ከያዘው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ይዞታ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ውጪ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ከራሱ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ይዞታ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ጋር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በማገናኘት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ቋሚና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ጊዜያዊ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ግንባታዎችን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መገንባት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እንዲሁም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በሌሎች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በማንኛውም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መንግድ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መሬቱን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ማጠር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በመከለል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መሬት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ሲያስፋፋ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sz="2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ማስጠንቀቂያ</a:t>
            </a:r>
            <a:r>
              <a:rPr lang="en-US" sz="2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ይሰጠዋል</a:t>
            </a:r>
            <a:r>
              <a:rPr lang="en-US" sz="2600" b="1" dirty="0"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ካልተነሳ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ግንባታንውን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በማፍረስ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ንብረቱን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ይወረሳል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እንዲሁም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ድርጊቱን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የፈፀመው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አካልን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መረጃ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መሬቱን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በማስፋቱ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በሊዝ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አዋጅ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721/2004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መሰረት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በክፍለ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በኩል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ለፍትህ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መረጃው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ይላካል</a:t>
            </a:r>
            <a:r>
              <a:rPr lang="en-US" sz="2600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፤</a:t>
            </a:r>
            <a:endParaRPr lang="en-US" sz="2200" dirty="0">
              <a:solidFill>
                <a:srgbClr val="FF0000"/>
              </a:solidFill>
              <a:ea typeface="Times New Roman"/>
              <a:cs typeface="Nyala"/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22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7800"/>
            <a:ext cx="8839200" cy="4754563"/>
          </a:xfrm>
          <a:solidFill>
            <a:schemeClr val="bg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normAutofit fontScale="77500" lnSpcReduction="20000"/>
          </a:bodyPr>
          <a:lstStyle/>
          <a:p>
            <a:pPr marL="914400" lvl="2" indent="0" algn="just">
              <a:lnSpc>
                <a:spcPct val="150000"/>
              </a:lnSpc>
              <a:buNone/>
            </a:pP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ደንብ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ተላላፊዉ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በፈጸመው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ህገወጥ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ተግባር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እንዳይወሰድበት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/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የእግድ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ትእዛዝ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ያመጣ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እንደሆነ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የእግድ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ትእዛዙ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እንዲነሳ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የተሟላ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ማስረጃዎችን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ያቀርባል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</a:t>
            </a:r>
            <a:endParaRPr lang="en-US" sz="20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marL="914400" lvl="2" indent="0" algn="just">
              <a:lnSpc>
                <a:spcPct val="150000"/>
              </a:lnSpc>
              <a:buNone/>
            </a:pP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የክ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ፍለ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እግዱ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መነሳቱን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ለወረዳው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ሲያሳውቅ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ከወረዳው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ግብረ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ኃይል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ጋር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በጋራ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በመሆን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በተፈፀመው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ይወስዳል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 </a:t>
            </a:r>
            <a:endParaRPr lang="en-US" sz="20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marL="914400" lvl="2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የወረዳው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መተላለፉ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ከወረዳው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ግብረ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ኃይል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አቅም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በላይ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መሆኑን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በክፍለ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ግብረ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ኃይል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እንዲፈርስ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መረጃዎችን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የከፍለ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ግብረ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ኃይል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ሲወሰድ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በጋራ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ተግሩን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ይፈፅማል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0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558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457200" lvl="1" algn="l">
              <a:lnSpc>
                <a:spcPct val="150000"/>
              </a:lnSpc>
              <a:spcAft>
                <a:spcPts val="1000"/>
              </a:spcAft>
              <a:buSzPts val="1200"/>
            </a:pPr>
            <a:r>
              <a:rPr lang="en-US" sz="3200" b="1" dirty="0" smtClean="0">
                <a:effectLst/>
                <a:latin typeface="Power Geez Unicode1"/>
                <a:ea typeface="Times New Roman"/>
                <a:cs typeface="Nyala"/>
              </a:rPr>
              <a:t/>
            </a:r>
            <a:br>
              <a:rPr lang="en-US" sz="3200" b="1" dirty="0" smtClean="0">
                <a:effectLst/>
                <a:latin typeface="Power Geez Unicode1"/>
                <a:ea typeface="Times New Roman"/>
                <a:cs typeface="Nyala"/>
              </a:rPr>
            </a:br>
            <a:r>
              <a:rPr lang="en-US" sz="3200" b="1" dirty="0" err="1" smtClean="0">
                <a:effectLst/>
                <a:latin typeface="Power Geez Unicode1"/>
                <a:ea typeface="Times New Roman"/>
                <a:cs typeface="Nyala"/>
              </a:rPr>
              <a:t>ህገወጥ</a:t>
            </a:r>
            <a:r>
              <a:rPr lang="en-US" sz="3200" b="1" dirty="0" smtClean="0">
                <a:effectLst/>
                <a:latin typeface="Power Geez Unicode1"/>
                <a:ea typeface="Times New Roman"/>
                <a:cs typeface="Nyala"/>
              </a:rPr>
              <a:t> </a:t>
            </a:r>
            <a:r>
              <a:rPr lang="en-US" sz="3200" b="1" dirty="0" err="1" smtClean="0">
                <a:effectLst/>
                <a:latin typeface="Power Geez Unicode1"/>
                <a:ea typeface="Times New Roman"/>
                <a:cs typeface="Nyala"/>
              </a:rPr>
              <a:t>ግንባታን</a:t>
            </a:r>
            <a:r>
              <a:rPr lang="en-US" sz="3200" b="1" dirty="0" smtClean="0">
                <a:effectLst/>
                <a:latin typeface="Power Geez Unicode1"/>
                <a:ea typeface="Times New Roman"/>
                <a:cs typeface="Nyala"/>
              </a:rPr>
              <a:t> </a:t>
            </a:r>
            <a:r>
              <a:rPr lang="en-US" sz="3200" b="1" dirty="0" err="1" smtClean="0">
                <a:effectLst/>
                <a:latin typeface="Power Geez Unicode1"/>
                <a:ea typeface="Times New Roman"/>
                <a:cs typeface="Nyala"/>
              </a:rPr>
              <a:t>በተመለከተ</a:t>
            </a:r>
            <a:r>
              <a:rPr lang="en-US" sz="3200" b="1" dirty="0" smtClean="0">
                <a:effectLst/>
                <a:latin typeface="Power Geez Unicode1"/>
                <a:ea typeface="Times New Roman"/>
                <a:cs typeface="Nyala"/>
              </a:rPr>
              <a:t>፤</a:t>
            </a:r>
            <a:r>
              <a:rPr lang="en-US" sz="2800" dirty="0" smtClean="0">
                <a:effectLst/>
                <a:latin typeface="Calibri"/>
                <a:ea typeface="Times New Roman"/>
                <a:cs typeface="Nyala"/>
              </a:rPr>
              <a:t/>
            </a:r>
            <a:br>
              <a:rPr lang="en-US" sz="2800" dirty="0" smtClean="0">
                <a:effectLst/>
                <a:latin typeface="Calibri"/>
                <a:ea typeface="Times New Roman"/>
                <a:cs typeface="Nyala"/>
              </a:rPr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15000"/>
          </a:xfrm>
          <a:solidFill>
            <a:schemeClr val="bg1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914400" lvl="2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በህገ-ወጥ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መንገድ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በማናቸዉም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ሁኔታ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በያዘው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ይዞታ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የግንባታ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ፈቃድ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ሳይኖረው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ሳይዝ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በፕላስቲክ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በሸራና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በመሳሰሉት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ግንባታ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የፈፀመ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እንደሆነ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መተላለፉን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በፈፀመው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የደንብ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1000.00 (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አንድ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ሺ)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በመቅጣት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3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ቀናት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18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ወረቀት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በመስጠትና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በግንባታና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ፈቃድና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ቁጥጥር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ባለስልጣን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መመሪያ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በተጠቀሰው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ጊዜ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ዉስጥ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ግንባታውን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ህጋዊ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እንዲያደርግ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"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አፍርሰህ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ነበረበት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መልስ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"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የሚል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የጹሁፍ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ማስጠንቀቂያ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ወረቀት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18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ነገር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ግን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የተሰጠው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የጊዜ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ገደቡ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ሲጠናቀቅ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በተሰጠው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ማስጠንቀቂያ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መሰረት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ህጋዊ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ስርዓት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ካልተመለሰ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በወረዳው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ግብረ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ኃይል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ግንባታን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በማፍረስ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እንዲሁም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ከፍያ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ያልከፈለ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እንደሆነ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ክስ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እንዲመሰረትበት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18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1600" b="1" dirty="0">
              <a:solidFill>
                <a:srgbClr val="0070C0"/>
              </a:solidFill>
              <a:ea typeface="Times New Roman"/>
              <a:cs typeface="Nyala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16464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  <a:solidFill>
            <a:schemeClr val="bg1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>
            <a:normAutofit fontScale="70000" lnSpcReduction="20000"/>
          </a:bodyPr>
          <a:lstStyle/>
          <a:p>
            <a:pPr marL="914400" lvl="2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በህገ-ወጥ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መንገድ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በማናቸዉም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ሁኔታ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በያዘው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ይዞታ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የግንባታ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ፈቃድ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ሳይኖረው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ሳይዝ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በብሎኬት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በብረት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በድንጋይ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በእንጨትና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በጭቃ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በመሳሰሉት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ግንባታ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የፈፀመ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እንደሆነ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መተላለፉን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በፈፀመው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የደንብ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3000.00 (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ሶስት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በመቅጣት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በ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3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ቀናት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ወረቀት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በመስጠትና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በግንባታና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ፈቃድና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ቁጥጥር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ባለስልጣን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መመሪያ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በተጠቀሰው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ጊዜ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ዉስጥ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ግንባታውን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ህጋዊ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እንዲያደርግ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"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አፍርሰህ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ነበረበት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መልስ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"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የሚል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የጹሁፍ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ማስጠንቀቂያ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ወረቀት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በተጨማሪም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የጊዜ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ገደቡ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ሲጠናቀቅ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በተሰጠው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ማስጠንቀቂያ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መሰረት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ህጋዊ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ስርዓት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ካልተመለሰ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በወረዳው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ግብረ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ኃይል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ግንባታን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በማፍረስ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እንዲሁም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ከፍያ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ያልከፈለ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እንደሆነ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ክስ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እንዲመሰረትበት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ይላካል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000" b="1" dirty="0">
              <a:solidFill>
                <a:srgbClr val="FF0000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484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  <a:solidFill>
            <a:schemeClr val="bg1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70000" lnSpcReduction="20000"/>
          </a:bodyPr>
          <a:lstStyle/>
          <a:p>
            <a:pPr marL="914400" lvl="2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በህገ-ወጥ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መንገድ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በማናቸዉም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ሁኔታ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በያዘው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ይዞታ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የግንባታ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ፈቃድ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ሳይኖረው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ሳይዝ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የቁስ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የመጠን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የዲዛይን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ለዉጥ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ያደረገ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እድሳት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የፈፀመ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እንደሆነ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መተላለፉን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በፈፀመው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2000.00 (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በመቅጣት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3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ቀናት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ወረቀት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በመስጠትና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በግንባታና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ፈቃድና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ቁጥጥር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ባለስልጣን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መመሪያ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በተጠቀሰው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ጊዜ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ዉስጥ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ግንባታውን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ህጋዊ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እንዲያደርግ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አፍርስ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ነበረበት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መልስ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የሚል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የጹሁፍ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ማስጠንቀቂያ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ወረቀት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በተጨማሪም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የጊዜ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ገደቡ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ሲጠናቀቅ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በተሰጠው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ማስጠንቀቂያ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መሰረት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ህጋዊ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ስርዓት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ካልተመለሰ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በወረዳው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ግብረ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ኃይል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ግንባታን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በማፍረስ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እንዲሁም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ከፍያ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ያልከፈለ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እንደሆነ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እንዲመሰረትበት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ይላካል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000" dirty="0">
              <a:solidFill>
                <a:schemeClr val="tx1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94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  <a:solidFill>
            <a:schemeClr val="bg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 fontScale="85000" lnSpcReduction="20000"/>
          </a:bodyPr>
          <a:lstStyle/>
          <a:p>
            <a:pPr marL="914400" lvl="2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በህገ-ወጥ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መንገድ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በማናቸዉም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ሁኔታ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በያዘው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ይዞታ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የግንባታ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ፈቃድ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ሳይኖረው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ሳይዝ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የቁስ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የመጠን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የዲዛይን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ለዉጥ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ሳያደርግ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እድሳት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የፈፀመ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እንደሆነ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መተላለፉን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በፈፀመው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300.00 (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ሶስት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በመቅጣት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3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ቀናት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ወረቀት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በመስጠትና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በተጨማሪም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የጊዜ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ገደቡ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ሲጠናቀቅ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በተሰጠው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ማስጠንቀቂያ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መሰረት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ክፍያውን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ካልከፈለ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እንዲመሰረትበት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ይላካል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0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977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410200"/>
          </a:xfrm>
          <a:solidFill>
            <a:schemeClr val="bg1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77500" lnSpcReduction="20000"/>
          </a:bodyPr>
          <a:lstStyle/>
          <a:p>
            <a:pPr marL="914400" lvl="2" indent="0" algn="just">
              <a:lnSpc>
                <a:spcPct val="150000"/>
              </a:lnSpc>
              <a:buNone/>
            </a:pP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ከላይ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ከግንባታ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ጋር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ተያይዞ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ለሚፈፀሙ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የደንብ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መተላለፍም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በ3ቀን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ጊዜ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ዉስጥ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ክፍያ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እንዲፈጽም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አፍርሰህ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ነበረበት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መልስ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የሚለውን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የጹሁፍ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ማስጠንቀቂያ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ወረቀት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ለመቀበል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በቦታው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ካልተገኘ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ግልጽና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በሚታይ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ቦታ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ማስታወቂያውን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ሊያስረዱ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የሚችሉ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ሰዎች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ስም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አድራሻ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ፊርማ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ያለበት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ማህተም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በማድረግ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በግለሰቡ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በህገወጥ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ግንባታ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እንዲለጠፍ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000" b="1" dirty="0">
              <a:solidFill>
                <a:srgbClr val="002060"/>
              </a:solidFill>
              <a:ea typeface="Times New Roman"/>
              <a:cs typeface="Nyala"/>
            </a:endParaRPr>
          </a:p>
          <a:p>
            <a:pPr marL="914400" lvl="2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የደንብ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በሚፈፀሙ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ግንባታዎች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ተላላፊው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የቁስ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የዲዛይን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ለውጥ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ማድረጉን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አለማድረጉን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ማረጋገጥ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ያልተቻለ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እንደሆነ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ግንባታው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መረጃ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በወረዳው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ግንባታ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ፈቃድና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ቁጥጥር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አማካይነት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ግንባታው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እንዲረጋገጥ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000" b="1" dirty="0">
              <a:solidFill>
                <a:srgbClr val="00B0F0"/>
              </a:solidFill>
              <a:ea typeface="Times New Roman"/>
              <a:cs typeface="Nyala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99318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85000" lnSpcReduction="20000"/>
          </a:bodyPr>
          <a:lstStyle/>
          <a:p>
            <a:pPr marL="914400" lvl="2" indent="0" algn="just">
              <a:lnSpc>
                <a:spcPct val="150000"/>
              </a:lnSpc>
              <a:buNone/>
            </a:pP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ተላላፊዉ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በፈጸመው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ህገወጥ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ተግባር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እንዳይወሰድበት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/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የእግድ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ትእዛዝ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ያመጣ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እንደሆነ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የእግድ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ትእዛዙ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እንዲነሳ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የተሟላ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ማስረጃዎችን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ያቀርባል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የክ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ፍለ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እግዱ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መነሳቱን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ለወረዳው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ሲያሳውቅ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ወረዳውም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ተላላፊዉ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በማሳወቅ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በግብረ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ኃይል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እንዲወሰድ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0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marL="914400" lvl="2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የወረዳው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መተላለፉ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ከወረዳው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ግብረ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ኃይል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አቅም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በላይ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መሆኑን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ግብረ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ኃይል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እንዲፈርስ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መረጃዎችን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በከፍለ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ግብረ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ኃይል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ሲወሰድ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በጋራ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ተግባሩን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ይፈፅማል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0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391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lvl="0">
              <a:spcBef>
                <a:spcPct val="20000"/>
              </a:spcBef>
            </a:pPr>
            <a:r>
              <a:rPr lang="en-US" sz="2800" b="1" u="sng" dirty="0" smtClean="0">
                <a:latin typeface="Power Geez Unicode1"/>
                <a:ea typeface="Times New Roman"/>
                <a:cs typeface="Ebrima"/>
              </a:rPr>
              <a:t/>
            </a:r>
            <a:br>
              <a:rPr lang="en-US" sz="2800" b="1" u="sng" dirty="0" smtClean="0">
                <a:latin typeface="Power Geez Unicode1"/>
                <a:ea typeface="Times New Roman"/>
                <a:cs typeface="Ebrima"/>
              </a:rPr>
            </a:br>
            <a:r>
              <a:rPr lang="en-US" sz="2800" b="1" u="sng" dirty="0">
                <a:latin typeface="Power Geez Unicode1"/>
                <a:ea typeface="Times New Roman"/>
                <a:cs typeface="Ebrima"/>
              </a:rPr>
              <a:t/>
            </a:r>
            <a:br>
              <a:rPr lang="en-US" sz="2800" b="1" u="sng" dirty="0">
                <a:latin typeface="Power Geez Unicode1"/>
                <a:ea typeface="Times New Roman"/>
                <a:cs typeface="Ebrima"/>
              </a:rPr>
            </a:br>
            <a:r>
              <a:rPr lang="en-US" sz="2800" b="1" u="sng" dirty="0" smtClean="0">
                <a:latin typeface="Power Geez Unicode1"/>
                <a:ea typeface="Times New Roman"/>
                <a:cs typeface="Ebrima"/>
              </a:rPr>
              <a:t/>
            </a:r>
            <a:br>
              <a:rPr lang="en-US" sz="2800" b="1" u="sng" dirty="0" smtClean="0">
                <a:latin typeface="Power Geez Unicode1"/>
                <a:ea typeface="Times New Roman"/>
                <a:cs typeface="Ebrima"/>
              </a:rPr>
            </a:br>
            <a:r>
              <a:rPr lang="en-US" sz="28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የቅጣት</a:t>
            </a:r>
            <a:r>
              <a:rPr lang="en-US" sz="2800" b="1" dirty="0" smtClean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ሰንጠረዥ</a:t>
            </a:r>
            <a:r>
              <a:rPr lang="en-US" sz="28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800" b="1" dirty="0" smtClean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2</a:t>
            </a:r>
            <a:br>
              <a:rPr lang="en-US" sz="2800" b="1" dirty="0" smtClean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</a:br>
            <a:r>
              <a:rPr lang="en-US" sz="2800" b="1" dirty="0" err="1">
                <a:solidFill>
                  <a:prstClr val="black"/>
                </a:solidFill>
                <a:latin typeface="Power Geez Unicode1"/>
                <a:ea typeface="Times New Roman"/>
                <a:cs typeface="Nyala"/>
              </a:rPr>
              <a:t>በህገ</a:t>
            </a:r>
            <a:r>
              <a:rPr lang="en-US" sz="2800" b="1" dirty="0" err="1">
                <a:solidFill>
                  <a:prstClr val="black"/>
                </a:solidFill>
                <a:latin typeface="Power Geez Unicode1"/>
                <a:ea typeface="Times New Roman"/>
                <a:cs typeface="Times New Roman"/>
              </a:rPr>
              <a:t>-ወጥ</a:t>
            </a:r>
            <a:r>
              <a:rPr lang="en-US" sz="2800" b="1" dirty="0">
                <a:solidFill>
                  <a:prstClr val="black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Power Geez Unicode1"/>
                <a:ea typeface="Times New Roman"/>
                <a:cs typeface="Times New Roman"/>
              </a:rPr>
              <a:t>መንገድ</a:t>
            </a:r>
            <a:r>
              <a:rPr lang="en-US" sz="2800" b="1" dirty="0">
                <a:solidFill>
                  <a:prstClr val="black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Power Geez Unicode1"/>
                <a:ea typeface="Times New Roman"/>
                <a:cs typeface="Times New Roman"/>
              </a:rPr>
              <a:t>ፍሳሽ</a:t>
            </a:r>
            <a:r>
              <a:rPr lang="en-US" sz="2800" b="1" dirty="0">
                <a:solidFill>
                  <a:prstClr val="black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Power Geez Unicode1"/>
                <a:ea typeface="Times New Roman"/>
                <a:cs typeface="Times New Roman"/>
              </a:rPr>
              <a:t>ወይም</a:t>
            </a:r>
            <a:r>
              <a:rPr lang="en-US" sz="2800" b="1" dirty="0">
                <a:solidFill>
                  <a:prstClr val="black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Power Geez Unicode1"/>
                <a:ea typeface="Times New Roman"/>
                <a:cs typeface="Times New Roman"/>
              </a:rPr>
              <a:t>ደረቅ</a:t>
            </a:r>
            <a:r>
              <a:rPr lang="en-US" sz="2800" b="1" dirty="0">
                <a:solidFill>
                  <a:prstClr val="black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Power Geez Unicode1"/>
                <a:ea typeface="Times New Roman"/>
                <a:cs typeface="Times New Roman"/>
              </a:rPr>
              <a:t>ቆሻሻ</a:t>
            </a:r>
            <a:r>
              <a:rPr lang="en-US" sz="2800" b="1" dirty="0">
                <a:solidFill>
                  <a:prstClr val="black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Power Geez Unicode1"/>
                <a:ea typeface="Times New Roman"/>
                <a:cs typeface="Times New Roman"/>
              </a:rPr>
              <a:t>ማስወገድ</a:t>
            </a:r>
            <a:r>
              <a:rPr lang="en-US" sz="2800" dirty="0">
                <a:solidFill>
                  <a:prstClr val="black"/>
                </a:solidFill>
                <a:ea typeface="+mn-ea"/>
                <a:cs typeface="+mn-cs"/>
              </a:rPr>
              <a:t/>
            </a:r>
            <a:br>
              <a:rPr lang="en-US" sz="2800" dirty="0">
                <a:solidFill>
                  <a:prstClr val="black"/>
                </a:solidFill>
                <a:ea typeface="+mn-ea"/>
                <a:cs typeface="+mn-cs"/>
              </a:rPr>
            </a:br>
            <a:r>
              <a:rPr lang="en-US" sz="3200" dirty="0">
                <a:solidFill>
                  <a:prstClr val="black"/>
                </a:solidFill>
                <a:ea typeface="+mn-ea"/>
                <a:cs typeface="+mn-cs"/>
              </a:rPr>
              <a:t/>
            </a:r>
            <a:br>
              <a:rPr lang="en-US" sz="3200" dirty="0">
                <a:solidFill>
                  <a:prstClr val="black"/>
                </a:solidFill>
                <a:ea typeface="+mn-ea"/>
                <a:cs typeface="+mn-cs"/>
              </a:rPr>
            </a:b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  <a:solidFill>
            <a:schemeClr val="bg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 fontScale="70000" lnSpcReduction="20000"/>
          </a:bodyPr>
          <a:lstStyle/>
          <a:p>
            <a:pPr marL="0" lvl="0" indent="0">
              <a:lnSpc>
                <a:spcPct val="115000"/>
              </a:lnSpc>
              <a:spcAft>
                <a:spcPts val="1000"/>
              </a:spcAft>
              <a:buSzPts val="1200"/>
              <a:buNone/>
            </a:pP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በህገ-ወጥ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መንገድ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ደረቅ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ፍሳሽ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ማስወገድን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በተመለከተ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endParaRPr lang="en-US" sz="2800" dirty="0">
              <a:solidFill>
                <a:schemeClr val="tx1"/>
              </a:solidFill>
              <a:ea typeface="Times New Roman"/>
              <a:cs typeface="Nyala"/>
            </a:endParaRPr>
          </a:p>
          <a:p>
            <a:pPr marL="0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ደንብ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ተላላፊው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በህገወጥ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መንገድ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ደረቅ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ፈሳሽ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ን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ያላግባብ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አስወግዷል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፣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ደረቅ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ቆሻሻን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ጥሏል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፣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ወይም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ፍሳሽ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ቆሻሻን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ለቋል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የሚል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ጥቆማ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ለደንብ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መተላለፍ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ቁጥጥር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እርምጃ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አወሳሰድ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ኦፊሰሩ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ሲደርሰዉ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ወይም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በራሱ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ክትትልና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ቁጥጥር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ድርጊቱን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ሲደርስበት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ደንብ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መተላለፍ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መሆኑን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ያረጋግጣል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፣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ህገ-ወጥ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ድርጊቱን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ወዲያዉኑ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ያስቆማል፣የደንብ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ተላላፊዉን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ማንነት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በመለየት፤የሚከተለውን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ተግባራትን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ያከናውናል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፡፡</a:t>
            </a:r>
            <a:endParaRPr lang="en-US" sz="3400" dirty="0">
              <a:solidFill>
                <a:schemeClr val="tx1"/>
              </a:solidFill>
              <a:ea typeface="Calibri"/>
              <a:cs typeface="Arial"/>
            </a:endParaRPr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81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l"/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562600"/>
          </a:xfrm>
          <a:solidFill>
            <a:schemeClr val="bg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 fontScale="70000" lnSpcReduction="20000"/>
          </a:bodyPr>
          <a:lstStyle/>
          <a:p>
            <a:pPr marL="457200" lvl="1" indent="0" algn="just">
              <a:lnSpc>
                <a:spcPct val="150000"/>
              </a:lnSpc>
              <a:spcAft>
                <a:spcPts val="1000"/>
              </a:spcAft>
              <a:buSzPts val="1200"/>
              <a:buNone/>
            </a:pP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ያመነጨውን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ደረቅ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በግቢው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በአግባቡ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አለመያዝ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በዓይነት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አለመለየት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ማዝረክረክ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ለጤናና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የአካባቢ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ገጽታ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በሚጎዳ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መልኩ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ማከማቸት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በመኖርያ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ከጽዳት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ቆሻሻው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በዓይነት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አለመለየቱን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ሲቀርብ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የደንብ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ክትትልና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በክትትልና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ቁጥጥር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ወቅት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ድርጅት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500.00 (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አምስት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)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4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095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 fontScale="62500" lnSpcReduction="20000"/>
          </a:bodyPr>
          <a:lstStyle/>
          <a:p>
            <a:pPr marL="457200" lvl="1" indent="0" algn="just">
              <a:lnSpc>
                <a:spcPct val="150000"/>
              </a:lnSpc>
              <a:spcAft>
                <a:spcPts val="1000"/>
              </a:spcAft>
              <a:buSzPts val="1200"/>
              <a:buNone/>
            </a:pP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ማንኛውም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ሰው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ያመነጨውን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ደረቅ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በግቢው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በአግባቡ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አለመያዝ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በዓይነት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አለመለየት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ማዝረክረክ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ለጤናና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የአካባቢ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ገጽታ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በሚጎዳ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መልኩ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ማከማቸት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በድርጅት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ከጽዳት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ቆሻሻው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በዓይነት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አለመለየቱን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ሲቀርብ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የደንብ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ክትትልና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በአካል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ሄዶ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ድርጅት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3000.00 (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ሶስት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፤</a:t>
            </a:r>
            <a:r>
              <a:rPr lang="en-US" b="1" dirty="0">
                <a:solidFill>
                  <a:srgbClr val="FFFF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4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513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  <a:solidFill>
            <a:schemeClr val="bg1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 fontScale="62500" lnSpcReduction="20000"/>
          </a:bodyPr>
          <a:lstStyle/>
          <a:p>
            <a:pPr marL="457200" lvl="1" indent="0" algn="just">
              <a:lnSpc>
                <a:spcPct val="150000"/>
              </a:lnSpc>
              <a:spcAft>
                <a:spcPts val="1000"/>
              </a:spcAft>
              <a:buSzPts val="1200"/>
              <a:buNone/>
            </a:pP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ማንኛውም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አገልግሎት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ሰጭ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ድርጅት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/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ማህበር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ደረቅ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ሲሰበስብ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በአካባቢው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ካንጠባጠበ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የአካባቢውን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ገጽታ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ካበላሸ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የደንብ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ክትትልና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ድርጅት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/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300.00 (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ሶስት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3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3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3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3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3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3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3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3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3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3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3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3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3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3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3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6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99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5791200"/>
          </a:xfrm>
          <a:solidFill>
            <a:schemeClr val="bg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ማንኛውም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አገልግሎት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ሰጭ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ድርጅት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/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ማህበር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በተቀመጠው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ስታንዳርድ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መሰረት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ለደንበኛው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ተገቢውን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አገልግሎት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አለመስጠቱን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ከጽዳት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ሲቀርብ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ድርጅት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/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1000.00 (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አንድ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፤</a:t>
            </a:r>
            <a:r>
              <a:rPr lang="en-US" sz="1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1400" b="1" dirty="0">
              <a:solidFill>
                <a:srgbClr val="00B0F0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ከጽዳት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እውቅና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የአገልግሎት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ክፍያ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ከደንበኛው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ከተቀበለ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ማንኛውም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አገልግሎት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ድርጅት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/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ማህበር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ክትትልና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ቁጥጥር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ድርጅት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/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3000.00 (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ሶስት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1400" b="1" dirty="0">
              <a:solidFill>
                <a:srgbClr val="002060"/>
              </a:solidFill>
              <a:ea typeface="Times New Roman"/>
              <a:cs typeface="Nyala"/>
            </a:endParaRPr>
          </a:p>
          <a:p>
            <a:endParaRPr 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05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  <a:solidFill>
            <a:schemeClr val="bg1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70000" lnSpcReduction="20000"/>
          </a:bodyPr>
          <a:lstStyle/>
          <a:p>
            <a:pPr marL="457200" lvl="1" indent="0" algn="just">
              <a:lnSpc>
                <a:spcPct val="150000"/>
              </a:lnSpc>
              <a:spcAft>
                <a:spcPts val="1000"/>
              </a:spcAft>
              <a:buSzPts val="1200"/>
              <a:buNone/>
            </a:pP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ጊዚያዊ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የደረቅ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ማሰቀመጫ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ቦታዎችን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እሰከ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5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ሜትር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ዙሪያ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ድረስ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ጽዱ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ካላደረገ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ማንኛውም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አገልግሎት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ሰጭ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ድርጅት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/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ማህበር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ክትትልና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ቁጥጥር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ድርጅት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/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1000.00 (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አንድ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400" b="1" dirty="0">
              <a:solidFill>
                <a:srgbClr val="7030A0"/>
              </a:solidFill>
              <a:ea typeface="Times New Roman"/>
              <a:cs typeface="Nyala"/>
            </a:endParaRPr>
          </a:p>
          <a:p>
            <a:endParaRPr 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95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  <a:solidFill>
            <a:schemeClr val="bg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normAutofit fontScale="70000" lnSpcReduction="20000"/>
          </a:bodyPr>
          <a:lstStyle/>
          <a:p>
            <a:pPr marL="457200" lvl="1" indent="0" algn="just">
              <a:lnSpc>
                <a:spcPct val="150000"/>
              </a:lnSpc>
              <a:spcAft>
                <a:spcPts val="1000"/>
              </a:spcAft>
              <a:buSzPts val="1200"/>
              <a:buNone/>
            </a:pP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ለመልሶ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መጠቀምና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ኡደት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የሚውል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ደረቅ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ከጽዳት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አስተዳደር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ኤጀንሲ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ህጋዊ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እውቅና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ሳይኖረው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በግል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በማህበርም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ይሁን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በድርጅት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ስም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በግቢ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ውስጥ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በክፍት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ቦታ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ያከማቸ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መሆኑን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ክትትልና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ቁጥጥር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ድርጅት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/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2000.00 (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፤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 </a:t>
            </a:r>
            <a:endParaRPr lang="en-US" sz="24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150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143000"/>
            <a:ext cx="8915400" cy="5562600"/>
          </a:xfrm>
          <a:solidFill>
            <a:schemeClr val="bg1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በመልሶ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መጠቀምና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ኡደት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ማድረግ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ዘርፍ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የተሰማራ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ግለሰብ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ማህበር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ድርጅት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ለመልሶ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መጠቀምና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ኡደት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የዋለ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ደረቅ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መረጃ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ለሚጠይቀው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ህጋዊ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አካል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አለመስጠቱን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ከጽዳት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ሲቀርብ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ግለሰብ፣ድርጅት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ማህበር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1000.00 (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አንድ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2900" b="1" dirty="0" smtClean="0">
                <a:latin typeface="Power Geez Unicode1"/>
                <a:ea typeface="Times New Roman"/>
                <a:cs typeface="Nyala"/>
              </a:rPr>
              <a:t>፡፡</a:t>
            </a:r>
            <a:endParaRPr lang="en-US" sz="2500" b="1" dirty="0"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2900" b="1" dirty="0" err="1" smtClean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በደረቅ</a:t>
            </a:r>
            <a:r>
              <a:rPr lang="en-US" sz="2900" b="1" dirty="0" smtClean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ማስወገጃ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ቦታ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ውስጥ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ህጋዊ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ፈቃድ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ሳይኖረው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ለመልሶ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መጠቀምና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ኡደት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የሚውል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ደረቅ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የለቀመ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የማከማቸት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ድርጊት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የፈፀመ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ግለሰብ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ድርጅት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ሲገኝ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ድርጅት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/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2000.00 (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ሺ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፡፡</a:t>
            </a:r>
            <a:endParaRPr lang="en-US" sz="2400" b="1" dirty="0"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075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l"/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8915400" cy="5715000"/>
          </a:xfrm>
          <a:solidFill>
            <a:schemeClr val="bg1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normAutofit fontScale="25000" lnSpcReduction="20000"/>
          </a:bodyPr>
          <a:lstStyle/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የመኖሪያ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ደረቅ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ቆሻሻን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ከግቢው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አውጥቶ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ባልተፈቀደ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ቦታ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የጣለ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ያስቀመጠ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ተላላፊ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መኖሩን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ክትትልና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ቁጥጥር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500.00 (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አምስት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64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6400" b="1" dirty="0">
              <a:solidFill>
                <a:schemeClr val="tx1"/>
              </a:solidFill>
              <a:ea typeface="Calibri"/>
              <a:cs typeface="Arial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የኢንዱስትሪን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ደረቅ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ቆሻሻን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ከግቢው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አውጥቶ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ባልተፈቀደ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ቦታ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የጣለ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ያስቀመጠ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ተላላፊ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መኖሩን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ክትትልና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ቁጥጥር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10000.00 (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አስር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ሺ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፤</a:t>
            </a:r>
            <a:r>
              <a:rPr lang="en-US" sz="6400" b="1" dirty="0">
                <a:solidFill>
                  <a:srgbClr val="FFFF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56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766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921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marL="457200" lvl="1" indent="0" algn="just">
              <a:lnSpc>
                <a:spcPct val="150000"/>
              </a:lnSpc>
              <a:spcAft>
                <a:spcPts val="1000"/>
              </a:spcAft>
              <a:buSzPts val="1200"/>
              <a:buNone/>
            </a:pP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የጤና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ተቋም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ደረቅ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ቆሻሻን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ከግቢው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አውጥቶ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ባልተፈቀደ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ቦታ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የጣለ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ያስቀመጠ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ተላላፊ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መኖሩን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ክትትልና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ቁጥጥር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15000.00 (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አስራ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አምስት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ሺ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፡፡</a:t>
            </a:r>
            <a:endParaRPr lang="en-US" sz="2400" b="1" dirty="0">
              <a:ea typeface="Times New Roman"/>
              <a:cs typeface="Nyala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03778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638800"/>
          </a:xfr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55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የሌሎች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ድርጅች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የመነጨ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ደረቅ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ቆሻሻን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ከግቢው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አውጥቶ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ባልተፈቀደ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ቦታ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የጣለ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ያስቀመጠ፤ደንብ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ተላላፊ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መኖሩን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ክትትልና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ቁጥጥር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2000.00 (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ሺ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4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ከመኪና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የመነጨን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ደረቅ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በማንኛውም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ባልተፈቀደ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ቦታ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ጠርጎ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ሲጥል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ክትትልና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ቁጥጥር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አሽከርካሪ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1000.00 (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አንድ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ሺ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የጣለውን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እንዲያስወገወድ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ይደረጋል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፡፡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ሆኖም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አሽከርካሪው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ለመቀጣት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ፍቃደኛ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ባይሆን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ቆሻሻውን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ጥሎ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ቢሄድ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፤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የተሽከርካሪውን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ታርጋ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ቁጥሩን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በመያዝ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በትራፊክ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ማኔጅመንት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በኩል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አሽከርካሪውን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እንዲያዝ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በማድረግ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መተላለፉ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ተፈፀመበት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ወረዳ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ድረስ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ቀርቦ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400" b="1" dirty="0">
              <a:solidFill>
                <a:srgbClr val="FF0000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517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l"/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62500" lnSpcReduction="20000"/>
          </a:bodyPr>
          <a:lstStyle/>
          <a:p>
            <a:pPr marL="457200" lvl="1" indent="0" algn="just">
              <a:lnSpc>
                <a:spcPct val="150000"/>
              </a:lnSpc>
              <a:spcAft>
                <a:spcPts val="1000"/>
              </a:spcAft>
              <a:buSzPts val="1200"/>
              <a:buNone/>
            </a:pP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አሽከርካሪ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ተሳፋሪ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ከመኪና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ውስጥ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ሆኖ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በመስኮትም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ይሁን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በበር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በኩል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ማንኛውንም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ዓይነት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ደረቅ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ወደ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ውጭ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ከወረወረ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ከጣለ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ክትትልና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አሽከርካሪ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ተሳፋሪ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200.00 (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ይሰጣል፤</a:t>
            </a:r>
            <a:r>
              <a:rPr lang="en-US" b="1" dirty="0" err="1">
                <a:latin typeface="Power Geez Unicode1"/>
                <a:ea typeface="Times New Roman"/>
                <a:cs typeface="Ebrima"/>
              </a:rPr>
              <a:t>የጣለውን</a:t>
            </a:r>
            <a:r>
              <a:rPr lang="en-US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Ebrima"/>
              </a:rPr>
              <a:t>እንዲያስወገወድ</a:t>
            </a:r>
            <a:r>
              <a:rPr lang="en-US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Ebrima"/>
              </a:rPr>
              <a:t>ይደረጋል</a:t>
            </a:r>
            <a:r>
              <a:rPr lang="en-US" b="1" dirty="0">
                <a:latin typeface="Power Geez Unicode1"/>
                <a:ea typeface="Times New Roman"/>
                <a:cs typeface="Ebrima"/>
              </a:rPr>
              <a:t>፡፡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Ebrima"/>
              </a:rPr>
              <a:t>ሆኖም</a:t>
            </a:r>
            <a:r>
              <a:rPr lang="en-US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አሽከርካሪው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ለመቀጣት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ፍቃደኛ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ባይሆን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ቆሻሻውን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ጥሎ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ቢሄድ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፤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የተሽከርካሪውን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ታርጋ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ቁጥሩን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በመያዝ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በትራፊክ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ማኔጅመንት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በኩል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አሽከርካሪውን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እንዲያዝ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በማድረግ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መተላለፉ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ተፈፀመበት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ወረዳ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ድረስ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ቀርቦ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፡፡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ድርጊቱ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የተፈፀመው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ተሳፋሪ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ሆኖ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ለመክፍል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ፍቃደኛ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ካልሆነ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ቅጣቱን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እንዲከፍል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ማህበራዊ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እንዲፈፅም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ከፖሊስ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ጋር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በመሆን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በጋራ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ይሰራል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፡፡</a:t>
            </a:r>
            <a:endParaRPr lang="en-US" sz="2400" b="1" dirty="0">
              <a:solidFill>
                <a:srgbClr val="7030A0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618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5486400"/>
          </a:xfrm>
          <a:solidFill>
            <a:schemeClr val="bg1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25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ማንኛውም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በመንገድ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የሚንቀሳቀስ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ሰው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የሲጋራ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ቁርጥራጭ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፣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የሶፍት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ወረቀት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፣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ፌስታል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፣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የጫት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ገለባ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፣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የፍራፍሬ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ተረፈ-ምርቶች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፣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የትራንስፖርት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ቲኬት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፣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የሞባይል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ካርዶችን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፣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የማስቲካና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ከረሜላ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ሽፋኖች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፣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ወዘተ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ጥቃቅን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ደረቅ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ቆሻሻን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ባልተፈቀደ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ቦታ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በመንገድ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የመንገድ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ቱቦ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ድልድይ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ውስጥ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በከፍት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ቦታ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ወዘተ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ከወረወረ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ከጣለ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ክትትልና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200.00 (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ማህበራዊ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እንዲፈፅም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ከፖሊስ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ጋር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በመሆን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በጋራ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ይሰራል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የጣለውን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እንዲያስወግድ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ይደረጋል፣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ያቆሸሸውን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አካባቢ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እንዲያፀዳ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ማድረግ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56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ከሚመለከተው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ህጋዊ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ፈቃድ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ሳይኖረው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አሸዋ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አፈር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ሳር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ቅጠላ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ቅጠል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የግንባታ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ፍርስራሽ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ባልተፈቀደ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ቦታ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በማስቀመጥ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አካባቢን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ማቆሸሹን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ክትትልና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1000.00 (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አንድ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4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243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10200"/>
          </a:xfr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625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በመንገድ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በሌላ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ባልተፈቀደ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ቦታ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ቄጠማ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ሳር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በቆሎ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ጭድ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ሸንኮራ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አገዳ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የሽንብራና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የባቄላ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እሸት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ፍራፍሬ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ወዘተ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በመሸጥ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አካባቢን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ያቆሸሸ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ግብዓቱን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ተጠቅሞ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የጣለ</a:t>
            </a:r>
            <a:r>
              <a:rPr lang="en-US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ክትትልና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ላይ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200.00 (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ብር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፡፡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ንብረቱ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ይወረሳል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፡፡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Ebrima"/>
              </a:rPr>
              <a:t>ማህበራዊ</a:t>
            </a:r>
            <a:r>
              <a:rPr lang="en-US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Ebrima"/>
              </a:rPr>
              <a:t>እንዲፈፅም</a:t>
            </a:r>
            <a:r>
              <a:rPr lang="en-US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Ebrima"/>
              </a:rPr>
              <a:t>ከፖሊስ</a:t>
            </a:r>
            <a:r>
              <a:rPr lang="en-US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Ebrima"/>
              </a:rPr>
              <a:t>ጋር</a:t>
            </a:r>
            <a:r>
              <a:rPr lang="en-US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Ebrima"/>
              </a:rPr>
              <a:t>በመሆን</a:t>
            </a:r>
            <a:r>
              <a:rPr lang="en-US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Ebrima"/>
              </a:rPr>
              <a:t>በጋራ</a:t>
            </a:r>
            <a:r>
              <a:rPr lang="en-US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ይሰራል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፡፡</a:t>
            </a:r>
            <a:endParaRPr lang="en-US" sz="2400" dirty="0"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ማንኛውንም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መኪና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ባልተፈቀደ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ቦታ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በማጠብ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አካባቢው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እንዲቆሽሽ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ያደረገ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Ebrima"/>
              </a:rPr>
              <a:t>መሆኑን</a:t>
            </a:r>
            <a:r>
              <a:rPr lang="en-US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ክትትልና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አጣቢውን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ላይ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200.00 (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፡፡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Ebrima"/>
              </a:rPr>
              <a:t>ማህበራዊ</a:t>
            </a:r>
            <a:r>
              <a:rPr lang="en-US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Ebrima"/>
              </a:rPr>
              <a:t>እንዲፈፅም</a:t>
            </a:r>
            <a:r>
              <a:rPr lang="en-US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Ebrima"/>
              </a:rPr>
              <a:t>ከፖሊስ</a:t>
            </a:r>
            <a:r>
              <a:rPr lang="en-US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Ebrima"/>
              </a:rPr>
              <a:t>ጋር</a:t>
            </a:r>
            <a:r>
              <a:rPr lang="en-US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Ebrima"/>
              </a:rPr>
              <a:t>በመሆን</a:t>
            </a:r>
            <a:r>
              <a:rPr lang="en-US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Ebrima"/>
              </a:rPr>
              <a:t>በጋራ</a:t>
            </a:r>
            <a:r>
              <a:rPr lang="en-US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ይሰራል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፡፡</a:t>
            </a:r>
            <a:endParaRPr lang="en-US" sz="2400" dirty="0"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88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l"/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715000"/>
          </a:xfr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625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ማንኛውንም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መኪና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ባልተፈቀደ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ቦታ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በማሳጠብ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አካባቢው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እንዲቆሽሽ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ያደረገ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መሆኑን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1000.00 (</a:t>
            </a:r>
            <a:r>
              <a:rPr lang="en-US" b="1" dirty="0" err="1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አንድ</a:t>
            </a:r>
            <a:r>
              <a:rPr lang="en-US" b="1" dirty="0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 ሺ </a:t>
            </a:r>
            <a:r>
              <a:rPr lang="en-US" b="1" dirty="0" err="1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ቅጣቱን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ለመቀጣት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ፍቃደኛ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ባይሆን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፤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የተሽከርካሪውን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ታርጋ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ቁጥር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በመያዝ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በትራፊክ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ማኔጅመንት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በኩል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አሽከርካሪውን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እንዲያዝ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በማድረግ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መተላለፉ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ተፈፀመበት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ወረዳ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ድረስ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ቀርቦ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፡፡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አፈፃፀሙን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ይከታተላል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፤ </a:t>
            </a:r>
            <a:endParaRPr lang="en-US" sz="2400" b="1" dirty="0">
              <a:solidFill>
                <a:srgbClr val="002060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አፈር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አሸዋ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ጠጠር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ሳርና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ሌሎች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ተረፈ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ምርቶች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በተሽከርካሪ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ሲጓጓዝ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በሸራ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በመረብ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ሳይሸፍን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በመቅረቱ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ምክንያት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አካባቢውን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ካቆሸሸ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1000.00 (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አንድ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ቅጣቱን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ለመቀጣት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ፍቃደኛ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ባይሆን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፤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የተሽከርካሪውን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ታርጋ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ቁጥር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በመያዝ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በትራፊክ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ማኔጅመንት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በኩል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አሽከርካሪውን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እንዲያዝ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በማድረግና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መተላለፉ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ተፈፀመበት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ወረዳ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ድረስ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ቀርቦ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፡፡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አፈፃፀሙን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ይከታተላል</a:t>
            </a:r>
            <a:r>
              <a:rPr lang="en-US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፡፡ </a:t>
            </a:r>
            <a:endParaRPr lang="en-US" sz="2400" dirty="0">
              <a:solidFill>
                <a:srgbClr val="002060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008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159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6388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የጽዳት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ሰጪ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ድርጅት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/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ማህበር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ኤጀንሲው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ለደረቅ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ጊዚያ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ማቆያ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ማስወገጃነት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ከፈቀደው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ቦታ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ውጭ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ማንኛውንም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ደረቅ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ካስቀመጠ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፤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ከጣለ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፤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ካቃጠለ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ከቀበረ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ክትትልና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ቁጥጥር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 smtClean="0"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2900" b="1" dirty="0" smtClean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2000.00 (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ሺ)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፡፡</a:t>
            </a:r>
            <a:endParaRPr lang="en-US" sz="2500" b="1" dirty="0"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ከመፀዳጃ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ቤት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ውጭ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በማንኛውም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ቦታ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ሽንት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መሽናት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መጸዳዳትን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ክትትልና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ቁጥጥር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ድርጊቱን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200.00 (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ማህበራዊ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እንዲፈፅም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ከፖሊስ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ጋር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በመሆን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በጋራ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ይሰራል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፡፡</a:t>
            </a:r>
            <a:endParaRPr lang="en-US" sz="2500" b="1" dirty="0"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201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763000" cy="5486400"/>
          </a:xfr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በመንገድ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ዳር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በሚቀመጡ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የጥቃቅን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ደረቅ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ማስቀመጫ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እቃዎችን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ያለ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ህጋዊ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ፈቃድ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ከአካባቢው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ያስወገደ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ነቅሎ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የጣለ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ያበላሸ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የሰበረ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የወሰደ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ለሌላ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አገልግሎት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ያዋለ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ተላላፊ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ሲኖር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ድርጊቱን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ሲፈፀም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ክትትልና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ቁጥጥር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ድርጊቱን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20000.00 (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ሀያ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ሺ)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ይሰጣል፣ለመክፈል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በተፈፀመበት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አካባቢ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ለሚገኝ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የፀጥታ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ክስ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እንዲመሰረትበት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መረጃ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ያቀርባል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፡፡ </a:t>
            </a:r>
            <a:endParaRPr lang="en-US" sz="1200" b="1" dirty="0">
              <a:solidFill>
                <a:srgbClr val="002060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በመንገድ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ዳር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በሚቀመጡ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የጥቃቅን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ደረቅ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ማስቀመጫ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እቃዎችን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የለጠፈ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በላያቸው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እቃ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ያስቀመጠ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መሆኑን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ክትትልና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ቁጥጥር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ድርጊቱን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ማስታወቂያውን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በማንሳት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500.00 (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አምስት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)</a:t>
            </a:r>
            <a:r>
              <a:rPr lang="en-US" sz="1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 smtClean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ማስታወቂያውን</a:t>
            </a:r>
            <a:r>
              <a:rPr lang="en-US" sz="1400" b="1" dirty="0" smtClean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የለጠፈውን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ድርጅት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/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በተጠቀሰው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አድራሻ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በመሄድ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ይልካል፣አፈፃፀሙን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1400" b="1" dirty="0"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ሆኖም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የድርጅቱ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የግለሰቡ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አድራሻ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ከወረዳው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ከክፍለ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ክልል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ውጪ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ከሆነ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ለሚመለከተው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ወረዳ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ክፍለ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ከተማ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፡፡ </a:t>
            </a:r>
            <a:endParaRPr lang="en-US" sz="1200" b="1" dirty="0">
              <a:solidFill>
                <a:srgbClr val="C00000"/>
              </a:solidFill>
              <a:ea typeface="Times New Roman"/>
              <a:cs typeface="Nyala"/>
            </a:endParaRPr>
          </a:p>
          <a:p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37191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638800"/>
          </a:xfr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በአገልግሎት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ሰጭ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ተቋማትና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የማምረቻ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ድርጅቶች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ተገቢ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የሆነ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የጥቃቅን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ማጠራቀሚያ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ዕቃ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በግቢው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ውስጥና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በአካባቢው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አለማስቀመጥ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ድርጅት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/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1000.00 (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አንድ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ሺ)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ቀናት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ደስትቢን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ማስቀመጡን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ያረጋግጣል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፡፡</a:t>
            </a:r>
            <a:endParaRPr lang="en-US" sz="2400" b="1" dirty="0"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b="1" dirty="0" err="1" smtClean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ከቤት</a:t>
            </a:r>
            <a:r>
              <a:rPr lang="en-US" b="1" dirty="0" smtClean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እንስሳት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የሚወጡ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እዳሪ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(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ኩስ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ፍግ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እበት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)፤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እና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የእንስሳት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የምግብ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ተረፈ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ምርቶችን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ባልተፈቀደ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ቦታ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የጣለ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አካባቢውን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ያቆሸሸ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ድርጅት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/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2000.00 (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ሺ)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ቀናት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፡፡</a:t>
            </a:r>
            <a:endParaRPr lang="en-US" sz="2400" b="1" dirty="0">
              <a:ea typeface="Times New Roman"/>
              <a:cs typeface="Nyala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endParaRPr lang="en-US" sz="2800" dirty="0">
              <a:ea typeface="Calibri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380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638800"/>
          </a:xfrm>
        </p:spPr>
        <p:txBody>
          <a:bodyPr>
            <a:normAutofit fontScale="55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የተለያዩ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እንስሳትን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ባልተፈቀደ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ቦታ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 smtClean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2900" b="1" dirty="0" smtClean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በማጸዳዳት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አካባቢውን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ሲያቆሽሽ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በእያንዳንዱ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እንስሳት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200.00 (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፡፡</a:t>
            </a:r>
            <a:endParaRPr lang="en-US" sz="2500" b="1" dirty="0"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ሳር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ቅጠላ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ቅጠል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አፈር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አሸዋና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ሌሎች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ተረፈ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ምርቶችን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ሳይሸፍን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በጋማ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ከብት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በማጓጓዝ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አካባቢውን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ያቆሸሸ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ያዝረከረከ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200.00 (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አካባቢውን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ለማጽዳት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/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መክፈል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ካልቻለ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/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ማህበራዊ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እንዲፈፅም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ከፖሊስ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ጋር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በመሆን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በጋራ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ይደጋል፡አፈፃፀሙን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፡፡</a:t>
            </a:r>
            <a:endParaRPr lang="en-US" sz="2500" b="1" dirty="0"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29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562600"/>
          </a:xfr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 fontScale="25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የሞተ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እንስሳን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ባልተፈቀደ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ቦታ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የጣለ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200.00 (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አካባቢውን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ለማጽዳት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/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መክፈል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ካልቻለ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/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ማህበራዊ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እንዲፈፅም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ከፖሊስ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ጋር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በመሆን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በጋራ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ይደጋል፡አፈፃፀሙን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56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የአትክልትና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ፍራፍሬ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የገበያ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ማዕከላት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እና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ሌሎች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የገበያ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ማዕከላት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የሚገኙ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ሰዎችና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ድርጅቶች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የተረፈ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ምርታቸውን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ደረቅ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ከንግድ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ማዕከሉ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ግቢ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ውጭ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መንገድ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ዳር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ያከማቸ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ያስቀመጠና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የጣለ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ደንብ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ተላላፊን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2000.00 (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፤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፡፡</a:t>
            </a:r>
            <a:endParaRPr lang="en-US" sz="5600" b="1" dirty="0"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651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5791200"/>
          </a:xfrm>
          <a:solidFill>
            <a:schemeClr val="bg1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የአትክልትና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ፍራፍሬ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የገበያ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ማዕከላትና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የተለያዩ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የገበያ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ማዕከላት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የሚገኙ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ሰዎችና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ድርጅቶች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የተረፈ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ምርታቸውን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ደረቅ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ከተሸከርካሪ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አትክልትና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ፍራፍሬ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ሲጭንና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ሲያወርድ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የሚወዳድቁ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የአትክልት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ትርፍራፊ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ወዲያው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ያላጸዳ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200.00 (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አካባቢውን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ለማጽዳት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/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መክፈል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ካልቻለ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/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ማህበራዊ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እንዲፈፅም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ከፖሊስ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ጋር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በመሆን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በጋራ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ይደጋል፡አፈፃፀሙን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1200" b="1" dirty="0">
              <a:solidFill>
                <a:srgbClr val="002060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የአትክልትና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ፍራፍሬ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የገበያ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ማዕከላትና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የተለያዩ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የገበያ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ማዕከላት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የሚገኙ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ሰዎችና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ድርጅቶች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የተረፈ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ምርታቸውን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ደረቅ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የገበያ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ማዕከሉን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ደረቅ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በራሱ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ወጭ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ሰብስቦ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ኤጀንሲው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በፈቀደው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ህጋዊ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ማስወገጃ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ቦታ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የመልሶ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መጠቀምና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ኡደት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ማእከላት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ያላስወገደ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sz="1400" b="1" dirty="0">
                <a:solidFill>
                  <a:srgbClr val="FFFF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5000.00 (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አምስት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14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14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1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1200" b="1" dirty="0">
              <a:solidFill>
                <a:srgbClr val="002060"/>
              </a:solidFill>
              <a:ea typeface="Times New Roman"/>
              <a:cs typeface="Nyala"/>
            </a:endParaRPr>
          </a:p>
          <a:p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28837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791200"/>
          </a:xfrm>
          <a:solidFill>
            <a:schemeClr val="bg1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normAutofit fontScale="55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የአትክልትና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ፍራፍሬ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የገበያ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ማዕከላትና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የተለያዩ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የገበያ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ማዕከላት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የሚገኙ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ሰዎችና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ድርጅቶች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የተረፈ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ምርታቸውን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ደረቅ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ከመደብሩ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ፊት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ለፊት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የመደብር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ጥራጊ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በሽያጭ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ወቅት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የተከሰቱ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የእቃ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ማሸጊያ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የጫት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ገራባ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ካርቶን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ወዘተ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ካስቀመጠ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300.00 (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ሶስት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አካባቢውን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ለማጽዳት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/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መክፈል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ካልቻለ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/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ማህበራዊ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እንዲፈፅም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ከፖሊስ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ጋር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በመሆን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በጋራ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ይደጋል፡አፈፃፀሙን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ይከታተ</a:t>
            </a:r>
            <a:r>
              <a:rPr lang="en-US" sz="25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ላል</a:t>
            </a:r>
            <a:r>
              <a:rPr lang="en-US" sz="25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500" b="1" dirty="0">
              <a:solidFill>
                <a:srgbClr val="002060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ከግንባታ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ከፍርስራሽ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የሚመነጭ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ደረቅ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ቆሻሻን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ባልተፈቀደ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ቦታ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የጣለ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ግለሰብ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/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ድርጅት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5000.00 (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አምስት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500" b="1" dirty="0">
              <a:solidFill>
                <a:srgbClr val="002060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206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10600" cy="5638800"/>
          </a:xfrm>
        </p:spPr>
        <p:txBody>
          <a:bodyPr>
            <a:normAutofit fontScale="25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በግንባታ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ማዕከል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በተሽከርካሪ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ጎማ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እንቅስቃሴ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በጭነት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ወቅት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በሚንጠባጠብ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አፈር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ጭቃ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ፍርስራሽ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ወዘተ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ምክንያት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በሚፈጠር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አካባቢውና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መንገዱ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ያበላሸ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Ebrima"/>
              </a:rPr>
              <a:t>የግንባታ</a:t>
            </a:r>
            <a:r>
              <a:rPr lang="en-US" sz="64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Ebrima"/>
              </a:rPr>
              <a:t>ባለቤት</a:t>
            </a:r>
            <a:r>
              <a:rPr lang="en-US" sz="64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2000.00 (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፡፡</a:t>
            </a:r>
            <a:endParaRPr lang="en-US" sz="5600" b="1" dirty="0"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የአጥንትና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የስጋ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ተረፈ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ምርትን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ባልተፈቀደ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ቦታ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የጣለ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ግለሰብ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/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ድርጅት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ኦፊሰሩም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1000.00 (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አንድ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፡፡</a:t>
            </a:r>
            <a:endParaRPr lang="en-US" sz="5600" b="1" dirty="0"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45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921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562600"/>
          </a:xfrm>
          <a:solidFill>
            <a:schemeClr val="bg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 fontScale="25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ከጽዳት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አስተዳደር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ኤጀንሲ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ህጋዊ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ፈቃድ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ውጭ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ማንኛውንም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አደገኛ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ደረቅ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ተገቢነት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የሌለውን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ደረቅ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ወደ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ማስወገጃ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ቦታ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ማቃጠያ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ማዕከል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ቅብብሎሽ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ጣቢያ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የመልሶ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መጠቀምና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ኡደት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ማዕከል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ያጓጓዘ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ድርጅት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/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ማህበር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/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ግለሰብ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/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ተቋም</a:t>
            </a:r>
            <a:r>
              <a:rPr lang="en-US" sz="64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ድርጅት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/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ማህበር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/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ግለሰብ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/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ተቋም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10000.00 (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አስር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፤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እንዲመልስ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ለመመለስ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5600" b="1" dirty="0">
              <a:solidFill>
                <a:srgbClr val="002060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የማይሰጡ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የኤሌክትሮኒክስ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ቁሳቁሶችን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በተለየ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መልኩ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በመለየት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በአግባቡ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እና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አካባቢውን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በማይበክል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መንገድ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እንዲወገድ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አላማድረጉን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አካል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1000.00 (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አንድ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5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64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5600" b="1" dirty="0">
              <a:solidFill>
                <a:srgbClr val="002060"/>
              </a:solidFill>
              <a:ea typeface="Times New Roman"/>
              <a:cs typeface="Nyala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25194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458200" cy="5715000"/>
          </a:xfrm>
        </p:spPr>
        <p:txBody>
          <a:bodyPr>
            <a:normAutofit fontScale="55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ከመኖሪያ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ቤት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ከድርጅት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ግቢ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ውጭ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ያለውን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የአካባቢ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ንጹህና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አረንጓዴ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አድርጎ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አለመጠበቅ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ከመኖሪያ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ቤት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አጥር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ግቢ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ውጭ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እስከ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5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ሜትር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ርቀት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አለማጽዳቱን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Ebrima"/>
              </a:rPr>
              <a:t>አካል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300.00 (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ሶስት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፡፡</a:t>
            </a:r>
            <a:endParaRPr lang="en-US" sz="2400" b="1" dirty="0"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ከመኖሪያ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ቤት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ከድርጅት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ግቢ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ውጭ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ያለውን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የአካባቢ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ንጹህና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አረንጓዴ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አድርጎ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አለመጠበቅ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ከድርጅት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/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ተቋም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አጥር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ግቢ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ውጭ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እስከ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5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ሜትር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አለማጽዳቱን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Ebrima"/>
              </a:rPr>
              <a:t>ድርጅት</a:t>
            </a:r>
            <a:r>
              <a:rPr lang="en-US" b="1" dirty="0">
                <a:latin typeface="Power Geez Unicode1"/>
                <a:ea typeface="Times New Roman"/>
                <a:cs typeface="Ebrima"/>
              </a:rPr>
              <a:t>/</a:t>
            </a:r>
            <a:r>
              <a:rPr lang="en-US" b="1" dirty="0" err="1">
                <a:latin typeface="Power Geez Unicode1"/>
                <a:ea typeface="Times New Roman"/>
                <a:cs typeface="Ebrima"/>
              </a:rPr>
              <a:t>ተቋም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5000.00 (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አምስት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፤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፡፡</a:t>
            </a:r>
            <a:endParaRPr lang="en-US" sz="2400" b="1" dirty="0"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501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715000"/>
          </a:xfrm>
          <a:solidFill>
            <a:schemeClr val="bg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 fontScale="55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ወቅታዊና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ልዩ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ዝግጅት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አከናውኖ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በዓሉ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ሲጠናቀቅ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በዕለቱና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ወዲያው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ዝግጅቱ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የተከናወነበትን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አካባቢ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ከቆሻሻ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አለመጽዳቱን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የፕሮግራሙ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አዘጋጅ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5000.00 (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አምስት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፤</a:t>
            </a:r>
            <a:r>
              <a:rPr lang="en-US" sz="2900" b="1" dirty="0">
                <a:solidFill>
                  <a:srgbClr val="FFFF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5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ዓመታዊ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ወርሃዊና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ሳምንታዊ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የእምነት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በዓላት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ሲከናዎኑ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ዝግጅቱ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ሲጠናቀቅ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የዝግጅቱ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ባለቤት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በዕለቱና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ወዲያው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አካባቢውን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አለማጽዳቱን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የዝግጅቱ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ባለቤት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3000.00 (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ሶስት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፤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5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52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915400" cy="5715000"/>
          </a:xfr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የታክሲና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ሚኒባስ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ተራ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አስከባሪዎች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የፓርኪንግ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አገልግሎት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የሚሰጡ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ድርጅቶች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በጫማ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ጥገናና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ጽዳት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(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ሊስትሮ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የተሰማሩ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በእረፍት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(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ቅዳሜና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እሁድ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መንገድ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የሚነግዱ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ነጋዴዎች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ሕጋዊ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ፈቃድ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ያላቸው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የእንስሳት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የግብይት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ማዕከላት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ወዘተ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የሚሰሩበትን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አካባቢ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እስከ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5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ሜትር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ዙሪያ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ከቆሻሻ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ጽዱ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አለማድረጋቸው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ተግባሩ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መፈፀሙን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ማህበር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/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500.00 (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አምስት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፡፡</a:t>
            </a:r>
            <a:endParaRPr lang="en-US" sz="2400" b="1" dirty="0"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የባቡር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ሀዲድ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የተዘረጋባቸውን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መስመሮችና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የባቡር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ፌርማታዎች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ከደረቅ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እንዲጸዳ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ሳይደረግ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የቆየ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ድርጅት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Ebrima"/>
              </a:rPr>
              <a:t>የባቡር</a:t>
            </a:r>
            <a:r>
              <a:rPr lang="en-US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Ebrima"/>
              </a:rPr>
              <a:t>ድርጅት</a:t>
            </a:r>
            <a:r>
              <a:rPr lang="en-US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5000.00 (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አምስት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የጣለውን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latin typeface="Power Geez Unicode1"/>
                <a:ea typeface="Times New Roman"/>
                <a:cs typeface="Nyala"/>
              </a:rPr>
              <a:t>፡፡</a:t>
            </a:r>
            <a:endParaRPr lang="en-US" sz="2400" b="1" dirty="0"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461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10600" cy="5562600"/>
          </a:xfr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55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የጽዳት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አስተዳደር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ኤጀንሲ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በሚያወጣው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የጽዳት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ንቅናቄ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መመሪያ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መሰረት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የመንግስት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መስሪያ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ቤቶች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መንግስታዊ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ያልሆኑ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ድርጅቶች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የእምነት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ተቋማት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ትምሀርት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ቤቶች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ንግድ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ድርጅቶች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ሰጭ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ድርጅቶች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ኢምባሲዎች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ሰራተኞቻቸውን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አስተባብረው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በጽዳት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ንቅናቄው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ተሳታፊ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አለማድረጋቸውን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ተቋም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ድርጅት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2000.00 (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፤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4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የጽዳት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አስተዳደር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ኤጀንሲ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በሚያወጣው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የጽዳት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ንቅናቄ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መመሪያ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መሰረት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በመኖሪያ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አካባቢው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በጽዳት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ንቅናቄ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ተሳታፊ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አለመሆናቸውን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አባወራ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እማወራ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300.00 (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ሶስት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4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195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921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638800"/>
          </a:xfrm>
          <a:solidFill>
            <a:schemeClr val="bg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 fontScale="475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ማንኛውም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የጽዳት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የሚሰጥ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ድርጅት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/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ማህበር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/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ተቋም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ጽዳት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አስተዳደር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ኤጀንሲ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በሚያወጣው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ስታንዳርድ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መሰረት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ሰራተኞቹ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/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አባላቱ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የደህንነት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መጠበቂያ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ግብዓት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ሳይጠቀም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ከሰጠ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ንጽህናውን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ያልጠበቀ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የደህንነት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መጠበቂያ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ግብዓት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ተጠቅሞ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መስጠቱን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ድርጅት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/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ማህበር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/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ተቋም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2000.00 (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፤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5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ማንኛውም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አገልግሎት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የሚሰጥ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ድርጅት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በጽዳት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ያልተፈቀደ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ደረቅ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ቆሻሻ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በማስወገጃ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ቦታ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መልሶ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መጠቀም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ማዕከል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ማቃጠያ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ማዕከላት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አጓጉዞ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ማምጣቱን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ድርጅቱን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10000.00 (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አስር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ነበረበት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እንዲመለስ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ነበረበት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መመለስ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5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9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686800" cy="715962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763000" cy="5638800"/>
          </a:xfrm>
          <a:solidFill>
            <a:schemeClr val="bg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ከጽዳት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አስተዳደር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ኤጀንሲ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ፈቃድ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ውጭ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ደረቅ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ቆሻሻን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ከአዲስ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አበባ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ከተማ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አስተዳደር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ክልል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ውጪ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ወደ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ከተማ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ማስገባቱን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አካል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20000.00 (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ሃያ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፤</a:t>
            </a:r>
            <a:r>
              <a:rPr lang="en-US" sz="1600" b="1" dirty="0">
                <a:solidFill>
                  <a:srgbClr val="FFFF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ነበረበት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እንዲመለስ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ነበረበት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መመለስ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14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በመረብ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በሸራ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ያልተሸፈነ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ደረቅ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በተሽከርካሪ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ጭኖ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ወደ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በማስወገጃ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ቦታ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መልሶ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መጠቀም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ማዕከል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ማቃጠያ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ማዕከላት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አጓጉዞ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ማምጣቱን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አካል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1000.00 (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አንድ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) በ3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1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ለመቀጣት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ፍቃደኛ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ባይሆን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የተሸከርካሪውን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ታርጋ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በመያዝ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በወረዳው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ደንብ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ማስከበር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ጽ/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ቤት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በኩል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ለትራፊክ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ማኔጅመት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ኤጀንሲ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እንዲቀጣ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መረጃውን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በማደራጀት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ይልካል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አፈፃፀሙ</a:t>
            </a:r>
            <a:r>
              <a:rPr lang="en-US" sz="1600" b="1" dirty="0" err="1">
                <a:latin typeface="Power Geez Unicode1"/>
                <a:ea typeface="Times New Roman"/>
                <a:cs typeface="Ebrima"/>
              </a:rPr>
              <a:t>ን</a:t>
            </a:r>
            <a:r>
              <a:rPr lang="en-US" sz="1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dirty="0" err="1">
                <a:latin typeface="Power Geez Unicode1"/>
                <a:ea typeface="Times New Roman"/>
                <a:cs typeface="Ebrima"/>
              </a:rPr>
              <a:t>ይከታተላል</a:t>
            </a:r>
            <a:r>
              <a:rPr lang="en-US" sz="1600" dirty="0">
                <a:latin typeface="Power Geez Unicode1"/>
                <a:ea typeface="Times New Roman"/>
                <a:cs typeface="Ebrima"/>
              </a:rPr>
              <a:t>፡፡</a:t>
            </a:r>
            <a:endParaRPr lang="en-US" sz="1400" dirty="0">
              <a:ea typeface="Times New Roman"/>
              <a:cs typeface="Nyala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74241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62000"/>
          </a:xfr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638800"/>
          </a:xfr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25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ማንኛውም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የግል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ጽዳት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ድርጅት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ማህበር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ከተመደበበት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የስራ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ቦታ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ምደባ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ውጭ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ደረቅ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ቆሻሻ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መሰብሰቡን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የጽዳት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ማረጋገጫ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ሲሰጥ</a:t>
            </a:r>
            <a:r>
              <a:rPr lang="en-US" sz="7200" b="1" dirty="0">
                <a:solidFill>
                  <a:srgbClr val="FFFF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ይህንን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አካል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2000.00 (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72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7200" b="1" dirty="0">
                <a:solidFill>
                  <a:srgbClr val="FFFF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72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በመንገድ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ከሚፈፀሙ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የደንብ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መተላለፎች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ውጪ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ያሉ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ተላላፊዎችን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በ3ቀን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ጊዜ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ዉስጥ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ክፍያ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እንዲፈጽም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ቆሻሻውን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በማንሳት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በማፅዳት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ነበረበት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መልስ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የሚለውን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የጹሁፍ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ማስጠንቀቂያ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ወረቀት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ለመቀበል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በቦታው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ካልተገኘ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ግልጽና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በሚታይ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ቦታ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ማስታወቂያውን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ሊያስረዱ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የሚችሉ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ሰዎች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ስም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አድራሻ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ፊርማ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ያለበት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ማህተም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በማድረግ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በግለሰቡ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በድርጅቱ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በር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እንዲለጠፍ</a:t>
            </a:r>
            <a:r>
              <a:rPr lang="en-US" sz="72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7200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7200" dirty="0">
              <a:solidFill>
                <a:srgbClr val="7030A0"/>
              </a:solidFill>
              <a:ea typeface="Times New Roman"/>
              <a:cs typeface="Nyala"/>
            </a:endParaRPr>
          </a:p>
          <a:p>
            <a:pPr marL="457200" algn="just">
              <a:lnSpc>
                <a:spcPct val="150000"/>
              </a:lnSpc>
              <a:spcAft>
                <a:spcPts val="1000"/>
              </a:spcAft>
            </a:pPr>
            <a:endParaRPr lang="en-US" sz="6400" dirty="0">
              <a:ea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938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</a:pPr>
            <a:r>
              <a:rPr lang="en-US" sz="2800" b="1" dirty="0" smtClean="0">
                <a:latin typeface="Power Geez Unicode1"/>
                <a:ea typeface="Times New Roman"/>
                <a:cs typeface="Ebrima"/>
              </a:rPr>
              <a:t/>
            </a:r>
            <a:br>
              <a:rPr lang="en-US" sz="2800" b="1" dirty="0" smtClean="0">
                <a:latin typeface="Power Geez Unicode1"/>
                <a:ea typeface="Times New Roman"/>
                <a:cs typeface="Ebrima"/>
              </a:rPr>
            </a:br>
            <a:r>
              <a:rPr lang="en-US" sz="2400" b="1" dirty="0" err="1" smtClean="0">
                <a:latin typeface="Power Geez Unicode1"/>
                <a:ea typeface="Times New Roman"/>
                <a:cs typeface="Ebrima"/>
              </a:rPr>
              <a:t>የቅጣት</a:t>
            </a:r>
            <a:r>
              <a:rPr lang="en-US" sz="2400" b="1" dirty="0" smtClean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Power Geez Unicode1"/>
                <a:ea typeface="Times New Roman"/>
                <a:cs typeface="Ebrima"/>
              </a:rPr>
              <a:t>ሰንጠረዥ</a:t>
            </a:r>
            <a:r>
              <a:rPr lang="en-US" sz="2400" b="1" dirty="0">
                <a:latin typeface="Power Geez Unicode1"/>
                <a:ea typeface="Times New Roman"/>
                <a:cs typeface="Times New Roman"/>
              </a:rPr>
              <a:t> 3</a:t>
            </a:r>
            <a:r>
              <a:rPr lang="en-US" sz="2000" dirty="0">
                <a:ea typeface="Calibri"/>
                <a:cs typeface="Arial"/>
              </a:rPr>
              <a:t/>
            </a:r>
            <a:br>
              <a:rPr lang="en-US" sz="2000" dirty="0">
                <a:ea typeface="Calibri"/>
                <a:cs typeface="Arial"/>
              </a:rPr>
            </a:br>
            <a:r>
              <a:rPr lang="en-US" sz="2400" b="1" dirty="0" err="1">
                <a:latin typeface="Power Geez Unicode1"/>
                <a:ea typeface="Times New Roman"/>
                <a:cs typeface="Ebrima"/>
              </a:rPr>
              <a:t>የትራፊክ</a:t>
            </a:r>
            <a:r>
              <a:rPr lang="en-US" sz="24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Power Geez Unicode1"/>
                <a:ea typeface="Times New Roman"/>
                <a:cs typeface="Ebrima"/>
              </a:rPr>
              <a:t>እንቅስቃሴና</a:t>
            </a:r>
            <a:r>
              <a:rPr lang="en-US" sz="24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Power Geez Unicode1"/>
                <a:ea typeface="Times New Roman"/>
                <a:cs typeface="Ebrima"/>
              </a:rPr>
              <a:t>የመንገድ</a:t>
            </a:r>
            <a:r>
              <a:rPr lang="en-US" sz="24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Power Geez Unicode1"/>
                <a:ea typeface="Times New Roman"/>
                <a:cs typeface="Ebrima"/>
              </a:rPr>
              <a:t>ደህንነት</a:t>
            </a:r>
            <a:r>
              <a:rPr lang="en-US" sz="24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Power Geez Unicode1"/>
                <a:ea typeface="Times New Roman"/>
                <a:cs typeface="Ebrima"/>
              </a:rPr>
              <a:t>የሚጐዱ</a:t>
            </a:r>
            <a:r>
              <a:rPr lang="en-US" sz="24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Power Geez Unicode1"/>
                <a:ea typeface="Times New Roman"/>
                <a:cs typeface="Ebrima"/>
              </a:rPr>
              <a:t>ተግባራት</a:t>
            </a:r>
            <a:r>
              <a:rPr lang="en-US" sz="24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Power Geez Unicode1"/>
                <a:ea typeface="Times New Roman"/>
                <a:cs typeface="Ebrima"/>
              </a:rPr>
              <a:t>መፈጸም</a:t>
            </a:r>
            <a:r>
              <a:rPr lang="en-US" sz="2000" dirty="0">
                <a:ea typeface="Calibri"/>
                <a:cs typeface="Arial"/>
              </a:rPr>
              <a:t/>
            </a:r>
            <a:br>
              <a:rPr lang="en-US" sz="2000" dirty="0">
                <a:ea typeface="Calibri"/>
                <a:cs typeface="Arial"/>
              </a:rPr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47500" lnSpcReduction="20000"/>
          </a:bodyPr>
          <a:lstStyle/>
          <a:p>
            <a:pPr marL="0" lvl="0" indent="0" algn="ctr">
              <a:lnSpc>
                <a:spcPct val="150000"/>
              </a:lnSpc>
              <a:spcAft>
                <a:spcPts val="1000"/>
              </a:spcAft>
              <a:buSzPts val="1200"/>
              <a:buNone/>
            </a:pPr>
            <a:r>
              <a:rPr lang="en-US" sz="36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የትራፊክ</a:t>
            </a:r>
            <a:r>
              <a:rPr lang="en-US" sz="36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6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እንቅስቃሴና</a:t>
            </a:r>
            <a:r>
              <a:rPr lang="en-US" sz="36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6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የመንገድ</a:t>
            </a:r>
            <a:r>
              <a:rPr lang="en-US" sz="36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6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ደህንነት</a:t>
            </a:r>
            <a:r>
              <a:rPr lang="en-US" sz="36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6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የሚጐዱ</a:t>
            </a:r>
            <a:r>
              <a:rPr lang="en-US" sz="36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6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ተግባራት</a:t>
            </a:r>
            <a:r>
              <a:rPr lang="en-US" sz="36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6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መፈጸምን</a:t>
            </a:r>
            <a:r>
              <a:rPr lang="en-US" sz="36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6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በተመለከተ</a:t>
            </a:r>
            <a:r>
              <a:rPr lang="en-US" sz="36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6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ስለሚወሰድ</a:t>
            </a:r>
            <a:r>
              <a:rPr lang="en-US" sz="36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600" b="1" dirty="0" err="1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እርምጃ</a:t>
            </a:r>
            <a:endParaRPr lang="en-US" sz="3600" b="1" dirty="0" smtClean="0">
              <a:solidFill>
                <a:srgbClr val="7030A0"/>
              </a:solidFill>
              <a:latin typeface="Power Geez Unicode1"/>
              <a:ea typeface="Times New Roman"/>
              <a:cs typeface="Ebrima"/>
            </a:endParaRPr>
          </a:p>
          <a:p>
            <a:pPr marL="457200" lvl="1" indent="0" algn="just">
              <a:lnSpc>
                <a:spcPct val="150000"/>
              </a:lnSpc>
              <a:spcAft>
                <a:spcPts val="1000"/>
              </a:spcAft>
              <a:buSzPts val="1200"/>
              <a:buNone/>
            </a:pP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በመንገድ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ለግንባታም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ሆነ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ለሌላ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ጉዳይ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የሚሆኑ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ድንጋይ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፣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አሸዋ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፣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አፈር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፣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ወዘተ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ማራገፉን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የመስክ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ክትትል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ቁጥጥርና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እርምጃ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አወሳሰድ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ኦፊሰሩ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በመስክ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ምልከታ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ሲያረጋግጥ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ደንብ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መተላለፍ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የፈፀመውን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አካል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በቅጣት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ሰንጠረዡ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የተቀመጠውን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2000.00 (</a:t>
            </a:r>
            <a:r>
              <a:rPr lang="en-US" sz="38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ሁለት</a:t>
            </a:r>
            <a:r>
              <a:rPr lang="en-US" sz="38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ሺህ</a:t>
            </a:r>
            <a:r>
              <a:rPr lang="en-US" sz="38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) </a:t>
            </a:r>
            <a:r>
              <a:rPr lang="en-US" sz="38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ብር</a:t>
            </a:r>
            <a:r>
              <a:rPr lang="en-US" sz="38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በ3 </a:t>
            </a:r>
            <a:r>
              <a:rPr lang="en-US" sz="38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ቀን</a:t>
            </a:r>
            <a:r>
              <a:rPr lang="en-US" sz="38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ውስጥ</a:t>
            </a:r>
            <a:r>
              <a:rPr lang="en-US" sz="38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እንዲከፍል</a:t>
            </a:r>
            <a:r>
              <a:rPr lang="en-US" sz="38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የቅጣት</a:t>
            </a:r>
            <a:r>
              <a:rPr lang="en-US" sz="38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ማስታወቂያ</a:t>
            </a:r>
            <a:r>
              <a:rPr lang="en-US" sz="38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እና</a:t>
            </a:r>
            <a:r>
              <a:rPr lang="en-US" sz="3800" b="1" dirty="0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ያስቀመጠውን</a:t>
            </a:r>
            <a:r>
              <a:rPr lang="en-US" sz="3800" b="1" dirty="0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ቁስ</a:t>
            </a:r>
            <a:r>
              <a:rPr lang="en-US" sz="3800" b="1" dirty="0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እንዲያነሳ</a:t>
            </a:r>
            <a:r>
              <a:rPr lang="en-US" sz="3800" b="1" dirty="0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የማስጠንቀቂያ</a:t>
            </a:r>
            <a:r>
              <a:rPr lang="en-US" sz="3800" b="1" dirty="0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ወረቀት</a:t>
            </a:r>
            <a:r>
              <a:rPr lang="en-US" sz="3800" b="1" dirty="0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ይሰጠዋል</a:t>
            </a:r>
            <a:r>
              <a:rPr lang="en-US" sz="3800" b="1" dirty="0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፡፡ </a:t>
            </a:r>
            <a:r>
              <a:rPr lang="en-US" sz="3800" b="1" dirty="0" err="1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የተጣለበትን</a:t>
            </a:r>
            <a:r>
              <a:rPr lang="en-US" sz="3800" b="1" dirty="0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ቅጣት</a:t>
            </a:r>
            <a:r>
              <a:rPr lang="en-US" sz="3800" b="1" dirty="0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እና</a:t>
            </a:r>
            <a:r>
              <a:rPr lang="en-US" sz="3800" b="1" dirty="0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ያስቀመጠውን</a:t>
            </a:r>
            <a:r>
              <a:rPr lang="en-US" sz="3800" b="1" dirty="0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ቁሳቁስ</a:t>
            </a:r>
            <a:r>
              <a:rPr lang="en-US" sz="3800" b="1" dirty="0" smtClean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 smtClean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ለማንሳት</a:t>
            </a:r>
            <a:r>
              <a:rPr lang="en-US" sz="3800" b="1" dirty="0" smtClean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ፍቃደኛ</a:t>
            </a:r>
            <a:r>
              <a:rPr lang="en-US" sz="38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ካልሆነ</a:t>
            </a:r>
            <a:r>
              <a:rPr lang="en-US" sz="3800" b="1" dirty="0">
                <a:solidFill>
                  <a:srgbClr val="FFFF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ደንብ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ተላላፊው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በመንገድ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ያስቀመጠውን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ንብረት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ተቋሙ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በማስነሳት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የሚወርስ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ሲሆን</a:t>
            </a:r>
            <a:r>
              <a:rPr lang="en-US" sz="38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ለማንሳት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የወጣውን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ወጪ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ከተጣለበት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የቅጣት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ገንዘብ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ጋር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በመደመር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የወረዳው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ደንብ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ማስከበር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ጽ/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ቤት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ደንብ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ተላላፊውን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በሚመለከተው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የፍትህ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አካል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ተጠያቂ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እንዲሆን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መረጃውን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በማደራጀት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ለክፍለ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ከተማው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ደንብ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ማስከበር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ጽ/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ቤት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ይልካል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፣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አፈፃፀሙን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8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ይከታተላል</a:t>
            </a:r>
            <a:r>
              <a:rPr lang="en-US" sz="38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፡፡</a:t>
            </a:r>
            <a:endParaRPr lang="en-US" sz="3400" b="1" dirty="0">
              <a:solidFill>
                <a:srgbClr val="7030A0"/>
              </a:solidFill>
              <a:ea typeface="Times New Roman"/>
              <a:cs typeface="Ebrima"/>
            </a:endParaRPr>
          </a:p>
          <a:p>
            <a:pPr marL="0" lvl="0" indent="0" algn="ctr">
              <a:lnSpc>
                <a:spcPct val="150000"/>
              </a:lnSpc>
              <a:spcAft>
                <a:spcPts val="1000"/>
              </a:spcAft>
              <a:buSzPts val="1200"/>
              <a:buNone/>
            </a:pPr>
            <a:endParaRPr lang="en-US" sz="2000" dirty="0"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342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l"/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  <a:solidFill>
            <a:schemeClr val="bg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 fontScale="55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ለግንባታም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ሆነ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ለሌላ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ጉዳይ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የሚሆኑ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ብረት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እንጨት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ድንጋይ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በመንገድ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የሚፈልጥ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የሚጠርብ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ሰራተኛ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ድርጊቱን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መፈጸሙን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ሰራተኛውን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50.00 (</a:t>
            </a:r>
            <a:r>
              <a:rPr lang="en-US" b="1" dirty="0" err="1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ሀምሳ</a:t>
            </a:r>
            <a:r>
              <a:rPr lang="en-US" b="1" dirty="0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ይሰጠዋል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በተጨማሪም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ያቆሸሸውን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አካባቢ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ያፀዳል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አካባቢውን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ለማጽዳት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/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መክፈል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ካልቻለ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/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ማህበራዊ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እንዲፈፅም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ከፖሊስ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ጋር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በመሆን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በጋራ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ይደጋል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400" b="1" dirty="0">
              <a:solidFill>
                <a:srgbClr val="002060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ለግንባታም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ሆነ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ለሌላ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ጉዳይ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የሚሆኑ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ብረት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እንጨት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ድንጋይ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በመንገድ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የሚያስፈልጥ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የሚያስጠርብ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አሰሪ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መሆኑን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አሰሪውን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500.00 (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አምስት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)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 በ3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 smtClean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ቁሳቁሱን</a:t>
            </a:r>
            <a:r>
              <a:rPr lang="en-US" b="1" dirty="0" smtClean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የማስጠንቀቂያ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ወረቀት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ይሰጠዋል</a:t>
            </a:r>
            <a:r>
              <a:rPr lang="en-US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ቅጣትና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የስቀመጠውን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ቁሳቁስ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በመንገድ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ያስቀመጠውን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ተቋሙ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በማስነሳት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የሚወርስ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ሲሆን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የወጣውን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ወጪ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ከተጣለበት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ገንዘብ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ጋር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በመደመር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4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876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638800"/>
          </a:xfr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 fontScale="55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በመንገድ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ጭቃ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የሚያቦካ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ማንኛውም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መሰናክል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የሚያስቀምጥ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ሰራተኛን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ድርጊቱን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መፈጸሙን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ሰራተኛውን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50.00 (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ሀምሳ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ይሰጠዋል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በተጨማሪም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አካባቢውን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እንዲያጸዳ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ይደረጋል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/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መክፈል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ካልቻለ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/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ማህበራዊ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እንዲፈፅም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ከፖሊስ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ጋር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በመሆን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ይደጋል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፡፡</a:t>
            </a:r>
            <a:endParaRPr lang="en-US" sz="2500" b="1" dirty="0"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በመንገድ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ጭቃ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የሚያስቦካ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ማንኛውም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መሰናክል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እንዲደረግ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የሚያደርግ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አሰሪ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መሆኑን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አሰሪውን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500.00 (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አምስት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 smtClean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sz="2900" b="1" dirty="0" smtClean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 smtClean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 smtClean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በ3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solidFill>
                  <a:srgbClr val="FFFF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ቁሳቁሱን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 smtClean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2900" b="1" dirty="0" smtClean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የማስጠንቀቂያ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ወረቀት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ይሰጠዋል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ቅጣትና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የስቀመጠውን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 smtClean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ቁሳቁስ</a:t>
            </a:r>
            <a:r>
              <a:rPr lang="en-US" sz="2900" b="1" dirty="0" smtClean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ተላላፊው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በመንገድ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ያስቀመጠውን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ንብረት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ተቋሙ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በማስነሳት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የሚወረስ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የሚወገድ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ሲሆን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የወጣውን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ወጪ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ከተጣለበት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ገንዘብ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ጋር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በመደመር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፡፡ </a:t>
            </a:r>
            <a:endParaRPr lang="en-US" sz="2500" b="1" dirty="0">
              <a:solidFill>
                <a:srgbClr val="7030A0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003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 fontScale="62500" lnSpcReduction="20000"/>
          </a:bodyPr>
          <a:lstStyle/>
          <a:p>
            <a:pPr marL="457200" lvl="1" indent="0" algn="just">
              <a:lnSpc>
                <a:spcPct val="150000"/>
              </a:lnSpc>
              <a:spcAft>
                <a:spcPts val="1000"/>
              </a:spcAft>
              <a:buSzPts val="1200"/>
              <a:buNone/>
            </a:pP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ማንኛውም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ሰው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በሕጋዊ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መንገድ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ከያዘው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ይዞታ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ውጭ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በመሆን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መንገድን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በማስተር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ኘላኑ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መሠረት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ለመንገድነት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የተያዙ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ክፍት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ቦታ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ዕፅዋት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መትከል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"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ማቆም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ክልክል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ነው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"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የሚል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ጽሁፎቸን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መሰል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ምልክቶችንም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ሆነ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ማናቸውንም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ግንባታ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ማቆምን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ቤት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መሥራቱን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አጥር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ማጠሩን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የመስክ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ክትትል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ቁጥጥርና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እርምጃ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አወሳሰድ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ኦፊሰሩ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በመስክ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ምልከታ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ሲያረጋግጥ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ደንብ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ተላላፊውን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ግለሰብ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/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ድርጅት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/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ማህበር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በቅጣት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ሰንጠረዡ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የተቀመጠውን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3000.00 (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ሶስት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ሺህ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)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 በ3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ቁሳቁሱን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እንዲያነሳና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የዘጋውን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መንገድ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እንዲከፍት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የማስጠንቀቂያ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ወረቀት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ይሰጠዋል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ተላላፊው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ቅጣትና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ያስቀመጠውን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ንብረት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2900" b="1" dirty="0" err="1" smtClean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ተቋሙ</a:t>
            </a:r>
            <a:r>
              <a:rPr lang="en-US" sz="2900" b="1" dirty="0" smtClean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ንብረተን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በማስነሳት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የሚወረስ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የሚያስወግድ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ሲሆን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የወጣውን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ወጪ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ከተጣለበት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ገንዘብ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ጋር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በመደመር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፡፡ </a:t>
            </a:r>
            <a:endParaRPr lang="en-US" sz="2500" b="1" dirty="0">
              <a:solidFill>
                <a:srgbClr val="7030A0"/>
              </a:solidFill>
              <a:ea typeface="Times New Roman"/>
              <a:cs typeface="Nyala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20777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l"/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791200"/>
          </a:xfr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475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አውቆም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ሆነ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በድንገተኛ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ሁኔታ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በድልድዮች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በመንገድ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መብራቶችና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ቋሚዎች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(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ፖሎች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)፣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በትራፊክ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ምልክቶች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በትራፊክ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መብራቶች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በእግረኛ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መከላከያዎች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በማንሆሎች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በፍካዎች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በክዳኖቻቸው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ጉዳት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ማድረሱን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500.00 (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አምስት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በ3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ወረቀት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ይሰጠዋል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2900" b="1" dirty="0" err="1">
                <a:solidFill>
                  <a:srgbClr val="002060"/>
                </a:solidFill>
                <a:latin typeface="Visual Geez Unicode"/>
                <a:ea typeface="Times New Roman"/>
                <a:cs typeface="Nyala"/>
              </a:rPr>
              <a:t>ጉዳት</a:t>
            </a:r>
            <a:r>
              <a:rPr lang="en-US" sz="2900" b="1" dirty="0">
                <a:solidFill>
                  <a:srgbClr val="002060"/>
                </a:solidFill>
                <a:latin typeface="Visual Geez Unicode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Visual Geez Unicode"/>
                <a:ea typeface="Times New Roman"/>
                <a:cs typeface="Nyala"/>
              </a:rPr>
              <a:t>የደረሰባቸዉ</a:t>
            </a:r>
            <a:r>
              <a:rPr lang="en-US" sz="2900" b="1" dirty="0">
                <a:solidFill>
                  <a:srgbClr val="002060"/>
                </a:solidFill>
                <a:latin typeface="Visual Geez Unicode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Visual Geez Unicode"/>
                <a:ea typeface="Times New Roman"/>
                <a:cs typeface="Nyala"/>
              </a:rPr>
              <a:t>ንብረቶችን</a:t>
            </a:r>
            <a:r>
              <a:rPr lang="en-US" sz="2900" b="1" dirty="0">
                <a:solidFill>
                  <a:srgbClr val="002060"/>
                </a:solidFill>
                <a:latin typeface="Visual Geez Unicode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Visual Geez Unicode"/>
                <a:ea typeface="Times New Roman"/>
                <a:cs typeface="Nyala"/>
              </a:rPr>
              <a:t>እንዲጠግን</a:t>
            </a:r>
            <a:r>
              <a:rPr lang="en-US" sz="2900" b="1" dirty="0">
                <a:solidFill>
                  <a:srgbClr val="002060"/>
                </a:solidFill>
                <a:latin typeface="Visual Geez Unicode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Visual Geez Unicode"/>
                <a:ea typeface="Times New Roman"/>
                <a:cs typeface="Nyala"/>
              </a:rPr>
              <a:t>ወይም</a:t>
            </a:r>
            <a:r>
              <a:rPr lang="en-US" sz="2900" b="1" dirty="0">
                <a:solidFill>
                  <a:srgbClr val="002060"/>
                </a:solidFill>
                <a:latin typeface="Visual Geez Unicode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Visual Geez Unicode"/>
                <a:ea typeface="Times New Roman"/>
                <a:cs typeface="Nyala"/>
              </a:rPr>
              <a:t>እንዲተካ</a:t>
            </a:r>
            <a:r>
              <a:rPr lang="en-US" sz="2900" b="1" dirty="0">
                <a:solidFill>
                  <a:srgbClr val="002060"/>
                </a:solidFill>
                <a:latin typeface="Visual Geez Unicode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Visual Geez Unicode"/>
                <a:ea typeface="Times New Roman"/>
                <a:cs typeface="Nyala"/>
              </a:rPr>
              <a:t>መረጃዎች</a:t>
            </a:r>
            <a:r>
              <a:rPr lang="en-US" sz="2900" b="1" dirty="0">
                <a:solidFill>
                  <a:srgbClr val="002060"/>
                </a:solidFill>
                <a:latin typeface="Visual Geez Unicode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2900" b="1" dirty="0">
                <a:solidFill>
                  <a:srgbClr val="002060"/>
                </a:solidFill>
                <a:latin typeface="Visual Geez Unicode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ለሚመለከተው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በደብዳቤ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ያሳውቃል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፡፡ </a:t>
            </a:r>
            <a:endParaRPr lang="en-US" sz="2500" b="1" dirty="0">
              <a:solidFill>
                <a:srgbClr val="002060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በህገወጥ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መንገድ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መንገዶችን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ማሻሻል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መቀየር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መቀየስ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ማናቸዉምንም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መንገድ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በበር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መዝጋት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በኬላ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ማጠር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፣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ድንጋይ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መደርደር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፣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መንገድ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መቁረጥ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መስበር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መቆፈር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በሌላ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ሁኔታ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ተሸከርካሪ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እግረኛ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እንዳይተላለፍ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መደረጉን</a:t>
            </a:r>
            <a:r>
              <a:rPr lang="en-US" sz="30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1000.00 (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አንድ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በ3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ቁሳቁሱን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እንዲያነሳና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የዘጋውን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መንገድ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እንዲከፍት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የማስጠንቀቂያ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ወረቀት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ይሰጠዋል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ተላላፊው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ቅጣትና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ያስቀመጠውን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ንብረት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ተቋሙ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ንብረቱን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በማስነሳት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የሚወረስ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የሚያስወግድ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ሲሆን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የወጣውን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ወጪ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ከተጣለበት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ገንዘብ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ጋር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በመደመር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፡፡ </a:t>
            </a:r>
            <a:endParaRPr lang="en-US" sz="2500" b="1" dirty="0">
              <a:solidFill>
                <a:srgbClr val="00B0F0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03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715000"/>
          </a:xfrm>
          <a:solidFill>
            <a:schemeClr val="bg1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normAutofit fontScale="55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የዋና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መንገዶች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በማናቸውም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ምክንያቶች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አለመዘጋት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እንደተጠበቀ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ሆኖ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በኅዘን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ምክንያት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ሳይሆን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የእግረኛንም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ሆነ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የተሸከርካሪን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መንገድ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ድንኳን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በመጣል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(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በመትከል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በከፊልም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ሆነ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በሙሉ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መዘጋቱን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200.00 (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ድንኳኑን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SimSun"/>
                <a:cs typeface="SimSun"/>
              </a:rPr>
              <a:t>እንዲያነሳ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SimSun"/>
                <a:cs typeface="SimSun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የማስጠንቀቂያ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ወረቀት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ይሰጠዋል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ቅጣትና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ለመክፈልና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ድንኳኑን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ድንኳኑን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በማስነሳት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የሚወረስ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ሲሆን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ተቋሙ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ያወጣውን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ወጪ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ከተጣለበት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ገንዘብ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ጋር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በመደመር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፡፡ </a:t>
            </a:r>
            <a:endParaRPr lang="en-US" sz="2400" b="1" dirty="0">
              <a:solidFill>
                <a:srgbClr val="7030A0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በመንገድ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የግንባታ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ተረፈ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ምርት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ውጤቶችን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መደፋቱን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1000.00 (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አንድ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ሺ)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ተረፈ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ምርቱን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SimSun"/>
                <a:cs typeface="SimSun"/>
              </a:rPr>
              <a:t>እንዲያነሳ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የማስጠንቀቂያ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ወረቀት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ይሰጠዋል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ቅጣትና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የደፋውን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ተረፈ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ምርት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ተቋሙ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ተረፈ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ምርቱን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በማስነሳት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የሚያስወግድ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ሲሆን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ያወጣውን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ወጪ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ከተጣለበት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ገንዘብ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ጋር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በመደመር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400" b="1" dirty="0">
              <a:solidFill>
                <a:srgbClr val="00B0F0"/>
              </a:solidFill>
              <a:ea typeface="Times New Roman"/>
              <a:cs typeface="Nyala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71717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791200"/>
          </a:xfr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ሆን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ብሎ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የመፀዳጃ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ቤት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ፍሳሽ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ከመንገድ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ጋር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ማገናኘት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በማናቸዉም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ሁኔታ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መለቀቁን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ከሚመለከታቸው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ባለድርሻ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በማረጋገጥ</a:t>
            </a:r>
            <a:r>
              <a:rPr lang="en-US" sz="1600" b="1" dirty="0">
                <a:latin typeface="Power Geez Unicode1"/>
                <a:ea typeface="Times New Roman"/>
                <a:cs typeface="Nyala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1000.00 (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አንድ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ሺ)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በ3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ፍሳሹን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እዲያቋርጥ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የማስጠንቀቂያ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ወረቀት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ይሰጠዋል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ቅጣትና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ፍሳሹን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ለማቋረጥ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14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መንገድ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የተበላሸ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ተሽከርካሪ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ሲጠገን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16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1600" b="1" dirty="0">
                <a:solidFill>
                  <a:srgbClr val="FFFF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500.00 (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አምስት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ይሰጠዋል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16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1600" b="1" dirty="0">
                <a:latin typeface="Power Geez Unicode1"/>
                <a:ea typeface="Times New Roman"/>
                <a:cs typeface="Nyala"/>
              </a:rPr>
              <a:t>፡፡ </a:t>
            </a:r>
            <a:endParaRPr lang="en-US" sz="1400" b="1" dirty="0">
              <a:ea typeface="Times New Roman"/>
              <a:cs typeface="Nyala"/>
            </a:endParaRP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835877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70000" lnSpcReduction="20000"/>
          </a:bodyPr>
          <a:lstStyle/>
          <a:p>
            <a:pPr marL="457200" lvl="1" indent="0" algn="just">
              <a:lnSpc>
                <a:spcPct val="150000"/>
              </a:lnSpc>
              <a:spcAft>
                <a:spcPts val="1000"/>
              </a:spcAft>
              <a:buSzPts val="1200"/>
              <a:buNone/>
            </a:pP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መንገድ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የተበላሸ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ተሽከርካሪ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ሲያስጠገን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የተገኘ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ተላላፊ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መሆኑን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1000.00 (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አንድ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smtClean="0"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መኪናውን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b="1" dirty="0" smtClean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የማስጠንቀቂያ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ወረቀት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ይሰጠዋል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ቅጣትና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መኪናዎች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በብልሽት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ምክንያት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በመንግድ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ለመቆም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ከተፈቀደላቸው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ጊዜ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በላይ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መቆየቱ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አውቆ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ካላነሳ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ከሚመለከተው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ባለድርሻ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ጋር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በመተባበር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መኪናውን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በማስነሳት</a:t>
            </a:r>
            <a:r>
              <a:rPr lang="en-US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፡፡ </a:t>
            </a:r>
            <a:endParaRPr lang="en-US" sz="2400" b="1" dirty="0">
              <a:solidFill>
                <a:srgbClr val="002060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414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458200" cy="5562600"/>
          </a:xfrm>
        </p:spPr>
        <p:txBody>
          <a:bodyPr>
            <a:normAutofit fontScale="25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7200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በመንገድ</a:t>
            </a:r>
            <a:r>
              <a:rPr lang="en-US" sz="72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72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ተሽከርካሪ</a:t>
            </a:r>
            <a:r>
              <a:rPr lang="en-US" sz="7200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ሲያጥብ</a:t>
            </a:r>
            <a:r>
              <a:rPr lang="en-US" sz="7200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የተገኘ</a:t>
            </a:r>
            <a:r>
              <a:rPr lang="en-US" sz="7200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ደንብ</a:t>
            </a:r>
            <a:r>
              <a:rPr lang="en-US" sz="7200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ተላላፊን</a:t>
            </a:r>
            <a:r>
              <a:rPr lang="en-US" sz="7200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72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72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72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72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72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72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72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72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72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የፈፀመውን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7200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7200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7200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7200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50.00 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(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ሀምሳ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)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ይሰጠዋል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ለመክፍል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ካልቻለ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ከፖሊስ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ጋር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በመሆን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የማህበራዊ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አገልግሎት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እንዲሰጥ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ይደረጋል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፡፡</a:t>
            </a:r>
            <a:endParaRPr lang="en-US" sz="7200" dirty="0"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7200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በመንገድ</a:t>
            </a:r>
            <a:r>
              <a:rPr lang="en-US" sz="7200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7200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ተሽከርካሪ</a:t>
            </a:r>
            <a:r>
              <a:rPr lang="en-US" sz="7200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ሲያሳጥብ</a:t>
            </a:r>
            <a:r>
              <a:rPr lang="en-US" sz="7200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የተገኘ</a:t>
            </a:r>
            <a:r>
              <a:rPr lang="en-US" sz="7200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ግለሰብ</a:t>
            </a:r>
            <a:r>
              <a:rPr lang="en-US" sz="7200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7200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7200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7200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7200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7200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7200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7200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7200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7200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ተላላፊ</a:t>
            </a:r>
            <a:r>
              <a:rPr lang="en-US" sz="7200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መሆኑን</a:t>
            </a:r>
            <a:r>
              <a:rPr lang="en-US" sz="7200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7200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200.00 (</a:t>
            </a:r>
            <a:r>
              <a:rPr lang="en-US" sz="72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sz="72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sz="72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7200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7200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ይሰጠዋል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ታርጋ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ቁጥሩን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በመያዝ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በትራፊክ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ማኔጅመንት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በኩል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አሽከርካሪውን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እንዲያዝ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በማድረግ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መተላለፉ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ወደ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ተፈፀመበት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ወረዳ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ድረስ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ቀርቦ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፡፡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dirty="0" err="1"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7200" dirty="0">
                <a:latin typeface="Power Geez Unicode1"/>
                <a:ea typeface="Times New Roman"/>
                <a:cs typeface="Nyala"/>
              </a:rPr>
              <a:t>፡፡</a:t>
            </a:r>
            <a:endParaRPr lang="en-US" sz="7200" dirty="0"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089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763000" cy="5638800"/>
          </a:xfrm>
          <a:solidFill>
            <a:schemeClr val="bg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 fontScale="55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ከይዞታው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ውጪ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የጋራዥ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ጥገና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የሚያደርግ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ግለሰብ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ድርጅት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ተላላፊ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መሆኑን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2900" b="1" dirty="0">
                <a:solidFill>
                  <a:srgbClr val="FFFF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3000.00 (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ሶስት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በ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3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መኪናውንም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ይዞታው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እንዲያስገባ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ማስጠንቀቂያ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ይሰጠዋል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፡፡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መኪናውን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ለማንሳት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እንዲሆን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፡፡ </a:t>
            </a:r>
            <a:endParaRPr lang="en-US" sz="2500" b="1" dirty="0">
              <a:solidFill>
                <a:srgbClr val="7030A0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ከይዞታው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ውጪ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የጋራዥ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ጥገና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ሲያስደርግ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የተገኘ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ባለንብረት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ተላላፊ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መሆኑን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200.00 (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በ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3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በጋራዡ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በኩል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እንዲደርሰው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ይደረጋል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ካልሆነ፤ታርጋ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ቁጥሩን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በመያዝ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በትራፊክ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ማኔጅመንት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በኩል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አሽከርካሪውን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እንዲያዝ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በማድረግ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መተላለፉ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ተፈፀመበት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ወረዳ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ድረስ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ቀርቦ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፡፡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500" b="1" dirty="0">
              <a:solidFill>
                <a:srgbClr val="C00000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03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458200" cy="5334000"/>
          </a:xfrm>
          <a:solidFill>
            <a:schemeClr val="bg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 fontScale="40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በተወሰኑ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ቀናትና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ሰዓት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የንግድ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ስራን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ለመነገድ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ተለይተው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ከተፈቀዱበት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መንገዶች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በስተቀር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የንግድ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ሥራን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የጎዳና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ንግድን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በመንገድ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ሲነግድ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ተላላፊ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መሆኑን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ንብረቱን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በመውረስ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500.00 (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አምስት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ይሰጠዋል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መክፈል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ካልቻለ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ከፖሊስ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ጋር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በመሆን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ማህበራዊ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እንዲፈፅም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ይደረጋል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4000" b="1" dirty="0">
              <a:solidFill>
                <a:srgbClr val="7030A0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ለንግድ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ከተፈቀደ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ይዞታ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ውጭ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በእግረኛ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መንገድ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ንግድ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መነገድ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/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የበረንዳ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ንግድ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/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ማከናወኑን</a:t>
            </a:r>
            <a:r>
              <a:rPr lang="en-US" sz="40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ተላላፊ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መሆኑን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5000.00 (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አምስት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4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4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በ3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በመስጠት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ንብረቱን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እንዲያነሳ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ያዘዋል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ካላነሳ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ወዲያው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ከይዞታው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ውጪ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ያለ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ንብረት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ይወረሳል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መክፈል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ካልቻለ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ከፖሊስ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ጋር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በመሆን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ማህበራዊ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እንዲፈፅም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ይደረጋል</a:t>
            </a:r>
            <a:r>
              <a:rPr lang="en-US" sz="40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4000" b="1" dirty="0">
              <a:solidFill>
                <a:srgbClr val="7030A0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613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19200"/>
            <a:ext cx="8229600" cy="4906963"/>
          </a:xfrm>
          <a:solidFill>
            <a:schemeClr val="bg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 fontScale="77500" lnSpcReduction="20000"/>
          </a:bodyPr>
          <a:lstStyle/>
          <a:p>
            <a:pPr marL="457200" lvl="1" indent="0" algn="just">
              <a:lnSpc>
                <a:spcPct val="150000"/>
              </a:lnSpc>
              <a:spcAft>
                <a:spcPts val="1000"/>
              </a:spcAft>
              <a:buSzPts val="1200"/>
              <a:buNone/>
            </a:pP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በክፍት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ዝግ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የመናፈሻ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ቦታዎች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የመንገድ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አካፋዬች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የመንገድ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ዳርቻዎች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አደባባዬች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ያሉ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ሳሮችን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ችግኞችን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የመሳሰሉትን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ዕጽዋት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መቁረጥ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መርገጥ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ማበላሸት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የመስክ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ክትትል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ቁጥጥርና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አወሳሰድ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በመስክ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ምልከታ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ተላላፊ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መሆኑን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ሲያረጋግጥ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ንብረቱን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በመውረስ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100.00 (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አንድ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ወዲያውኑ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ይሰጠዋል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መክፈል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ካልቻለ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ከፖሊስ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ጋር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በመሆን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ማህበራዊ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እንዲፈፅም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ይደረጋል</a:t>
            </a:r>
            <a:r>
              <a:rPr lang="en-US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400" b="1" dirty="0">
              <a:solidFill>
                <a:srgbClr val="7030A0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05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100" b="1" u="sng" dirty="0" smtClean="0">
                <a:latin typeface="Power Geez Unicode1"/>
                <a:ea typeface="Times New Roman"/>
                <a:cs typeface="Ebrima"/>
              </a:rPr>
              <a:t/>
            </a:r>
            <a:br>
              <a:rPr lang="en-US" sz="3100" b="1" u="sng" dirty="0" smtClean="0">
                <a:latin typeface="Power Geez Unicode1"/>
                <a:ea typeface="Times New Roman"/>
                <a:cs typeface="Ebrima"/>
              </a:rPr>
            </a:br>
            <a:r>
              <a:rPr lang="en-US" sz="2200" b="1" dirty="0" err="1" smtClean="0">
                <a:latin typeface="Power Geez Unicode1"/>
                <a:ea typeface="Times New Roman"/>
                <a:cs typeface="Ebrima"/>
              </a:rPr>
              <a:t>የቅጣት</a:t>
            </a:r>
            <a:r>
              <a:rPr lang="en-US" sz="2200" b="1" dirty="0" smtClean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200" b="1" dirty="0" err="1">
                <a:latin typeface="Power Geez Unicode1"/>
                <a:ea typeface="Times New Roman"/>
                <a:cs typeface="Ebrima"/>
              </a:rPr>
              <a:t>ሰንጠረዥ</a:t>
            </a:r>
            <a:r>
              <a:rPr lang="en-US" sz="22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200" b="1" dirty="0">
                <a:latin typeface="Power Geez Unicode1"/>
                <a:ea typeface="Times New Roman"/>
                <a:cs typeface="Nyala"/>
              </a:rPr>
              <a:t>4</a:t>
            </a:r>
            <a:r>
              <a:rPr lang="en-US" sz="2000" dirty="0">
                <a:ea typeface="Calibri"/>
                <a:cs typeface="Arial"/>
              </a:rPr>
              <a:t/>
            </a:r>
            <a:br>
              <a:rPr lang="en-US" sz="2000" dirty="0">
                <a:ea typeface="Calibri"/>
                <a:cs typeface="Arial"/>
              </a:rPr>
            </a:br>
            <a:r>
              <a:rPr lang="en-US" sz="2200" b="1" dirty="0" err="1">
                <a:latin typeface="Power Geez Unicode1"/>
                <a:ea typeface="Times New Roman"/>
                <a:cs typeface="Ebrima"/>
              </a:rPr>
              <a:t>ህገወጥ</a:t>
            </a:r>
            <a:r>
              <a:rPr lang="en-US" sz="22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200" b="1" dirty="0" err="1">
                <a:latin typeface="Power Geez Unicode1"/>
                <a:ea typeface="Times New Roman"/>
                <a:cs typeface="Ebrima"/>
              </a:rPr>
              <a:t>የዉጭ</a:t>
            </a:r>
            <a:r>
              <a:rPr lang="en-US" sz="22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200" b="1" dirty="0" err="1">
                <a:latin typeface="Power Geez Unicode1"/>
                <a:ea typeface="Times New Roman"/>
                <a:cs typeface="Ebrima"/>
              </a:rPr>
              <a:t>ማስታወቂያ</a:t>
            </a:r>
            <a:r>
              <a:rPr lang="en-US" sz="3100" dirty="0">
                <a:ea typeface="Calibri"/>
                <a:cs typeface="Arial"/>
              </a:rPr>
              <a:t/>
            </a:r>
            <a:br>
              <a:rPr lang="en-US" sz="3100" dirty="0">
                <a:ea typeface="Calibri"/>
                <a:cs typeface="Arial"/>
              </a:rPr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410200"/>
          </a:xfr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25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በመንገድ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ባሉ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የትራፊክ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መብራቶች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ምልክቶች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፣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ፖሎች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ማስታወቂያ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ተለጥፎ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ሲያገኝ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በማስታወቂያው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ያለውን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አድራሻ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በመውሰድ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በራሱ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ወረዳ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የሚገኝ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ተላላፊ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ከሆነ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በቦታው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በመሄድ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1000.00 (</a:t>
            </a:r>
            <a:r>
              <a:rPr lang="en-US" sz="5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አንድ</a:t>
            </a:r>
            <a:r>
              <a:rPr lang="en-US" sz="5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5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56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56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በ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3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የለጠፈውን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እንዲሰበስብ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የማስጠንቀቂያ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ወረቀት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ይሰጠዋል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ቅጣትና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የለጠፈውን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ያንጠለጠለውን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ለመሰብሰብ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ካልሆነ፤የወረዳው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ገንዘቡን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እንዲደረግ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ነገር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ግን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የደንብ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ተላላፊው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አድራሻ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ከወረዳው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ውጪ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ከሆን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አድራሻው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ባለበት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ክፍለከተማ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ወ</a:t>
            </a:r>
            <a:r>
              <a:rPr lang="en-US" sz="5600" b="1" dirty="0" err="1">
                <a:latin typeface="Power Geez Unicode1"/>
                <a:ea typeface="SimSun"/>
                <a:cs typeface="SimSun"/>
              </a:rPr>
              <a:t>ይም</a:t>
            </a:r>
            <a:r>
              <a:rPr lang="en-US" sz="5600" b="1" dirty="0">
                <a:latin typeface="Power Geez Unicode1"/>
                <a:ea typeface="SimSun"/>
                <a:cs typeface="SimSun"/>
              </a:rPr>
              <a:t> </a:t>
            </a:r>
            <a:r>
              <a:rPr lang="en-US" sz="5600" b="1" dirty="0" err="1">
                <a:latin typeface="Power Geez Unicode1"/>
                <a:ea typeface="SimSun"/>
                <a:cs typeface="SimSun"/>
              </a:rPr>
              <a:t>ወረዳ</a:t>
            </a:r>
            <a:r>
              <a:rPr lang="en-US" sz="5600" b="1" dirty="0">
                <a:latin typeface="Power Geez Unicode1"/>
                <a:ea typeface="SimSun"/>
                <a:cs typeface="SimSun"/>
              </a:rPr>
              <a:t>  </a:t>
            </a:r>
            <a:r>
              <a:rPr lang="en-US" sz="5600" b="1" dirty="0" err="1">
                <a:latin typeface="Power Geez Unicode1"/>
                <a:ea typeface="SimSun"/>
                <a:cs typeface="SimSun"/>
              </a:rPr>
              <a:t>ደንብ</a:t>
            </a:r>
            <a:r>
              <a:rPr lang="en-US" sz="5600" b="1" dirty="0">
                <a:latin typeface="Power Geez Unicode1"/>
                <a:ea typeface="SimSun"/>
                <a:cs typeface="SimSun"/>
              </a:rPr>
              <a:t> </a:t>
            </a:r>
            <a:r>
              <a:rPr lang="en-US" sz="5600" b="1" dirty="0" err="1">
                <a:latin typeface="Power Geez Unicode1"/>
                <a:ea typeface="SimSun"/>
                <a:cs typeface="SimSun"/>
              </a:rPr>
              <a:t>ማስከበር</a:t>
            </a:r>
            <a:r>
              <a:rPr lang="en-US" sz="5600" b="1" dirty="0">
                <a:latin typeface="Power Geez Unicode1"/>
                <a:ea typeface="SimSun"/>
                <a:cs typeface="SimSun"/>
              </a:rPr>
              <a:t> ጽ/</a:t>
            </a:r>
            <a:r>
              <a:rPr lang="en-US" sz="5600" b="1" dirty="0" err="1">
                <a:latin typeface="Power Geez Unicode1"/>
                <a:ea typeface="SimSun"/>
                <a:cs typeface="SimSun"/>
              </a:rPr>
              <a:t>ቤት</a:t>
            </a:r>
            <a:r>
              <a:rPr lang="en-US" sz="5600" b="1" dirty="0">
                <a:latin typeface="Power Geez Unicode1"/>
                <a:ea typeface="SimSun"/>
                <a:cs typeface="SimSun"/>
              </a:rPr>
              <a:t> </a:t>
            </a:r>
            <a:r>
              <a:rPr lang="en-US" sz="5600" b="1" dirty="0" err="1">
                <a:latin typeface="Power Geez Unicode1"/>
                <a:ea typeface="SimSun"/>
                <a:cs typeface="SimSun"/>
              </a:rPr>
              <a:t>ሙሉ</a:t>
            </a:r>
            <a:r>
              <a:rPr lang="en-US" sz="5600" b="1" dirty="0">
                <a:latin typeface="Power Geez Unicode1"/>
                <a:ea typeface="SimSun"/>
                <a:cs typeface="SimSun"/>
              </a:rPr>
              <a:t> </a:t>
            </a:r>
            <a:r>
              <a:rPr lang="en-US" sz="5600" b="1" dirty="0" err="1">
                <a:latin typeface="Power Geez Unicode1"/>
                <a:ea typeface="SimSun"/>
                <a:cs typeface="SimSun"/>
              </a:rPr>
              <a:t>መረጃ</a:t>
            </a:r>
            <a:r>
              <a:rPr lang="en-US" sz="5600" b="1" dirty="0">
                <a:latin typeface="Power Geez Unicode1"/>
                <a:ea typeface="SimSun"/>
                <a:cs typeface="SimSun"/>
              </a:rPr>
              <a:t> </a:t>
            </a:r>
            <a:r>
              <a:rPr lang="en-US" sz="5600" b="1" dirty="0" err="1">
                <a:latin typeface="Power Geez Unicode1"/>
                <a:ea typeface="SimSun"/>
                <a:cs typeface="SimSun"/>
              </a:rPr>
              <a:t>እንዲደርሰው</a:t>
            </a:r>
            <a:r>
              <a:rPr lang="en-US" sz="5600" b="1" dirty="0">
                <a:latin typeface="Power Geez Unicode1"/>
                <a:ea typeface="SimSun"/>
                <a:cs typeface="SimSun"/>
              </a:rPr>
              <a:t> </a:t>
            </a:r>
            <a:r>
              <a:rPr lang="en-US" sz="5600" b="1" dirty="0" err="1">
                <a:latin typeface="Power Geez Unicode1"/>
                <a:ea typeface="SimSun"/>
                <a:cs typeface="SimSun"/>
              </a:rPr>
              <a:t>በማድረግ</a:t>
            </a:r>
            <a:r>
              <a:rPr lang="en-US" sz="5600" b="1" dirty="0">
                <a:latin typeface="Power Geez Unicode1"/>
                <a:ea typeface="SimSun"/>
                <a:cs typeface="SimSun"/>
              </a:rPr>
              <a:t> </a:t>
            </a:r>
            <a:r>
              <a:rPr lang="en-US" sz="5600" b="1" dirty="0" err="1">
                <a:latin typeface="Power Geez Unicode1"/>
                <a:ea typeface="SimSun"/>
                <a:cs typeface="SimSun"/>
              </a:rPr>
              <a:t>እንዲቀጣ</a:t>
            </a:r>
            <a:r>
              <a:rPr lang="en-US" sz="5600" b="1" dirty="0">
                <a:latin typeface="Power Geez Unicode1"/>
                <a:ea typeface="SimSun"/>
                <a:cs typeface="SimSun"/>
              </a:rPr>
              <a:t> </a:t>
            </a:r>
            <a:r>
              <a:rPr lang="en-US" sz="5600" b="1" dirty="0" err="1">
                <a:latin typeface="Power Geez Unicode1"/>
                <a:ea typeface="SimSun"/>
                <a:cs typeface="SimSun"/>
              </a:rPr>
              <a:t>ይደረጋል</a:t>
            </a:r>
            <a:r>
              <a:rPr lang="en-US" sz="5600" b="1" dirty="0">
                <a:latin typeface="Power Geez Unicode1"/>
                <a:ea typeface="SimSun"/>
                <a:cs typeface="SimSun"/>
              </a:rPr>
              <a:t>፤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5600" b="1" dirty="0">
                <a:latin typeface="Power Geez Unicode1"/>
                <a:ea typeface="Times New Roman"/>
                <a:cs typeface="Nyala"/>
              </a:rPr>
              <a:t>፡፡</a:t>
            </a:r>
            <a:endParaRPr lang="en-US" sz="4400" b="1" dirty="0"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lang="en-US" sz="5600" b="1" dirty="0" err="1" smtClean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በመንገዶች፤ድልድዬች</a:t>
            </a:r>
            <a:r>
              <a:rPr lang="en-US" sz="5600" b="1" dirty="0" smtClean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በእግረኛ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መከላከያ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አጥሮች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ያለፈቃድ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ማስታወቂያ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ባነር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መለጠፍን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መንጠልጠሉን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፣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መተከሉን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ሲያይ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ኦፊሰሩ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በማስታወቂያው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ያለውን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አድራሻ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በመውሰድ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በራሱ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ወረዳ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የሚገኝ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ደንብ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ተላላፊ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ከሆነ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በቦታው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በመሄድ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በቅጣት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ሰንጠረዡ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የተቀመጠውን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1000.00 (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አንድ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ሺህ</a:t>
            </a:r>
            <a:r>
              <a:rPr lang="en-US" sz="5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)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ብር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በ3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ቀን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ውስጥ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እንዲከፍል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የቅጣት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ማስታወቂያ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እና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የለጠፈውን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እንዲሰበስብ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የማስጠንቀቂያ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ወረቀት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ይሰጠዋል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፡፡ 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ሆኖም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የተጣለበትን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ቅጣትና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የለጠፈውን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ያንጠለጠለውን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ማስታወቂያ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ለመሰብሰብ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ፍቃደኛ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ካልሆነ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፤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የወረዳው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ደንብ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ማስከበር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ጽ/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ቤት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ደንብ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ተላላፊውን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በሚመለከተው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የፍትህ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አካል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ገንዘቡን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እንዲከፍል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እንዲደረግ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መረጃውን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በማደራጀት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ለክፍለ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ከተማው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ደንብ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ማስከበር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ጽ/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ቤት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ይልካል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፣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ሆኖም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የደንብ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ተላላፊው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አድራሻ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ከወረዳው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ውጪ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ከሆን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መረጃውን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በማደራጀት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አድራሻው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ባለበት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ክፍለከተማ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ወ</a:t>
            </a:r>
            <a:r>
              <a:rPr lang="en-US" sz="5600" b="1" dirty="0" err="1">
                <a:latin typeface="Power Geez Unicode1"/>
                <a:ea typeface="SimSun"/>
                <a:cs typeface="SimSun"/>
              </a:rPr>
              <a:t>ይም</a:t>
            </a:r>
            <a:r>
              <a:rPr lang="en-US" sz="5600" b="1" dirty="0">
                <a:latin typeface="Power Geez Unicode1"/>
                <a:ea typeface="SimSun"/>
                <a:cs typeface="SimSun"/>
              </a:rPr>
              <a:t> </a:t>
            </a:r>
            <a:r>
              <a:rPr lang="en-US" sz="5600" b="1" dirty="0" err="1">
                <a:latin typeface="Power Geez Unicode1"/>
                <a:ea typeface="SimSun"/>
                <a:cs typeface="SimSun"/>
              </a:rPr>
              <a:t>ወረዳ</a:t>
            </a:r>
            <a:r>
              <a:rPr lang="en-US" sz="5600" b="1" dirty="0">
                <a:latin typeface="Power Geez Unicode1"/>
                <a:ea typeface="SimSun"/>
                <a:cs typeface="SimSun"/>
              </a:rPr>
              <a:t>  </a:t>
            </a:r>
            <a:r>
              <a:rPr lang="en-US" sz="5600" b="1" dirty="0" err="1">
                <a:latin typeface="Power Geez Unicode1"/>
                <a:ea typeface="SimSun"/>
                <a:cs typeface="SimSun"/>
              </a:rPr>
              <a:t>ደንብ</a:t>
            </a:r>
            <a:r>
              <a:rPr lang="en-US" sz="5600" b="1" dirty="0">
                <a:latin typeface="Power Geez Unicode1"/>
                <a:ea typeface="SimSun"/>
                <a:cs typeface="SimSun"/>
              </a:rPr>
              <a:t> </a:t>
            </a:r>
            <a:r>
              <a:rPr lang="en-US" sz="5600" b="1" dirty="0" err="1">
                <a:latin typeface="Power Geez Unicode1"/>
                <a:ea typeface="SimSun"/>
                <a:cs typeface="SimSun"/>
              </a:rPr>
              <a:t>ማስከበር</a:t>
            </a:r>
            <a:r>
              <a:rPr lang="en-US" sz="5600" b="1" dirty="0">
                <a:latin typeface="Power Geez Unicode1"/>
                <a:ea typeface="SimSun"/>
                <a:cs typeface="SimSun"/>
              </a:rPr>
              <a:t> ጽ/</a:t>
            </a:r>
            <a:r>
              <a:rPr lang="en-US" sz="5600" b="1" dirty="0" err="1">
                <a:latin typeface="Power Geez Unicode1"/>
                <a:ea typeface="SimSun"/>
                <a:cs typeface="SimSun"/>
              </a:rPr>
              <a:t>ቤት</a:t>
            </a:r>
            <a:r>
              <a:rPr lang="en-US" sz="5600" b="1" dirty="0">
                <a:latin typeface="Power Geez Unicode1"/>
                <a:ea typeface="SimSun"/>
                <a:cs typeface="SimSun"/>
              </a:rPr>
              <a:t> </a:t>
            </a:r>
            <a:r>
              <a:rPr lang="en-US" sz="5600" b="1" dirty="0" err="1">
                <a:latin typeface="Power Geez Unicode1"/>
                <a:ea typeface="SimSun"/>
                <a:cs typeface="SimSun"/>
              </a:rPr>
              <a:t>ሙሉ</a:t>
            </a:r>
            <a:r>
              <a:rPr lang="en-US" sz="5600" b="1" dirty="0">
                <a:latin typeface="Power Geez Unicode1"/>
                <a:ea typeface="SimSun"/>
                <a:cs typeface="SimSun"/>
              </a:rPr>
              <a:t> </a:t>
            </a:r>
            <a:r>
              <a:rPr lang="en-US" sz="5600" b="1" dirty="0" err="1">
                <a:latin typeface="Power Geez Unicode1"/>
                <a:ea typeface="SimSun"/>
                <a:cs typeface="SimSun"/>
              </a:rPr>
              <a:t>መረጃ</a:t>
            </a:r>
            <a:r>
              <a:rPr lang="en-US" sz="5600" b="1" dirty="0">
                <a:latin typeface="Power Geez Unicode1"/>
                <a:ea typeface="SimSun"/>
                <a:cs typeface="SimSun"/>
              </a:rPr>
              <a:t> </a:t>
            </a:r>
            <a:r>
              <a:rPr lang="en-US" sz="5600" b="1" dirty="0" err="1">
                <a:latin typeface="Power Geez Unicode1"/>
                <a:ea typeface="SimSun"/>
                <a:cs typeface="SimSun"/>
              </a:rPr>
              <a:t>እንዲደርሰው</a:t>
            </a:r>
            <a:r>
              <a:rPr lang="en-US" sz="5600" b="1" dirty="0">
                <a:latin typeface="Power Geez Unicode1"/>
                <a:ea typeface="SimSun"/>
                <a:cs typeface="SimSun"/>
              </a:rPr>
              <a:t> </a:t>
            </a:r>
            <a:r>
              <a:rPr lang="en-US" sz="5600" b="1" dirty="0" err="1">
                <a:latin typeface="Power Geez Unicode1"/>
                <a:ea typeface="SimSun"/>
                <a:cs typeface="SimSun"/>
              </a:rPr>
              <a:t>በማድረግ</a:t>
            </a:r>
            <a:r>
              <a:rPr lang="en-US" sz="5600" b="1" dirty="0">
                <a:latin typeface="Power Geez Unicode1"/>
                <a:ea typeface="SimSun"/>
                <a:cs typeface="SimSun"/>
              </a:rPr>
              <a:t> </a:t>
            </a:r>
            <a:r>
              <a:rPr lang="en-US" sz="5600" b="1" dirty="0" err="1">
                <a:latin typeface="Power Geez Unicode1"/>
                <a:ea typeface="SimSun"/>
                <a:cs typeface="SimSun"/>
              </a:rPr>
              <a:t>እንዲቀጣ</a:t>
            </a:r>
            <a:r>
              <a:rPr lang="en-US" sz="5600" b="1" dirty="0">
                <a:latin typeface="Power Geez Unicode1"/>
                <a:ea typeface="SimSun"/>
                <a:cs typeface="SimSun"/>
              </a:rPr>
              <a:t> </a:t>
            </a:r>
            <a:r>
              <a:rPr lang="en-US" sz="5600" b="1" dirty="0" err="1">
                <a:latin typeface="Power Geez Unicode1"/>
                <a:ea typeface="SimSun"/>
                <a:cs typeface="SimSun"/>
              </a:rPr>
              <a:t>ይደረጋል</a:t>
            </a:r>
            <a:r>
              <a:rPr lang="en-US" sz="5600" b="1" dirty="0">
                <a:latin typeface="Power Geez Unicode1"/>
                <a:ea typeface="SimSun"/>
                <a:cs typeface="SimSun"/>
              </a:rPr>
              <a:t>፤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አፈፃፀሙን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5600" b="1" dirty="0" err="1">
                <a:latin typeface="Power Geez Unicode1"/>
                <a:ea typeface="Times New Roman"/>
                <a:cs typeface="Ebrima"/>
              </a:rPr>
              <a:t>ይከታተላል</a:t>
            </a:r>
            <a:r>
              <a:rPr lang="en-US" sz="5600" b="1" dirty="0">
                <a:latin typeface="Power Geez Unicode1"/>
                <a:ea typeface="Times New Roman"/>
                <a:cs typeface="Ebrima"/>
              </a:rPr>
              <a:t>፡፡</a:t>
            </a:r>
            <a:endParaRPr lang="en-US" sz="4400" b="1" dirty="0">
              <a:ea typeface="Times New Roman"/>
              <a:cs typeface="Ebrim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870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  <a:solidFill>
            <a:schemeClr val="bg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 fontScale="55000" lnSpcReduction="20000"/>
          </a:bodyPr>
          <a:lstStyle/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ያለፈቃድ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ማንኛዉንም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ማስታወቂያ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፣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በበራሪ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ወረቀት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፣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በብሮሸር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በማንኛዉም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መንገድ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በመንገድ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ሲያሰራጭ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የተገኘና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አካባቢ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እንዲቆሽሽ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ያደረገ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ሰንጠረዡ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የተቀመጠውን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50.00 (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ሀምሳ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)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ብር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እንዲከፍል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ወዲያውኑ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የቅጣት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ማስታወቂያ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ይሰጠዋል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መክፍል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ያልቻለ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እንደሆን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ከፖሊስ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ጋር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በመተባር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በማህራዊ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እንዲሰጥ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ይደረጋል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፡፡</a:t>
            </a:r>
            <a:endParaRPr lang="en-US" sz="2500" b="1" dirty="0">
              <a:solidFill>
                <a:srgbClr val="7030A0"/>
              </a:solidFill>
              <a:ea typeface="Times New Roman"/>
              <a:cs typeface="Ebrim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Font typeface="Arial" pitchFamily="34" charset="0"/>
              <a:buChar char="•"/>
            </a:pPr>
            <a:r>
              <a:rPr lang="en-US" sz="29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ያለፈቃድ</a:t>
            </a:r>
            <a:r>
              <a:rPr lang="en-US" sz="2900" b="1" dirty="0" smtClean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ማንኛዉንም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ማስታወቂያ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፣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በበራሪ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ወረቀት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፣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በብሮሸር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በማንኛዉም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መንገድ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በመንገድ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እንዲሰራጭ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በማተም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በባለቤትነት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እንዲታታም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በማደረግ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አካባቢ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እንዲቆሽሽ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ያደረገ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ሰንጠረዡ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የተቀመጠውን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500.00 (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አምስት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መቶ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)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ብር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በ3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ቀን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ውስጥ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እንዲከፍል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የቅጣት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ማስታወቂያ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ወረቀት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ይሰጠዋል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፡፡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ሆኖም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የተጣለበትን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ቅጣት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ለመክፈል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ፍቃደኛ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ካልሆነ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ሆኖም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የደንብ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ተላላፊው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አድራሻ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ከወረዳው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ውጪ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ከሆን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መረጃውን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በማደራጀት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አድራሻው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ባለበት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ክፍለከተማ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ወ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ይም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ወረዳ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 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ደንብ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ማስከበር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 ጽ/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ቤት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ሙሉ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መረጃ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እንዲደርሰው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በማድረግ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እንዲቀጣ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ይደረጋል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፤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አፈፃፀሙን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ይከታተላል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፡፡</a:t>
            </a:r>
            <a:endParaRPr lang="en-US" sz="2500" b="1" dirty="0">
              <a:solidFill>
                <a:srgbClr val="002060"/>
              </a:solidFill>
              <a:ea typeface="Times New Roman"/>
              <a:cs typeface="Ebrim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997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indent="-114300">
              <a:lnSpc>
                <a:spcPct val="150000"/>
              </a:lnSpc>
            </a:pPr>
            <a:r>
              <a:rPr lang="en-US" sz="2800" b="1" u="sng" dirty="0" smtClean="0">
                <a:latin typeface="Power Geez Unicode1"/>
                <a:ea typeface="Times New Roman"/>
                <a:cs typeface="Ebrima"/>
              </a:rPr>
              <a:t/>
            </a:r>
            <a:br>
              <a:rPr lang="en-US" sz="2800" b="1" u="sng" dirty="0" smtClean="0">
                <a:latin typeface="Power Geez Unicode1"/>
                <a:ea typeface="Times New Roman"/>
                <a:cs typeface="Ebrima"/>
              </a:rPr>
            </a:br>
            <a:r>
              <a:rPr lang="en-US" sz="2000" b="1" dirty="0" err="1" smtClean="0">
                <a:latin typeface="Power Geez Unicode1"/>
                <a:ea typeface="Times New Roman"/>
                <a:cs typeface="Ebrima"/>
              </a:rPr>
              <a:t>የቅጣት</a:t>
            </a:r>
            <a:r>
              <a:rPr lang="en-US" sz="2000" dirty="0" smtClean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000" b="1" dirty="0" err="1">
                <a:latin typeface="Power Geez Unicode1"/>
                <a:ea typeface="Times New Roman"/>
                <a:cs typeface="Ebrima"/>
              </a:rPr>
              <a:t>ሰንጠረዥ</a:t>
            </a:r>
            <a:r>
              <a:rPr lang="en-US" sz="20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000" b="1" dirty="0">
                <a:latin typeface="Power Geez Unicode1"/>
                <a:ea typeface="Times New Roman"/>
                <a:cs typeface="Nyala"/>
              </a:rPr>
              <a:t>5</a:t>
            </a:r>
            <a:r>
              <a:rPr lang="en-US" sz="1800" dirty="0">
                <a:ea typeface="Calibri"/>
                <a:cs typeface="Arial"/>
              </a:rPr>
              <a:t/>
            </a:r>
            <a:br>
              <a:rPr lang="en-US" sz="1800" dirty="0">
                <a:ea typeface="Calibri"/>
                <a:cs typeface="Arial"/>
              </a:rPr>
            </a:br>
            <a:r>
              <a:rPr lang="en-US" sz="2000" b="1" dirty="0" err="1">
                <a:latin typeface="Power Geez Unicode1"/>
                <a:ea typeface="Times New Roman"/>
                <a:cs typeface="Ebrima"/>
              </a:rPr>
              <a:t>አዋኪ</a:t>
            </a:r>
            <a:r>
              <a:rPr lang="en-US" sz="20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000" b="1" dirty="0" err="1">
                <a:latin typeface="Power Geez Unicode1"/>
                <a:ea typeface="Times New Roman"/>
                <a:cs typeface="Ebrima"/>
              </a:rPr>
              <a:t>ድርጊት</a:t>
            </a:r>
            <a:r>
              <a:rPr lang="en-US" sz="20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000" b="1" dirty="0" err="1">
                <a:latin typeface="Power Geez Unicode1"/>
                <a:ea typeface="Times New Roman"/>
                <a:cs typeface="Ebrima"/>
              </a:rPr>
              <a:t>እና</a:t>
            </a:r>
            <a:r>
              <a:rPr lang="en-US" sz="20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000" b="1" dirty="0" err="1">
                <a:latin typeface="Power Geez Unicode1"/>
                <a:ea typeface="Times New Roman"/>
                <a:cs typeface="Ebrima"/>
              </a:rPr>
              <a:t>መሰል</a:t>
            </a:r>
            <a:r>
              <a:rPr lang="en-US" sz="2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000" b="1" dirty="0" err="1">
                <a:latin typeface="Power Geez Unicode1"/>
                <a:ea typeface="Times New Roman"/>
                <a:cs typeface="Ebrima"/>
              </a:rPr>
              <a:t>ተግባራትን</a:t>
            </a:r>
            <a:r>
              <a:rPr lang="en-US" sz="20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000" b="1" dirty="0" err="1">
                <a:latin typeface="Power Geez Unicode1"/>
                <a:ea typeface="Times New Roman"/>
                <a:cs typeface="Ebrima"/>
              </a:rPr>
              <a:t>መፈጸም</a:t>
            </a:r>
            <a:r>
              <a:rPr lang="en-US" sz="2400" dirty="0">
                <a:ea typeface="Calibri"/>
                <a:cs typeface="Arial"/>
              </a:rPr>
              <a:t/>
            </a:r>
            <a:br>
              <a:rPr lang="en-US" sz="2400" dirty="0">
                <a:ea typeface="Calibri"/>
                <a:cs typeface="Arial"/>
              </a:rPr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638800"/>
          </a:xfrm>
          <a:solidFill>
            <a:schemeClr val="bg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 fontScale="475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በማንኛውም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ቦታ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(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በንግድ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ቤት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በመኖሪ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SimSun"/>
                <a:cs typeface="SimSun"/>
              </a:rPr>
              <a:t>ያ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ቤት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)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ገቢ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ለማግኘት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ለማስገኘት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ጫት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ሲያስቅም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በደንብ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መተላለፍ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ቁጥጥርና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እርምጃ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አወሰሰድ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ኦፊሰር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በማንኛውም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መልኩ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ድርጊቱን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ከደረሰበት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የንግድ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ቤት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ከሆነ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ከንግድ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ጽ/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ቤት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እና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ፖሊስ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ጋር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በጋራ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በመሆን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5</a:t>
            </a:r>
            <a:r>
              <a:rPr lang="en-US" sz="21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,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000.00 (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አምስት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Ebrima"/>
              </a:rPr>
              <a:t>በ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3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በንግድ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ህጉ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መሰረት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ቤቱን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በጋራ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በማሸግ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ዳግም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ድርጊቱን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እንዳይፈጽም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የግዴታ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ውል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እንዲፈርም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ያደርጋል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SimSun"/>
                <a:cs typeface="SimSun"/>
              </a:rPr>
              <a:t>፡፡ </a:t>
            </a:r>
            <a:r>
              <a:rPr lang="en-US" sz="2900" b="1" dirty="0" err="1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2900" b="1" dirty="0">
                <a:solidFill>
                  <a:srgbClr val="00206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ድርጊቱ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የተፈጸመው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በመኖሪያ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ከሆነ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የቁጥጥር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በራሱ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የሚወስድ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ሆኖ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ነገር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መኖሪያ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ቤቱ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የመንግስት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ከተገኘ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ድርጊቱን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በድጋሚ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የተፈጸመ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ከሆነ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ለሚመለከተው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ውል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እንዲቋረጥ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በደብዳቤ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ይጠይቃል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ደግሞ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ቅጣቱን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አፈጻጸሙን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ይከታተላል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፡፡</a:t>
            </a:r>
            <a:endParaRPr lang="en-US" sz="2500" b="1" dirty="0">
              <a:solidFill>
                <a:srgbClr val="0070C0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በክፍት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ዝግ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የመናፈሻ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ቦታዎች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የመንገድ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አካፋዬች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የመንገድ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ዳርቻዎች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አደባባዬች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ጫት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እየታቃመ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የተገኘ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እንደሆነ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እና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በደንብ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መተላለፍ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ቁጥጥርና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እርምጃ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አወሰሰድ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ኦፊሰር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በማንኛውም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መልኩ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ድርጊቱን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ከደረሰበት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100.00 (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አንድ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እያንዳንዱ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ጥፋቱን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የፈጸመ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ግለሰብ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እንዲቀጣ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ይደረጋል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ነገር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ግን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ቅጣቱን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መክፈል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ላልቻሉ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የደንብ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ተላላፊዎች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ከፖሊስ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ጋር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በመሆን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ማህበራዊ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አገልግሎት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እንዲሰጡ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ይደረጋል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፡፡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ድርጊቱ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የተፈጸመው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በተሽከርካሪ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ውስጥ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ከሆነ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እና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የተጣለበትን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ቅጣት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ለመክፈል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ፍቃደኛ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ካልሆነ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2900" b="1" dirty="0">
                <a:solidFill>
                  <a:srgbClr val="7030A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ካልሆነ፤ታርጋ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ቁጥሩን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በመያዝ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በትራፊክ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ማኔጅመንት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ኤጀንሲ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በኩል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አሽከርካሪውን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እንዲያዝ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በማድረግ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መተላለፉ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ተፈፀመበት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ወረዳ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ድረስ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ቀርቦ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አፈፃፀሙን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2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5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581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  <a:solidFill>
            <a:schemeClr val="bg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 fontScale="40000" lnSpcReduction="20000"/>
          </a:bodyPr>
          <a:lstStyle/>
          <a:p>
            <a:pPr marL="457200" lvl="1" indent="0" algn="just">
              <a:lnSpc>
                <a:spcPct val="150000"/>
              </a:lnSpc>
              <a:spcAft>
                <a:spcPts val="1000"/>
              </a:spcAft>
              <a:buSzPts val="1200"/>
              <a:buNone/>
            </a:pPr>
            <a:r>
              <a:rPr lang="en-US" sz="40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በማንኛውም</a:t>
            </a:r>
            <a:r>
              <a:rPr lang="en-US" sz="40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ቦታ</a:t>
            </a:r>
            <a:r>
              <a:rPr lang="en-US" sz="40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(</a:t>
            </a:r>
            <a:r>
              <a:rPr lang="en-US" sz="40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በንግድ</a:t>
            </a:r>
            <a:r>
              <a:rPr lang="en-US" sz="40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ቤት</a:t>
            </a:r>
            <a:r>
              <a:rPr lang="en-US" sz="40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40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በመኖሪ</a:t>
            </a:r>
            <a:r>
              <a:rPr lang="en-US" sz="4000" b="1" dirty="0" err="1">
                <a:solidFill>
                  <a:srgbClr val="FF0000"/>
                </a:solidFill>
                <a:latin typeface="Power Geez Unicode1"/>
                <a:ea typeface="SimSun"/>
                <a:cs typeface="SimSun"/>
              </a:rPr>
              <a:t>ያ</a:t>
            </a:r>
            <a:r>
              <a:rPr lang="en-US" sz="40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ቤት</a:t>
            </a:r>
            <a:r>
              <a:rPr lang="en-US" sz="40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) </a:t>
            </a:r>
            <a:r>
              <a:rPr lang="en-US" sz="40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ገቢ</a:t>
            </a:r>
            <a:r>
              <a:rPr lang="en-US" sz="40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ለማግኘት</a:t>
            </a:r>
            <a:r>
              <a:rPr lang="en-US" sz="40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40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ለማስገኘት</a:t>
            </a:r>
            <a:r>
              <a:rPr lang="en-US" sz="40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ሺሻ</a:t>
            </a:r>
            <a:r>
              <a:rPr lang="en-US" sz="40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ማስጨስ</a:t>
            </a:r>
            <a:r>
              <a:rPr lang="en-US" sz="40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Ebrima"/>
              </a:rPr>
              <a:t>በደንብ</a:t>
            </a:r>
            <a:r>
              <a:rPr lang="en-US" sz="40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Ebrima"/>
              </a:rPr>
              <a:t>መተላለፍ</a:t>
            </a:r>
            <a:r>
              <a:rPr lang="en-US" sz="40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Ebrima"/>
              </a:rPr>
              <a:t>ቁጥጥርና</a:t>
            </a:r>
            <a:r>
              <a:rPr lang="en-US" sz="40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Ebrima"/>
              </a:rPr>
              <a:t>እርምጃ</a:t>
            </a:r>
            <a:r>
              <a:rPr lang="en-US" sz="40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Ebrima"/>
              </a:rPr>
              <a:t>አወሰሰድ</a:t>
            </a:r>
            <a:r>
              <a:rPr lang="en-US" sz="40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Ebrima"/>
              </a:rPr>
              <a:t>ኦፊሰር</a:t>
            </a:r>
            <a:r>
              <a:rPr lang="en-US" sz="40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Ebrima"/>
              </a:rPr>
              <a:t>በማንኛውም</a:t>
            </a:r>
            <a:r>
              <a:rPr lang="en-US" sz="40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Ebrima"/>
              </a:rPr>
              <a:t>መልኩ</a:t>
            </a:r>
            <a:r>
              <a:rPr lang="en-US" sz="40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Ebrima"/>
              </a:rPr>
              <a:t>ድርጊቱን</a:t>
            </a:r>
            <a:r>
              <a:rPr lang="en-US" sz="40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Ebrima"/>
              </a:rPr>
              <a:t>ከደረሰበት</a:t>
            </a:r>
            <a:r>
              <a:rPr lang="en-US" sz="40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በንግድ</a:t>
            </a:r>
            <a:r>
              <a:rPr lang="en-US" sz="40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ቤት</a:t>
            </a:r>
            <a:r>
              <a:rPr lang="en-US" sz="40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ከሆነ</a:t>
            </a:r>
            <a:r>
              <a:rPr lang="en-US" sz="40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ከንግድ</a:t>
            </a:r>
            <a:r>
              <a:rPr lang="en-US" sz="40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ጽ/</a:t>
            </a:r>
            <a:r>
              <a:rPr lang="en-US" sz="40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ቤት</a:t>
            </a:r>
            <a:r>
              <a:rPr lang="en-US" sz="40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Ebrima"/>
              </a:rPr>
              <a:t>እና</a:t>
            </a:r>
            <a:r>
              <a:rPr lang="en-US" sz="40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Ebrima"/>
              </a:rPr>
              <a:t>ፖሊስ</a:t>
            </a:r>
            <a:r>
              <a:rPr lang="en-US" sz="40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Ebrima"/>
              </a:rPr>
              <a:t>ጋር</a:t>
            </a:r>
            <a:r>
              <a:rPr lang="en-US" sz="40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Ebrima"/>
              </a:rPr>
              <a:t>በጋራ</a:t>
            </a:r>
            <a:r>
              <a:rPr lang="en-US" sz="40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Ebrima"/>
              </a:rPr>
              <a:t>በመሆን</a:t>
            </a:r>
            <a:r>
              <a:rPr lang="en-US" sz="40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10</a:t>
            </a:r>
            <a:r>
              <a:rPr lang="en-US" sz="25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,</a:t>
            </a:r>
            <a:r>
              <a:rPr lang="en-US" sz="40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000.00 (</a:t>
            </a:r>
            <a:r>
              <a:rPr lang="en-US" sz="40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አስር</a:t>
            </a:r>
            <a:r>
              <a:rPr lang="en-US" sz="40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40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>
                <a:latin typeface="Power Geez Unicode1"/>
                <a:ea typeface="Times New Roman"/>
                <a:cs typeface="Ebrima"/>
              </a:rPr>
              <a:t>በ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3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በንግድ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ህጉ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መሰረት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ቤቱን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በጋራ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በማሸግ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ዳግም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ድርጊቱን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እንዳይፈጽም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00B0F0"/>
                </a:solidFill>
                <a:latin typeface="Power Geez Unicode1"/>
                <a:ea typeface="SimSun"/>
                <a:cs typeface="SimSun"/>
              </a:rPr>
              <a:t>የግዴታ</a:t>
            </a:r>
            <a:r>
              <a:rPr lang="en-US" sz="4000" b="1" dirty="0">
                <a:solidFill>
                  <a:srgbClr val="00B0F0"/>
                </a:solidFill>
                <a:latin typeface="Power Geez Unicode1"/>
                <a:ea typeface="SimSun"/>
                <a:cs typeface="SimSun"/>
              </a:rPr>
              <a:t> </a:t>
            </a:r>
            <a:r>
              <a:rPr lang="en-US" sz="4000" b="1" dirty="0" err="1">
                <a:solidFill>
                  <a:srgbClr val="00B0F0"/>
                </a:solidFill>
                <a:latin typeface="Power Geez Unicode1"/>
                <a:ea typeface="SimSun"/>
                <a:cs typeface="SimSun"/>
              </a:rPr>
              <a:t>ውል</a:t>
            </a:r>
            <a:r>
              <a:rPr lang="en-US" sz="4000" b="1" dirty="0">
                <a:solidFill>
                  <a:srgbClr val="00B0F0"/>
                </a:solidFill>
                <a:latin typeface="Power Geez Unicode1"/>
                <a:ea typeface="SimSun"/>
                <a:cs typeface="SimSun"/>
              </a:rPr>
              <a:t> </a:t>
            </a:r>
            <a:r>
              <a:rPr lang="en-US" sz="4000" b="1" dirty="0" err="1">
                <a:solidFill>
                  <a:srgbClr val="00B0F0"/>
                </a:solidFill>
                <a:latin typeface="Power Geez Unicode1"/>
                <a:ea typeface="SimSun"/>
                <a:cs typeface="SimSun"/>
              </a:rPr>
              <a:t>እንዲፈርም</a:t>
            </a:r>
            <a:r>
              <a:rPr lang="en-US" sz="4000" b="1" dirty="0">
                <a:solidFill>
                  <a:srgbClr val="00B0F0"/>
                </a:solidFill>
                <a:latin typeface="Power Geez Unicode1"/>
                <a:ea typeface="SimSun"/>
                <a:cs typeface="SimSun"/>
              </a:rPr>
              <a:t> </a:t>
            </a:r>
            <a:r>
              <a:rPr lang="en-US" sz="4000" b="1" dirty="0" err="1">
                <a:solidFill>
                  <a:srgbClr val="00B0F0"/>
                </a:solidFill>
                <a:latin typeface="Power Geez Unicode1"/>
                <a:ea typeface="SimSun"/>
                <a:cs typeface="SimSun"/>
              </a:rPr>
              <a:t>ያደርጋል</a:t>
            </a:r>
            <a:r>
              <a:rPr lang="en-US" sz="4000" b="1" dirty="0">
                <a:latin typeface="Power Geez Unicode1"/>
                <a:ea typeface="SimSun"/>
                <a:cs typeface="SimSun"/>
              </a:rPr>
              <a:t>፡፡</a:t>
            </a:r>
            <a:r>
              <a:rPr lang="en-US" sz="4000" b="1" dirty="0">
                <a:latin typeface="Power Geez Unicode1"/>
                <a:ea typeface="Times New Roman"/>
                <a:cs typeface="Ebrima"/>
              </a:rPr>
              <a:t>በ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3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በንግድ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ህጉ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መሰረት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ቤቱን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በጋራ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በማሸግ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ዳግም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ድርጊቱን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እንዳይፈጽም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SimSun"/>
                <a:cs typeface="SimSun"/>
              </a:rPr>
              <a:t>የግዴታ</a:t>
            </a:r>
            <a:r>
              <a:rPr lang="en-US" sz="4000" b="1" dirty="0">
                <a:latin typeface="Power Geez Unicode1"/>
                <a:ea typeface="SimSun"/>
                <a:cs typeface="SimSun"/>
              </a:rPr>
              <a:t> </a:t>
            </a:r>
            <a:r>
              <a:rPr lang="en-US" sz="4000" b="1" dirty="0" err="1">
                <a:latin typeface="Power Geez Unicode1"/>
                <a:ea typeface="SimSun"/>
                <a:cs typeface="SimSun"/>
              </a:rPr>
              <a:t>ውል</a:t>
            </a:r>
            <a:r>
              <a:rPr lang="en-US" sz="4000" b="1" dirty="0">
                <a:latin typeface="Power Geez Unicode1"/>
                <a:ea typeface="SimSun"/>
                <a:cs typeface="SimSun"/>
              </a:rPr>
              <a:t> </a:t>
            </a:r>
            <a:r>
              <a:rPr lang="en-US" sz="4000" b="1" dirty="0" err="1">
                <a:latin typeface="Power Geez Unicode1"/>
                <a:ea typeface="SimSun"/>
                <a:cs typeface="SimSun"/>
              </a:rPr>
              <a:t>እንዲፈርም</a:t>
            </a:r>
            <a:r>
              <a:rPr lang="en-US" sz="4000" b="1" dirty="0">
                <a:latin typeface="Power Geez Unicode1"/>
                <a:ea typeface="SimSun"/>
                <a:cs typeface="SimSun"/>
              </a:rPr>
              <a:t> </a:t>
            </a:r>
            <a:r>
              <a:rPr lang="en-US" sz="4000" b="1" dirty="0" err="1">
                <a:latin typeface="Power Geez Unicode1"/>
                <a:ea typeface="SimSun"/>
                <a:cs typeface="SimSun"/>
              </a:rPr>
              <a:t>ያደርጋል</a:t>
            </a:r>
            <a:r>
              <a:rPr lang="en-US" sz="4000" b="1" dirty="0">
                <a:latin typeface="Power Geez Unicode1"/>
                <a:ea typeface="SimSun"/>
                <a:cs typeface="SimSun"/>
              </a:rPr>
              <a:t>፡፡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ድርጊቱ</a:t>
            </a:r>
            <a:r>
              <a:rPr lang="en-US" sz="4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የተፈጸመው</a:t>
            </a:r>
            <a:r>
              <a:rPr lang="en-US" sz="4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በመኖሪያ</a:t>
            </a:r>
            <a:r>
              <a:rPr lang="en-US" sz="4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4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ከሆነ</a:t>
            </a:r>
            <a:r>
              <a:rPr lang="en-US" sz="4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የቁጥጥር</a:t>
            </a:r>
            <a:r>
              <a:rPr lang="en-US" sz="4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4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በራሱ</a:t>
            </a:r>
            <a:r>
              <a:rPr lang="en-US" sz="4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4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የሚወስድ</a:t>
            </a:r>
            <a:r>
              <a:rPr lang="en-US" sz="4000" b="1" dirty="0">
                <a:solidFill>
                  <a:srgbClr val="FFFF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ሆኖ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ነገር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ግን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መኖሪያ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ቤቱ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የመንግስት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ሆኖ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ከተገኘ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ድርጊቱን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በድጋሚ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የተፈጸመ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ከሆነ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ለሚመለከተው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ውል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እንዲቋረጥ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በደብዳቤ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ይጠይቃል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ቅጣቱን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Ebrima"/>
              </a:rPr>
              <a:t>አፈጻጸሙን</a:t>
            </a:r>
            <a:r>
              <a:rPr lang="en-US" sz="40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Ebrima"/>
              </a:rPr>
              <a:t>ይከታተላል</a:t>
            </a:r>
            <a:r>
              <a:rPr lang="en-US" sz="4000" b="1" dirty="0">
                <a:latin typeface="Power Geez Unicode1"/>
                <a:ea typeface="Times New Roman"/>
                <a:cs typeface="Ebrima"/>
              </a:rPr>
              <a:t>፡፡</a:t>
            </a:r>
            <a:endParaRPr lang="en-US" sz="4000" b="1" dirty="0"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760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867400"/>
          </a:xfrm>
          <a:solidFill>
            <a:schemeClr val="bg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pPr marL="457200" lvl="1" indent="0" algn="just">
              <a:lnSpc>
                <a:spcPct val="150000"/>
              </a:lnSpc>
              <a:spcAft>
                <a:spcPts val="1000"/>
              </a:spcAft>
              <a:buSzPts val="1200"/>
              <a:buNone/>
            </a:pP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በማንኛውም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የግልም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ሆነ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የመንግስት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ትምህርት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Power Geez Unicode1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ተቋማት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Power Geez Unicode1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ዙሪያ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ሁለት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Power Geez Unicode1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መቶ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Power Geez Unicode1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ሜትር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Power Geez Unicode1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መጠነ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Power Geez Unicode1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ዙሪያ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Power Geez Unicode1"/>
              </a:rPr>
              <a:t>/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ሬዴየስ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Power Geez Unicode1"/>
              </a:rPr>
              <a:t>/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ክልል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Power Geez Unicode1"/>
              </a:rPr>
              <a:t> </a:t>
            </a:r>
            <a:r>
              <a:rPr lang="en-US" sz="2900" b="1" dirty="0" err="1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ውስጥ</a:t>
            </a:r>
            <a:r>
              <a:rPr lang="en-US" sz="2900" b="1" dirty="0">
                <a:solidFill>
                  <a:srgbClr val="C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የትምህርት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ስርዓቱን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የሚያውኩ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የደንብ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መተላለፍ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ሲፈጸም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በደንብ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መተላለፍ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ቁጥጥርና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እርምጃ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አወሰሰድ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ኦፊሰር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ሲረጋገጥ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በማንኛውም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መልኩ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ፊልም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ቪዲዮ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ማሳየት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2000.00 (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ሁለት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የቀንም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ሆነ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የሌሊት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የጭፈራ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ተግባር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ማከናወን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10,000.00 (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አስር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900" b="1" dirty="0" err="1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ማንኛውንም</a:t>
            </a:r>
            <a:r>
              <a:rPr lang="en-US" sz="2900" b="1" dirty="0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ዓይነት</a:t>
            </a:r>
            <a:r>
              <a:rPr lang="en-US" sz="2900" b="1" dirty="0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የአልኮል</a:t>
            </a:r>
            <a:r>
              <a:rPr lang="en-US" sz="2900" b="1" dirty="0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መጠጥ</a:t>
            </a:r>
            <a:r>
              <a:rPr lang="en-US" sz="2900" b="1" dirty="0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መሸጥ</a:t>
            </a:r>
            <a:r>
              <a:rPr lang="en-US" sz="2900" b="1" dirty="0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ከድርጅት</a:t>
            </a:r>
            <a:r>
              <a:rPr lang="en-US" sz="2900" b="1" dirty="0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ከሆነ</a:t>
            </a:r>
            <a:r>
              <a:rPr lang="en-US" sz="2900" b="1" dirty="0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 10,000.00 (</a:t>
            </a:r>
            <a:r>
              <a:rPr lang="en-US" sz="2900" b="1" dirty="0" err="1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አስር</a:t>
            </a:r>
            <a:r>
              <a:rPr lang="en-US" sz="2900" b="1" dirty="0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2900" b="1" dirty="0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2900" b="1" dirty="0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ከ</a:t>
            </a:r>
            <a:r>
              <a:rPr lang="en-US" sz="2900" b="1" dirty="0" err="1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መኖሪያ</a:t>
            </a:r>
            <a:r>
              <a:rPr lang="en-US" sz="2900" b="1" dirty="0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ቤት</a:t>
            </a:r>
            <a:r>
              <a:rPr lang="en-US" sz="2900" b="1" dirty="0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 /</a:t>
            </a:r>
            <a:r>
              <a:rPr lang="en-US" sz="2900" b="1" dirty="0" err="1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ግለሰብ</a:t>
            </a:r>
            <a:r>
              <a:rPr lang="en-US" sz="2900" b="1" dirty="0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/ </a:t>
            </a:r>
            <a:r>
              <a:rPr lang="en-US" sz="2900" b="1" dirty="0" err="1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ከሆነ</a:t>
            </a:r>
            <a:r>
              <a:rPr lang="en-US" sz="2900" b="1" dirty="0">
                <a:solidFill>
                  <a:srgbClr val="00B05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1000.00 (</a:t>
            </a:r>
            <a:r>
              <a:rPr lang="en-US" sz="2900" b="1" dirty="0" err="1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አንድ</a:t>
            </a:r>
            <a:r>
              <a:rPr lang="en-US" sz="2900" b="1" dirty="0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2900" b="1" dirty="0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solidFill>
                  <a:srgbClr val="00B050"/>
                </a:solidFill>
                <a:latin typeface="Power Geez Unicode1"/>
                <a:ea typeface="Times New Roman"/>
                <a:cs typeface="Nyala"/>
              </a:rPr>
              <a:t>፣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ቁማር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መጫወት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ማጫወት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10,000.00 (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አስር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ራቁት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ዳንስ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የሚያከናውን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ድርጅት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10,000.00 (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አስር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እንዲሁም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ፔኒሲዮን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እና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ማሳጅ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ቤት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መክፈት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15,000.00 (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አስራ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አምስት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29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29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3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በንግድ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ህጉ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መሰረት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ቤቱን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በጋራ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በማሸግ</a:t>
            </a:r>
            <a:r>
              <a:rPr lang="en-US" sz="2900" b="1" dirty="0">
                <a:solidFill>
                  <a:srgbClr val="0070C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ዳግም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ድርጊቱን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እንዳይፈጽም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SimSun"/>
                <a:cs typeface="SimSun"/>
              </a:rPr>
              <a:t>የግዴታ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SimSun"/>
                <a:cs typeface="SimSun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SimSun"/>
                <a:cs typeface="SimSun"/>
              </a:rPr>
              <a:t>ውል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SimSun"/>
                <a:cs typeface="SimSun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SimSun"/>
                <a:cs typeface="SimSun"/>
              </a:rPr>
              <a:t>እንዲፈርም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SimSun"/>
                <a:cs typeface="SimSun"/>
              </a:rPr>
              <a:t> </a:t>
            </a:r>
            <a:r>
              <a:rPr lang="en-US" sz="2900" b="1" dirty="0" err="1">
                <a:solidFill>
                  <a:srgbClr val="FF0000"/>
                </a:solidFill>
                <a:latin typeface="Power Geez Unicode1"/>
                <a:ea typeface="SimSun"/>
                <a:cs typeface="SimSun"/>
              </a:rPr>
              <a:t>ያደርጋል</a:t>
            </a:r>
            <a:r>
              <a:rPr lang="en-US" sz="2900" b="1" dirty="0">
                <a:solidFill>
                  <a:srgbClr val="FF0000"/>
                </a:solidFill>
                <a:latin typeface="Power Geez Unicode1"/>
                <a:ea typeface="SimSun"/>
                <a:cs typeface="SimSun"/>
              </a:rPr>
              <a:t>፡፡</a:t>
            </a:r>
            <a:r>
              <a:rPr lang="en-US" sz="2900" b="1" dirty="0">
                <a:latin typeface="Power Geez Unicode1"/>
                <a:ea typeface="SimSun"/>
                <a:cs typeface="SimSun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ድርጊቱ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የተፈጸመው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በመኖሪያ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ከሆነ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የቁጥጥር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በራሱ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እርምጃ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የሚወስድ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ሆኖ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ነገር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መኖሪያ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ቤቱ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የመንግስት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ሆኖ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ከተገኘ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ድርጊቱን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በድጋሚ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የተፈጸመ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ከሆነ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ለሚመለከተው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ውል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እንዲቋረጥ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በደብዳቤ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ይጠይቃል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ቅጣቱን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29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አፈጻጸሙን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 </a:t>
            </a:r>
            <a:r>
              <a:rPr lang="en-US" sz="2900" b="1" dirty="0" err="1">
                <a:latin typeface="Power Geez Unicode1"/>
                <a:ea typeface="Times New Roman"/>
                <a:cs typeface="Ebrima"/>
              </a:rPr>
              <a:t>ይከታተላል</a:t>
            </a:r>
            <a:r>
              <a:rPr lang="en-US" sz="2900" b="1" dirty="0">
                <a:latin typeface="Power Geez Unicode1"/>
                <a:ea typeface="Times New Roman"/>
                <a:cs typeface="Ebrima"/>
              </a:rPr>
              <a:t>፡፡</a:t>
            </a:r>
            <a:endParaRPr lang="en-US" sz="2500" b="1" dirty="0"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185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l"/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562600"/>
          </a:xfrm>
          <a:solidFill>
            <a:schemeClr val="bg1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 fontScale="25000" lnSpcReduction="20000"/>
          </a:bodyPr>
          <a:lstStyle/>
          <a:p>
            <a:pPr marL="457200" lvl="1" indent="0" algn="just">
              <a:lnSpc>
                <a:spcPct val="150000"/>
              </a:lnSpc>
              <a:spcAft>
                <a:spcPts val="1000"/>
              </a:spcAft>
              <a:buSzPts val="1200"/>
              <a:buNone/>
            </a:pP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ማንኛውም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የቤት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አከራይ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ለአዋኪ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ድርጊት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እና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መሰል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ህገ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-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ወጥ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ተግባራትን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ለሚፈጽሙ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ተከራይ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ቤታቸውን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ማከራየታቸውን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በደንብ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መተላለፍ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ቁጥጥርና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እርምጃ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አወሰሰድ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ኦፊሰር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በማንኛውም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መልኩ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ድርጊቱን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ከደረሰበት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3</a:t>
            </a:r>
            <a:r>
              <a:rPr lang="en-US" sz="4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,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000.00 (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ሶስት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8000" b="1" dirty="0">
                <a:solidFill>
                  <a:srgbClr val="FFFF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3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ዳግም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ድርጊቱን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እንዳይፈጸም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SimSun"/>
                <a:cs typeface="SimSun"/>
              </a:rPr>
              <a:t>የግዴታ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SimSun"/>
                <a:cs typeface="SimSun"/>
              </a:rPr>
              <a:t> 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SimSun"/>
                <a:cs typeface="SimSun"/>
              </a:rPr>
              <a:t>ውል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SimSun"/>
                <a:cs typeface="SimSun"/>
              </a:rPr>
              <a:t> 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SimSun"/>
                <a:cs typeface="SimSun"/>
              </a:rPr>
              <a:t>እንዲፈርም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SimSun"/>
                <a:cs typeface="SimSun"/>
              </a:rPr>
              <a:t> </a:t>
            </a:r>
            <a:r>
              <a:rPr lang="en-US" sz="8000" b="1" dirty="0" err="1">
                <a:solidFill>
                  <a:srgbClr val="00B0F0"/>
                </a:solidFill>
                <a:latin typeface="Power Geez Unicode1"/>
                <a:ea typeface="SimSun"/>
                <a:cs typeface="SimSun"/>
              </a:rPr>
              <a:t>ያደርጋል</a:t>
            </a:r>
            <a:r>
              <a:rPr lang="en-US" sz="8000" b="1" dirty="0">
                <a:solidFill>
                  <a:srgbClr val="00B0F0"/>
                </a:solidFill>
                <a:latin typeface="Power Geez Unicode1"/>
                <a:ea typeface="SimSun"/>
                <a:cs typeface="SimSun"/>
              </a:rPr>
              <a:t>፡፡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ቅጣቱን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አፈጻጸሙን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ይከታተላል</a:t>
            </a:r>
            <a:r>
              <a:rPr lang="en-US" sz="8000" b="1" dirty="0" smtClean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፡፡</a:t>
            </a:r>
          </a:p>
          <a:p>
            <a:pPr lvl="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Wingdings"/>
              <a:buChar char=""/>
            </a:pPr>
            <a:r>
              <a:rPr lang="en-US" sz="72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ከላይ</a:t>
            </a:r>
            <a:r>
              <a:rPr lang="en-US" sz="7200" b="1" dirty="0" smtClean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የተገለፀው</a:t>
            </a:r>
            <a:r>
              <a:rPr lang="en-US" sz="7200" b="1" dirty="0" smtClean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እንደተጠበቀ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ሆኖ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አከራይ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ግለሰብ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ድርጅት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ለተከራይ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ግለሰብ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ድርጅት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ቤቱን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ሲያከራይ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ውል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በማስገባት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ቤቱን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ያከራየ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ከሆነ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ተከራዩ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ከገባበት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ውል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ውጪ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አዋኪ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ድርጊትን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ፈፅሞ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የተገኘ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እንደሆነ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አከራዩ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ተጠያቂ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አይሆንም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፡፡ </a:t>
            </a:r>
            <a:endParaRPr lang="en-US" sz="6400" dirty="0">
              <a:solidFill>
                <a:schemeClr val="tx1"/>
              </a:solidFill>
              <a:ea typeface="Calibri"/>
              <a:cs typeface="Times New Roman"/>
            </a:endParaRPr>
          </a:p>
          <a:p>
            <a:pPr marL="457200" lvl="1" indent="0" algn="just">
              <a:lnSpc>
                <a:spcPct val="150000"/>
              </a:lnSpc>
              <a:spcAft>
                <a:spcPts val="1000"/>
              </a:spcAft>
              <a:buSzPts val="1200"/>
              <a:buNone/>
            </a:pPr>
            <a:endParaRPr lang="en-US" sz="44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004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indent="-114300">
              <a:lnSpc>
                <a:spcPct val="115000"/>
              </a:lnSpc>
            </a:pPr>
            <a:r>
              <a:rPr lang="en-US" sz="2800" b="1" dirty="0" smtClean="0">
                <a:latin typeface="Power Geez Unicode1"/>
                <a:ea typeface="Times New Roman"/>
                <a:cs typeface="Ebrima"/>
              </a:rPr>
              <a:t/>
            </a:r>
            <a:br>
              <a:rPr lang="en-US" sz="2800" b="1" dirty="0" smtClean="0">
                <a:latin typeface="Power Geez Unicode1"/>
                <a:ea typeface="Times New Roman"/>
                <a:cs typeface="Ebrima"/>
              </a:rPr>
            </a:br>
            <a:r>
              <a:rPr lang="en-US" sz="2800" b="1" dirty="0" err="1" smtClean="0">
                <a:latin typeface="Power Geez Unicode1"/>
                <a:ea typeface="Times New Roman"/>
                <a:cs typeface="Ebrima"/>
              </a:rPr>
              <a:t>የቅጣት</a:t>
            </a:r>
            <a:r>
              <a:rPr lang="en-US" sz="2800" b="1" dirty="0" smtClean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800" b="1" dirty="0" err="1">
                <a:latin typeface="Power Geez Unicode1"/>
                <a:ea typeface="Times New Roman"/>
                <a:cs typeface="Ebrima"/>
              </a:rPr>
              <a:t>ሰንጠረዥ</a:t>
            </a:r>
            <a:r>
              <a:rPr lang="en-US" sz="28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800" b="1" dirty="0">
                <a:latin typeface="Power Geez Unicode1"/>
                <a:ea typeface="Times New Roman"/>
                <a:cs typeface="Nyala"/>
              </a:rPr>
              <a:t>6</a:t>
            </a:r>
            <a:r>
              <a:rPr lang="en-US" sz="2400" dirty="0">
                <a:ea typeface="Calibri"/>
                <a:cs typeface="Arial"/>
              </a:rPr>
              <a:t/>
            </a:r>
            <a:br>
              <a:rPr lang="en-US" sz="2400" dirty="0">
                <a:ea typeface="Calibri"/>
                <a:cs typeface="Arial"/>
              </a:rPr>
            </a:br>
            <a:r>
              <a:rPr lang="en-US" sz="2800" b="1" dirty="0" err="1">
                <a:latin typeface="Power Geez Unicode1"/>
                <a:ea typeface="Times New Roman"/>
                <a:cs typeface="Ebrima"/>
              </a:rPr>
              <a:t>የእንስሳት</a:t>
            </a:r>
            <a:r>
              <a:rPr lang="en-US" sz="28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800" b="1" dirty="0" err="1">
                <a:latin typeface="Power Geez Unicode1"/>
                <a:ea typeface="Times New Roman"/>
                <a:cs typeface="Ebrima"/>
              </a:rPr>
              <a:t>ዝውውር</a:t>
            </a:r>
            <a:r>
              <a:rPr lang="en-US" sz="2800" b="1" dirty="0">
                <a:latin typeface="Power Geez Unicode1"/>
                <a:ea typeface="Times New Roman"/>
                <a:cs typeface="Ebrima"/>
              </a:rPr>
              <a:t>፣</a:t>
            </a:r>
            <a:r>
              <a:rPr lang="en-US" sz="28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800" b="1" dirty="0" err="1">
                <a:latin typeface="Power Geez Unicode1"/>
                <a:ea typeface="Times New Roman"/>
                <a:cs typeface="Ebrima"/>
              </a:rPr>
              <a:t>ግብይት</a:t>
            </a:r>
            <a:r>
              <a:rPr lang="en-US" sz="2800" b="1" dirty="0">
                <a:latin typeface="Power Geez Unicode1"/>
                <a:ea typeface="Times New Roman"/>
                <a:cs typeface="Ebrima"/>
              </a:rPr>
              <a:t>፣</a:t>
            </a:r>
            <a:r>
              <a:rPr lang="en-US" sz="28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800" b="1" dirty="0" err="1" smtClean="0"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2800" b="1" dirty="0" smtClean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800" b="1" dirty="0" err="1">
                <a:latin typeface="Power Geez Unicode1"/>
                <a:ea typeface="Times New Roman"/>
                <a:cs typeface="Ebrima"/>
              </a:rPr>
              <a:t>ዕርድ</a:t>
            </a:r>
            <a:r>
              <a:rPr lang="en-US" sz="2800" b="1" dirty="0">
                <a:latin typeface="Power Geez Unicode1"/>
                <a:ea typeface="Times New Roman"/>
                <a:cs typeface="Ebrima"/>
              </a:rPr>
              <a:t>፣</a:t>
            </a:r>
            <a:r>
              <a:rPr lang="en-US" sz="2400" dirty="0">
                <a:ea typeface="Calibri"/>
                <a:cs typeface="Arial"/>
              </a:rPr>
              <a:t/>
            </a:r>
            <a:br>
              <a:rPr lang="en-US" sz="2400" dirty="0">
                <a:ea typeface="Calibri"/>
                <a:cs typeface="Arial"/>
              </a:rPr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5562600"/>
          </a:xfrm>
          <a:solidFill>
            <a:schemeClr val="bg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በማናቸውም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መንገድ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ለማህበራዊ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እና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ሀይማኖታዊ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አገልግሎት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ከሚውል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ውጪ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ፍቃድ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ሰይኖረው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በህገወጥ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መንገድ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ከቄራ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ውጪ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የሚፈጸም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የእንሰሳት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እርድ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መከናወኑን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በደንብ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መተላለፍ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ቁጥጥርና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እርምጃ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አወሰሰድ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ኦፊሰር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ሲረጋገጥ</a:t>
            </a:r>
            <a:r>
              <a:rPr lang="en-US" sz="2000" b="1" dirty="0">
                <a:solidFill>
                  <a:schemeClr val="tx1"/>
                </a:solidFill>
                <a:latin typeface="Power Geez Unicode1"/>
                <a:ea typeface="Calibri"/>
                <a:cs typeface="Ebrima"/>
              </a:rPr>
              <a:t> </a:t>
            </a:r>
            <a:endParaRPr lang="en-US" sz="1600" b="1" dirty="0">
              <a:solidFill>
                <a:schemeClr val="tx1"/>
              </a:solidFill>
              <a:ea typeface="Calibri"/>
              <a:cs typeface="Arial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የሚታረደውን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እንሰሳት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በማቅረብ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ህገ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-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ወጥ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እርድ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እያረደ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እያሳረደ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ያለ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በህገ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ወጥ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መንገድ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የታረደውን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ስጋ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ለድርጅት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እንዲከፋፈል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ሲያደርግ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በማከፋፈል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ተግባር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ሲገኝ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በደንብ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መተላለፍ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ቁጥጥርና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እርምጃ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አወሰሰድ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ኦፊሰር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በማንኛውም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መልኩ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ድርጊቱን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ከደረሰበት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15000.00 (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አስራ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አምስት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3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በመስጠት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፤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በህገወጥ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መንገድ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የተገኘውን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ስጋ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በመውረስ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ለቄራዎች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ድርጅት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ደረሰኝ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በመቀበል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ያስረክባል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ደረሰኙንም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ለወረዳው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በማስረከብ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ኮፒ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አድርጎ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ራሱ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ይይዛል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፤</a:t>
            </a:r>
            <a:r>
              <a:rPr lang="en-US" sz="1600" b="1" dirty="0">
                <a:solidFill>
                  <a:srgbClr val="FFFF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የተጣለትን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ቅጣቱን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አፈጻጸሙን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14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86307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l"/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534400" cy="5562600"/>
          </a:xfrm>
          <a:solidFill>
            <a:schemeClr val="bg1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 fontScale="25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ለግል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ፍጆታ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የሚሆነውን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እንሰሳት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ባልተፈቀደ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ቦታ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ሲያሳርድ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የተገኘን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ተጠቃሚ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ግለሰብ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1,500.00 (</a:t>
            </a:r>
            <a:r>
              <a:rPr lang="en-US" sz="6400" b="1" dirty="0" err="1" smtClean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አንድ</a:t>
            </a:r>
            <a:r>
              <a:rPr lang="en-US" sz="6400" b="1" dirty="0" smtClean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አምስት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3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በመስጠት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በህገወጥ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መንገድ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የተገኘውን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ስጋ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በመውረስ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ለቄራዎች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ድርጅት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ደረሰኝ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በመቀበል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ያስረክባል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ደረሰኙንም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ለወረዳው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በማስረከብ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ኮፒ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አድርጎ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ራሱ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ይይዛል</a:t>
            </a:r>
            <a:r>
              <a:rPr lang="en-US" sz="64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የተጣለትን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ቅጣቱን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አፈጻጸሙን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56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በህገ-ወጥ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መንገድ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የታረደው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ስጋ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በመውሰድ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ለህብረተሰቡ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አገልግሎት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እንዲውል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ቀጥታ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ስጋውን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በመሸጥ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በምግብ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መልክ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ለተጠቃሚ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እንዲደርስ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የሚያደርግ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ተጠቃሚ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ድርጅት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10,000.00 (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አስር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ሺህ</a:t>
            </a:r>
            <a:r>
              <a:rPr lang="en-US" sz="64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64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6400" b="1" dirty="0">
                <a:solidFill>
                  <a:srgbClr val="FFFF00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3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በመስጠት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በህገወጥ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መንገድ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የተገኘውን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ስጋ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በመውረስ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ለቄራዎች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ድርጅት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ደረሰኝ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በመቀበል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ያስረክባል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ደረሰኙንም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ለወረዳው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በማስረከብ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ኮፒ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አድርጎ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ራሱ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ይይዛል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፤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የተጣለትን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ቅጣቱን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አፈጻጸሙን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56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738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l"/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763000" cy="5562600"/>
          </a:xfr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>
            <a:normAutofit fontScale="25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በህጋዊ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መንገድ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እርድን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ለማከናወን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ከተፈቀደው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ቦታ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ውጪ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ህገወጥ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የእንሰሳት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እርድ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ሲያከናውን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የተገኘ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አራጅ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ግለሰብ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እያንዳንዱ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በአረደው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ከብት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ብዛት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300.00 (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ሶስት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መቶ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3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ይሰጠዋል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፤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ቅጣቱን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አፈጻጸሙን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ይከታተላል</a:t>
            </a:r>
            <a:r>
              <a:rPr lang="en-US" sz="72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፡፡</a:t>
            </a:r>
            <a:endParaRPr lang="en-US" sz="72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በመንገድ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በጊዜያዊነት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በቋሚነት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ከተፈቀዱ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የእንስሳት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ግብይት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ማድረጊያ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ቦታዎች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ውጪ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በማንኛውም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መንገድ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እንስሳትን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ማሰማራት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የእንስሳት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ንግድ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፣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የእንስሳት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ዝዉዉር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ግብይት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ሲካሄድ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Ebrima"/>
              </a:rPr>
              <a:t>በደንብ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Ebrima"/>
              </a:rPr>
              <a:t>መተላለፍ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Ebrima"/>
              </a:rPr>
              <a:t>ቁጥጥርና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Ebrima"/>
              </a:rPr>
              <a:t>እርምጃ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Ebrima"/>
              </a:rPr>
              <a:t>አወሰሰድ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Ebrima"/>
              </a:rPr>
              <a:t>ኦፊሰር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Ebrima"/>
              </a:rPr>
              <a:t>በማንኛውም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Ebrima"/>
              </a:rPr>
              <a:t>መልኩ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Ebrima"/>
              </a:rPr>
              <a:t>ድርጊቱን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Ebrima"/>
              </a:rPr>
              <a:t>ከደረሰበት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በቅጣት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ሰንጠረዡ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የተቀመጠውን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በእያንዳንዱ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የከብት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(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የእንስሳት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ብዛት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60.00 (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ስልሳ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72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72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Ebrima"/>
              </a:rPr>
              <a:t>በ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3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በመስጠት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የተጣለበትን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በሚመለከተው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የፍትህ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አካል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ቅጣቱን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በማደራጀት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ይልካል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አፈጻጸሙን</a:t>
            </a:r>
            <a:r>
              <a:rPr lang="en-US" sz="7200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7200" b="1" dirty="0" err="1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ይከታተላል</a:t>
            </a:r>
            <a:r>
              <a:rPr lang="en-US" b="1" dirty="0">
                <a:solidFill>
                  <a:srgbClr val="000000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2400" b="1" dirty="0"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322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763000" cy="5486400"/>
          </a:xfrm>
          <a:solidFill>
            <a:schemeClr val="bg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በህገወጥ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መንገድ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የታረደውን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ስጋ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ለተለያዩ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ድርጅቶቸ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ለማድረስ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ህገወጥ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የስጋ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ዝዉዉር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ሲያከናውን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የተገኘን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ግለሰብ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በደንብ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መተላለፍ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ቁጥጥርና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እርምጃ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አወሰሰድ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ኦፊሰር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በቅጣት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ሰንጠረዡ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የተገለፀውን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1500.00 (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አንድሺ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SimSun"/>
                <a:cs typeface="SimSun"/>
              </a:rPr>
              <a:t>አምስት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SimSun"/>
                <a:cs typeface="SimSu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SimSun"/>
                <a:cs typeface="SimSun"/>
              </a:rPr>
              <a:t>መቶ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)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ብር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3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እንዲከፍል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ማስታወቂያ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በመስጠትና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፤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ግለሰቡ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ይዞት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የተገኘውን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ስጋ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በመውረስ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ለቄራዎች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ድርጅት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ደረሰኝ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በመቀበል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ያስረክባል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ደረሰኙንም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ለወረዳው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መረጃውን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በማስረከብ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ኮፒ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አድርጎ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ራሱ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ይይዛል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የተጣለትን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ለመክፈል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ፍቃደኛ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ከፖሊስ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ጋር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በሆን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በማህበራዊ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አገልግሎት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እንዲሰጥ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ይደረጋል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አፈጻጸሙን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ይከታታላል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14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አንድ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ተላላፊ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በተመሳሳይ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ጊዜ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ተያያዥነት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ያላቸው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ከአንድ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በላይ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በአንድ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ቦታ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ፈፅሞ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ሲገኝ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የደንብ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ክትትልና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ቁጥጥር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ኦፊሰሩ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ከተፈፀሙት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መተላለፎች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ትልቅ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ቅጣት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የተቀመጠለትን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እርከን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በደንብ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ተላላፊው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ተፈፃሚ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1400" b="1" dirty="0">
              <a:solidFill>
                <a:srgbClr val="FF0000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በአንቀፅ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16.7.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የተገለፀው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እንደተጠበቀ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ሆኖ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በደንብ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ተላላፊው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የተፈፀመው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የደንብ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ድርጊት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የተፈፀመበት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ቦታ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የተለያየ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ከሆነ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በሁሉም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የደንብ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መተላለፎች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ላይ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ተጠያቂ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ይደረጋል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Nyala"/>
              </a:rPr>
              <a:t>፡፡ </a:t>
            </a:r>
            <a:endParaRPr lang="en-US" sz="1400" b="1" dirty="0">
              <a:solidFill>
                <a:srgbClr val="FF0000"/>
              </a:solidFill>
              <a:ea typeface="Times New Roman"/>
              <a:cs typeface="Nyala"/>
            </a:endParaRP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6172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571500">
              <a:lnSpc>
                <a:spcPct val="115000"/>
              </a:lnSpc>
              <a:spcAft>
                <a:spcPts val="1000"/>
              </a:spcAft>
            </a:pPr>
            <a:r>
              <a:rPr lang="en-US" sz="3200" b="1" dirty="0" smtClean="0">
                <a:latin typeface="Power Geez Unicode1"/>
                <a:ea typeface="Times New Roman"/>
                <a:cs typeface="Nyala"/>
              </a:rPr>
              <a:t/>
            </a:r>
            <a:br>
              <a:rPr lang="en-US" sz="3200" b="1" dirty="0" smtClean="0">
                <a:latin typeface="Power Geez Unicode1"/>
                <a:ea typeface="Times New Roman"/>
                <a:cs typeface="Nyala"/>
              </a:rPr>
            </a:br>
            <a:r>
              <a:rPr lang="en-US" sz="2400" b="1" dirty="0" err="1" smtClean="0">
                <a:latin typeface="Power Geez Unicode1"/>
                <a:ea typeface="Times New Roman"/>
                <a:cs typeface="Nyala"/>
              </a:rPr>
              <a:t>ክፍል</a:t>
            </a:r>
            <a:r>
              <a:rPr lang="en-US" sz="2400" b="1" dirty="0" smtClean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400" b="1" dirty="0" err="1">
                <a:latin typeface="Power Geez Unicode1"/>
                <a:ea typeface="Times New Roman"/>
                <a:cs typeface="Nyala"/>
              </a:rPr>
              <a:t>ሶስት</a:t>
            </a:r>
            <a:r>
              <a:rPr lang="en-US" sz="2000" dirty="0">
                <a:ea typeface="Calibri"/>
                <a:cs typeface="Arial"/>
              </a:rPr>
              <a:t/>
            </a:r>
            <a:br>
              <a:rPr lang="en-US" sz="2000" dirty="0">
                <a:ea typeface="Calibri"/>
                <a:cs typeface="Arial"/>
              </a:rPr>
            </a:br>
            <a:r>
              <a:rPr lang="en-US" sz="2400" b="1" dirty="0" err="1">
                <a:latin typeface="Power Geez Unicode1"/>
                <a:ea typeface="Times New Roman"/>
                <a:cs typeface="Nyala"/>
              </a:rPr>
              <a:t>ስለ</a:t>
            </a:r>
            <a:r>
              <a:rPr lang="en-US" sz="2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400" b="1" dirty="0" err="1">
                <a:latin typeface="Power Geez Unicode1"/>
                <a:ea typeface="Times New Roman"/>
                <a:cs typeface="Nyala"/>
              </a:rPr>
              <a:t>ንብረት</a:t>
            </a:r>
            <a:r>
              <a:rPr lang="en-US" sz="2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400" b="1" dirty="0" err="1">
                <a:latin typeface="Power Geez Unicode1"/>
                <a:ea typeface="Times New Roman"/>
                <a:cs typeface="Nyala"/>
              </a:rPr>
              <a:t>አያያዝ</a:t>
            </a:r>
            <a:r>
              <a:rPr lang="en-US" sz="2400" b="1" dirty="0"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400" b="1" dirty="0" err="1">
                <a:latin typeface="Power Geez Unicode1"/>
                <a:ea typeface="Times New Roman"/>
                <a:cs typeface="Nyala"/>
              </a:rPr>
              <a:t>አወራረስ</a:t>
            </a:r>
            <a:r>
              <a:rPr lang="en-US" sz="2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400" b="1" dirty="0" err="1"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2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400" b="1" dirty="0" err="1">
                <a:latin typeface="Power Geez Unicode1"/>
                <a:ea typeface="Times New Roman"/>
                <a:cs typeface="Nyala"/>
              </a:rPr>
              <a:t>አወጋገድ</a:t>
            </a:r>
            <a:r>
              <a:rPr lang="en-US" sz="2800" dirty="0">
                <a:ea typeface="Times New Roman"/>
                <a:cs typeface="Nyala"/>
              </a:rPr>
              <a:t/>
            </a:r>
            <a:br>
              <a:rPr lang="en-US" sz="2800" dirty="0">
                <a:ea typeface="Times New Roman"/>
                <a:cs typeface="Nyala"/>
              </a:rPr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8991600" cy="5638800"/>
          </a:xfrm>
          <a:solidFill>
            <a:schemeClr val="bg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በደንብ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ቁጥር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150/2015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ይሀንን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ለማስፈፀም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በወጣው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የአፈፃፀም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ስነ-ስርዓት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መመሪያ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መሰረት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ማ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ንኛውም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ሰው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በህገወጥ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የበረንዳ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ንግድ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በመንገድ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ላይ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ለንግድ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ወይም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ለሌላ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ማንኛውም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ተግባር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የተቀመጠ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ቁስ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እና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መሬት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በመውረርና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በማስፋፋ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እንዲሁም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በራስ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ይዞታ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ህገወጥ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ግንባታ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 smtClean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በመገንባት</a:t>
            </a:r>
            <a:r>
              <a:rPr lang="en-US" sz="1600" b="1" dirty="0" smtClean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 smtClean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እንዲሁም</a:t>
            </a:r>
            <a:r>
              <a:rPr lang="en-US" sz="1600" b="1" dirty="0" smtClean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 smtClean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ከአዋኪ</a:t>
            </a:r>
            <a:r>
              <a:rPr lang="en-US" sz="1600" b="1" dirty="0" smtClean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 smtClean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ድርጊቶች</a:t>
            </a:r>
            <a:r>
              <a:rPr lang="en-US" sz="1600" b="1" dirty="0" smtClean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የሚገኝ</a:t>
            </a:r>
            <a:r>
              <a:rPr lang="en-US" sz="1600" b="1" dirty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 smtClean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ቁስ</a:t>
            </a:r>
            <a:r>
              <a:rPr lang="en-US" sz="1600" b="1" dirty="0" smtClean="0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Power Geez Unicode1"/>
                <a:ea typeface="Times New Roman"/>
                <a:cs typeface="Ebrima"/>
              </a:rPr>
              <a:t>ይወረሳል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፤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ሆኖም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ደንብ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ተላላፊው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ደንብ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መተላለፉን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ስለመፈፀሙ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የደንብ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መተለላፍ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ክትትል፤ቁጥጥርና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እርምጃ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አወሳሰድ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ኦፊሰሩ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ንብረቱን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ከመወረሱ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በፊት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Nyala"/>
              </a:rPr>
              <a:t>የደንብ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ተላላፊዉን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ማንነት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በመለየትና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የተፈፀመው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ድርጊት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ደንብ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መተላለፍ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መሆኑን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ሲያረጋግጥ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ንብረቱ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ይወረሳል</a:t>
            </a:r>
            <a:r>
              <a:rPr lang="en-US" sz="1600" b="1" dirty="0">
                <a:solidFill>
                  <a:srgbClr val="00B0F0"/>
                </a:solidFill>
                <a:latin typeface="Power Geez Unicode1"/>
                <a:ea typeface="Times New Roman"/>
                <a:cs typeface="Times New Roman"/>
              </a:rPr>
              <a:t>፡፡ </a:t>
            </a:r>
            <a:endParaRPr lang="en-US" sz="1400" b="1" dirty="0">
              <a:solidFill>
                <a:srgbClr val="00B0F0"/>
              </a:solidFill>
              <a:ea typeface="Calibri"/>
              <a:cs typeface="Arial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+mj-lt"/>
              <a:buAutoNum type="arabicPeriod"/>
            </a:pP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ተላላፊዉ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የተወረሰበትን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ይዞ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ወረዳው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በመሄድ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ለንብረት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አስተዳደርና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አያያዝ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ባለሙያ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ቆጥሮ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እንዲያስረክብና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ንብረቱን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ያስረከበበት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ደረሰኝ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እንዲቀበል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የተወረሰዉ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የአንዱ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ዋጋ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ግምት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ምን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ያህል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እንደሆነ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ተላላፊውን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በመጠየቅ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ያረጋግጣል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</a:t>
            </a:r>
            <a:endParaRPr lang="en-US" sz="14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+mj-lt"/>
              <a:buAutoNum type="arabicPeriod"/>
            </a:pP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ተላላፊዉ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ወረዳው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ለመሄድም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ሆነ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ንብረቱን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ቆጥሮ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ለማስረከብ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ፈቃደኛ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ካልሆነ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ንብረቱን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የወረሰው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የቁጥጥር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ኦፊሰር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ከሺፍት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መሪው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ጋር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በመነጋገር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በጉልበት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ሰራተኛም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ሆነ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በሌላ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መንገድ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የተወረሰውን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በማስያዝ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በመያዝ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ለወረዳው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ለንብረት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አያያዝና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ባለሙያ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ቆጥሮ</a:t>
            </a:r>
            <a:r>
              <a:rPr lang="en-US" sz="16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ያስረክባል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</a:t>
            </a:r>
            <a:endParaRPr lang="en-US" sz="12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6332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14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14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አያያዝና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ባለሙያ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ወቅታዊ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ዋጋውን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በመገመት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ቆጥሮ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ይረከባል</a:t>
            </a:r>
            <a:r>
              <a:rPr lang="en-US" sz="14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</a:t>
            </a:r>
            <a:endParaRPr lang="en-US" sz="12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14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ከተወረሱ</a:t>
            </a:r>
            <a:r>
              <a:rPr lang="en-US" sz="1400" b="1" dirty="0" smtClean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ንብረቶች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ሽያጭ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እና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ከቅጣት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ከሚሰበሰበው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ገቢ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ውስጥ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60%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ባለስልጣኑ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ለአፍራሽ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ግብረ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ኃይል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ኮንትራት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ክፍያዎች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፤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ለህገወጥ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ግንባታዎች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ማፍረሻ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የተሽከርካሪ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ወይም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ማሽነሪ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ክፍያዎች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እና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ለሌሎች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ለእርምጃ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አወሳሰድ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አስፈላጊ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የሆኑ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ወጪዎችን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ለመሸፈን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ሲውል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40%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ወደ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አስተዳደሩ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ፋይናንስ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ፈሰስ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ይደረጋል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፤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አፈጻጸሙ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በመመሪያ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ይወሰናል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Visual Geez Unicode"/>
              </a:rPr>
              <a:t>፣</a:t>
            </a:r>
            <a:endParaRPr lang="en-US" sz="12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በወረዳ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ተወርሰው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ነገር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ግን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የማይበላሹ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ንብረቶችን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በ3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ክፍለ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ግምጃ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ገቢ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ማድረግ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አለበት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</a:t>
            </a:r>
            <a:endParaRPr lang="en-US" sz="12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የክፍለ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ቤትም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ከወረዳ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ተለይተው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የመጡ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ንብረቶችን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በሰነድ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በመለየት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ይረከባል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፤</a:t>
            </a:r>
            <a:endParaRPr lang="en-US" sz="12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የክፍለ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በወረዳ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ተወርሰው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ወደ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ክፍለ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የመጡ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ንብረቶችን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ከወረዳ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ለመጫን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እና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በክፍለ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ደረጃ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ለማውረድ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የሚያስፈልገውን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የጉልበት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ክፍያዎችን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የክፍለ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ከተማው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ወጪ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ይሸፍናል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12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በዚህ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አንቀጽ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ንዑስ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አንቀጽ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3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መሰረት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የጉልበት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ሰራተኛዉ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ለተሸከመበት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ለአጓጓዘበት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ክፍያ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ድርጊቱ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የተፈጸመበት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ክፍያውን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እንዲፈጸም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14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12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721075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lvl="0">
              <a:lnSpc>
                <a:spcPct val="150000"/>
              </a:lnSpc>
              <a:spcAft>
                <a:spcPts val="1000"/>
              </a:spcAft>
              <a:buSzPts val="1200"/>
            </a:pPr>
            <a:r>
              <a:rPr lang="en-US" sz="4000" b="1" dirty="0" smtClean="0">
                <a:latin typeface="Power Geez Unicode1"/>
                <a:ea typeface="Times New Roman"/>
                <a:cs typeface="Nyala"/>
              </a:rPr>
              <a:t/>
            </a:r>
            <a:br>
              <a:rPr lang="en-US" sz="4000" b="1" dirty="0" smtClean="0">
                <a:latin typeface="Power Geez Unicode1"/>
                <a:ea typeface="Times New Roman"/>
                <a:cs typeface="Nyala"/>
              </a:rPr>
            </a:br>
            <a:r>
              <a:rPr lang="en-US" sz="4000" b="1" dirty="0" err="1" smtClean="0">
                <a:latin typeface="Power Geez Unicode1"/>
                <a:ea typeface="Times New Roman"/>
                <a:cs typeface="Nyala"/>
              </a:rPr>
              <a:t>ስለ</a:t>
            </a:r>
            <a:r>
              <a:rPr lang="en-US" sz="4000" b="1" dirty="0" smtClean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ተወረሰ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ንብረት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አሻሻጥ</a:t>
            </a:r>
            <a:r>
              <a:rPr lang="en-US" sz="4000" dirty="0">
                <a:ea typeface="Times New Roman"/>
                <a:cs typeface="Nyala"/>
              </a:rPr>
              <a:t/>
            </a:r>
            <a:br>
              <a:rPr lang="en-US" sz="4000" dirty="0">
                <a:ea typeface="Times New Roman"/>
                <a:cs typeface="Nyala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  <a:solidFill>
            <a:schemeClr val="bg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 fontScale="325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የወረዳው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የንብረት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አያያዝና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አስተዳደር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ባለሙያ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ቆጥሮ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የተረከበውን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ንብረት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ዝርዝርና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የዋጋ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ግምት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በማስቀመጥና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በወረዳ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ደረጃ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እንዲሸጡ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የተፈቀዱ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የሚበላሹ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ንብረቶችን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በመለየት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በጨረታ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እንዲሸጥ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ለፋይናንስ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ንብረት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አሰባሰብ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አያያዝና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አወጋገድ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ቡድን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መሪው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ያቀርባል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ቡድን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መሪውም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ለወረዳው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ዝርዝር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ንብረቶችን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መረጃ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ያቀርባል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</a:t>
            </a:r>
            <a:endParaRPr lang="en-US" sz="43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1" algn="just">
              <a:lnSpc>
                <a:spcPct val="150000"/>
              </a:lnSpc>
              <a:spcAft>
                <a:spcPts val="1000"/>
              </a:spcAft>
              <a:buSzPts val="1200"/>
              <a:buFont typeface="Arial" pitchFamily="34" charset="0"/>
              <a:buChar char="•"/>
            </a:pP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የወረዳዉ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ሀላፊም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በዝርዝር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ተለይተው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የቀረቡለትን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ንብረቶች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ለማስወገድ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በጨረታ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ለመሸጥ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በጽ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/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ቤቱ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ለተቋቋመው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ኮሚቴ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ንብረቱን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እንዲሸጡ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በደብዳቤ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ያሳውቃል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ኮሚቴም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የተወረሰዉን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ንብረት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እንዲሸጡ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ደብዳቤ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እንደደረሳቸዉ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የጨረታ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ህጉን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ጠብቆ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በጨረታ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እንዲሸጥ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የጨረታ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ሽ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SimSun"/>
                <a:cs typeface="SimSun"/>
              </a:rPr>
              <a:t>ያጭ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SimSun"/>
                <a:cs typeface="SimSun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ገንዘቡም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በወረዳዉ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የፋይናንስ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ባለሙያ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አማካኘነት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ለወረዳዉ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ፋይናንስ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ገቢ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ያደርጋል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ሆኖም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የጨረታ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ኮሚቴው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ንብረቱን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መሸጥ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የማይቻልበት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ሁኔታ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ካጋጠመ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ወይም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ንብረቱ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የማይሸጥ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ከሆነ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የተወረሰውን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ንብረት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በጨረታ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መሸጥ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ያልቻለ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መሆኑንና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ንብረቶቹ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ስላለመሸጣቸው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ቃለ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ጉባኤ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በመያዝ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ለጽ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/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ኃላፊው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49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ያቀርባሉ</a:t>
            </a:r>
            <a:r>
              <a:rPr lang="en-US" sz="49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 </a:t>
            </a:r>
            <a:endParaRPr lang="en-US" sz="43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dirty="0">
                <a:latin typeface="Power Geez Unicode1"/>
                <a:ea typeface="MingLiU"/>
                <a:cs typeface="MingLiU"/>
              </a:rPr>
              <a:t> </a:t>
            </a:r>
            <a:endParaRPr lang="en-US" sz="2800" dirty="0">
              <a:ea typeface="Calibri"/>
              <a:cs typeface="Arial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dirty="0">
                <a:latin typeface="Power Geez Unicode1"/>
                <a:ea typeface="MingLiU"/>
                <a:cs typeface="MingLiU"/>
              </a:rPr>
              <a:t> </a:t>
            </a:r>
            <a:endParaRPr lang="en-US" sz="2800" dirty="0">
              <a:ea typeface="Calibri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9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lvl="0">
              <a:lnSpc>
                <a:spcPct val="150000"/>
              </a:lnSpc>
              <a:spcAft>
                <a:spcPts val="1000"/>
              </a:spcAft>
              <a:buSzPts val="1200"/>
            </a:pPr>
            <a:r>
              <a:rPr lang="en-US" sz="4000" b="1" dirty="0" smtClean="0">
                <a:latin typeface="Power Geez Unicode1"/>
                <a:ea typeface="Times New Roman"/>
                <a:cs typeface="Nyala"/>
              </a:rPr>
              <a:t/>
            </a:r>
            <a:br>
              <a:rPr lang="en-US" sz="4000" b="1" dirty="0" smtClean="0">
                <a:latin typeface="Power Geez Unicode1"/>
                <a:ea typeface="Times New Roman"/>
                <a:cs typeface="Nyala"/>
              </a:rPr>
            </a:br>
            <a:r>
              <a:rPr lang="en-US" sz="4000" b="1" dirty="0" err="1" smtClean="0">
                <a:latin typeface="Power Geez Unicode1"/>
                <a:ea typeface="Times New Roman"/>
                <a:cs typeface="Nyala"/>
              </a:rPr>
              <a:t>ስለ</a:t>
            </a:r>
            <a:r>
              <a:rPr lang="en-US" sz="4000" b="1" dirty="0" smtClean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ተወረሰ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ንብረት</a:t>
            </a:r>
            <a:r>
              <a:rPr lang="en-US" sz="40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4000" b="1" dirty="0" err="1">
                <a:latin typeface="Power Geez Unicode1"/>
                <a:ea typeface="Times New Roman"/>
                <a:cs typeface="Nyala"/>
              </a:rPr>
              <a:t>አወጋገድ</a:t>
            </a:r>
            <a:r>
              <a:rPr lang="en-US" sz="4000" dirty="0">
                <a:ea typeface="Times New Roman"/>
                <a:cs typeface="Nyala"/>
              </a:rPr>
              <a:t/>
            </a:r>
            <a:br>
              <a:rPr lang="en-US" sz="4000" dirty="0">
                <a:ea typeface="Times New Roman"/>
                <a:cs typeface="Nyala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534400" cy="5486400"/>
          </a:xfr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25000" lnSpcReduction="20000"/>
          </a:bodyPr>
          <a:lstStyle/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የፋይናንስ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ንብረት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አሰባሰብ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፣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አያያዝና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አወጋገድ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ቡድን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መሪ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የመንግሰት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የንብረት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ማስወገድ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ህግና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ስርአትን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በተከተለ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መንገድ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የወረዳው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ደንብ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ማስከበር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ጽ/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ቤት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ባ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ቋቋመው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አስወጋጅ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ኮሚቴ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የተበላሹና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ሊሸጡ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የማይችሉ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መሆናቸው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የተረጋገጠና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የተወረሱ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ንብረቶችን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በተመለከተ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ለወረዳ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ደንብ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ማስከበር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ጽ/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ቤት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ኃላፊ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በጽሑፍ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የውሳኔ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ሃሳብ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ያቀርባል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፤</a:t>
            </a:r>
            <a:endParaRPr lang="en-US" sz="8000" b="1" dirty="0">
              <a:solidFill>
                <a:schemeClr val="tx1"/>
              </a:solidFill>
              <a:cs typeface="Nyala"/>
            </a:endParaRPr>
          </a:p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የወረዳ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ደንብ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ማስከበር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ጽ/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ቤት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ኃላፊ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የቀረበውን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የውሳኔ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ሃሳብ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ከገመገመ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በኃላ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እንዲወገዱ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የቀረቡትን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ንብረቶች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የመንግስት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የንብረት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ማስወገድ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ህግና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ስርአት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በመከተል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እንዲወገዱ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በወረዳው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ደንብ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ማስከበር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ጽ/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ቤት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ስር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ለተቋቋመው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አስወጋጅ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ኮሚቴ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በደብዳቤ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ያሳውቃል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፤</a:t>
            </a:r>
            <a:endParaRPr lang="en-US" sz="8000" b="1" dirty="0">
              <a:solidFill>
                <a:schemeClr val="tx1"/>
              </a:solidFill>
              <a:cs typeface="Nyala"/>
            </a:endParaRPr>
          </a:p>
          <a:p>
            <a:pPr lvl="1" algn="just">
              <a:lnSpc>
                <a:spcPct val="150000"/>
              </a:lnSpc>
              <a:buSzPts val="1200"/>
              <a:buFont typeface="Arial" pitchFamily="34" charset="0"/>
              <a:buChar char="•"/>
            </a:pP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ንብረቱን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እንዲያስወግድ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ደብዳቤ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የደረሰውም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አስወጋጅ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ኮሚቴ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በፋይንናንስ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ንብረት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አወጋገድ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ስርዓት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Ebrima"/>
              </a:rPr>
              <a:t>እና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በጸደቀው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የውሳኔ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ሃሳብ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መሰረት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የተበላሹና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ሊሸጡ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የማይችሉ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የተወረሱ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ንብረቶችን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እንዲወገዱ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ያደርጋል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፤</a:t>
            </a:r>
            <a:endParaRPr lang="en-US" sz="8000" b="1" dirty="0">
              <a:solidFill>
                <a:schemeClr val="tx1"/>
              </a:solidFill>
              <a:cs typeface="Nyala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endParaRPr lang="en-US" sz="2800" dirty="0">
              <a:ea typeface="Calibri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115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457200">
              <a:lnSpc>
                <a:spcPct val="150000"/>
              </a:lnSpc>
            </a:pPr>
            <a:r>
              <a:rPr lang="en-US" sz="2800" b="1" dirty="0" smtClean="0">
                <a:latin typeface="Power Geez Unicode1"/>
                <a:ea typeface="Times New Roman"/>
                <a:cs typeface="Times New Roman"/>
              </a:rPr>
              <a:t/>
            </a:r>
            <a:br>
              <a:rPr lang="en-US" sz="2800" b="1" dirty="0" smtClean="0">
                <a:latin typeface="Power Geez Unicode1"/>
                <a:ea typeface="Times New Roman"/>
                <a:cs typeface="Times New Roman"/>
              </a:rPr>
            </a:br>
            <a:r>
              <a:rPr lang="en-US" sz="2400" b="1" dirty="0" err="1" smtClean="0">
                <a:latin typeface="Power Geez Unicode1"/>
                <a:ea typeface="Times New Roman"/>
                <a:cs typeface="Times New Roman"/>
              </a:rPr>
              <a:t>ክፍል</a:t>
            </a:r>
            <a:r>
              <a:rPr lang="en-US" sz="2400" b="1" dirty="0" smtClean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Power Geez Unicode1"/>
                <a:ea typeface="Times New Roman"/>
                <a:cs typeface="Times New Roman"/>
              </a:rPr>
              <a:t>አራት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 err="1">
                <a:latin typeface="Power Geez Unicode1"/>
                <a:ea typeface="Times New Roman"/>
                <a:cs typeface="Times New Roman"/>
              </a:rPr>
              <a:t>አቤቱታ</a:t>
            </a:r>
            <a:r>
              <a:rPr lang="en-US" sz="2400" b="1" dirty="0">
                <a:latin typeface="Power Geez Unicode1"/>
                <a:ea typeface="Times New Roman"/>
                <a:cs typeface="Times New Roman"/>
              </a:rPr>
              <a:t> / </a:t>
            </a:r>
            <a:r>
              <a:rPr lang="en-US" sz="2400" b="1" dirty="0" err="1">
                <a:latin typeface="Power Geez Unicode1"/>
                <a:ea typeface="Times New Roman"/>
                <a:cs typeface="Times New Roman"/>
              </a:rPr>
              <a:t>ቅሬታ</a:t>
            </a:r>
            <a:r>
              <a:rPr lang="en-US" sz="2400" b="1" dirty="0">
                <a:latin typeface="Power Geez Unicode1"/>
                <a:ea typeface="Times New Roman"/>
                <a:cs typeface="Times New Roman"/>
              </a:rPr>
              <a:t>/ </a:t>
            </a:r>
            <a:r>
              <a:rPr lang="en-US" sz="2400" b="1" dirty="0" err="1">
                <a:latin typeface="Power Geez Unicode1"/>
                <a:ea typeface="Times New Roman"/>
                <a:cs typeface="Times New Roman"/>
              </a:rPr>
              <a:t>አቀራረብና</a:t>
            </a:r>
            <a:r>
              <a:rPr lang="en-US" sz="24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Power Geez Unicode1"/>
                <a:ea typeface="Times New Roman"/>
                <a:cs typeface="Times New Roman"/>
              </a:rPr>
              <a:t>ውሳኔ</a:t>
            </a:r>
            <a:r>
              <a:rPr lang="en-US" sz="2400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Power Geez Unicode1"/>
                <a:ea typeface="Times New Roman"/>
                <a:cs typeface="Times New Roman"/>
              </a:rPr>
              <a:t>አሰጣጥ</a:t>
            </a:r>
            <a:r>
              <a:rPr lang="en-US" sz="2800" dirty="0">
                <a:cs typeface="Nyala"/>
              </a:rPr>
              <a:t/>
            </a:r>
            <a:br>
              <a:rPr lang="en-US" sz="2800" dirty="0">
                <a:cs typeface="Nyala"/>
              </a:rPr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55000" lnSpcReduction="20000"/>
          </a:bodyPr>
          <a:lstStyle/>
          <a:p>
            <a:pPr marL="457200" lvl="1" indent="0" algn="just">
              <a:lnSpc>
                <a:spcPct val="150000"/>
              </a:lnSpc>
              <a:spcAft>
                <a:spcPts val="1000"/>
              </a:spcAft>
              <a:buSzPts val="1200"/>
              <a:buNone/>
            </a:pP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ስለ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አቤቱታ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አቀራረብና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ውሳኔ</a:t>
            </a:r>
            <a:r>
              <a:rPr lang="en-US" b="1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latin typeface="Power Geez Unicode1"/>
                <a:ea typeface="Times New Roman"/>
                <a:cs typeface="Times New Roman"/>
              </a:rPr>
              <a:t>አሰጣጥ</a:t>
            </a:r>
            <a:endParaRPr lang="en-US" sz="2400" dirty="0">
              <a:ea typeface="Calibri"/>
              <a:cs typeface="Nyala"/>
            </a:endParaRPr>
          </a:p>
          <a:p>
            <a:pPr lvl="2" algn="just">
              <a:lnSpc>
                <a:spcPct val="150000"/>
              </a:lnSpc>
            </a:pP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ማንኛውም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የደንብ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መተላለፍ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ፈጽሞ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የቅጣት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ክፍያ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የተጣለበት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ንብረቱ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የተወረሰበት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የታሸገበት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ሰው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ቅጣቱን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ከከፈለበት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ቀን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አንስቶ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በሶስት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የሥራ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ቀናት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ጥፋቱ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በተፈጸመበት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ወረዳ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መቀጮውን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የከፈለበትን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ደረሰኝ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በመያዝ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አቤቱታውን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በፅሑፍ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ሊያቀርብ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ይችላል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</a:t>
            </a:r>
            <a:endParaRPr lang="en-US" sz="22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2" algn="just">
              <a:lnSpc>
                <a:spcPct val="150000"/>
              </a:lnSpc>
              <a:tabLst>
                <a:tab pos="57150" algn="l"/>
              </a:tabLst>
            </a:pP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አቤቱታ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የቀረበለት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የወረዳ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ኃላፊ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የቀረበለትን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አቤቱታ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አግባብነት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ካላቸው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ሕጎች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ጋር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በማገናዘብና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በመመርመር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በአምስት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የስራ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ቀናት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ለአቤቱታ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አቅራቢው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በፁሁፍ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ምላሽ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2500" b="1" i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</a:t>
            </a:r>
            <a:endParaRPr lang="en-US" sz="2200" b="1" i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2" algn="just">
              <a:lnSpc>
                <a:spcPct val="150000"/>
              </a:lnSpc>
              <a:tabLst>
                <a:tab pos="57150" algn="l"/>
              </a:tabLst>
            </a:pP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በንዑስ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ቁጥር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20.1.1.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በተሰጠው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ውሳኔ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ቅር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የተሰኘ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ማንኛውም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ቅሬታ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አቀራቢ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ውሳኔው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በተሰጠው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በአሥር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ተከታታይ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የስራ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ቀናት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አቤቱታውን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ለክፍለ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ከተማዉ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በፅሁፍ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ሊያቀርብ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ይችላል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</a:t>
            </a:r>
            <a:endParaRPr lang="en-US" sz="22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2" algn="just">
              <a:lnSpc>
                <a:spcPct val="150000"/>
              </a:lnSpc>
              <a:spcAft>
                <a:spcPts val="1000"/>
              </a:spcAft>
              <a:tabLst>
                <a:tab pos="57150" algn="l"/>
              </a:tabLst>
            </a:pP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አቤቱታ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የቀረበለት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የክፍለ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ከተማዉ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ጽ/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ቤት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ሀላፊ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የቀረበለትን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አቤቱታ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አግባብነት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ካላቸው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ሕጎች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ጋር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በማገናዘብና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በመመርመር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በአምስት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የሥራ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ቀናት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ለአቤቱታ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አቅራቢው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በጽሑፍ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ምላሽ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፡፡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በተሰጠው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ውሳኔ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ቅር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የተሰኘ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ቅሬታዉን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በ5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የስራ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ቀናት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ለማዕከሉ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ባለስልጣን</a:t>
            </a:r>
            <a:r>
              <a:rPr lang="en-US" sz="25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ሀላፊ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ማቅረብ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ይችላል</a:t>
            </a:r>
            <a:r>
              <a:rPr lang="en-US" sz="2500" b="1" dirty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</a:t>
            </a:r>
            <a:endParaRPr lang="en-US" sz="22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01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76200" y="1295400"/>
            <a:ext cx="8534400" cy="5334000"/>
          </a:xfr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70000" lnSpcReduction="20000"/>
          </a:bodyPr>
          <a:lstStyle/>
          <a:p>
            <a:pPr lvl="2" algn="just">
              <a:lnSpc>
                <a:spcPct val="150000"/>
              </a:lnSpc>
              <a:spcAft>
                <a:spcPts val="1000"/>
              </a:spcAft>
              <a:tabLst>
                <a:tab pos="57150" algn="l"/>
              </a:tabLst>
            </a:pP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አቤቱታ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የቀረበለት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የከተማው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ደንብ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ባለስልጣን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ሀላፊ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የቀረበለትን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አቤቱታ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አግባብነት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ካላቸው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ሕጎች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ጋር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በማገናዘብና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በመመርመር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በአስራ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አምስት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የሥራ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ቀናት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ውስጥ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ለአቤቱታ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አቅራቢው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በጽሑፍ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ምላሽ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ይሰጣል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Nyala"/>
              </a:rPr>
              <a:t>፣ </a:t>
            </a:r>
            <a:endParaRPr lang="en-US" sz="2300" b="1" dirty="0" smtClean="0">
              <a:solidFill>
                <a:schemeClr val="tx1"/>
              </a:solidFill>
              <a:ea typeface="Times New Roman"/>
              <a:cs typeface="Nyala"/>
            </a:endParaRPr>
          </a:p>
          <a:p>
            <a:pPr lvl="2" algn="just">
              <a:lnSpc>
                <a:spcPct val="150000"/>
              </a:lnSpc>
            </a:pP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በንዑስ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ቁጥር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20.1.1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በተሰጠው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ውሳኔ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ቅር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የተሰኘ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ማንኛውም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ቅሬታ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አቀራቢ</a:t>
            </a:r>
            <a:r>
              <a:rPr lang="en-US" sz="2600" b="1" u="sng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ወደ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ሚመለከተው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የፍትህ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አካል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ቀርቦ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አቤቱታውን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ማሰማት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ይችላል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፣ </a:t>
            </a:r>
            <a:endParaRPr lang="en-US" sz="2600" b="1" dirty="0" smtClean="0">
              <a:solidFill>
                <a:schemeClr val="tx1"/>
              </a:solidFill>
              <a:cs typeface="Nyala"/>
            </a:endParaRPr>
          </a:p>
          <a:p>
            <a:pPr lvl="2" algn="just">
              <a:lnSpc>
                <a:spcPct val="150000"/>
              </a:lnSpc>
            </a:pP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ከላይ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በተጠቀሱት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በአንደኛው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አካል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አቤቱታው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ተመርምሮ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ትክክለኛነቱ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ሲረጋገጥ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አላግባብ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የተከፈለው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ቅጣትና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የተወረሰው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ንብረት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ይመለሳል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፣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ወይም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የታሸገው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ቤት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ይከፈታል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፡፡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የተከፈለው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የቅጣት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ገንዘብ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በከተማው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አስተዳደር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ፋይናንስ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ስርዓት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መሰረት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ለአቤቱታ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አቅራቢው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ተመላሽ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እንዲደረግ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ቅጣቱ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አላግባብ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ነው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በማለት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ውሳኔውን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የሰጠው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አካል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ገንዘቡ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ገቢ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ከተደረገለት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ከወረዳው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ፋይናንስ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ወጭ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ተደርጎ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እንዲሰጥ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በፁሁፍ</a:t>
            </a:r>
            <a:r>
              <a:rPr lang="en-US" sz="2600" b="1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ያሳውቃል</a:t>
            </a:r>
            <a:r>
              <a:rPr lang="en-US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፣</a:t>
            </a:r>
          </a:p>
          <a:p>
            <a:pPr lvl="2" algn="just">
              <a:lnSpc>
                <a:spcPct val="150000"/>
              </a:lnSpc>
              <a:buFont typeface="+mj-lt"/>
              <a:buAutoNum type="arabicPeriod"/>
            </a:pPr>
            <a:endParaRPr lang="en-US" dirty="0" smtClean="0"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277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ከላይ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የተገለጸው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እንደተጠበቀ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ሆኖ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አቤቱታ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አቅራቢው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የተወረሰው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ንብረት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ይመለስልኝ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የሚል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አቤቱታ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ከማቅረቡ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በፊት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እና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ቅሬታው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ትክክል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ነው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ብሎ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ከወሰነው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አካል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ውሳኔ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በፊት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ንብረቱ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ተሽጦ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ገቢ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እንደሆነ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ሊመለስለት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የሚችለው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የከፈለው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የቅጣት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ገንዘብና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ንብረቱ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ተሸጦ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ገቢ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የሆነው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ገንዘብ</a:t>
            </a:r>
            <a:r>
              <a:rPr lang="en-US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ነው</a:t>
            </a:r>
            <a:r>
              <a:rPr lang="en-US" dirty="0" smtClean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፡፡</a:t>
            </a:r>
          </a:p>
          <a:p>
            <a:pPr lvl="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Wingdings"/>
              <a:buChar char=""/>
            </a:pP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ለአቤቱታ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አቅራቢው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ግለሰብ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ወይም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ድርጅት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ንብረቱ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የተመለሰለት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በመስክ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ክትትልና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ቁጥጥር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ኦፊሰሩ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አላግባብ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መወረስ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የማይገባው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ወርሶ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ወይም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መቀጣት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የማይገባው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ቀጥቶ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ከሆነ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ይህንን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ድርጊት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የፈፀመውን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የክትትልና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ቁጥጥር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ኦፊሰር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በፈፀመው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የዲሲፕሊን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ግድፈት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ተጠያቂ</a:t>
            </a:r>
            <a:r>
              <a:rPr lang="en-US" b="1" dirty="0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Power Geez Unicode1"/>
                <a:ea typeface="Times New Roman"/>
                <a:cs typeface="Times New Roman"/>
              </a:rPr>
              <a:t>ይሆናል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፡፡</a:t>
            </a:r>
            <a:endParaRPr lang="en-US" sz="2400" dirty="0">
              <a:solidFill>
                <a:schemeClr val="tx1"/>
              </a:solidFill>
              <a:ea typeface="Calibri"/>
              <a:cs typeface="Times New Roman"/>
            </a:endParaRPr>
          </a:p>
          <a:p>
            <a:pPr algn="just">
              <a:lnSpc>
                <a:spcPct val="150000"/>
              </a:lnSpc>
            </a:pPr>
            <a:endParaRPr lang="en-US" dirty="0" smtClean="0">
              <a:solidFill>
                <a:schemeClr val="tx1"/>
              </a:solidFill>
              <a:latin typeface="Power Geez Unicode1"/>
              <a:ea typeface="Times New Roman"/>
              <a:cs typeface="Times New Roman"/>
            </a:endParaRPr>
          </a:p>
          <a:p>
            <a:pPr marL="914400" lvl="2" indent="0" algn="just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  <a:cs typeface="Nyala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Power Geez Unicode1"/>
                <a:ea typeface="Times New Roman"/>
                <a:cs typeface="Times New Roman"/>
              </a:rPr>
              <a:t> 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988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457200">
              <a:lnSpc>
                <a:spcPct val="150000"/>
              </a:lnSpc>
              <a:spcAft>
                <a:spcPts val="1000"/>
              </a:spcAft>
              <a:tabLst>
                <a:tab pos="4010025" algn="l"/>
              </a:tabLst>
            </a:pPr>
            <a:r>
              <a:rPr lang="en-US" sz="2400" b="1" dirty="0" smtClean="0">
                <a:latin typeface="Power Geez Unicode1"/>
                <a:ea typeface="Times New Roman"/>
                <a:cs typeface="Times New Roman"/>
              </a:rPr>
              <a:t/>
            </a:r>
            <a:br>
              <a:rPr lang="en-US" sz="2400" b="1" dirty="0" smtClean="0">
                <a:latin typeface="Power Geez Unicode1"/>
                <a:ea typeface="Times New Roman"/>
                <a:cs typeface="Times New Roman"/>
              </a:rPr>
            </a:br>
            <a:r>
              <a:rPr lang="en-US" sz="1800" b="1" dirty="0" err="1" smtClean="0">
                <a:latin typeface="Power Geez Unicode1"/>
                <a:ea typeface="Times New Roman"/>
                <a:cs typeface="Times New Roman"/>
              </a:rPr>
              <a:t>ክፍል</a:t>
            </a:r>
            <a:r>
              <a:rPr lang="en-US" sz="1800" b="1" dirty="0" smtClean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1800" b="1" dirty="0" err="1">
                <a:latin typeface="Power Geez Unicode1"/>
                <a:ea typeface="Times New Roman"/>
                <a:cs typeface="Times New Roman"/>
              </a:rPr>
              <a:t>አምስት</a:t>
            </a:r>
            <a:r>
              <a:rPr lang="en-US" sz="1600" dirty="0">
                <a:ea typeface="Calibri"/>
                <a:cs typeface="Arial"/>
              </a:rPr>
              <a:t/>
            </a:r>
            <a:br>
              <a:rPr lang="en-US" sz="1600" dirty="0">
                <a:ea typeface="Calibri"/>
                <a:cs typeface="Arial"/>
              </a:rPr>
            </a:br>
            <a:r>
              <a:rPr lang="en-US" sz="1800" b="1" dirty="0" err="1">
                <a:latin typeface="Power Geez Unicode1"/>
                <a:ea typeface="Times New Roman"/>
                <a:cs typeface="Nyala"/>
              </a:rPr>
              <a:t>የግብረ</a:t>
            </a:r>
            <a:r>
              <a:rPr lang="en-US" sz="18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latin typeface="Power Geez Unicode1"/>
                <a:ea typeface="Times New Roman"/>
                <a:cs typeface="Nyala"/>
              </a:rPr>
              <a:t>ሃይል</a:t>
            </a:r>
            <a:r>
              <a:rPr lang="en-US" sz="18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latin typeface="Power Geez Unicode1"/>
                <a:ea typeface="Times New Roman"/>
                <a:cs typeface="Nyala"/>
              </a:rPr>
              <a:t>አደረጃጀት</a:t>
            </a:r>
            <a:r>
              <a:rPr lang="en-US" sz="1800" b="1" dirty="0"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1800" b="1" dirty="0" err="1">
                <a:latin typeface="Power Geez Unicode1"/>
                <a:ea typeface="Times New Roman"/>
                <a:cs typeface="Nyala"/>
              </a:rPr>
              <a:t>አሰራር</a:t>
            </a:r>
            <a:r>
              <a:rPr lang="en-US" sz="1800" b="1" dirty="0">
                <a:latin typeface="Power Geez Unicode1"/>
                <a:ea typeface="Times New Roman"/>
                <a:cs typeface="Nyala"/>
              </a:rPr>
              <a:t>፣ </a:t>
            </a:r>
            <a:r>
              <a:rPr lang="en-US" sz="1800" b="1" dirty="0" err="1">
                <a:latin typeface="Power Geez Unicode1"/>
                <a:ea typeface="Times New Roman"/>
                <a:cs typeface="Nyala"/>
              </a:rPr>
              <a:t>ስልጣንና</a:t>
            </a:r>
            <a:r>
              <a:rPr lang="en-US" sz="18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latin typeface="Power Geez Unicode1"/>
                <a:ea typeface="Times New Roman"/>
                <a:cs typeface="Nyala"/>
              </a:rPr>
              <a:t>ተግባር</a:t>
            </a:r>
            <a:r>
              <a:rPr lang="en-US" sz="1600" dirty="0">
                <a:ea typeface="Times New Roman"/>
                <a:cs typeface="Nyala"/>
              </a:rPr>
              <a:t/>
            </a:r>
            <a:br>
              <a:rPr lang="en-US" sz="1600" dirty="0">
                <a:ea typeface="Times New Roman"/>
                <a:cs typeface="Nyala"/>
              </a:rPr>
            </a:br>
            <a:r>
              <a:rPr lang="en-US" sz="1800" b="1" dirty="0" err="1">
                <a:latin typeface="Power Geez Unicode1"/>
                <a:ea typeface="Times New Roman"/>
                <a:cs typeface="Ebrima"/>
              </a:rPr>
              <a:t>ግብረ</a:t>
            </a:r>
            <a:r>
              <a:rPr lang="en-US" sz="1800" b="1" dirty="0" err="1">
                <a:latin typeface="Power Geez Unicode1"/>
                <a:ea typeface="Times New Roman"/>
                <a:cs typeface="Nyala"/>
              </a:rPr>
              <a:t>-ሃይልን</a:t>
            </a:r>
            <a:r>
              <a:rPr lang="en-US" sz="18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1800" b="1" dirty="0" err="1">
                <a:latin typeface="Power Geez Unicode1"/>
                <a:ea typeface="Times New Roman"/>
                <a:cs typeface="Nyala"/>
              </a:rPr>
              <a:t>ስለማደራጀት</a:t>
            </a:r>
            <a:r>
              <a:rPr lang="en-US" sz="1600" dirty="0">
                <a:ea typeface="Times New Roman"/>
                <a:cs typeface="Nyala"/>
              </a:rPr>
              <a:t/>
            </a:r>
            <a:br>
              <a:rPr lang="en-US" sz="1600" dirty="0">
                <a:ea typeface="Times New Roman"/>
                <a:cs typeface="Nyala"/>
              </a:rPr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  <a:tabLst>
                <a:tab pos="4010025" algn="l"/>
              </a:tabLst>
            </a:pPr>
            <a:r>
              <a:rPr lang="en-US" dirty="0" err="1">
                <a:latin typeface="Power Geez Unicode1"/>
                <a:ea typeface="Times New Roman"/>
                <a:cs typeface="Times New Roman"/>
              </a:rPr>
              <a:t>የአዲስ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አበባ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ከተማ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የደንብ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Nyala"/>
              </a:rPr>
              <a:t>ማስከበር</a:t>
            </a:r>
            <a:r>
              <a:rPr lang="en-US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ባለስልጣን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በደንቡ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የተሰጠው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ስልጣንና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ተግባር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እንደተጠበቀ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ሆኖ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የደንብ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ተላላፊዎች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ላይ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እርምጃ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ለመውሰድ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የሚችል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ግብር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ሃይል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በክፍለ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ከተማ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ደረጃ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የሚደራጅ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 smtClean="0">
                <a:latin typeface="Power Geez Unicode1"/>
                <a:ea typeface="Times New Roman"/>
                <a:cs typeface="Times New Roman"/>
              </a:rPr>
              <a:t>ሆኖ</a:t>
            </a:r>
            <a:r>
              <a:rPr lang="en-US" dirty="0" smtClean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የግብረ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ኃይሉም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አባላትም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የሚከተሉት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ሴክተር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መ/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ቤቶችን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ያካተተ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dirty="0" err="1">
                <a:latin typeface="Power Geez Unicode1"/>
                <a:ea typeface="Times New Roman"/>
                <a:cs typeface="Times New Roman"/>
              </a:rPr>
              <a:t>ይሆናሉ</a:t>
            </a:r>
            <a:r>
              <a:rPr lang="en-US" dirty="0">
                <a:latin typeface="Power Geez Unicode1"/>
                <a:ea typeface="Times New Roman"/>
                <a:cs typeface="Times New Roman"/>
              </a:rPr>
              <a:t>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59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Autofit/>
          </a:bodyPr>
          <a:lstStyle/>
          <a:p>
            <a:pPr lvl="1" algn="ctr">
              <a:lnSpc>
                <a:spcPct val="150000"/>
              </a:lnSpc>
              <a:buSzPts val="1200"/>
              <a:buFont typeface="+mj-lt"/>
              <a:buAutoNum type="arabicPeriod"/>
              <a:tabLst>
                <a:tab pos="4010025" algn="l"/>
              </a:tabLst>
            </a:pPr>
            <a:r>
              <a:rPr lang="en-US" sz="1600" b="1" dirty="0" err="1">
                <a:latin typeface="Power Geez Unicode1"/>
                <a:ea typeface="Times New Roman"/>
                <a:cs typeface="Ebrima"/>
              </a:rPr>
              <a:t>የግብረ</a:t>
            </a:r>
            <a:r>
              <a:rPr lang="en-US" sz="1600" b="1" dirty="0" err="1">
                <a:latin typeface="Power Geez Unicode1"/>
                <a:ea typeface="Times New Roman"/>
                <a:cs typeface="Nyala"/>
              </a:rPr>
              <a:t>-ሃይል</a:t>
            </a:r>
            <a:r>
              <a:rPr lang="en-US" sz="16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1600" b="1" dirty="0" err="1">
                <a:latin typeface="Power Geez Unicode1"/>
                <a:ea typeface="Times New Roman"/>
                <a:cs typeface="Nyala"/>
              </a:rPr>
              <a:t>አደረጃጀት</a:t>
            </a:r>
            <a:endParaRPr lang="en-US" sz="1400" b="1" dirty="0">
              <a:ea typeface="Times New Roman"/>
              <a:cs typeface="Nyala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4010025" algn="l"/>
              </a:tabLst>
            </a:pP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የክፍለ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ከተማ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አስተዳደር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ዋና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ስራ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አስፈጻሚ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-----------------------------------	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ሰብሳቢ</a:t>
            </a:r>
            <a:endParaRPr lang="en-US" sz="1050" b="1" dirty="0"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4010025" algn="l"/>
              </a:tabLst>
            </a:pP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የክፍለ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ከተማ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ደንብ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ማስከበር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ጽ/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ቤት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ሃላፊ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-------------------------------------	ም/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ሰብሳቢ</a:t>
            </a:r>
            <a:endParaRPr lang="en-US" sz="1050" b="1" dirty="0"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4010025" algn="l"/>
              </a:tabLst>
            </a:pP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የደንብ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መተላለፍ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 smtClean="0">
                <a:latin typeface="Power Geez Unicode1"/>
                <a:ea typeface="Calibri"/>
                <a:cs typeface="Times New Roman"/>
              </a:rPr>
              <a:t>ኢንስፔከረሽንና</a:t>
            </a:r>
            <a:r>
              <a:rPr lang="en-US" sz="1200" b="1" dirty="0" smtClean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 smtClean="0">
                <a:latin typeface="Power Geez Unicode1"/>
                <a:ea typeface="Calibri"/>
                <a:cs typeface="Times New Roman"/>
              </a:rPr>
              <a:t>ግብረ</a:t>
            </a:r>
            <a:r>
              <a:rPr lang="en-US" sz="1200" b="1" dirty="0" smtClean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 smtClean="0">
                <a:latin typeface="Power Geez Unicode1"/>
                <a:ea typeface="Calibri"/>
                <a:cs typeface="Times New Roman"/>
              </a:rPr>
              <a:t>ኃይል</a:t>
            </a:r>
            <a:r>
              <a:rPr lang="en-US" sz="1200" b="1" dirty="0" smtClean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 smtClean="0">
                <a:latin typeface="Power Geez Unicode1"/>
                <a:ea typeface="Calibri"/>
                <a:cs typeface="Times New Roman"/>
              </a:rPr>
              <a:t>አስተባባሪ</a:t>
            </a:r>
            <a:r>
              <a:rPr lang="en-US" sz="1200" b="1" dirty="0" smtClean="0">
                <a:latin typeface="Power Geez Unicode1"/>
                <a:ea typeface="Calibri"/>
                <a:cs typeface="Times New Roman"/>
              </a:rPr>
              <a:t> -------------------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	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ጸሃፊ</a:t>
            </a:r>
            <a:endParaRPr lang="en-US" sz="1050" b="1" dirty="0"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4010025" algn="l"/>
              </a:tabLst>
            </a:pP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የስራ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እንተርፕራይዝ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እና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ኢንዲስትሪ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ልማት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ጽ/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ቤት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ሃላፊ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------------------	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አባል</a:t>
            </a:r>
            <a:endParaRPr lang="en-US" sz="1050" b="1" dirty="0"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4010025" algn="l"/>
              </a:tabLst>
            </a:pP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ሰላምና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ጸጥታ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አስተዳደር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ጽ/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ቤት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ሃላፊ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-------------------------------------------	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አባል</a:t>
            </a:r>
            <a:endParaRPr lang="en-US" sz="1050" b="1" dirty="0"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4010025" algn="l"/>
              </a:tabLst>
            </a:pP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የፋይናንስ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ጽ/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ቤት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ሃላፊ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-------------------------------------------------------------	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አባል</a:t>
            </a:r>
            <a:endParaRPr lang="en-US" sz="1050" b="1" dirty="0"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4010025" algn="l"/>
              </a:tabLst>
            </a:pP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መሬት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ልማት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ማኔጅመንት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ሃላፊ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-------------------------------------------------	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አባል</a:t>
            </a:r>
            <a:endParaRPr lang="en-US" sz="1050" b="1" dirty="0"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4010025" algn="l"/>
              </a:tabLst>
            </a:pP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ፍትህ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 ጽ/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ቤት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ሃላፊ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----------------------------------------------------------------	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አባል</a:t>
            </a:r>
            <a:endParaRPr lang="en-US" sz="1050" b="1" dirty="0"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4010025" algn="l"/>
              </a:tabLst>
            </a:pP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ትምህርት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ጽ/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ቤት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ሃላፊ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-------------------------------------------------------------	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አባል</a:t>
            </a:r>
            <a:endParaRPr lang="en-US" sz="1050" b="1" dirty="0"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4010025" algn="l"/>
              </a:tabLst>
            </a:pP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ንግድ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ጽ/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ቤት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ሃላፊ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-----------------------------------------------------------------	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አባል</a:t>
            </a:r>
            <a:endParaRPr lang="en-US" sz="1050" b="1" dirty="0"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4010025" algn="l"/>
              </a:tabLst>
            </a:pP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ጤና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ጽ/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ቤት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ሃላፊ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--------------------------------------------------------------------	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አባል</a:t>
            </a:r>
            <a:endParaRPr lang="en-US" sz="1050" b="1" dirty="0"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4010025" algn="l"/>
              </a:tabLst>
            </a:pP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የመድሃኒት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የምግብ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እና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ጤና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ቁጥጥር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ጽ/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ቤት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ሃላፊ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---------------------------	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አባል</a:t>
            </a:r>
            <a:endParaRPr lang="en-US" sz="1050" b="1" dirty="0"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4010025" algn="l"/>
              </a:tabLst>
            </a:pP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አካባቢ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ጥበቃ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ጽ/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ቤት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ሃላፊ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--------------------------------------------------------	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አባል</a:t>
            </a:r>
            <a:endParaRPr lang="en-US" sz="1050" b="1" dirty="0"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4010025" algn="l"/>
              </a:tabLst>
            </a:pP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ጽዳት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አስተዳደር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ጽ/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ቤት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ሃላፊ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smtClean="0">
                <a:latin typeface="Power Geez Unicode1"/>
                <a:ea typeface="Calibri"/>
                <a:cs typeface="Times New Roman"/>
              </a:rPr>
              <a:t>----------------------------------------------------------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አባል</a:t>
            </a:r>
            <a:endParaRPr lang="en-US" sz="1050" b="1" dirty="0"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4010025" algn="l"/>
              </a:tabLst>
            </a:pP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ግንባታ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ፈቃድ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ጽ/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ቤት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ሃላፊ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-------------------------------------------------------	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አባል</a:t>
            </a:r>
            <a:endParaRPr lang="en-US" sz="1050" b="1" dirty="0"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4010025" algn="l"/>
              </a:tabLst>
            </a:pP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ቤቶች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ልማት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አስተዳደር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ጽ/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ቤት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ሃላፊ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------------------------------------------	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አባል</a:t>
            </a:r>
            <a:endParaRPr lang="en-US" sz="1050" b="1" dirty="0"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+mj-lt"/>
              <a:buAutoNum type="arabicPeriod"/>
              <a:tabLst>
                <a:tab pos="4010025" algn="l"/>
              </a:tabLst>
            </a:pP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ፖሊስ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መምሪያ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ሃላፊ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--------------------------------------------------------------	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አባል</a:t>
            </a:r>
            <a:endParaRPr lang="en-US" sz="1050" b="1" dirty="0"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  <a:tabLst>
                <a:tab pos="4010025" algn="l"/>
              </a:tabLst>
            </a:pP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መንገድ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ትራንስፖርት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ጽ/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ቤት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ሃላፊ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---------------------------------------------	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አባል</a:t>
            </a:r>
            <a:endParaRPr lang="en-US" sz="1050" b="1" dirty="0">
              <a:ea typeface="Times New Roman"/>
              <a:cs typeface="Times New Roman"/>
            </a:endParaRPr>
          </a:p>
          <a:p>
            <a:pPr marL="457200" algn="just">
              <a:lnSpc>
                <a:spcPct val="150000"/>
              </a:lnSpc>
              <a:tabLst>
                <a:tab pos="4010025" algn="l"/>
              </a:tabLst>
            </a:pP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እና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ሌሎች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እንደ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አስፈላጊነቱ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በግበረ-ኃይሉ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የሚወሰን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አባል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 </a:t>
            </a:r>
            <a:r>
              <a:rPr lang="en-US" sz="1200" b="1" dirty="0" err="1">
                <a:latin typeface="Power Geez Unicode1"/>
                <a:ea typeface="Calibri"/>
                <a:cs typeface="Times New Roman"/>
              </a:rPr>
              <a:t>ይኖረዋል</a:t>
            </a:r>
            <a:r>
              <a:rPr lang="en-US" sz="1200" b="1" dirty="0">
                <a:latin typeface="Power Geez Unicode1"/>
                <a:ea typeface="Calibri"/>
                <a:cs typeface="Times New Roman"/>
              </a:rPr>
              <a:t>፡፡</a:t>
            </a:r>
            <a:endParaRPr lang="en-US" sz="1200" b="1" dirty="0"/>
          </a:p>
          <a:p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071210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err="1" smtClean="0"/>
              <a:t>የቀጠለ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763000" cy="5638800"/>
          </a:xfrm>
          <a:solidFill>
            <a:schemeClr val="bg1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 fontScale="25000" lnSpcReduction="20000"/>
          </a:bodyPr>
          <a:lstStyle/>
          <a:p>
            <a:pPr marL="457200" lvl="1" indent="0" algn="ctr">
              <a:lnSpc>
                <a:spcPct val="150000"/>
              </a:lnSpc>
              <a:buSzPts val="1200"/>
              <a:buNone/>
              <a:tabLst>
                <a:tab pos="4010025" algn="l"/>
              </a:tabLst>
            </a:pP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የግብር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ሃይሉ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ስልጣንና</a:t>
            </a:r>
            <a:r>
              <a:rPr lang="en-US" sz="6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6400" b="1" dirty="0" err="1">
                <a:latin typeface="Power Geez Unicode1"/>
                <a:ea typeface="Times New Roman"/>
                <a:cs typeface="Nyala"/>
              </a:rPr>
              <a:t>ተግባር</a:t>
            </a:r>
            <a:endParaRPr lang="en-US" sz="5600" dirty="0">
              <a:ea typeface="Times New Roman"/>
              <a:cs typeface="Nyala"/>
            </a:endParaRPr>
          </a:p>
          <a:p>
            <a:pPr lvl="2" algn="just">
              <a:lnSpc>
                <a:spcPct val="150000"/>
              </a:lnSpc>
            </a:pP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በክፍለ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ከተማ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ደረጃ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የሚቋቋመው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ግብረ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ኃይል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ለባለስልጣኑ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ስር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የተቋቋመው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የወረዳ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ማስከበር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ጽ/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ቤት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መተላለፍና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ተያያዥ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ህገወጥ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ተግባራትን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በመደበኛ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የእርምጃ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አወሳሰድ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ሂደት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መከላከል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መቆጣጠርና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እርምጃ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መውሰድ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አለመቻሉን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በመግለጽ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እና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የተፈፀመውን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መተላለፍ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አይነት፣መጠን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በመለየት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መረጃውን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አደራጅቶ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ለክፍለ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ከተማው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ማስከበር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ጽ/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ቤት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የላከውን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መረጃ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ይቀበላል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፤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የመረጃውን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ትክክለኛነት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በማረጋገጥ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በሚወሰዱ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እርምጃዎች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ላይ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የጋራ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ውሳኔ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ያሳልፋል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፤</a:t>
            </a:r>
            <a:endParaRPr lang="en-US" sz="56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2" algn="just">
              <a:lnSpc>
                <a:spcPct val="150000"/>
              </a:lnSpc>
              <a:spcAft>
                <a:spcPts val="1000"/>
              </a:spcAft>
            </a:pP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በአንቀፅ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22.3.1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የተገለፀው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እንደተጠበቀ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ሆኖ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የክፍለ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ከተማው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ማስከበር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ጽ/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ቤት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ለአብይ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ኮሚቴው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መረጃውን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ከመላኩ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በፊት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በወረዳው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ማስከበር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ጽ/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ቤት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በተላከው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መረጃ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መሰረት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የተፈፀመው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መተላለፉ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ላይ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በአብይ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ኮሚቴው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የተዋቀረውን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ቴክኒካል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ኮሚቴ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ወይም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የክፍለ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ከተማው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የግብረ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ኃይል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ባለሙያዎችን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በመላክ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የተፈፀመው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መተላለፍ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ከወረዳው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አቅም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በላይ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መሆኑን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በመስክ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ምልከታ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እንዲረጋገጥ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ያደርጋል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፤</a:t>
            </a:r>
            <a:endParaRPr lang="en-US" sz="56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2" algn="just">
              <a:lnSpc>
                <a:spcPct val="150000"/>
              </a:lnSpc>
            </a:pP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በአንቀፅ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22.3.2.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የተገለፀው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እንደተጠበቀ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ሆኖ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በመስክ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ምልከታ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ተረጋግጦ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የመጣው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መረጃ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ከወረዳው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አቅም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በላይ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አለመሆኑ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ከተረጋገጠ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መተላለፉ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ላይ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በወረዳ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ደረጃ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እርምጃ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እንዲወሰድ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ያደርጋል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የክፍለ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ከተማው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ደንብ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ማስከበር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ጽ/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ቤት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ውሳኔ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ይሰጣል፤አፈፃፃሙንም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64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ይገመግማል</a:t>
            </a:r>
            <a:r>
              <a:rPr lang="en-US" sz="64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፡፡ </a:t>
            </a:r>
            <a:endParaRPr lang="en-US" sz="5600" b="1" dirty="0">
              <a:solidFill>
                <a:schemeClr val="tx1"/>
              </a:solidFill>
              <a:ea typeface="Times New Roman"/>
              <a:cs typeface="Nyala"/>
            </a:endParaRPr>
          </a:p>
          <a:p>
            <a:pPr lvl="2" algn="just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endParaRPr lang="en-US" sz="2200" dirty="0">
              <a:ea typeface="Times New Roman"/>
              <a:cs typeface="Nyal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268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010025" algn="l"/>
              </a:tabLst>
            </a:pPr>
            <a:r>
              <a:rPr lang="en-US" b="1" dirty="0" smtClean="0">
                <a:latin typeface="Power Geez Unicode1"/>
                <a:ea typeface="MingLiU"/>
                <a:cs typeface="MingLiU"/>
              </a:rPr>
              <a:t/>
            </a:r>
            <a:br>
              <a:rPr lang="en-US" b="1" dirty="0" smtClean="0">
                <a:latin typeface="Power Geez Unicode1"/>
                <a:ea typeface="MingLiU"/>
                <a:cs typeface="MingLiU"/>
              </a:rPr>
            </a:br>
            <a:r>
              <a:rPr lang="en-US" b="1" dirty="0" err="1" smtClean="0">
                <a:latin typeface="Power Geez Unicode1"/>
                <a:ea typeface="MingLiU"/>
                <a:cs typeface="MingLiU"/>
              </a:rPr>
              <a:t>የአብይ</a:t>
            </a:r>
            <a:r>
              <a:rPr lang="en-US" b="1" dirty="0" smtClean="0"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latin typeface="Power Geez Unicode1"/>
                <a:ea typeface="MingLiU"/>
                <a:cs typeface="MingLiU"/>
              </a:rPr>
              <a:t>ኮሚቴ</a:t>
            </a:r>
            <a:r>
              <a:rPr lang="en-US" b="1" dirty="0"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latin typeface="Power Geez Unicode1"/>
                <a:ea typeface="MingLiU"/>
                <a:cs typeface="MingLiU"/>
              </a:rPr>
              <a:t>ስልጣንና</a:t>
            </a:r>
            <a:r>
              <a:rPr lang="en-US" b="1" dirty="0"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latin typeface="Power Geez Unicode1"/>
                <a:ea typeface="MingLiU"/>
                <a:cs typeface="MingLiU"/>
              </a:rPr>
              <a:t>ተግባራት</a:t>
            </a:r>
            <a:r>
              <a:rPr lang="en-US" sz="4000" dirty="0">
                <a:ea typeface="Times New Roman"/>
                <a:cs typeface="Times New Roman"/>
              </a:rPr>
              <a:t/>
            </a:r>
            <a:br>
              <a:rPr lang="en-US" sz="4000" dirty="0">
                <a:ea typeface="Times New Roman"/>
                <a:cs typeface="Times New Roman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>
            <a:normAutofit fontScale="70000" lnSpcReduction="20000"/>
          </a:bodyPr>
          <a:lstStyle/>
          <a:p>
            <a:pPr lvl="0" algn="just">
              <a:lnSpc>
                <a:spcPct val="150000"/>
              </a:lnSpc>
              <a:buFont typeface="Symbol"/>
              <a:buChar char=""/>
              <a:tabLst>
                <a:tab pos="4010025" algn="l"/>
              </a:tabLst>
            </a:pP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ወርሃዊ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የውይይት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ፕሮግራም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ያወጣል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በፕሮግራሙ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መሰረት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በተፈፀሙ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መተላለፎችና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ተያያዥ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ህገወጥ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ተግባራት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ላይ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ስለሚወሰዱ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እርምጃዎች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በመነጋገር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የውሳኔ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ሃሳብ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ይሰጣል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፤ </a:t>
            </a:r>
            <a:endParaRPr lang="en-US" sz="2800" b="1" dirty="0">
              <a:solidFill>
                <a:schemeClr val="tx1"/>
              </a:solidFill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Symbol"/>
              <a:buChar char=""/>
              <a:tabLst>
                <a:tab pos="4010025" algn="l"/>
              </a:tabLst>
            </a:pP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አብይ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ኮሚቴው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እንደ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መተላለፉ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አይነትና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ባህሪውን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መሰረት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ያደረገ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ቴክኒካል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ኮሚቴ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ያዋቅራል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፤</a:t>
            </a:r>
            <a:endParaRPr lang="en-US" sz="2800" b="1" dirty="0">
              <a:solidFill>
                <a:schemeClr val="tx1"/>
              </a:solidFill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Symbol"/>
              <a:buChar char=""/>
              <a:tabLst>
                <a:tab pos="4010025" algn="l"/>
              </a:tabLst>
            </a:pP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በግብረ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ኃይሉ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እርምጃ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የሚወሰድበትን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በጀትና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ሎጅስቲክ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ላይ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ውሳኔ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ያሳልፋል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፤</a:t>
            </a:r>
            <a:endParaRPr lang="en-US" sz="2800" b="1" dirty="0">
              <a:solidFill>
                <a:schemeClr val="tx1"/>
              </a:solidFill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buFont typeface="Symbol"/>
              <a:buChar char=""/>
              <a:tabLst>
                <a:tab pos="4010025" algn="l"/>
              </a:tabLst>
            </a:pP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በፕሮግራሙ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መሰረት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በቴክኒካል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ኮሚቴው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በሚቀርቡ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ምክረ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ሀሳብ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ላይ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ተወያይቶ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ውሳኔ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ያሳልፋል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፤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የእርምጃ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አወሳሰድ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ፕሮግራም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ያወጣል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፤ </a:t>
            </a:r>
            <a:endParaRPr lang="en-US" sz="2800" b="1" dirty="0">
              <a:solidFill>
                <a:schemeClr val="tx1"/>
              </a:solidFill>
              <a:ea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748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lvl="0" algn="just">
              <a:lnSpc>
                <a:spcPct val="150000"/>
              </a:lnSpc>
              <a:spcAft>
                <a:spcPts val="1000"/>
              </a:spcAft>
              <a:tabLst>
                <a:tab pos="4010025" algn="l"/>
              </a:tabLst>
            </a:pPr>
            <a:r>
              <a:rPr lang="en-US" sz="3600" b="1" dirty="0" smtClean="0">
                <a:latin typeface="Power Geez Unicode1"/>
                <a:ea typeface="MingLiU"/>
                <a:cs typeface="MingLiU"/>
              </a:rPr>
              <a:t/>
            </a:r>
            <a:br>
              <a:rPr lang="en-US" sz="3600" b="1" dirty="0" smtClean="0">
                <a:latin typeface="Power Geez Unicode1"/>
                <a:ea typeface="MingLiU"/>
                <a:cs typeface="MingLiU"/>
              </a:rPr>
            </a:br>
            <a:r>
              <a:rPr lang="en-US" sz="3600" b="1" dirty="0" err="1" smtClean="0">
                <a:latin typeface="Power Geez Unicode1"/>
                <a:ea typeface="MingLiU"/>
                <a:cs typeface="MingLiU"/>
              </a:rPr>
              <a:t>ቴክኒካል</a:t>
            </a:r>
            <a:r>
              <a:rPr lang="en-US" sz="3600" b="1" dirty="0" smtClean="0">
                <a:latin typeface="Power Geez Unicode1"/>
                <a:ea typeface="MingLiU"/>
                <a:cs typeface="MingLiU"/>
              </a:rPr>
              <a:t> </a:t>
            </a:r>
            <a:r>
              <a:rPr lang="en-US" sz="3600" b="1" dirty="0" err="1">
                <a:latin typeface="Power Geez Unicode1"/>
                <a:ea typeface="MingLiU"/>
                <a:cs typeface="MingLiU"/>
              </a:rPr>
              <a:t>ኮሚቴ</a:t>
            </a:r>
            <a:r>
              <a:rPr lang="en-US" sz="3600" b="1" dirty="0">
                <a:latin typeface="Power Geez Unicode1"/>
                <a:ea typeface="MingLiU"/>
                <a:cs typeface="MingLiU"/>
              </a:rPr>
              <a:t> </a:t>
            </a:r>
            <a:r>
              <a:rPr lang="en-US" sz="3600" b="1" dirty="0" err="1">
                <a:latin typeface="Power Geez Unicode1"/>
                <a:ea typeface="MingLiU"/>
                <a:cs typeface="MingLiU"/>
              </a:rPr>
              <a:t>ስልጣንና</a:t>
            </a:r>
            <a:r>
              <a:rPr lang="en-US" sz="3600" b="1" dirty="0">
                <a:latin typeface="Power Geez Unicode1"/>
                <a:ea typeface="MingLiU"/>
                <a:cs typeface="MingLiU"/>
              </a:rPr>
              <a:t> </a:t>
            </a:r>
            <a:r>
              <a:rPr lang="en-US" sz="3600" b="1" dirty="0" err="1">
                <a:latin typeface="Power Geez Unicode1"/>
                <a:ea typeface="MingLiU"/>
                <a:cs typeface="MingLiU"/>
              </a:rPr>
              <a:t>ተግባራት</a:t>
            </a:r>
            <a:r>
              <a:rPr lang="en-US" sz="3200" dirty="0">
                <a:ea typeface="Times New Roman"/>
                <a:cs typeface="Times New Roman"/>
              </a:rPr>
              <a:t/>
            </a:r>
            <a:br>
              <a:rPr lang="en-US" sz="3200" dirty="0">
                <a:ea typeface="Times New Roman"/>
                <a:cs typeface="Times New Roman"/>
              </a:rPr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81600"/>
          </a:xfr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25000" lnSpcReduction="20000"/>
          </a:bodyPr>
          <a:lstStyle/>
          <a:p>
            <a:pPr lvl="0" algn="just">
              <a:lnSpc>
                <a:spcPct val="150000"/>
              </a:lnSpc>
              <a:buFont typeface="Symbol"/>
              <a:buChar char=""/>
              <a:tabLst>
                <a:tab pos="4010025" algn="l"/>
              </a:tabLst>
            </a:pP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በየወቅቱ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ከወረዳ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ተለይተው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እርምጃ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እንዲወሰድባቸው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ተለይተው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የሚመጡ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ደንብ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መተላለፎችን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በመስክ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ምልከታ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ያረጋግጣል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፤</a:t>
            </a:r>
            <a:endParaRPr lang="en-US" sz="7200" b="1" dirty="0">
              <a:solidFill>
                <a:schemeClr val="tx1"/>
              </a:solidFill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Symbol"/>
              <a:buChar char=""/>
              <a:tabLst>
                <a:tab pos="4010025" algn="l"/>
              </a:tabLst>
            </a:pP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የመስክ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ምልከታ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ዝርዝር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ሪፖርት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በማዘጋጀት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ለአብይ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ኮሚቴው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ያቀርባል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፤</a:t>
            </a:r>
            <a:endParaRPr lang="en-US" sz="7200" b="1" dirty="0">
              <a:solidFill>
                <a:schemeClr val="tx1"/>
              </a:solidFill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Symbol"/>
              <a:buChar char=""/>
              <a:tabLst>
                <a:tab pos="4010025" algn="l"/>
              </a:tabLst>
            </a:pP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በክፍለ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ከተማው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የሚደራጀው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አፍራሽ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ግብረ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ኃይልን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ይመራል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ያስተባብራል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፤</a:t>
            </a:r>
            <a:endParaRPr lang="en-US" sz="7200" b="1" dirty="0">
              <a:solidFill>
                <a:schemeClr val="tx1"/>
              </a:solidFill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buFont typeface="Symbol"/>
              <a:buChar char=""/>
              <a:tabLst>
                <a:tab pos="4010025" algn="l"/>
              </a:tabLst>
            </a:pP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ውሳኔ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በተላለፈባቸው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ደንብ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መተላለፎች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ላይ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የእርምጃ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ሂደቱን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ያስተባብራል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ይመራል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፤</a:t>
            </a:r>
            <a:endParaRPr lang="en-US" sz="7200" b="1" dirty="0">
              <a:solidFill>
                <a:schemeClr val="tx1"/>
              </a:solidFill>
              <a:ea typeface="Times New Roman"/>
              <a:cs typeface="Times New Roman"/>
            </a:endParaRPr>
          </a:p>
          <a:p>
            <a:pPr lvl="0" algn="just">
              <a:lnSpc>
                <a:spcPct val="150000"/>
              </a:lnSpc>
              <a:spcAft>
                <a:spcPts val="1000"/>
              </a:spcAft>
              <a:buFont typeface="Symbol"/>
              <a:buChar char=""/>
              <a:tabLst>
                <a:tab pos="4010025" algn="l"/>
              </a:tabLst>
            </a:pP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በእርምጃ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አወሳሰድ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ወቅት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የሚወረሱ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ንብቶችን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የክፍለ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ከተማው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የግብረ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ኃይል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ባለሙያዎችንና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አፍራሽ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ግብረ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ኃይሉን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በማስተባበር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ንብረቱን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ወደሚመለከተው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ወረዳ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ወይም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ክፍለ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ከተማ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ደንብ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ማስከበር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ጽ/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ቤት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እንዲገባ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ሂደቱን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ይመራል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 </a:t>
            </a:r>
            <a:r>
              <a:rPr lang="en-US" sz="8000" b="1" dirty="0" err="1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ያስተባብራል</a:t>
            </a:r>
            <a:r>
              <a:rPr lang="en-US" sz="8000" b="1" dirty="0">
                <a:solidFill>
                  <a:schemeClr val="tx1"/>
                </a:solidFill>
                <a:latin typeface="Power Geez Unicode1"/>
                <a:ea typeface="MingLiU"/>
                <a:cs typeface="MingLiU"/>
              </a:rPr>
              <a:t>፤</a:t>
            </a:r>
            <a:endParaRPr lang="en-US" sz="7200" b="1" dirty="0">
              <a:solidFill>
                <a:schemeClr val="tx1"/>
              </a:solidFill>
              <a:ea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681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b="1" dirty="0" smtClean="0">
                <a:latin typeface="Power Geez Unicode1"/>
                <a:ea typeface="Times New Roman"/>
                <a:cs typeface="Times New Roman"/>
              </a:rPr>
              <a:t/>
            </a:r>
            <a:br>
              <a:rPr lang="en-US" sz="2400" b="1" dirty="0" smtClean="0">
                <a:latin typeface="Power Geez Unicode1"/>
                <a:ea typeface="Times New Roman"/>
                <a:cs typeface="Times New Roman"/>
              </a:rPr>
            </a:br>
            <a:r>
              <a:rPr lang="en-US" sz="2400" b="1" dirty="0" err="1" smtClean="0">
                <a:latin typeface="Power Geez Unicode1"/>
                <a:ea typeface="Times New Roman"/>
                <a:cs typeface="Times New Roman"/>
              </a:rPr>
              <a:t>ክፍል</a:t>
            </a:r>
            <a:r>
              <a:rPr lang="en-US" sz="2400" b="1" dirty="0" smtClean="0"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2400" b="1" dirty="0" err="1">
                <a:latin typeface="Power Geez Unicode1"/>
                <a:ea typeface="Times New Roman"/>
                <a:cs typeface="Times New Roman"/>
              </a:rPr>
              <a:t>ስድስት</a:t>
            </a:r>
            <a:r>
              <a:rPr lang="en-US" sz="2000" dirty="0">
                <a:ea typeface="Calibri"/>
                <a:cs typeface="Arial"/>
              </a:rPr>
              <a:t/>
            </a:r>
            <a:br>
              <a:rPr lang="en-US" sz="2000" dirty="0">
                <a:ea typeface="Calibri"/>
                <a:cs typeface="Arial"/>
              </a:rPr>
            </a:br>
            <a:r>
              <a:rPr lang="en-US" sz="2400" b="1" dirty="0" err="1">
                <a:latin typeface="Power Geez Unicode1"/>
                <a:ea typeface="Times New Roman"/>
                <a:cs typeface="Nyala"/>
              </a:rPr>
              <a:t>ልዩ</a:t>
            </a:r>
            <a:r>
              <a:rPr lang="en-US" sz="2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400" b="1" dirty="0" err="1">
                <a:latin typeface="Power Geez Unicode1"/>
                <a:ea typeface="Times New Roman"/>
                <a:cs typeface="Nyala"/>
              </a:rPr>
              <a:t>ልዩ</a:t>
            </a:r>
            <a:r>
              <a:rPr lang="en-US" sz="2400" b="1" dirty="0">
                <a:latin typeface="Power Geez Unicode1"/>
                <a:ea typeface="Times New Roman"/>
                <a:cs typeface="Nyala"/>
              </a:rPr>
              <a:t> </a:t>
            </a:r>
            <a:r>
              <a:rPr lang="en-US" sz="2400" b="1" dirty="0" err="1">
                <a:latin typeface="Power Geez Unicode1"/>
                <a:ea typeface="Times New Roman"/>
                <a:cs typeface="Nyala"/>
              </a:rPr>
              <a:t>ድንጋጌዎች</a:t>
            </a:r>
            <a:r>
              <a:rPr lang="en-US" sz="2000" dirty="0">
                <a:ea typeface="Times New Roman"/>
                <a:cs typeface="Nyala"/>
              </a:rPr>
              <a:t/>
            </a:r>
            <a:br>
              <a:rPr lang="en-US" sz="2000" dirty="0">
                <a:ea typeface="Times New Roman"/>
                <a:cs typeface="Nyala"/>
              </a:rPr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  <a:solidFill>
            <a:schemeClr val="bg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 fontScale="47500" lnSpcReduction="20000"/>
          </a:bodyPr>
          <a:lstStyle/>
          <a:p>
            <a:pPr marL="0" lvl="0" indent="0" algn="just">
              <a:buNone/>
            </a:pP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የመተባበር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ግዴታ</a:t>
            </a:r>
            <a:endParaRPr lang="en-US" dirty="0">
              <a:solidFill>
                <a:schemeClr val="tx1"/>
              </a:solidFill>
            </a:endParaRPr>
          </a:p>
          <a:p>
            <a:pPr marL="57150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ማንኛውም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ሰው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ይህንን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መመሪያ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ለማስፈጸም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የመተባበር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ግዴታ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አለበት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፡፡</a:t>
            </a:r>
            <a:endParaRPr lang="en-US" sz="2900" dirty="0">
              <a:solidFill>
                <a:schemeClr val="tx1"/>
              </a:solidFill>
              <a:ea typeface="Calibri"/>
              <a:cs typeface="Arial"/>
            </a:endParaRP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መመሪያውን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ስለ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ማሻሻል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እና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ስለማሳወቅ</a:t>
            </a:r>
            <a:endParaRPr lang="en-US" sz="3400" dirty="0">
              <a:solidFill>
                <a:schemeClr val="tx1"/>
              </a:solidFill>
            </a:endParaRPr>
          </a:p>
          <a:p>
            <a:pPr marL="114300" indent="0" algn="just">
              <a:lnSpc>
                <a:spcPct val="150000"/>
              </a:lnSpc>
              <a:buNone/>
            </a:pP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የአዲስ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አበባ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አስተዳደር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ደንብ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ማስከበር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ባለስልጣን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ይህንን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መመሪያ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አስፈላጊ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ሆኖ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ባገኘው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ጊዜ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አሻሽሎ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ለሚመለከተው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አካል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ሊያቀርብ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ይችላል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፡፡</a:t>
            </a:r>
            <a:endParaRPr lang="en-US" sz="3400" dirty="0">
              <a:solidFill>
                <a:schemeClr val="tx1"/>
              </a:solidFill>
            </a:endParaRPr>
          </a:p>
          <a:p>
            <a:pPr marL="0" lvl="0" indent="0" algn="just">
              <a:buNone/>
            </a:pP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ተፈጻሚነት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ስለማይኖራቸው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ህጎች</a:t>
            </a:r>
            <a:endParaRPr lang="en-US" sz="3400" dirty="0">
              <a:solidFill>
                <a:schemeClr val="tx1"/>
              </a:solidFill>
            </a:endParaRPr>
          </a:p>
          <a:p>
            <a:pPr marL="22860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ይህንን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መመሪያ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የሚቃረን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ማንኛውም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ልማዳዊ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አሰራር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ወይም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መመሪያ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በዚህ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መመሪያ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የተሸፈኑ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ጉዳዮችን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በተመለከተ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ተፈጻሚነት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አይኖረውም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፡፡</a:t>
            </a:r>
            <a:endParaRPr lang="en-US" sz="2900" dirty="0">
              <a:solidFill>
                <a:schemeClr val="tx1"/>
              </a:solidFill>
              <a:ea typeface="Calibri"/>
              <a:cs typeface="Arial"/>
            </a:endParaRPr>
          </a:p>
          <a:p>
            <a:pPr marL="0" lvl="0" indent="0" algn="just">
              <a:buNone/>
            </a:pP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መመሪያው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የሚጸናበት</a:t>
            </a:r>
            <a:r>
              <a:rPr lang="en-US" sz="3400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ጊዜ</a:t>
            </a:r>
            <a:endParaRPr lang="en-US" sz="3400" dirty="0">
              <a:solidFill>
                <a:schemeClr val="tx1"/>
              </a:solidFill>
            </a:endParaRPr>
          </a:p>
          <a:p>
            <a:pPr marL="0" indent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ይህ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መመሪያ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በአዲስ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አበባ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ከተማ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አስተዳደር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ደንብ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ማስከበር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ባለስልጣን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ጸድቆ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ከወጣበት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ከ  ------------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ቀን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--------------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ዓ.ም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ጀምሮ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የፀና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sz="3400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ይሆናል</a:t>
            </a:r>
            <a:r>
              <a:rPr lang="en-US" sz="3400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፡፡</a:t>
            </a:r>
            <a:endParaRPr lang="en-US" sz="2900" dirty="0">
              <a:solidFill>
                <a:schemeClr val="tx1"/>
              </a:solidFill>
              <a:ea typeface="Calibri"/>
              <a:cs typeface="Arial"/>
            </a:endParaRPr>
          </a:p>
          <a:p>
            <a:pPr marL="11430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….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ቀን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2015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ዓ.ም</a:t>
            </a:r>
            <a:endParaRPr lang="en-US" dirty="0">
              <a:solidFill>
                <a:schemeClr val="tx1"/>
              </a:solidFill>
            </a:endParaRPr>
          </a:p>
          <a:p>
            <a:pPr marL="114300" indent="0" algn="ctr">
              <a:buNone/>
            </a:pP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አዲስ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አበባ</a:t>
            </a:r>
            <a:endParaRPr lang="en-US" dirty="0">
              <a:solidFill>
                <a:schemeClr val="tx1"/>
              </a:solidFill>
            </a:endParaRPr>
          </a:p>
          <a:p>
            <a:pPr marL="11430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 </a:t>
            </a:r>
            <a:endParaRPr lang="en-US" dirty="0">
              <a:solidFill>
                <a:schemeClr val="tx1"/>
              </a:solidFill>
            </a:endParaRPr>
          </a:p>
          <a:p>
            <a:pPr marL="114300" indent="0" algn="ctr">
              <a:buNone/>
            </a:pP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በአዲስ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አበባ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ከተማ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አስተዳደር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የደንብ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ማስከበር</a:t>
            </a:r>
            <a:r>
              <a:rPr lang="en-US" b="1" dirty="0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Power Geez Unicode1"/>
                <a:ea typeface="Times New Roman"/>
                <a:cs typeface="Times New Roman"/>
              </a:rPr>
              <a:t>ባለስልጣን</a:t>
            </a:r>
            <a:endParaRPr lang="en-US" dirty="0">
              <a:solidFill>
                <a:schemeClr val="tx1"/>
              </a:solidFill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n-US" sz="2800" dirty="0">
              <a:ea typeface="Calibri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90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b="1" dirty="0" smtClean="0">
                <a:latin typeface="Power Geez Unicode1" pitchFamily="2" charset="0"/>
              </a:rPr>
              <a:t>             </a:t>
            </a:r>
            <a:r>
              <a:rPr lang="en-US" sz="9600" b="1" dirty="0" err="1" smtClean="0">
                <a:latin typeface="Power Geez Unicode1" pitchFamily="2" charset="0"/>
              </a:rPr>
              <a:t>አመሰግናለሁ</a:t>
            </a:r>
            <a:r>
              <a:rPr lang="en-US" sz="9600" b="1" dirty="0" smtClean="0">
                <a:latin typeface="Power Geez Unicode1" pitchFamily="2" charset="0"/>
              </a:rPr>
              <a:t>!!!</a:t>
            </a:r>
            <a:endParaRPr lang="en-US" sz="9600" b="1" dirty="0">
              <a:latin typeface="Power Geez Unicode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738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544</TotalTime>
  <Words>12097</Words>
  <Application>Microsoft Office PowerPoint</Application>
  <PresentationFormat>On-screen Show (4:3)</PresentationFormat>
  <Paragraphs>353</Paragraphs>
  <Slides>94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95" baseType="lpstr">
      <vt:lpstr>Office Theme</vt:lpstr>
      <vt:lpstr>PowerPoint Presentation</vt:lpstr>
      <vt:lpstr> መግቢያ </vt:lpstr>
      <vt:lpstr>ክፍል አንድ </vt:lpstr>
      <vt:lpstr> ትርጓሜ፡- </vt:lpstr>
      <vt:lpstr>የቀጠለ…</vt:lpstr>
      <vt:lpstr>የቀጠለ…</vt:lpstr>
      <vt:lpstr>የቀጠለ…</vt:lpstr>
      <vt:lpstr>የቀጠለ…</vt:lpstr>
      <vt:lpstr>የቀጠለ…</vt:lpstr>
      <vt:lpstr>PowerPoint Presentation</vt:lpstr>
      <vt:lpstr> ዓላማ፡- </vt:lpstr>
      <vt:lpstr> የደንብ መተላለፍ ቅድመ መከላከል ተግባራት </vt:lpstr>
      <vt:lpstr>የቀጠለ…</vt:lpstr>
      <vt:lpstr>  የደንብ መተላለፍ ክትትል ቁጥጥርና እርምጃ አወሳሰድ ኦፊሰር ተግባራት  </vt:lpstr>
      <vt:lpstr>የቀጠለ…</vt:lpstr>
      <vt:lpstr>የቀጠለ..</vt:lpstr>
      <vt:lpstr> ክፍል ሁለት </vt:lpstr>
      <vt:lpstr> በህገ-ወጥ መንገድ መሬትን ስለመያዝ፤  </vt:lpstr>
      <vt:lpstr>የቀጠለ…</vt:lpstr>
      <vt:lpstr> በህገ-ወጥ መንገድ መሬትን ስለ ማስፋፋት፤ </vt:lpstr>
      <vt:lpstr>የቀጠለ…</vt:lpstr>
      <vt:lpstr> ህገወጥ ግንባታን በተመለከተ፤ </vt:lpstr>
      <vt:lpstr>የቀጠለ…</vt:lpstr>
      <vt:lpstr>የቀጠለ…</vt:lpstr>
      <vt:lpstr>የቀጠለ…</vt:lpstr>
      <vt:lpstr>የቀጠለ…</vt:lpstr>
      <vt:lpstr>የቀጠለ…</vt:lpstr>
      <vt:lpstr>   የቅጣት ሰንጠረዥ 2 በህገ-ወጥ መንገድ ፍሳሽ ወይም ደረቅ ቆሻሻ ማስወገድ   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 የቅጣት ሰንጠረዥ 3 የትራፊክ እንቅስቃሴና የመንገድ ደህንነት የሚጐዱ ተግባራት መፈጸም 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የቀጠለ…</vt:lpstr>
      <vt:lpstr> የቅጣት ሰንጠረዥ 4 ህገወጥ የዉጭ ማስታወቂያ </vt:lpstr>
      <vt:lpstr>የቀጠለ…</vt:lpstr>
      <vt:lpstr> የቅጣት ሰንጠረዥ 5 አዋኪ ድርጊት እና መሰል ተግባራትን መፈጸም </vt:lpstr>
      <vt:lpstr>የቀጠለ…</vt:lpstr>
      <vt:lpstr>የቀጠለ…</vt:lpstr>
      <vt:lpstr>የቀጠለ…</vt:lpstr>
      <vt:lpstr> የቅጣት ሰንጠረዥ 6 የእንስሳት ዝውውር፣ ግብይት፣ ወይም ዕርድ፣ </vt:lpstr>
      <vt:lpstr>የቀጠለ…</vt:lpstr>
      <vt:lpstr>የቀጠለ…</vt:lpstr>
      <vt:lpstr>የቀጠለ…</vt:lpstr>
      <vt:lpstr> ክፍል ሶስት ስለ ንብረት አያያዝ፣ አወራረስ እና አወጋገድ </vt:lpstr>
      <vt:lpstr>የቀጠለ…</vt:lpstr>
      <vt:lpstr> ስለ ተወረሰ ንብረት አሻሻጥ </vt:lpstr>
      <vt:lpstr> ስለ ተወረሰ ንብረት አወጋገድ </vt:lpstr>
      <vt:lpstr> ክፍል አራት አቤቱታ / ቅሬታ/ አቀራረብና ውሳኔ አሰጣጥ </vt:lpstr>
      <vt:lpstr>የቀጠለ…</vt:lpstr>
      <vt:lpstr>የቀጠለ…</vt:lpstr>
      <vt:lpstr> ክፍል አምስት የግብረ ሃይል አደረጃጀት፣ አሰራር፣ ስልጣንና ተግባር ግብረ-ሃይልን ስለማደራጀት </vt:lpstr>
      <vt:lpstr>PowerPoint Presentation</vt:lpstr>
      <vt:lpstr>የቀጠለ…</vt:lpstr>
      <vt:lpstr> የአብይ ኮሚቴ ስልጣንና ተግባራት </vt:lpstr>
      <vt:lpstr> ቴክኒካል ኮሚቴ ስልጣንና ተግባራት </vt:lpstr>
      <vt:lpstr> ክፍል ስድስት ልዩ ልዩ ድንጋጌዎች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 3090</dc:creator>
  <cp:lastModifiedBy>Abeba CO</cp:lastModifiedBy>
  <cp:revision>59</cp:revision>
  <dcterms:created xsi:type="dcterms:W3CDTF">2006-08-16T00:00:00Z</dcterms:created>
  <dcterms:modified xsi:type="dcterms:W3CDTF">2025-03-15T04:12:39Z</dcterms:modified>
</cp:coreProperties>
</file>