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9"/>
  </p:notesMasterIdLst>
  <p:sldIdLst>
    <p:sldId id="256" r:id="rId2"/>
    <p:sldId id="335" r:id="rId3"/>
    <p:sldId id="331" r:id="rId4"/>
    <p:sldId id="268" r:id="rId5"/>
    <p:sldId id="270" r:id="rId6"/>
    <p:sldId id="258" r:id="rId7"/>
    <p:sldId id="260" r:id="rId8"/>
    <p:sldId id="334" r:id="rId9"/>
    <p:sldId id="261" r:id="rId10"/>
    <p:sldId id="262" r:id="rId11"/>
    <p:sldId id="278" r:id="rId12"/>
    <p:sldId id="282" r:id="rId13"/>
    <p:sldId id="283" r:id="rId14"/>
    <p:sldId id="286" r:id="rId15"/>
    <p:sldId id="287" r:id="rId16"/>
    <p:sldId id="292" r:id="rId17"/>
    <p:sldId id="293" r:id="rId18"/>
    <p:sldId id="294" r:id="rId19"/>
    <p:sldId id="295" r:id="rId20"/>
    <p:sldId id="299" r:id="rId21"/>
    <p:sldId id="300" r:id="rId22"/>
    <p:sldId id="301" r:id="rId23"/>
    <p:sldId id="302" r:id="rId24"/>
    <p:sldId id="312" r:id="rId25"/>
    <p:sldId id="314" r:id="rId26"/>
    <p:sldId id="316" r:id="rId27"/>
    <p:sldId id="319" r:id="rId28"/>
    <p:sldId id="322" r:id="rId29"/>
    <p:sldId id="323" r:id="rId30"/>
    <p:sldId id="324" r:id="rId31"/>
    <p:sldId id="329" r:id="rId32"/>
    <p:sldId id="330" r:id="rId33"/>
    <p:sldId id="272" r:id="rId34"/>
    <p:sldId id="273" r:id="rId35"/>
    <p:sldId id="274" r:id="rId36"/>
    <p:sldId id="276" r:id="rId37"/>
    <p:sldId id="336" r:id="rId38"/>
  </p:sldIdLst>
  <p:sldSz cx="9144000" cy="6858000" type="screen4x3"/>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301" autoAdjust="0"/>
  </p:normalViewPr>
  <p:slideViewPr>
    <p:cSldViewPr>
      <p:cViewPr varScale="1">
        <p:scale>
          <a:sx n="57" d="100"/>
          <a:sy n="57" d="100"/>
        </p:scale>
        <p:origin x="-1746"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A9F05F-D611-47B3-8313-1095C762F81C}" type="doc">
      <dgm:prSet loTypeId="urn:microsoft.com/office/officeart/2008/layout/VerticalAccentList" loCatId="list" qsTypeId="urn:microsoft.com/office/officeart/2005/8/quickstyle/simple1" qsCatId="simple" csTypeId="urn:microsoft.com/office/officeart/2005/8/colors/accent1_2" csCatId="accent1" phldr="1"/>
      <dgm:spPr/>
      <dgm:t>
        <a:bodyPr/>
        <a:lstStyle/>
        <a:p>
          <a:endParaRPr lang="en-US"/>
        </a:p>
      </dgm:t>
    </dgm:pt>
    <dgm:pt modelId="{FE730040-2E1A-4047-AEF0-B70DD7CDFC11}">
      <dgm:prSet phldrT="[Text]"/>
      <dgm:spPr/>
      <dgm:t>
        <a:bodyPr/>
        <a:lstStyle/>
        <a:p>
          <a:endParaRPr lang="en-US" dirty="0"/>
        </a:p>
      </dgm:t>
    </dgm:pt>
    <dgm:pt modelId="{7B1FC9D9-0F93-460B-AFF4-96BD1CC08C39}" type="parTrans" cxnId="{480A9CC1-A1DB-4645-A45C-6BD3F42204F6}">
      <dgm:prSet/>
      <dgm:spPr/>
      <dgm:t>
        <a:bodyPr/>
        <a:lstStyle/>
        <a:p>
          <a:endParaRPr lang="en-US"/>
        </a:p>
      </dgm:t>
    </dgm:pt>
    <dgm:pt modelId="{F9412417-D597-44C8-BD2B-7CA28E80B29F}" type="sibTrans" cxnId="{480A9CC1-A1DB-4645-A45C-6BD3F42204F6}">
      <dgm:prSet/>
      <dgm:spPr/>
      <dgm:t>
        <a:bodyPr/>
        <a:lstStyle/>
        <a:p>
          <a:endParaRPr lang="en-US"/>
        </a:p>
      </dgm:t>
    </dgm:pt>
    <dgm:pt modelId="{7C2FD890-1604-49BF-9E1A-2DFD986E15D8}">
      <dgm:prSet phldrT="[Text]"/>
      <dgm:spPr/>
      <dgm:t>
        <a:bodyPr/>
        <a:lstStyle/>
        <a:p>
          <a:r>
            <a:rPr lang="en-US" b="1" dirty="0" err="1" smtClean="0">
              <a:solidFill>
                <a:srgbClr val="C00000"/>
              </a:solidFill>
              <a:latin typeface="Power Geez Unicode1" pitchFamily="2" charset="0"/>
            </a:rPr>
            <a:t>ደንብ</a:t>
          </a:r>
          <a:r>
            <a:rPr lang="en-US" b="1" dirty="0" smtClean="0">
              <a:solidFill>
                <a:srgbClr val="C00000"/>
              </a:solidFill>
              <a:latin typeface="Power Geez Unicode1" pitchFamily="2" charset="0"/>
            </a:rPr>
            <a:t> </a:t>
          </a:r>
          <a:r>
            <a:rPr lang="en-US" b="1" dirty="0" err="1" smtClean="0">
              <a:solidFill>
                <a:srgbClr val="C00000"/>
              </a:solidFill>
              <a:latin typeface="Power Geez Unicode1" pitchFamily="2" charset="0"/>
            </a:rPr>
            <a:t>ቁጥር</a:t>
          </a:r>
          <a:r>
            <a:rPr lang="en-US" b="1" dirty="0" smtClean="0">
              <a:solidFill>
                <a:srgbClr val="C00000"/>
              </a:solidFill>
              <a:latin typeface="Power Geez Unicode1" pitchFamily="2" charset="0"/>
            </a:rPr>
            <a:t> </a:t>
          </a:r>
          <a:r>
            <a:rPr lang="en-US" b="1" dirty="0" smtClean="0">
              <a:solidFill>
                <a:srgbClr val="7030A0"/>
              </a:solidFill>
              <a:latin typeface="Power Geez Unicode1" pitchFamily="2" charset="0"/>
            </a:rPr>
            <a:t>167/2016</a:t>
          </a:r>
          <a:r>
            <a:rPr lang="en-US" b="1" dirty="0" smtClean="0">
              <a:solidFill>
                <a:srgbClr val="C00000"/>
              </a:solidFill>
              <a:latin typeface="Power Geez Unicode1" pitchFamily="2" charset="0"/>
            </a:rPr>
            <a:t> </a:t>
          </a:r>
          <a:r>
            <a:rPr lang="en-US" b="1" dirty="0" err="1" smtClean="0">
              <a:solidFill>
                <a:srgbClr val="C00000"/>
              </a:solidFill>
              <a:latin typeface="Power Geez Unicode1" pitchFamily="2" charset="0"/>
            </a:rPr>
            <a:t>ማሻሻል</a:t>
          </a:r>
          <a:r>
            <a:rPr lang="en-US" b="1" dirty="0" smtClean="0">
              <a:solidFill>
                <a:srgbClr val="C00000"/>
              </a:solidFill>
              <a:latin typeface="Power Geez Unicode1" pitchFamily="2" charset="0"/>
            </a:rPr>
            <a:t> </a:t>
          </a:r>
          <a:r>
            <a:rPr lang="en-US" b="1" dirty="0" err="1" smtClean="0">
              <a:solidFill>
                <a:srgbClr val="C00000"/>
              </a:solidFill>
              <a:latin typeface="Power Geez Unicode1" pitchFamily="2" charset="0"/>
            </a:rPr>
            <a:t>ለምን</a:t>
          </a:r>
          <a:r>
            <a:rPr lang="en-US" b="1" dirty="0" smtClean="0">
              <a:solidFill>
                <a:srgbClr val="C00000"/>
              </a:solidFill>
              <a:latin typeface="Power Geez Unicode1" pitchFamily="2" charset="0"/>
            </a:rPr>
            <a:t> </a:t>
          </a:r>
          <a:r>
            <a:rPr lang="en-US" b="1" dirty="0" err="1" smtClean="0">
              <a:solidFill>
                <a:srgbClr val="C00000"/>
              </a:solidFill>
              <a:latin typeface="Power Geez Unicode1" pitchFamily="2" charset="0"/>
            </a:rPr>
            <a:t>እንዳስፈለገ</a:t>
          </a:r>
          <a:endParaRPr lang="en-US" b="1" dirty="0">
            <a:solidFill>
              <a:srgbClr val="C00000"/>
            </a:solidFill>
            <a:latin typeface="Power Geez Unicode1" pitchFamily="2" charset="0"/>
          </a:endParaRPr>
        </a:p>
      </dgm:t>
    </dgm:pt>
    <dgm:pt modelId="{9776D7D3-ED5F-4BC0-AB15-8179630453CE}" type="parTrans" cxnId="{13F8DE13-9EA4-42BA-A65D-BBB40D5BA9D1}">
      <dgm:prSet/>
      <dgm:spPr/>
      <dgm:t>
        <a:bodyPr/>
        <a:lstStyle/>
        <a:p>
          <a:endParaRPr lang="en-US"/>
        </a:p>
      </dgm:t>
    </dgm:pt>
    <dgm:pt modelId="{01F4EDDD-1318-4010-B939-A19ADC0743FE}" type="sibTrans" cxnId="{13F8DE13-9EA4-42BA-A65D-BBB40D5BA9D1}">
      <dgm:prSet/>
      <dgm:spPr/>
      <dgm:t>
        <a:bodyPr/>
        <a:lstStyle/>
        <a:p>
          <a:endParaRPr lang="en-US"/>
        </a:p>
      </dgm:t>
    </dgm:pt>
    <dgm:pt modelId="{05FBB333-9060-4BFA-97B0-E82DE865DF8F}">
      <dgm:prSet phldrT="[Text]" custT="1"/>
      <dgm:spPr/>
      <dgm:t>
        <a:bodyPr/>
        <a:lstStyle/>
        <a:p>
          <a:r>
            <a:rPr lang="en-US" sz="2400" b="1" dirty="0" err="1" smtClean="0">
              <a:solidFill>
                <a:srgbClr val="002060"/>
              </a:solidFill>
              <a:latin typeface="Power Geez Unicode1" pitchFamily="2" charset="0"/>
            </a:rPr>
            <a:t>ቀድሞ</a:t>
          </a:r>
          <a:r>
            <a:rPr lang="en-US" sz="2400" b="1" dirty="0" smtClean="0">
              <a:solidFill>
                <a:srgbClr val="002060"/>
              </a:solidFill>
              <a:latin typeface="Power Geez Unicode1" pitchFamily="2" charset="0"/>
            </a:rPr>
            <a:t> </a:t>
          </a:r>
          <a:r>
            <a:rPr lang="en-US" sz="2400" b="1" dirty="0" err="1" smtClean="0">
              <a:solidFill>
                <a:srgbClr val="002060"/>
              </a:solidFill>
              <a:latin typeface="Power Geez Unicode1" pitchFamily="2" charset="0"/>
            </a:rPr>
            <a:t>የነበረው</a:t>
          </a:r>
          <a:r>
            <a:rPr lang="en-US" sz="2400" b="1" dirty="0" smtClean="0">
              <a:solidFill>
                <a:srgbClr val="002060"/>
              </a:solidFill>
              <a:latin typeface="Power Geez Unicode1" pitchFamily="2" charset="0"/>
            </a:rPr>
            <a:t>  </a:t>
          </a:r>
          <a:r>
            <a:rPr lang="en-US" sz="2400" b="1" dirty="0" err="1" smtClean="0">
              <a:solidFill>
                <a:srgbClr val="002060"/>
              </a:solidFill>
              <a:latin typeface="Power Geez Unicode1" pitchFamily="2" charset="0"/>
            </a:rPr>
            <a:t>አንቀፅ</a:t>
          </a:r>
          <a:r>
            <a:rPr lang="en-US" sz="2400" b="1" dirty="0" smtClean="0">
              <a:solidFill>
                <a:srgbClr val="002060"/>
              </a:solidFill>
              <a:latin typeface="Power Geez Unicode1" pitchFamily="2" charset="0"/>
            </a:rPr>
            <a:t> </a:t>
          </a:r>
          <a:r>
            <a:rPr lang="en-US" sz="2400" b="1" dirty="0" err="1" smtClean="0">
              <a:solidFill>
                <a:srgbClr val="002060"/>
              </a:solidFill>
              <a:latin typeface="Power Geez Unicode1" pitchFamily="2" charset="0"/>
            </a:rPr>
            <a:t>ላይ</a:t>
          </a:r>
          <a:r>
            <a:rPr lang="en-US" sz="2400" b="1" dirty="0" smtClean="0">
              <a:solidFill>
                <a:srgbClr val="002060"/>
              </a:solidFill>
              <a:latin typeface="Power Geez Unicode1" pitchFamily="2" charset="0"/>
            </a:rPr>
            <a:t> </a:t>
          </a:r>
          <a:r>
            <a:rPr lang="en-US" sz="2400" b="1" dirty="0" err="1" smtClean="0">
              <a:solidFill>
                <a:srgbClr val="002060"/>
              </a:solidFill>
              <a:latin typeface="Power Geez Unicode1" pitchFamily="2" charset="0"/>
            </a:rPr>
            <a:t>የተሻሻሉ</a:t>
          </a:r>
          <a:r>
            <a:rPr lang="en-US" sz="2400" b="1" dirty="0" smtClean="0">
              <a:solidFill>
                <a:srgbClr val="002060"/>
              </a:solidFill>
              <a:latin typeface="Power Geez Unicode1" pitchFamily="2" charset="0"/>
            </a:rPr>
            <a:t> </a:t>
          </a:r>
          <a:r>
            <a:rPr lang="en-US" sz="2400" b="1" dirty="0" err="1" smtClean="0">
              <a:solidFill>
                <a:srgbClr val="002060"/>
              </a:solidFill>
              <a:latin typeface="Power Geez Unicode1" pitchFamily="2" charset="0"/>
            </a:rPr>
            <a:t>ሃሳቦች</a:t>
          </a:r>
          <a:r>
            <a:rPr lang="en-US" sz="2400" b="1" dirty="0" smtClean="0">
              <a:solidFill>
                <a:srgbClr val="002060"/>
              </a:solidFill>
              <a:latin typeface="Power Geez Unicode1" pitchFamily="2" charset="0"/>
            </a:rPr>
            <a:t> </a:t>
          </a:r>
          <a:endParaRPr lang="en-US" sz="2400" b="1" dirty="0">
            <a:solidFill>
              <a:srgbClr val="002060"/>
            </a:solidFill>
            <a:latin typeface="Power Geez Unicode1" pitchFamily="2" charset="0"/>
          </a:endParaRPr>
        </a:p>
      </dgm:t>
    </dgm:pt>
    <dgm:pt modelId="{868760F1-3389-4B26-8698-E31A85986EE8}" type="parTrans" cxnId="{79514819-56CA-4162-AB33-F93FF69D7E9E}">
      <dgm:prSet/>
      <dgm:spPr/>
      <dgm:t>
        <a:bodyPr/>
        <a:lstStyle/>
        <a:p>
          <a:endParaRPr lang="en-US"/>
        </a:p>
      </dgm:t>
    </dgm:pt>
    <dgm:pt modelId="{8A17D459-36BA-4F88-B840-824D04101F02}" type="sibTrans" cxnId="{79514819-56CA-4162-AB33-F93FF69D7E9E}">
      <dgm:prSet/>
      <dgm:spPr/>
      <dgm:t>
        <a:bodyPr/>
        <a:lstStyle/>
        <a:p>
          <a:endParaRPr lang="en-US"/>
        </a:p>
      </dgm:t>
    </dgm:pt>
    <dgm:pt modelId="{F07A8F9D-363B-41A8-A5D4-746600EFDF6E}">
      <dgm:prSet phldrT="[Text]"/>
      <dgm:spPr/>
      <dgm:t>
        <a:bodyPr/>
        <a:lstStyle/>
        <a:p>
          <a:pPr algn="just"/>
          <a:r>
            <a:rPr lang="en-US" b="1" smtClean="0">
              <a:solidFill>
                <a:srgbClr val="C00000"/>
              </a:solidFill>
              <a:latin typeface="Power Geez Unicode1" pitchFamily="2" charset="0"/>
            </a:rPr>
            <a:t>ቀድሞ ከነበረው ደንብ ቁጥር 150/2015 አንፃር ደንብ ቁጥር </a:t>
          </a:r>
          <a:r>
            <a:rPr lang="en-US" b="1" smtClean="0">
              <a:solidFill>
                <a:srgbClr val="7030A0"/>
              </a:solidFill>
              <a:latin typeface="Power Geez Unicode1" pitchFamily="2" charset="0"/>
            </a:rPr>
            <a:t>167/2016</a:t>
          </a:r>
          <a:r>
            <a:rPr lang="en-US" b="1" smtClean="0">
              <a:solidFill>
                <a:srgbClr val="C00000"/>
              </a:solidFill>
              <a:latin typeface="Power Geez Unicode1" pitchFamily="2" charset="0"/>
            </a:rPr>
            <a:t> ያለው ልዩነት</a:t>
          </a:r>
          <a:endParaRPr lang="en-US" b="1" dirty="0">
            <a:solidFill>
              <a:srgbClr val="C00000"/>
            </a:solidFill>
            <a:latin typeface="Power Geez Unicode1" pitchFamily="2" charset="0"/>
          </a:endParaRPr>
        </a:p>
      </dgm:t>
    </dgm:pt>
    <dgm:pt modelId="{C7992488-AFDE-4C70-95A6-8269243D0EA8}" type="parTrans" cxnId="{DAFB8903-0427-45AB-A6E8-B1C1D1F5CB54}">
      <dgm:prSet/>
      <dgm:spPr/>
      <dgm:t>
        <a:bodyPr/>
        <a:lstStyle/>
        <a:p>
          <a:endParaRPr lang="en-US"/>
        </a:p>
      </dgm:t>
    </dgm:pt>
    <dgm:pt modelId="{9800FE24-F52E-4573-AE52-E408EA23FAB7}" type="sibTrans" cxnId="{DAFB8903-0427-45AB-A6E8-B1C1D1F5CB54}">
      <dgm:prSet/>
      <dgm:spPr/>
      <dgm:t>
        <a:bodyPr/>
        <a:lstStyle/>
        <a:p>
          <a:endParaRPr lang="en-US"/>
        </a:p>
      </dgm:t>
    </dgm:pt>
    <dgm:pt modelId="{FBA45BC0-2523-4F36-9430-B9D79B0F8EB0}">
      <dgm:prSet phldrT="[Text]" phldr="1"/>
      <dgm:spPr/>
      <dgm:t>
        <a:bodyPr/>
        <a:lstStyle/>
        <a:p>
          <a:endParaRPr lang="en-US" dirty="0"/>
        </a:p>
      </dgm:t>
    </dgm:pt>
    <dgm:pt modelId="{B6C2EC35-773E-44F0-909F-79BA62F61333}" type="sibTrans" cxnId="{9DF3EE7D-04ED-4454-8098-7BC028CD3C2D}">
      <dgm:prSet/>
      <dgm:spPr/>
      <dgm:t>
        <a:bodyPr/>
        <a:lstStyle/>
        <a:p>
          <a:endParaRPr lang="en-US"/>
        </a:p>
      </dgm:t>
    </dgm:pt>
    <dgm:pt modelId="{FB5BFD8F-682D-406B-92CA-953AFDCFF1E0}" type="parTrans" cxnId="{9DF3EE7D-04ED-4454-8098-7BC028CD3C2D}">
      <dgm:prSet/>
      <dgm:spPr/>
      <dgm:t>
        <a:bodyPr/>
        <a:lstStyle/>
        <a:p>
          <a:endParaRPr lang="en-US"/>
        </a:p>
      </dgm:t>
    </dgm:pt>
    <dgm:pt modelId="{C0B7D03B-DC95-4000-B0B8-663966FFEA08}">
      <dgm:prSet phldrT="[Text]" phldr="1"/>
      <dgm:spPr/>
      <dgm:t>
        <a:bodyPr/>
        <a:lstStyle/>
        <a:p>
          <a:endParaRPr lang="en-US" dirty="0"/>
        </a:p>
      </dgm:t>
    </dgm:pt>
    <dgm:pt modelId="{EA2887CD-1283-45D2-B5A3-4925CB8C7B72}" type="sibTrans" cxnId="{3E98DF2C-05B7-4DFB-B5ED-3AD7EDCD0052}">
      <dgm:prSet/>
      <dgm:spPr/>
      <dgm:t>
        <a:bodyPr/>
        <a:lstStyle/>
        <a:p>
          <a:endParaRPr lang="en-US"/>
        </a:p>
      </dgm:t>
    </dgm:pt>
    <dgm:pt modelId="{DDB1E3C5-683B-4196-8522-0A28D8B79870}" type="parTrans" cxnId="{3E98DF2C-05B7-4DFB-B5ED-3AD7EDCD0052}">
      <dgm:prSet/>
      <dgm:spPr/>
      <dgm:t>
        <a:bodyPr/>
        <a:lstStyle/>
        <a:p>
          <a:endParaRPr lang="en-US"/>
        </a:p>
      </dgm:t>
    </dgm:pt>
    <dgm:pt modelId="{FB5827BE-7319-408A-BFB7-02B69DA98D3F}" type="pres">
      <dgm:prSet presAssocID="{ECA9F05F-D611-47B3-8313-1095C762F81C}" presName="Name0" presStyleCnt="0">
        <dgm:presLayoutVars>
          <dgm:chMax/>
          <dgm:chPref/>
          <dgm:dir/>
        </dgm:presLayoutVars>
      </dgm:prSet>
      <dgm:spPr/>
      <dgm:t>
        <a:bodyPr/>
        <a:lstStyle/>
        <a:p>
          <a:endParaRPr lang="en-US"/>
        </a:p>
      </dgm:t>
    </dgm:pt>
    <dgm:pt modelId="{6E77008B-CB72-4ABD-9285-3D3AF4679CEC}" type="pres">
      <dgm:prSet presAssocID="{FE730040-2E1A-4047-AEF0-B70DD7CDFC11}" presName="parenttextcomposite" presStyleCnt="0"/>
      <dgm:spPr/>
      <dgm:t>
        <a:bodyPr/>
        <a:lstStyle/>
        <a:p>
          <a:endParaRPr lang="en-US"/>
        </a:p>
      </dgm:t>
    </dgm:pt>
    <dgm:pt modelId="{C445DDD8-2A74-47E8-80B0-973EDDE0CC00}" type="pres">
      <dgm:prSet presAssocID="{FE730040-2E1A-4047-AEF0-B70DD7CDFC11}" presName="parenttext" presStyleLbl="revTx" presStyleIdx="0" presStyleCnt="3">
        <dgm:presLayoutVars>
          <dgm:chMax/>
          <dgm:chPref val="2"/>
          <dgm:bulletEnabled val="1"/>
        </dgm:presLayoutVars>
      </dgm:prSet>
      <dgm:spPr/>
      <dgm:t>
        <a:bodyPr/>
        <a:lstStyle/>
        <a:p>
          <a:endParaRPr lang="en-US"/>
        </a:p>
      </dgm:t>
    </dgm:pt>
    <dgm:pt modelId="{7EEF408B-328B-42CD-BF3C-01C9710C9B04}" type="pres">
      <dgm:prSet presAssocID="{FE730040-2E1A-4047-AEF0-B70DD7CDFC11}" presName="composite" presStyleCnt="0"/>
      <dgm:spPr/>
      <dgm:t>
        <a:bodyPr/>
        <a:lstStyle/>
        <a:p>
          <a:endParaRPr lang="en-US"/>
        </a:p>
      </dgm:t>
    </dgm:pt>
    <dgm:pt modelId="{B8188E6F-634D-4A5C-B7AF-1D28BCAD0F39}" type="pres">
      <dgm:prSet presAssocID="{FE730040-2E1A-4047-AEF0-B70DD7CDFC11}" presName="chevron1" presStyleLbl="alignNode1" presStyleIdx="0" presStyleCnt="21"/>
      <dgm:spPr/>
      <dgm:t>
        <a:bodyPr/>
        <a:lstStyle/>
        <a:p>
          <a:endParaRPr lang="en-US"/>
        </a:p>
      </dgm:t>
    </dgm:pt>
    <dgm:pt modelId="{27A2934E-4A51-4008-AABA-BBC99BF8C91E}" type="pres">
      <dgm:prSet presAssocID="{FE730040-2E1A-4047-AEF0-B70DD7CDFC11}" presName="chevron2" presStyleLbl="alignNode1" presStyleIdx="1" presStyleCnt="21"/>
      <dgm:spPr/>
      <dgm:t>
        <a:bodyPr/>
        <a:lstStyle/>
        <a:p>
          <a:endParaRPr lang="en-US"/>
        </a:p>
      </dgm:t>
    </dgm:pt>
    <dgm:pt modelId="{4FD1D73B-4DC5-425A-A038-FA393B9A50EA}" type="pres">
      <dgm:prSet presAssocID="{FE730040-2E1A-4047-AEF0-B70DD7CDFC11}" presName="chevron3" presStyleLbl="alignNode1" presStyleIdx="2" presStyleCnt="21"/>
      <dgm:spPr/>
      <dgm:t>
        <a:bodyPr/>
        <a:lstStyle/>
        <a:p>
          <a:endParaRPr lang="en-US"/>
        </a:p>
      </dgm:t>
    </dgm:pt>
    <dgm:pt modelId="{6843F6DE-76C1-4192-8BD5-2C807B5764E7}" type="pres">
      <dgm:prSet presAssocID="{FE730040-2E1A-4047-AEF0-B70DD7CDFC11}" presName="chevron4" presStyleLbl="alignNode1" presStyleIdx="3" presStyleCnt="21"/>
      <dgm:spPr/>
      <dgm:t>
        <a:bodyPr/>
        <a:lstStyle/>
        <a:p>
          <a:endParaRPr lang="en-US"/>
        </a:p>
      </dgm:t>
    </dgm:pt>
    <dgm:pt modelId="{93C27CED-D70B-43C1-9613-051D2A02CE19}" type="pres">
      <dgm:prSet presAssocID="{FE730040-2E1A-4047-AEF0-B70DD7CDFC11}" presName="chevron5" presStyleLbl="alignNode1" presStyleIdx="4" presStyleCnt="21"/>
      <dgm:spPr/>
      <dgm:t>
        <a:bodyPr/>
        <a:lstStyle/>
        <a:p>
          <a:endParaRPr lang="en-US"/>
        </a:p>
      </dgm:t>
    </dgm:pt>
    <dgm:pt modelId="{FC637A88-5CC5-469F-A65F-FF810353D0D9}" type="pres">
      <dgm:prSet presAssocID="{FE730040-2E1A-4047-AEF0-B70DD7CDFC11}" presName="chevron6" presStyleLbl="alignNode1" presStyleIdx="5" presStyleCnt="21"/>
      <dgm:spPr/>
      <dgm:t>
        <a:bodyPr/>
        <a:lstStyle/>
        <a:p>
          <a:endParaRPr lang="en-US"/>
        </a:p>
      </dgm:t>
    </dgm:pt>
    <dgm:pt modelId="{86E383E6-A89A-4487-878A-EB2FA296DC05}" type="pres">
      <dgm:prSet presAssocID="{FE730040-2E1A-4047-AEF0-B70DD7CDFC11}" presName="chevron7" presStyleLbl="alignNode1" presStyleIdx="6" presStyleCnt="21" custScaleX="229096"/>
      <dgm:spPr/>
      <dgm:t>
        <a:bodyPr/>
        <a:lstStyle/>
        <a:p>
          <a:endParaRPr lang="en-US"/>
        </a:p>
      </dgm:t>
    </dgm:pt>
    <dgm:pt modelId="{852F32F4-77FB-426C-8EE2-3AD9EA04B5FC}" type="pres">
      <dgm:prSet presAssocID="{FE730040-2E1A-4047-AEF0-B70DD7CDFC11}" presName="childtext" presStyleLbl="solidFgAcc1" presStyleIdx="0" presStyleCnt="3" custScaleX="114911" custLinFactNeighborX="-72" custLinFactNeighborY="3432">
        <dgm:presLayoutVars>
          <dgm:chMax/>
          <dgm:chPref val="0"/>
          <dgm:bulletEnabled val="1"/>
        </dgm:presLayoutVars>
      </dgm:prSet>
      <dgm:spPr/>
      <dgm:t>
        <a:bodyPr/>
        <a:lstStyle/>
        <a:p>
          <a:endParaRPr lang="en-US"/>
        </a:p>
      </dgm:t>
    </dgm:pt>
    <dgm:pt modelId="{63757225-8B28-4218-810B-2524C4A92F36}" type="pres">
      <dgm:prSet presAssocID="{F9412417-D597-44C8-BD2B-7CA28E80B29F}" presName="sibTrans" presStyleCnt="0"/>
      <dgm:spPr/>
      <dgm:t>
        <a:bodyPr/>
        <a:lstStyle/>
        <a:p>
          <a:endParaRPr lang="en-US"/>
        </a:p>
      </dgm:t>
    </dgm:pt>
    <dgm:pt modelId="{2743B12C-53F7-419C-997F-EAB035F40864}" type="pres">
      <dgm:prSet presAssocID="{C0B7D03B-DC95-4000-B0B8-663966FFEA08}" presName="parenttextcomposite" presStyleCnt="0"/>
      <dgm:spPr/>
      <dgm:t>
        <a:bodyPr/>
        <a:lstStyle/>
        <a:p>
          <a:endParaRPr lang="en-US"/>
        </a:p>
      </dgm:t>
    </dgm:pt>
    <dgm:pt modelId="{5B23B501-2609-4942-8797-2BCFCEE84895}" type="pres">
      <dgm:prSet presAssocID="{C0B7D03B-DC95-4000-B0B8-663966FFEA08}" presName="parenttext" presStyleLbl="revTx" presStyleIdx="1" presStyleCnt="3" custFlipHor="1" custScaleX="158025">
        <dgm:presLayoutVars>
          <dgm:chMax/>
          <dgm:chPref val="2"/>
          <dgm:bulletEnabled val="1"/>
        </dgm:presLayoutVars>
      </dgm:prSet>
      <dgm:spPr/>
      <dgm:t>
        <a:bodyPr/>
        <a:lstStyle/>
        <a:p>
          <a:endParaRPr lang="en-US"/>
        </a:p>
      </dgm:t>
    </dgm:pt>
    <dgm:pt modelId="{96658243-12B5-419C-BD2E-694DCAD8845F}" type="pres">
      <dgm:prSet presAssocID="{C0B7D03B-DC95-4000-B0B8-663966FFEA08}" presName="composite" presStyleCnt="0"/>
      <dgm:spPr/>
      <dgm:t>
        <a:bodyPr/>
        <a:lstStyle/>
        <a:p>
          <a:endParaRPr lang="en-US"/>
        </a:p>
      </dgm:t>
    </dgm:pt>
    <dgm:pt modelId="{12991974-F6F5-475B-BFC9-E849F75F56DC}" type="pres">
      <dgm:prSet presAssocID="{C0B7D03B-DC95-4000-B0B8-663966FFEA08}" presName="chevron1" presStyleLbl="alignNode1" presStyleIdx="7" presStyleCnt="21"/>
      <dgm:spPr/>
      <dgm:t>
        <a:bodyPr/>
        <a:lstStyle/>
        <a:p>
          <a:endParaRPr lang="en-US"/>
        </a:p>
      </dgm:t>
    </dgm:pt>
    <dgm:pt modelId="{245ED832-50E4-49D6-8743-C29A7BED7188}" type="pres">
      <dgm:prSet presAssocID="{C0B7D03B-DC95-4000-B0B8-663966FFEA08}" presName="chevron2" presStyleLbl="alignNode1" presStyleIdx="8" presStyleCnt="21"/>
      <dgm:spPr/>
      <dgm:t>
        <a:bodyPr/>
        <a:lstStyle/>
        <a:p>
          <a:endParaRPr lang="en-US"/>
        </a:p>
      </dgm:t>
    </dgm:pt>
    <dgm:pt modelId="{1A44E4EC-D6C2-4D7A-8058-D9AC6089DC15}" type="pres">
      <dgm:prSet presAssocID="{C0B7D03B-DC95-4000-B0B8-663966FFEA08}" presName="chevron3" presStyleLbl="alignNode1" presStyleIdx="9" presStyleCnt="21"/>
      <dgm:spPr/>
      <dgm:t>
        <a:bodyPr/>
        <a:lstStyle/>
        <a:p>
          <a:endParaRPr lang="en-US"/>
        </a:p>
      </dgm:t>
    </dgm:pt>
    <dgm:pt modelId="{8A61651F-ABC1-4709-8BF1-7E3E92F3654D}" type="pres">
      <dgm:prSet presAssocID="{C0B7D03B-DC95-4000-B0B8-663966FFEA08}" presName="chevron4" presStyleLbl="alignNode1" presStyleIdx="10" presStyleCnt="21"/>
      <dgm:spPr/>
      <dgm:t>
        <a:bodyPr/>
        <a:lstStyle/>
        <a:p>
          <a:endParaRPr lang="en-US"/>
        </a:p>
      </dgm:t>
    </dgm:pt>
    <dgm:pt modelId="{6AA3EBF9-9FC7-4E54-9BD9-4E4805449580}" type="pres">
      <dgm:prSet presAssocID="{C0B7D03B-DC95-4000-B0B8-663966FFEA08}" presName="chevron5" presStyleLbl="alignNode1" presStyleIdx="11" presStyleCnt="21"/>
      <dgm:spPr/>
      <dgm:t>
        <a:bodyPr/>
        <a:lstStyle/>
        <a:p>
          <a:endParaRPr lang="en-US"/>
        </a:p>
      </dgm:t>
    </dgm:pt>
    <dgm:pt modelId="{8E7E4AEA-9A6A-4FEE-8391-188A6919A5CC}" type="pres">
      <dgm:prSet presAssocID="{C0B7D03B-DC95-4000-B0B8-663966FFEA08}" presName="chevron6" presStyleLbl="alignNode1" presStyleIdx="12" presStyleCnt="21"/>
      <dgm:spPr/>
      <dgm:t>
        <a:bodyPr/>
        <a:lstStyle/>
        <a:p>
          <a:endParaRPr lang="en-US"/>
        </a:p>
      </dgm:t>
    </dgm:pt>
    <dgm:pt modelId="{E478A0C0-8CA9-4A39-B3BD-4DE9AC07FF94}" type="pres">
      <dgm:prSet presAssocID="{C0B7D03B-DC95-4000-B0B8-663966FFEA08}" presName="chevron7" presStyleLbl="alignNode1" presStyleIdx="13" presStyleCnt="21" custScaleX="301352"/>
      <dgm:spPr/>
      <dgm:t>
        <a:bodyPr/>
        <a:lstStyle/>
        <a:p>
          <a:endParaRPr lang="en-US"/>
        </a:p>
      </dgm:t>
    </dgm:pt>
    <dgm:pt modelId="{EB2A7779-7E06-4C72-8940-1BF5D933F3A4}" type="pres">
      <dgm:prSet presAssocID="{C0B7D03B-DC95-4000-B0B8-663966FFEA08}" presName="childtext" presStyleLbl="solidFgAcc1" presStyleIdx="1" presStyleCnt="3" custScaleX="118820" custLinFactNeighborX="1206" custLinFactNeighborY="2854">
        <dgm:presLayoutVars>
          <dgm:chMax/>
          <dgm:chPref val="0"/>
          <dgm:bulletEnabled val="1"/>
        </dgm:presLayoutVars>
      </dgm:prSet>
      <dgm:spPr/>
      <dgm:t>
        <a:bodyPr/>
        <a:lstStyle/>
        <a:p>
          <a:endParaRPr lang="en-US"/>
        </a:p>
      </dgm:t>
    </dgm:pt>
    <dgm:pt modelId="{CCE35569-61F9-4A62-81D3-92CC7AB8489A}" type="pres">
      <dgm:prSet presAssocID="{EA2887CD-1283-45D2-B5A3-4925CB8C7B72}" presName="sibTrans" presStyleCnt="0"/>
      <dgm:spPr/>
      <dgm:t>
        <a:bodyPr/>
        <a:lstStyle/>
        <a:p>
          <a:endParaRPr lang="en-US"/>
        </a:p>
      </dgm:t>
    </dgm:pt>
    <dgm:pt modelId="{814553B3-332F-4920-9869-8FDDF1ED0C46}" type="pres">
      <dgm:prSet presAssocID="{FBA45BC0-2523-4F36-9430-B9D79B0F8EB0}" presName="parenttextcomposite" presStyleCnt="0"/>
      <dgm:spPr/>
      <dgm:t>
        <a:bodyPr/>
        <a:lstStyle/>
        <a:p>
          <a:endParaRPr lang="en-US"/>
        </a:p>
      </dgm:t>
    </dgm:pt>
    <dgm:pt modelId="{23109A6B-4162-401E-98DA-1E0218C8846D}" type="pres">
      <dgm:prSet presAssocID="{FBA45BC0-2523-4F36-9430-B9D79B0F8EB0}" presName="parenttext" presStyleLbl="revTx" presStyleIdx="2" presStyleCnt="3" custScaleX="158025">
        <dgm:presLayoutVars>
          <dgm:chMax/>
          <dgm:chPref val="2"/>
          <dgm:bulletEnabled val="1"/>
        </dgm:presLayoutVars>
      </dgm:prSet>
      <dgm:spPr/>
      <dgm:t>
        <a:bodyPr/>
        <a:lstStyle/>
        <a:p>
          <a:endParaRPr lang="en-US"/>
        </a:p>
      </dgm:t>
    </dgm:pt>
    <dgm:pt modelId="{5EC68C92-2099-4183-8C6C-7C53E2CD6799}" type="pres">
      <dgm:prSet presAssocID="{FBA45BC0-2523-4F36-9430-B9D79B0F8EB0}" presName="composite" presStyleCnt="0"/>
      <dgm:spPr/>
      <dgm:t>
        <a:bodyPr/>
        <a:lstStyle/>
        <a:p>
          <a:endParaRPr lang="en-US"/>
        </a:p>
      </dgm:t>
    </dgm:pt>
    <dgm:pt modelId="{DC7C367E-BC68-48EE-81D1-ADEFD9464916}" type="pres">
      <dgm:prSet presAssocID="{FBA45BC0-2523-4F36-9430-B9D79B0F8EB0}" presName="chevron1" presStyleLbl="alignNode1" presStyleIdx="14" presStyleCnt="21"/>
      <dgm:spPr/>
      <dgm:t>
        <a:bodyPr/>
        <a:lstStyle/>
        <a:p>
          <a:endParaRPr lang="en-US"/>
        </a:p>
      </dgm:t>
    </dgm:pt>
    <dgm:pt modelId="{ADB114BB-A1C1-4905-879F-AEEBCFACFE33}" type="pres">
      <dgm:prSet presAssocID="{FBA45BC0-2523-4F36-9430-B9D79B0F8EB0}" presName="chevron2" presStyleLbl="alignNode1" presStyleIdx="15" presStyleCnt="21"/>
      <dgm:spPr/>
      <dgm:t>
        <a:bodyPr/>
        <a:lstStyle/>
        <a:p>
          <a:endParaRPr lang="en-US"/>
        </a:p>
      </dgm:t>
    </dgm:pt>
    <dgm:pt modelId="{89E62A7F-5F75-4BA2-91E0-0108BE5A0C44}" type="pres">
      <dgm:prSet presAssocID="{FBA45BC0-2523-4F36-9430-B9D79B0F8EB0}" presName="chevron3" presStyleLbl="alignNode1" presStyleIdx="16" presStyleCnt="21"/>
      <dgm:spPr/>
      <dgm:t>
        <a:bodyPr/>
        <a:lstStyle/>
        <a:p>
          <a:endParaRPr lang="en-US"/>
        </a:p>
      </dgm:t>
    </dgm:pt>
    <dgm:pt modelId="{314C01D8-CD1F-4615-BC11-542C2247E26C}" type="pres">
      <dgm:prSet presAssocID="{FBA45BC0-2523-4F36-9430-B9D79B0F8EB0}" presName="chevron4" presStyleLbl="alignNode1" presStyleIdx="17" presStyleCnt="21"/>
      <dgm:spPr/>
      <dgm:t>
        <a:bodyPr/>
        <a:lstStyle/>
        <a:p>
          <a:endParaRPr lang="en-US"/>
        </a:p>
      </dgm:t>
    </dgm:pt>
    <dgm:pt modelId="{E7245A0A-5E7B-4124-8A19-BD56F805056C}" type="pres">
      <dgm:prSet presAssocID="{FBA45BC0-2523-4F36-9430-B9D79B0F8EB0}" presName="chevron5" presStyleLbl="alignNode1" presStyleIdx="18" presStyleCnt="21"/>
      <dgm:spPr/>
      <dgm:t>
        <a:bodyPr/>
        <a:lstStyle/>
        <a:p>
          <a:endParaRPr lang="en-US"/>
        </a:p>
      </dgm:t>
    </dgm:pt>
    <dgm:pt modelId="{362F88EC-FA8F-4796-A1D5-BC067AA5176E}" type="pres">
      <dgm:prSet presAssocID="{FBA45BC0-2523-4F36-9430-B9D79B0F8EB0}" presName="chevron6" presStyleLbl="alignNode1" presStyleIdx="19" presStyleCnt="21"/>
      <dgm:spPr/>
      <dgm:t>
        <a:bodyPr/>
        <a:lstStyle/>
        <a:p>
          <a:endParaRPr lang="en-US"/>
        </a:p>
      </dgm:t>
    </dgm:pt>
    <dgm:pt modelId="{91859BF7-BCD8-4B18-9EF1-5E41CD265FBC}" type="pres">
      <dgm:prSet presAssocID="{FBA45BC0-2523-4F36-9430-B9D79B0F8EB0}" presName="chevron7" presStyleLbl="alignNode1" presStyleIdx="20" presStyleCnt="21" custScaleX="207102" custLinFactNeighborX="42909" custLinFactNeighborY="7143"/>
      <dgm:spPr/>
      <dgm:t>
        <a:bodyPr/>
        <a:lstStyle/>
        <a:p>
          <a:endParaRPr lang="en-US"/>
        </a:p>
      </dgm:t>
    </dgm:pt>
    <dgm:pt modelId="{64C983F5-595B-4946-8622-45B1A06A45CD}" type="pres">
      <dgm:prSet presAssocID="{FBA45BC0-2523-4F36-9430-B9D79B0F8EB0}" presName="childtext" presStyleLbl="solidFgAcc1" presStyleIdx="2" presStyleCnt="3">
        <dgm:presLayoutVars>
          <dgm:chMax/>
          <dgm:chPref val="0"/>
          <dgm:bulletEnabled val="1"/>
        </dgm:presLayoutVars>
      </dgm:prSet>
      <dgm:spPr/>
      <dgm:t>
        <a:bodyPr/>
        <a:lstStyle/>
        <a:p>
          <a:endParaRPr lang="en-US"/>
        </a:p>
      </dgm:t>
    </dgm:pt>
  </dgm:ptLst>
  <dgm:cxnLst>
    <dgm:cxn modelId="{A17FD16F-C0CA-4B63-A4D7-E42DEA8F39A7}" type="presOf" srcId="{7C2FD890-1604-49BF-9E1A-2DFD986E15D8}" destId="{852F32F4-77FB-426C-8EE2-3AD9EA04B5FC}" srcOrd="0" destOrd="0" presId="urn:microsoft.com/office/officeart/2008/layout/VerticalAccentList"/>
    <dgm:cxn modelId="{07E40650-5A37-4FAC-AA58-47F78E6BC259}" type="presOf" srcId="{FE730040-2E1A-4047-AEF0-B70DD7CDFC11}" destId="{C445DDD8-2A74-47E8-80B0-973EDDE0CC00}" srcOrd="0" destOrd="0" presId="urn:microsoft.com/office/officeart/2008/layout/VerticalAccentList"/>
    <dgm:cxn modelId="{3A21B960-689C-466F-AD4B-593D7ABAE0A6}" type="presOf" srcId="{ECA9F05F-D611-47B3-8313-1095C762F81C}" destId="{FB5827BE-7319-408A-BFB7-02B69DA98D3F}" srcOrd="0" destOrd="0" presId="urn:microsoft.com/office/officeart/2008/layout/VerticalAccentList"/>
    <dgm:cxn modelId="{79514819-56CA-4162-AB33-F93FF69D7E9E}" srcId="{C0B7D03B-DC95-4000-B0B8-663966FFEA08}" destId="{05FBB333-9060-4BFA-97B0-E82DE865DF8F}" srcOrd="0" destOrd="0" parTransId="{868760F1-3389-4B26-8698-E31A85986EE8}" sibTransId="{8A17D459-36BA-4F88-B840-824D04101F02}"/>
    <dgm:cxn modelId="{0F5F31A3-A8BA-4BFA-9D8A-BA8E117F2F47}" type="presOf" srcId="{05FBB333-9060-4BFA-97B0-E82DE865DF8F}" destId="{EB2A7779-7E06-4C72-8940-1BF5D933F3A4}" srcOrd="0" destOrd="0" presId="urn:microsoft.com/office/officeart/2008/layout/VerticalAccentList"/>
    <dgm:cxn modelId="{910DC4BA-2064-4459-AA19-8521F39F9213}" type="presOf" srcId="{F07A8F9D-363B-41A8-A5D4-746600EFDF6E}" destId="{64C983F5-595B-4946-8622-45B1A06A45CD}" srcOrd="0" destOrd="0" presId="urn:microsoft.com/office/officeart/2008/layout/VerticalAccentList"/>
    <dgm:cxn modelId="{9DF3EE7D-04ED-4454-8098-7BC028CD3C2D}" srcId="{ECA9F05F-D611-47B3-8313-1095C762F81C}" destId="{FBA45BC0-2523-4F36-9430-B9D79B0F8EB0}" srcOrd="2" destOrd="0" parTransId="{FB5BFD8F-682D-406B-92CA-953AFDCFF1E0}" sibTransId="{B6C2EC35-773E-44F0-909F-79BA62F61333}"/>
    <dgm:cxn modelId="{480A9CC1-A1DB-4645-A45C-6BD3F42204F6}" srcId="{ECA9F05F-D611-47B3-8313-1095C762F81C}" destId="{FE730040-2E1A-4047-AEF0-B70DD7CDFC11}" srcOrd="0" destOrd="0" parTransId="{7B1FC9D9-0F93-460B-AFF4-96BD1CC08C39}" sibTransId="{F9412417-D597-44C8-BD2B-7CA28E80B29F}"/>
    <dgm:cxn modelId="{B90D9153-29DF-465E-9439-57E479F7D893}" type="presOf" srcId="{FBA45BC0-2523-4F36-9430-B9D79B0F8EB0}" destId="{23109A6B-4162-401E-98DA-1E0218C8846D}" srcOrd="0" destOrd="0" presId="urn:microsoft.com/office/officeart/2008/layout/VerticalAccentList"/>
    <dgm:cxn modelId="{DAFB8903-0427-45AB-A6E8-B1C1D1F5CB54}" srcId="{FBA45BC0-2523-4F36-9430-B9D79B0F8EB0}" destId="{F07A8F9D-363B-41A8-A5D4-746600EFDF6E}" srcOrd="0" destOrd="0" parTransId="{C7992488-AFDE-4C70-95A6-8269243D0EA8}" sibTransId="{9800FE24-F52E-4573-AE52-E408EA23FAB7}"/>
    <dgm:cxn modelId="{13F8DE13-9EA4-42BA-A65D-BBB40D5BA9D1}" srcId="{FE730040-2E1A-4047-AEF0-B70DD7CDFC11}" destId="{7C2FD890-1604-49BF-9E1A-2DFD986E15D8}" srcOrd="0" destOrd="0" parTransId="{9776D7D3-ED5F-4BC0-AB15-8179630453CE}" sibTransId="{01F4EDDD-1318-4010-B939-A19ADC0743FE}"/>
    <dgm:cxn modelId="{3E98DF2C-05B7-4DFB-B5ED-3AD7EDCD0052}" srcId="{ECA9F05F-D611-47B3-8313-1095C762F81C}" destId="{C0B7D03B-DC95-4000-B0B8-663966FFEA08}" srcOrd="1" destOrd="0" parTransId="{DDB1E3C5-683B-4196-8522-0A28D8B79870}" sibTransId="{EA2887CD-1283-45D2-B5A3-4925CB8C7B72}"/>
    <dgm:cxn modelId="{C0C26533-8C45-4757-85E5-9099D3802B32}" type="presOf" srcId="{C0B7D03B-DC95-4000-B0B8-663966FFEA08}" destId="{5B23B501-2609-4942-8797-2BCFCEE84895}" srcOrd="0" destOrd="0" presId="urn:microsoft.com/office/officeart/2008/layout/VerticalAccentList"/>
    <dgm:cxn modelId="{758098FB-ADCC-49B3-8080-2497A89A3217}" type="presParOf" srcId="{FB5827BE-7319-408A-BFB7-02B69DA98D3F}" destId="{6E77008B-CB72-4ABD-9285-3D3AF4679CEC}" srcOrd="0" destOrd="0" presId="urn:microsoft.com/office/officeart/2008/layout/VerticalAccentList"/>
    <dgm:cxn modelId="{FB29C30B-678F-42A4-A369-F05C94A2CB4F}" type="presParOf" srcId="{6E77008B-CB72-4ABD-9285-3D3AF4679CEC}" destId="{C445DDD8-2A74-47E8-80B0-973EDDE0CC00}" srcOrd="0" destOrd="0" presId="urn:microsoft.com/office/officeart/2008/layout/VerticalAccentList"/>
    <dgm:cxn modelId="{E1C0A68D-42C1-41E4-930A-ACC3F77AED3E}" type="presParOf" srcId="{FB5827BE-7319-408A-BFB7-02B69DA98D3F}" destId="{7EEF408B-328B-42CD-BF3C-01C9710C9B04}" srcOrd="1" destOrd="0" presId="urn:microsoft.com/office/officeart/2008/layout/VerticalAccentList"/>
    <dgm:cxn modelId="{C0B45B33-C8F9-41B1-8D53-85AEF3806F63}" type="presParOf" srcId="{7EEF408B-328B-42CD-BF3C-01C9710C9B04}" destId="{B8188E6F-634D-4A5C-B7AF-1D28BCAD0F39}" srcOrd="0" destOrd="0" presId="urn:microsoft.com/office/officeart/2008/layout/VerticalAccentList"/>
    <dgm:cxn modelId="{F238D3CB-14D5-4BD4-B234-E574057518BF}" type="presParOf" srcId="{7EEF408B-328B-42CD-BF3C-01C9710C9B04}" destId="{27A2934E-4A51-4008-AABA-BBC99BF8C91E}" srcOrd="1" destOrd="0" presId="urn:microsoft.com/office/officeart/2008/layout/VerticalAccentList"/>
    <dgm:cxn modelId="{6FC05D5C-D87D-40EB-B981-92958B9C4F67}" type="presParOf" srcId="{7EEF408B-328B-42CD-BF3C-01C9710C9B04}" destId="{4FD1D73B-4DC5-425A-A038-FA393B9A50EA}" srcOrd="2" destOrd="0" presId="urn:microsoft.com/office/officeart/2008/layout/VerticalAccentList"/>
    <dgm:cxn modelId="{FD9DEB2C-C95C-433F-937D-6F0EAB53EB2C}" type="presParOf" srcId="{7EEF408B-328B-42CD-BF3C-01C9710C9B04}" destId="{6843F6DE-76C1-4192-8BD5-2C807B5764E7}" srcOrd="3" destOrd="0" presId="urn:microsoft.com/office/officeart/2008/layout/VerticalAccentList"/>
    <dgm:cxn modelId="{76762107-CF93-4E4A-99EA-3A2119EDBAE5}" type="presParOf" srcId="{7EEF408B-328B-42CD-BF3C-01C9710C9B04}" destId="{93C27CED-D70B-43C1-9613-051D2A02CE19}" srcOrd="4" destOrd="0" presId="urn:microsoft.com/office/officeart/2008/layout/VerticalAccentList"/>
    <dgm:cxn modelId="{282F3F4F-9F6C-40B1-AF35-41A18FACFFB8}" type="presParOf" srcId="{7EEF408B-328B-42CD-BF3C-01C9710C9B04}" destId="{FC637A88-5CC5-469F-A65F-FF810353D0D9}" srcOrd="5" destOrd="0" presId="urn:microsoft.com/office/officeart/2008/layout/VerticalAccentList"/>
    <dgm:cxn modelId="{7AC0E40C-F24A-411B-B879-4793FF75777B}" type="presParOf" srcId="{7EEF408B-328B-42CD-BF3C-01C9710C9B04}" destId="{86E383E6-A89A-4487-878A-EB2FA296DC05}" srcOrd="6" destOrd="0" presId="urn:microsoft.com/office/officeart/2008/layout/VerticalAccentList"/>
    <dgm:cxn modelId="{17B15A8A-4C43-44EB-B51B-286C1A5D55FB}" type="presParOf" srcId="{7EEF408B-328B-42CD-BF3C-01C9710C9B04}" destId="{852F32F4-77FB-426C-8EE2-3AD9EA04B5FC}" srcOrd="7" destOrd="0" presId="urn:microsoft.com/office/officeart/2008/layout/VerticalAccentList"/>
    <dgm:cxn modelId="{10B918F2-FFDF-4E54-833D-4B21613A085A}" type="presParOf" srcId="{FB5827BE-7319-408A-BFB7-02B69DA98D3F}" destId="{63757225-8B28-4218-810B-2524C4A92F36}" srcOrd="2" destOrd="0" presId="urn:microsoft.com/office/officeart/2008/layout/VerticalAccentList"/>
    <dgm:cxn modelId="{DA1C6B50-C7C2-453E-B706-94B205403B34}" type="presParOf" srcId="{FB5827BE-7319-408A-BFB7-02B69DA98D3F}" destId="{2743B12C-53F7-419C-997F-EAB035F40864}" srcOrd="3" destOrd="0" presId="urn:microsoft.com/office/officeart/2008/layout/VerticalAccentList"/>
    <dgm:cxn modelId="{F7A63371-7A14-42CA-A4AF-929A4A296BA3}" type="presParOf" srcId="{2743B12C-53F7-419C-997F-EAB035F40864}" destId="{5B23B501-2609-4942-8797-2BCFCEE84895}" srcOrd="0" destOrd="0" presId="urn:microsoft.com/office/officeart/2008/layout/VerticalAccentList"/>
    <dgm:cxn modelId="{ADD6DB34-EC9E-4540-9BA8-0F20F6DB523E}" type="presParOf" srcId="{FB5827BE-7319-408A-BFB7-02B69DA98D3F}" destId="{96658243-12B5-419C-BD2E-694DCAD8845F}" srcOrd="4" destOrd="0" presId="urn:microsoft.com/office/officeart/2008/layout/VerticalAccentList"/>
    <dgm:cxn modelId="{E840BC45-6A5E-4E46-8AB3-7B46F4CBC6F9}" type="presParOf" srcId="{96658243-12B5-419C-BD2E-694DCAD8845F}" destId="{12991974-F6F5-475B-BFC9-E849F75F56DC}" srcOrd="0" destOrd="0" presId="urn:microsoft.com/office/officeart/2008/layout/VerticalAccentList"/>
    <dgm:cxn modelId="{B3839A9D-2E8D-461C-AACA-400F62580885}" type="presParOf" srcId="{96658243-12B5-419C-BD2E-694DCAD8845F}" destId="{245ED832-50E4-49D6-8743-C29A7BED7188}" srcOrd="1" destOrd="0" presId="urn:microsoft.com/office/officeart/2008/layout/VerticalAccentList"/>
    <dgm:cxn modelId="{D5A7AC30-F78C-4273-8774-03FDCB4457A7}" type="presParOf" srcId="{96658243-12B5-419C-BD2E-694DCAD8845F}" destId="{1A44E4EC-D6C2-4D7A-8058-D9AC6089DC15}" srcOrd="2" destOrd="0" presId="urn:microsoft.com/office/officeart/2008/layout/VerticalAccentList"/>
    <dgm:cxn modelId="{3ABA8AB7-1476-4F2B-90BC-8D83F5F961CB}" type="presParOf" srcId="{96658243-12B5-419C-BD2E-694DCAD8845F}" destId="{8A61651F-ABC1-4709-8BF1-7E3E92F3654D}" srcOrd="3" destOrd="0" presId="urn:microsoft.com/office/officeart/2008/layout/VerticalAccentList"/>
    <dgm:cxn modelId="{3896CF7E-6211-4499-ACB1-3152C32279DC}" type="presParOf" srcId="{96658243-12B5-419C-BD2E-694DCAD8845F}" destId="{6AA3EBF9-9FC7-4E54-9BD9-4E4805449580}" srcOrd="4" destOrd="0" presId="urn:microsoft.com/office/officeart/2008/layout/VerticalAccentList"/>
    <dgm:cxn modelId="{70B47AC8-CB5A-4C2D-BF41-7874E732AE68}" type="presParOf" srcId="{96658243-12B5-419C-BD2E-694DCAD8845F}" destId="{8E7E4AEA-9A6A-4FEE-8391-188A6919A5CC}" srcOrd="5" destOrd="0" presId="urn:microsoft.com/office/officeart/2008/layout/VerticalAccentList"/>
    <dgm:cxn modelId="{ABF22111-B554-42E1-AA5A-24E6D1E71729}" type="presParOf" srcId="{96658243-12B5-419C-BD2E-694DCAD8845F}" destId="{E478A0C0-8CA9-4A39-B3BD-4DE9AC07FF94}" srcOrd="6" destOrd="0" presId="urn:microsoft.com/office/officeart/2008/layout/VerticalAccentList"/>
    <dgm:cxn modelId="{62154D78-FDCC-4106-BCEB-4DCE254C8B97}" type="presParOf" srcId="{96658243-12B5-419C-BD2E-694DCAD8845F}" destId="{EB2A7779-7E06-4C72-8940-1BF5D933F3A4}" srcOrd="7" destOrd="0" presId="urn:microsoft.com/office/officeart/2008/layout/VerticalAccentList"/>
    <dgm:cxn modelId="{0B7244CE-EDDA-4911-9C6B-8F6A52460EB8}" type="presParOf" srcId="{FB5827BE-7319-408A-BFB7-02B69DA98D3F}" destId="{CCE35569-61F9-4A62-81D3-92CC7AB8489A}" srcOrd="5" destOrd="0" presId="urn:microsoft.com/office/officeart/2008/layout/VerticalAccentList"/>
    <dgm:cxn modelId="{50B2B223-C33B-49B5-92D9-7F51501969EF}" type="presParOf" srcId="{FB5827BE-7319-408A-BFB7-02B69DA98D3F}" destId="{814553B3-332F-4920-9869-8FDDF1ED0C46}" srcOrd="6" destOrd="0" presId="urn:microsoft.com/office/officeart/2008/layout/VerticalAccentList"/>
    <dgm:cxn modelId="{637B9215-D99D-4525-902F-5957E4472884}" type="presParOf" srcId="{814553B3-332F-4920-9869-8FDDF1ED0C46}" destId="{23109A6B-4162-401E-98DA-1E0218C8846D}" srcOrd="0" destOrd="0" presId="urn:microsoft.com/office/officeart/2008/layout/VerticalAccentList"/>
    <dgm:cxn modelId="{9D17BCB8-833F-4C67-9A60-F6F106658823}" type="presParOf" srcId="{FB5827BE-7319-408A-BFB7-02B69DA98D3F}" destId="{5EC68C92-2099-4183-8C6C-7C53E2CD6799}" srcOrd="7" destOrd="0" presId="urn:microsoft.com/office/officeart/2008/layout/VerticalAccentList"/>
    <dgm:cxn modelId="{AAEFD512-B170-4702-95B3-01290B7DAE4F}" type="presParOf" srcId="{5EC68C92-2099-4183-8C6C-7C53E2CD6799}" destId="{DC7C367E-BC68-48EE-81D1-ADEFD9464916}" srcOrd="0" destOrd="0" presId="urn:microsoft.com/office/officeart/2008/layout/VerticalAccentList"/>
    <dgm:cxn modelId="{DABA7EFE-5298-4135-8BD7-3D41A5AA1924}" type="presParOf" srcId="{5EC68C92-2099-4183-8C6C-7C53E2CD6799}" destId="{ADB114BB-A1C1-4905-879F-AEEBCFACFE33}" srcOrd="1" destOrd="0" presId="urn:microsoft.com/office/officeart/2008/layout/VerticalAccentList"/>
    <dgm:cxn modelId="{48F3E2A2-ACCD-4E9D-B9AA-160E73689596}" type="presParOf" srcId="{5EC68C92-2099-4183-8C6C-7C53E2CD6799}" destId="{89E62A7F-5F75-4BA2-91E0-0108BE5A0C44}" srcOrd="2" destOrd="0" presId="urn:microsoft.com/office/officeart/2008/layout/VerticalAccentList"/>
    <dgm:cxn modelId="{099961C9-B602-47B2-A5E0-7615EE59DDEF}" type="presParOf" srcId="{5EC68C92-2099-4183-8C6C-7C53E2CD6799}" destId="{314C01D8-CD1F-4615-BC11-542C2247E26C}" srcOrd="3" destOrd="0" presId="urn:microsoft.com/office/officeart/2008/layout/VerticalAccentList"/>
    <dgm:cxn modelId="{0395130F-8510-468C-B1DA-7DF49420507F}" type="presParOf" srcId="{5EC68C92-2099-4183-8C6C-7C53E2CD6799}" destId="{E7245A0A-5E7B-4124-8A19-BD56F805056C}" srcOrd="4" destOrd="0" presId="urn:microsoft.com/office/officeart/2008/layout/VerticalAccentList"/>
    <dgm:cxn modelId="{8FFC189C-7AAD-465B-999E-60A2612C755E}" type="presParOf" srcId="{5EC68C92-2099-4183-8C6C-7C53E2CD6799}" destId="{362F88EC-FA8F-4796-A1D5-BC067AA5176E}" srcOrd="5" destOrd="0" presId="urn:microsoft.com/office/officeart/2008/layout/VerticalAccentList"/>
    <dgm:cxn modelId="{4EF7EB4A-995D-4768-9E62-4C3392EC6516}" type="presParOf" srcId="{5EC68C92-2099-4183-8C6C-7C53E2CD6799}" destId="{91859BF7-BCD8-4B18-9EF1-5E41CD265FBC}" srcOrd="6" destOrd="0" presId="urn:microsoft.com/office/officeart/2008/layout/VerticalAccentList"/>
    <dgm:cxn modelId="{11937CD3-EBCF-4CCF-961B-47E9C7143353}" type="presParOf" srcId="{5EC68C92-2099-4183-8C6C-7C53E2CD6799}" destId="{64C983F5-595B-4946-8622-45B1A06A45CD}" srcOrd="7" destOrd="0" presId="urn:microsoft.com/office/officeart/2008/layout/VerticalAccen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B5B480A-8298-4018-ABB2-AFF099407261}" type="doc">
      <dgm:prSet loTypeId="urn:microsoft.com/office/officeart/2005/8/layout/vList6" loCatId="list" qsTypeId="urn:microsoft.com/office/officeart/2005/8/quickstyle/3d3" qsCatId="3D" csTypeId="urn:microsoft.com/office/officeart/2005/8/colors/colorful5" csCatId="colorful" phldr="1"/>
      <dgm:spPr/>
      <dgm:t>
        <a:bodyPr/>
        <a:lstStyle/>
        <a:p>
          <a:endParaRPr lang="en-US"/>
        </a:p>
      </dgm:t>
    </dgm:pt>
    <dgm:pt modelId="{EEFE2E53-3F9F-42FA-A8DD-5C1C29F28240}">
      <dgm:prSet phldrT="[Text]"/>
      <dgm:spPr/>
      <dgm:t>
        <a:bodyPr/>
        <a:lstStyle/>
        <a:p>
          <a:r>
            <a:rPr lang="en-US" dirty="0" smtClean="0"/>
            <a:t>1.</a:t>
          </a:r>
          <a:endParaRPr lang="en-US" dirty="0"/>
        </a:p>
      </dgm:t>
    </dgm:pt>
    <dgm:pt modelId="{2113E791-779F-4C14-BE21-10FAA556C65A}" type="parTrans" cxnId="{9B44E577-5950-4220-AF0C-E4CDF889A53F}">
      <dgm:prSet/>
      <dgm:spPr/>
      <dgm:t>
        <a:bodyPr/>
        <a:lstStyle/>
        <a:p>
          <a:endParaRPr lang="en-US"/>
        </a:p>
      </dgm:t>
    </dgm:pt>
    <dgm:pt modelId="{B50FACB8-AB81-4872-A1C5-4759BC555061}" type="sibTrans" cxnId="{9B44E577-5950-4220-AF0C-E4CDF889A53F}">
      <dgm:prSet/>
      <dgm:spPr/>
      <dgm:t>
        <a:bodyPr/>
        <a:lstStyle/>
        <a:p>
          <a:endParaRPr lang="en-US"/>
        </a:p>
      </dgm:t>
    </dgm:pt>
    <dgm:pt modelId="{E105FDFB-EA02-49E3-9F74-04B7D16E22FA}">
      <dgm:prSet phldrT="[Text]" custT="1"/>
      <dgm:spPr/>
      <dgm:t>
        <a:bodyPr/>
        <a:lstStyle/>
        <a:p>
          <a:pPr algn="just"/>
          <a:r>
            <a:rPr lang="en-US" sz="2000" b="1" dirty="0" err="1" smtClean="0">
              <a:solidFill>
                <a:srgbClr val="002060"/>
              </a:solidFill>
              <a:latin typeface="Power Geez Unicode1" pitchFamily="2" charset="0"/>
            </a:rPr>
            <a:t>ተደጋጋሚ</a:t>
          </a:r>
          <a:r>
            <a:rPr lang="en-US" sz="2000" b="1" dirty="0" smtClean="0">
              <a:solidFill>
                <a:srgbClr val="002060"/>
              </a:solidFill>
              <a:latin typeface="Power Geez Unicode1" pitchFamily="2" charset="0"/>
            </a:rPr>
            <a:t> </a:t>
          </a:r>
          <a:r>
            <a:rPr lang="en-US" sz="2000" b="1" dirty="0" err="1" smtClean="0">
              <a:solidFill>
                <a:srgbClr val="002060"/>
              </a:solidFill>
              <a:latin typeface="Power Geez Unicode1" pitchFamily="2" charset="0"/>
            </a:rPr>
            <a:t>መድረክ</a:t>
          </a:r>
          <a:r>
            <a:rPr lang="en-US" sz="2000" b="1" dirty="0" smtClean="0">
              <a:solidFill>
                <a:srgbClr val="002060"/>
              </a:solidFill>
              <a:latin typeface="Power Geez Unicode1" pitchFamily="2" charset="0"/>
            </a:rPr>
            <a:t> </a:t>
          </a:r>
          <a:r>
            <a:rPr lang="en-US" sz="2000" b="1" dirty="0" err="1" smtClean="0">
              <a:solidFill>
                <a:srgbClr val="FF0000"/>
              </a:solidFill>
              <a:latin typeface="Power Geez Unicode1" pitchFamily="2" charset="0"/>
            </a:rPr>
            <a:t>ለህብረተሰቡ</a:t>
          </a:r>
          <a:r>
            <a:rPr lang="en-US" sz="2000" b="1" dirty="0" smtClean="0">
              <a:solidFill>
                <a:srgbClr val="002060"/>
              </a:solidFill>
              <a:latin typeface="Power Geez Unicode1" pitchFamily="2" charset="0"/>
            </a:rPr>
            <a:t> </a:t>
          </a:r>
          <a:r>
            <a:rPr lang="en-US" sz="2000" b="1" dirty="0" err="1" smtClean="0">
              <a:solidFill>
                <a:srgbClr val="002060"/>
              </a:solidFill>
              <a:latin typeface="Power Geez Unicode1" pitchFamily="2" charset="0"/>
            </a:rPr>
            <a:t>በመፍጠር</a:t>
          </a:r>
          <a:r>
            <a:rPr lang="en-US" sz="2000" b="1" dirty="0" smtClean="0">
              <a:solidFill>
                <a:srgbClr val="002060"/>
              </a:solidFill>
              <a:latin typeface="Power Geez Unicode1" pitchFamily="2" charset="0"/>
            </a:rPr>
            <a:t> </a:t>
          </a:r>
          <a:r>
            <a:rPr lang="en-US" sz="2000" b="1" dirty="0" err="1" smtClean="0">
              <a:solidFill>
                <a:srgbClr val="002060"/>
              </a:solidFill>
              <a:latin typeface="Power Geez Unicode1" pitchFamily="2" charset="0"/>
            </a:rPr>
            <a:t>በደንብ</a:t>
          </a:r>
          <a:r>
            <a:rPr lang="en-US" sz="2000" b="1" dirty="0" smtClean="0">
              <a:solidFill>
                <a:srgbClr val="002060"/>
              </a:solidFill>
              <a:latin typeface="Power Geez Unicode1" pitchFamily="2" charset="0"/>
            </a:rPr>
            <a:t> </a:t>
          </a:r>
          <a:r>
            <a:rPr lang="en-US" sz="2000" b="1" dirty="0" err="1" smtClean="0">
              <a:solidFill>
                <a:srgbClr val="002060"/>
              </a:solidFill>
              <a:latin typeface="Power Geez Unicode1" pitchFamily="2" charset="0"/>
            </a:rPr>
            <a:t>ቁጥር</a:t>
          </a:r>
          <a:r>
            <a:rPr lang="en-US" sz="2000" b="1" dirty="0" smtClean="0">
              <a:solidFill>
                <a:srgbClr val="002060"/>
              </a:solidFill>
              <a:latin typeface="Power Geez Unicode1" pitchFamily="2" charset="0"/>
            </a:rPr>
            <a:t> </a:t>
          </a:r>
          <a:r>
            <a:rPr lang="en-US" sz="2000" b="1" dirty="0" smtClean="0">
              <a:solidFill>
                <a:srgbClr val="FF0000"/>
              </a:solidFill>
              <a:latin typeface="Power Geez Unicode1" pitchFamily="2" charset="0"/>
            </a:rPr>
            <a:t>167/2016</a:t>
          </a:r>
          <a:r>
            <a:rPr lang="en-US" sz="2000" b="1" dirty="0" smtClean="0">
              <a:solidFill>
                <a:srgbClr val="002060"/>
              </a:solidFill>
              <a:latin typeface="Power Geez Unicode1" pitchFamily="2" charset="0"/>
            </a:rPr>
            <a:t> </a:t>
          </a:r>
          <a:r>
            <a:rPr lang="en-US" sz="2000" b="1" dirty="0" err="1" smtClean="0">
              <a:solidFill>
                <a:srgbClr val="002060"/>
              </a:solidFill>
              <a:latin typeface="Power Geez Unicode1" pitchFamily="2" charset="0"/>
            </a:rPr>
            <a:t>ላይ</a:t>
          </a:r>
          <a:r>
            <a:rPr lang="en-US" sz="2000" b="1" dirty="0" smtClean="0">
              <a:solidFill>
                <a:srgbClr val="002060"/>
              </a:solidFill>
              <a:latin typeface="Power Geez Unicode1" pitchFamily="2" charset="0"/>
            </a:rPr>
            <a:t> </a:t>
          </a:r>
          <a:r>
            <a:rPr lang="en-US" sz="2000" b="1" dirty="0" err="1" smtClean="0">
              <a:solidFill>
                <a:srgbClr val="002060"/>
              </a:solidFill>
              <a:latin typeface="Power Geez Unicode1" pitchFamily="2" charset="0"/>
            </a:rPr>
            <a:t>በቂ</a:t>
          </a:r>
          <a:r>
            <a:rPr lang="en-US" sz="2000" b="1" dirty="0" smtClean="0">
              <a:solidFill>
                <a:srgbClr val="002060"/>
              </a:solidFill>
              <a:latin typeface="Power Geez Unicode1" pitchFamily="2" charset="0"/>
            </a:rPr>
            <a:t> </a:t>
          </a:r>
          <a:r>
            <a:rPr lang="en-US" sz="2000" b="1" dirty="0" err="1" smtClean="0">
              <a:solidFill>
                <a:srgbClr val="002060"/>
              </a:solidFill>
              <a:latin typeface="Power Geez Unicode1" pitchFamily="2" charset="0"/>
            </a:rPr>
            <a:t>ግንዛቤ</a:t>
          </a:r>
          <a:r>
            <a:rPr lang="en-US" sz="2000" b="1" dirty="0" smtClean="0">
              <a:solidFill>
                <a:srgbClr val="002060"/>
              </a:solidFill>
              <a:latin typeface="Power Geez Unicode1" pitchFamily="2" charset="0"/>
            </a:rPr>
            <a:t> </a:t>
          </a:r>
          <a:r>
            <a:rPr lang="en-US" sz="2000" b="1" dirty="0" err="1" smtClean="0">
              <a:solidFill>
                <a:srgbClr val="002060"/>
              </a:solidFill>
              <a:latin typeface="Power Geez Unicode1" pitchFamily="2" charset="0"/>
            </a:rPr>
            <a:t>ይኖረዋል</a:t>
          </a:r>
          <a:r>
            <a:rPr lang="en-US" sz="2000" b="1" dirty="0" smtClean="0">
              <a:solidFill>
                <a:srgbClr val="002060"/>
              </a:solidFill>
              <a:latin typeface="Power Geez Unicode1" pitchFamily="2" charset="0"/>
            </a:rPr>
            <a:t> </a:t>
          </a:r>
          <a:r>
            <a:rPr lang="en-US" sz="2000" b="1" dirty="0" err="1" smtClean="0">
              <a:solidFill>
                <a:srgbClr val="002060"/>
              </a:solidFill>
              <a:latin typeface="Power Geez Unicode1" pitchFamily="2" charset="0"/>
            </a:rPr>
            <a:t>ተብሎይጠበቃል</a:t>
          </a:r>
          <a:endParaRPr lang="en-US" sz="2000" b="1" dirty="0">
            <a:solidFill>
              <a:srgbClr val="002060"/>
            </a:solidFill>
            <a:latin typeface="Power Geez Unicode1" pitchFamily="2" charset="0"/>
          </a:endParaRPr>
        </a:p>
      </dgm:t>
    </dgm:pt>
    <dgm:pt modelId="{44DF6DF7-3004-4602-974E-2BEBCFB954F6}" type="parTrans" cxnId="{89193D5C-CE7F-4337-AEB2-9787B0C0591E}">
      <dgm:prSet/>
      <dgm:spPr/>
      <dgm:t>
        <a:bodyPr/>
        <a:lstStyle/>
        <a:p>
          <a:endParaRPr lang="en-US"/>
        </a:p>
      </dgm:t>
    </dgm:pt>
    <dgm:pt modelId="{ED5CBD19-9860-4CCE-B031-FF22BB7365B0}" type="sibTrans" cxnId="{89193D5C-CE7F-4337-AEB2-9787B0C0591E}">
      <dgm:prSet/>
      <dgm:spPr/>
      <dgm:t>
        <a:bodyPr/>
        <a:lstStyle/>
        <a:p>
          <a:endParaRPr lang="en-US"/>
        </a:p>
      </dgm:t>
    </dgm:pt>
    <dgm:pt modelId="{EF8E420C-AAF4-4DB6-9FB9-6A86D22B4FE8}">
      <dgm:prSet phldrT="[Text]"/>
      <dgm:spPr/>
      <dgm:t>
        <a:bodyPr/>
        <a:lstStyle/>
        <a:p>
          <a:r>
            <a:rPr lang="en-US" dirty="0" smtClean="0"/>
            <a:t>2.</a:t>
          </a:r>
          <a:endParaRPr lang="en-US" dirty="0"/>
        </a:p>
      </dgm:t>
    </dgm:pt>
    <dgm:pt modelId="{652AE4D5-718B-440E-9F35-08F6498BDC95}" type="parTrans" cxnId="{64CEC241-D7F9-4864-B093-94522CED834C}">
      <dgm:prSet/>
      <dgm:spPr/>
      <dgm:t>
        <a:bodyPr/>
        <a:lstStyle/>
        <a:p>
          <a:endParaRPr lang="en-US"/>
        </a:p>
      </dgm:t>
    </dgm:pt>
    <dgm:pt modelId="{1C6C5FCB-EEF2-40F4-831C-B7D6D9AD60D8}" type="sibTrans" cxnId="{64CEC241-D7F9-4864-B093-94522CED834C}">
      <dgm:prSet/>
      <dgm:spPr/>
      <dgm:t>
        <a:bodyPr/>
        <a:lstStyle/>
        <a:p>
          <a:endParaRPr lang="en-US"/>
        </a:p>
      </dgm:t>
    </dgm:pt>
    <dgm:pt modelId="{A41DFC7E-3095-472F-A002-93AFDE3D5946}">
      <dgm:prSet phldrT="[Text]" custT="1"/>
      <dgm:spPr/>
      <dgm:t>
        <a:bodyPr/>
        <a:lstStyle/>
        <a:p>
          <a:pPr algn="just"/>
          <a:r>
            <a:rPr lang="en-US" sz="2000" b="1" dirty="0" err="1" smtClean="0">
              <a:solidFill>
                <a:srgbClr val="C00000"/>
              </a:solidFill>
              <a:latin typeface="Power Geez Unicode1" pitchFamily="2" charset="0"/>
            </a:rPr>
            <a:t>የከተማው</a:t>
          </a:r>
          <a:r>
            <a:rPr lang="en-US" sz="2000" b="1" dirty="0" smtClean="0">
              <a:solidFill>
                <a:srgbClr val="C00000"/>
              </a:solidFill>
              <a:latin typeface="Power Geez Unicode1" pitchFamily="2" charset="0"/>
            </a:rPr>
            <a:t> </a:t>
          </a:r>
          <a:r>
            <a:rPr lang="en-US" sz="2000" b="1" dirty="0" err="1" smtClean="0">
              <a:solidFill>
                <a:srgbClr val="C00000"/>
              </a:solidFill>
              <a:latin typeface="Power Geez Unicode1" pitchFamily="2" charset="0"/>
            </a:rPr>
            <a:t>ነዋሪ</a:t>
          </a:r>
          <a:r>
            <a:rPr lang="en-US" sz="2000" b="1" dirty="0" smtClean="0">
              <a:solidFill>
                <a:srgbClr val="C00000"/>
              </a:solidFill>
              <a:latin typeface="Power Geez Unicode1" pitchFamily="2" charset="0"/>
            </a:rPr>
            <a:t> </a:t>
          </a:r>
          <a:r>
            <a:rPr lang="en-US" sz="2000" b="1" dirty="0" err="1" smtClean="0">
              <a:solidFill>
                <a:srgbClr val="C00000"/>
              </a:solidFill>
              <a:latin typeface="Power Geez Unicode1" pitchFamily="2" charset="0"/>
            </a:rPr>
            <a:t>በደንብ</a:t>
          </a:r>
          <a:r>
            <a:rPr lang="en-US" sz="2000" b="1" dirty="0" smtClean="0">
              <a:solidFill>
                <a:srgbClr val="C00000"/>
              </a:solidFill>
              <a:latin typeface="Power Geez Unicode1" pitchFamily="2" charset="0"/>
            </a:rPr>
            <a:t> </a:t>
          </a:r>
          <a:r>
            <a:rPr lang="en-US" sz="2000" b="1" dirty="0" err="1" smtClean="0">
              <a:solidFill>
                <a:srgbClr val="C00000"/>
              </a:solidFill>
              <a:latin typeface="Power Geez Unicode1" pitchFamily="2" charset="0"/>
            </a:rPr>
            <a:t>ቁጥር</a:t>
          </a:r>
          <a:r>
            <a:rPr lang="en-US" sz="2000" b="1" dirty="0" smtClean="0">
              <a:solidFill>
                <a:srgbClr val="C00000"/>
              </a:solidFill>
              <a:latin typeface="Power Geez Unicode1" pitchFamily="2" charset="0"/>
            </a:rPr>
            <a:t> </a:t>
          </a:r>
          <a:r>
            <a:rPr lang="en-US" sz="2000" b="1" dirty="0" smtClean="0">
              <a:solidFill>
                <a:schemeClr val="tx1"/>
              </a:solidFill>
              <a:latin typeface="Power Geez Unicode1" pitchFamily="2" charset="0"/>
            </a:rPr>
            <a:t>167/2016 </a:t>
          </a:r>
          <a:r>
            <a:rPr lang="en-US" sz="2000" b="1" dirty="0" err="1" smtClean="0">
              <a:solidFill>
                <a:srgbClr val="C00000"/>
              </a:solidFill>
              <a:latin typeface="Power Geez Unicode1" pitchFamily="2" charset="0"/>
            </a:rPr>
            <a:t>እና</a:t>
          </a:r>
          <a:r>
            <a:rPr lang="en-US" sz="2000" b="1" dirty="0" smtClean="0">
              <a:solidFill>
                <a:srgbClr val="C00000"/>
              </a:solidFill>
              <a:latin typeface="Power Geez Unicode1" pitchFamily="2" charset="0"/>
            </a:rPr>
            <a:t> </a:t>
          </a:r>
          <a:r>
            <a:rPr lang="en-US" sz="2000" b="1" dirty="0" err="1" smtClean="0">
              <a:solidFill>
                <a:srgbClr val="C00000"/>
              </a:solidFill>
              <a:latin typeface="Power Geez Unicode1" pitchFamily="2" charset="0"/>
            </a:rPr>
            <a:t>በደንብ</a:t>
          </a:r>
          <a:r>
            <a:rPr lang="en-US" sz="2000" b="1" dirty="0" smtClean="0">
              <a:solidFill>
                <a:srgbClr val="C00000"/>
              </a:solidFill>
              <a:latin typeface="Power Geez Unicode1" pitchFamily="2" charset="0"/>
            </a:rPr>
            <a:t> </a:t>
          </a:r>
          <a:r>
            <a:rPr lang="en-US" sz="2000" b="1" dirty="0" err="1" smtClean="0">
              <a:solidFill>
                <a:srgbClr val="C00000"/>
              </a:solidFill>
              <a:latin typeface="Power Geez Unicode1" pitchFamily="2" charset="0"/>
            </a:rPr>
            <a:t>ቁጥር</a:t>
          </a:r>
          <a:r>
            <a:rPr lang="en-US" sz="2000" b="1" dirty="0" smtClean="0">
              <a:solidFill>
                <a:srgbClr val="C00000"/>
              </a:solidFill>
              <a:latin typeface="Power Geez Unicode1" pitchFamily="2" charset="0"/>
            </a:rPr>
            <a:t> </a:t>
          </a:r>
          <a:r>
            <a:rPr lang="en-US" sz="2000" b="1" dirty="0" smtClean="0">
              <a:solidFill>
                <a:schemeClr val="tx1"/>
              </a:solidFill>
              <a:latin typeface="Power Geez Unicode1" pitchFamily="2" charset="0"/>
            </a:rPr>
            <a:t>150/2015</a:t>
          </a:r>
          <a:r>
            <a:rPr lang="en-US" sz="2000" b="1" dirty="0" smtClean="0">
              <a:solidFill>
                <a:srgbClr val="C00000"/>
              </a:solidFill>
              <a:latin typeface="Power Geez Unicode1" pitchFamily="2" charset="0"/>
            </a:rPr>
            <a:t> </a:t>
          </a:r>
          <a:r>
            <a:rPr lang="en-US" sz="2000" b="1" dirty="0" err="1" smtClean="0">
              <a:solidFill>
                <a:srgbClr val="C00000"/>
              </a:solidFill>
              <a:latin typeface="Power Geez Unicode1" pitchFamily="2" charset="0"/>
            </a:rPr>
            <a:t>መካከል</a:t>
          </a:r>
          <a:r>
            <a:rPr lang="en-US" sz="2000" b="1" dirty="0" smtClean="0">
              <a:solidFill>
                <a:srgbClr val="C00000"/>
              </a:solidFill>
              <a:latin typeface="Power Geez Unicode1" pitchFamily="2" charset="0"/>
            </a:rPr>
            <a:t> </a:t>
          </a:r>
          <a:r>
            <a:rPr lang="en-US" sz="2000" b="1" dirty="0" err="1" smtClean="0">
              <a:solidFill>
                <a:srgbClr val="C00000"/>
              </a:solidFill>
              <a:latin typeface="Power Geez Unicode1" pitchFamily="2" charset="0"/>
            </a:rPr>
            <a:t>የተሻሻለውን</a:t>
          </a:r>
          <a:r>
            <a:rPr lang="en-US" sz="2000" b="1" dirty="0" smtClean="0">
              <a:solidFill>
                <a:srgbClr val="C00000"/>
              </a:solidFill>
              <a:latin typeface="Power Geez Unicode1" pitchFamily="2" charset="0"/>
            </a:rPr>
            <a:t> </a:t>
          </a:r>
          <a:r>
            <a:rPr lang="en-US" sz="2000" b="1" dirty="0" err="1" smtClean="0">
              <a:solidFill>
                <a:srgbClr val="C00000"/>
              </a:solidFill>
              <a:latin typeface="Power Geez Unicode1" pitchFamily="2" charset="0"/>
            </a:rPr>
            <a:t>አንቀጽ</a:t>
          </a:r>
          <a:r>
            <a:rPr lang="en-US" sz="2000" b="1" dirty="0" smtClean="0">
              <a:solidFill>
                <a:srgbClr val="C00000"/>
              </a:solidFill>
              <a:latin typeface="Power Geez Unicode1" pitchFamily="2" charset="0"/>
            </a:rPr>
            <a:t> </a:t>
          </a:r>
          <a:r>
            <a:rPr lang="en-US" sz="2000" b="1" dirty="0" err="1" smtClean="0">
              <a:solidFill>
                <a:srgbClr val="C00000"/>
              </a:solidFill>
              <a:latin typeface="Power Geez Unicode1" pitchFamily="2" charset="0"/>
            </a:rPr>
            <a:t>እንዲረዱ</a:t>
          </a:r>
          <a:r>
            <a:rPr lang="en-US" sz="2000" b="1" dirty="0" smtClean="0">
              <a:solidFill>
                <a:srgbClr val="C00000"/>
              </a:solidFill>
              <a:latin typeface="Power Geez Unicode1" pitchFamily="2" charset="0"/>
            </a:rPr>
            <a:t> </a:t>
          </a:r>
          <a:r>
            <a:rPr lang="en-US" sz="2000" b="1" dirty="0" err="1" smtClean="0">
              <a:solidFill>
                <a:srgbClr val="C00000"/>
              </a:solidFill>
              <a:latin typeface="Power Geez Unicode1" pitchFamily="2" charset="0"/>
            </a:rPr>
            <a:t>ማድረግ</a:t>
          </a:r>
          <a:r>
            <a:rPr lang="en-US" sz="2000" b="1" dirty="0" smtClean="0">
              <a:solidFill>
                <a:srgbClr val="C00000"/>
              </a:solidFill>
              <a:latin typeface="Power Geez Unicode1" pitchFamily="2" charset="0"/>
            </a:rPr>
            <a:t> </a:t>
          </a:r>
          <a:r>
            <a:rPr lang="en-US" sz="2000" b="1" dirty="0" err="1" smtClean="0">
              <a:solidFill>
                <a:srgbClr val="C00000"/>
              </a:solidFill>
              <a:latin typeface="Power Geez Unicode1" pitchFamily="2" charset="0"/>
            </a:rPr>
            <a:t>የተቀረውን</a:t>
          </a:r>
          <a:r>
            <a:rPr lang="en-US" sz="2000" b="1" dirty="0" smtClean="0">
              <a:solidFill>
                <a:srgbClr val="C00000"/>
              </a:solidFill>
              <a:latin typeface="Power Geez Unicode1" pitchFamily="2" charset="0"/>
            </a:rPr>
            <a:t> </a:t>
          </a:r>
          <a:r>
            <a:rPr lang="en-US" sz="2000" b="1" dirty="0" err="1" smtClean="0">
              <a:solidFill>
                <a:schemeClr val="tx1"/>
              </a:solidFill>
              <a:latin typeface="Power Geez Unicode1" pitchFamily="2" charset="0"/>
            </a:rPr>
            <a:t>የህ</a:t>
          </a:r>
          <a:r>
            <a:rPr lang="en-US" sz="2000" b="1" dirty="0" smtClean="0">
              <a:solidFill>
                <a:schemeClr val="tx1"/>
              </a:solidFill>
              <a:latin typeface="Power Geez Unicode1" pitchFamily="2" charset="0"/>
            </a:rPr>
            <a:t>/</a:t>
          </a:r>
          <a:r>
            <a:rPr lang="en-US" sz="2000" b="1" dirty="0" err="1" smtClean="0">
              <a:solidFill>
                <a:schemeClr val="tx1"/>
              </a:solidFill>
              <a:latin typeface="Power Geez Unicode1" pitchFamily="2" charset="0"/>
            </a:rPr>
            <a:t>ክፍል</a:t>
          </a:r>
          <a:r>
            <a:rPr lang="en-US" sz="2000" b="1" dirty="0" smtClean="0">
              <a:solidFill>
                <a:schemeClr val="tx1"/>
              </a:solidFill>
              <a:latin typeface="Power Geez Unicode1" pitchFamily="2" charset="0"/>
            </a:rPr>
            <a:t> </a:t>
          </a:r>
          <a:r>
            <a:rPr lang="en-US" sz="2000" b="1" dirty="0" err="1" smtClean="0">
              <a:solidFill>
                <a:schemeClr val="tx1"/>
              </a:solidFill>
              <a:latin typeface="Power Geez Unicode1" pitchFamily="2" charset="0"/>
            </a:rPr>
            <a:t>ግንዛቤ</a:t>
          </a:r>
          <a:r>
            <a:rPr lang="en-US" sz="2000" b="1" dirty="0" smtClean="0">
              <a:solidFill>
                <a:schemeClr val="tx1"/>
              </a:solidFill>
              <a:latin typeface="Power Geez Unicode1" pitchFamily="2" charset="0"/>
            </a:rPr>
            <a:t> </a:t>
          </a:r>
          <a:r>
            <a:rPr lang="en-US" sz="2000" b="1" dirty="0" err="1" smtClean="0">
              <a:solidFill>
                <a:schemeClr val="tx1"/>
              </a:solidFill>
              <a:latin typeface="Power Geez Unicode1" pitchFamily="2" charset="0"/>
            </a:rPr>
            <a:t>እንዲፈጥሩ</a:t>
          </a:r>
          <a:r>
            <a:rPr lang="en-US" sz="2000" b="1" dirty="0" smtClean="0">
              <a:solidFill>
                <a:srgbClr val="C00000"/>
              </a:solidFill>
              <a:latin typeface="Power Geez Unicode1" pitchFamily="2" charset="0"/>
            </a:rPr>
            <a:t> </a:t>
          </a:r>
          <a:r>
            <a:rPr lang="en-US" sz="2000" b="1" dirty="0" err="1" smtClean="0">
              <a:solidFill>
                <a:srgbClr val="C00000"/>
              </a:solidFill>
              <a:latin typeface="Power Geez Unicode1" pitchFamily="2" charset="0"/>
            </a:rPr>
            <a:t>ይረዳል</a:t>
          </a:r>
          <a:endParaRPr lang="en-US" sz="1300" b="1" dirty="0">
            <a:solidFill>
              <a:srgbClr val="C00000"/>
            </a:solidFill>
            <a:latin typeface="Power Geez Unicode1" pitchFamily="2" charset="0"/>
          </a:endParaRPr>
        </a:p>
      </dgm:t>
    </dgm:pt>
    <dgm:pt modelId="{8F8A191E-1FBF-4177-B5E8-5D6148EE198A}" type="parTrans" cxnId="{29FF5A86-5DEA-4C01-BE33-00AE7D067FB6}">
      <dgm:prSet/>
      <dgm:spPr/>
      <dgm:t>
        <a:bodyPr/>
        <a:lstStyle/>
        <a:p>
          <a:endParaRPr lang="en-US"/>
        </a:p>
      </dgm:t>
    </dgm:pt>
    <dgm:pt modelId="{0DA1A80A-7A95-4438-BF6A-55C91E4A2418}" type="sibTrans" cxnId="{29FF5A86-5DEA-4C01-BE33-00AE7D067FB6}">
      <dgm:prSet/>
      <dgm:spPr/>
      <dgm:t>
        <a:bodyPr/>
        <a:lstStyle/>
        <a:p>
          <a:endParaRPr lang="en-US"/>
        </a:p>
      </dgm:t>
    </dgm:pt>
    <dgm:pt modelId="{81EAD9D3-A047-419B-A754-DFA8C1FE4274}" type="pres">
      <dgm:prSet presAssocID="{3B5B480A-8298-4018-ABB2-AFF099407261}" presName="Name0" presStyleCnt="0">
        <dgm:presLayoutVars>
          <dgm:dir/>
          <dgm:animLvl val="lvl"/>
          <dgm:resizeHandles/>
        </dgm:presLayoutVars>
      </dgm:prSet>
      <dgm:spPr/>
      <dgm:t>
        <a:bodyPr/>
        <a:lstStyle/>
        <a:p>
          <a:endParaRPr lang="en-US"/>
        </a:p>
      </dgm:t>
    </dgm:pt>
    <dgm:pt modelId="{966265ED-6843-47E5-A271-C2A8B1ABF743}" type="pres">
      <dgm:prSet presAssocID="{EEFE2E53-3F9F-42FA-A8DD-5C1C29F28240}" presName="linNode" presStyleCnt="0"/>
      <dgm:spPr/>
    </dgm:pt>
    <dgm:pt modelId="{20B58F0B-6487-4F94-8E1F-7244D3CA0805}" type="pres">
      <dgm:prSet presAssocID="{EEFE2E53-3F9F-42FA-A8DD-5C1C29F28240}" presName="parentShp" presStyleLbl="node1" presStyleIdx="0" presStyleCnt="2">
        <dgm:presLayoutVars>
          <dgm:bulletEnabled val="1"/>
        </dgm:presLayoutVars>
      </dgm:prSet>
      <dgm:spPr/>
      <dgm:t>
        <a:bodyPr/>
        <a:lstStyle/>
        <a:p>
          <a:endParaRPr lang="en-US"/>
        </a:p>
      </dgm:t>
    </dgm:pt>
    <dgm:pt modelId="{BD2624B1-AA0A-4AA6-8F8B-2070DEB1189F}" type="pres">
      <dgm:prSet presAssocID="{EEFE2E53-3F9F-42FA-A8DD-5C1C29F28240}" presName="childShp" presStyleLbl="bgAccFollowNode1" presStyleIdx="0" presStyleCnt="2" custScaleX="108333" custScaleY="150487">
        <dgm:presLayoutVars>
          <dgm:bulletEnabled val="1"/>
        </dgm:presLayoutVars>
      </dgm:prSet>
      <dgm:spPr/>
      <dgm:t>
        <a:bodyPr/>
        <a:lstStyle/>
        <a:p>
          <a:endParaRPr lang="en-US"/>
        </a:p>
      </dgm:t>
    </dgm:pt>
    <dgm:pt modelId="{8657FDBA-E9B5-46DD-8E0F-B825E31BD3FC}" type="pres">
      <dgm:prSet presAssocID="{B50FACB8-AB81-4872-A1C5-4759BC555061}" presName="spacing" presStyleCnt="0"/>
      <dgm:spPr/>
    </dgm:pt>
    <dgm:pt modelId="{66D8F7A9-9DF5-4DF1-9D83-C016200CC0DF}" type="pres">
      <dgm:prSet presAssocID="{EF8E420C-AAF4-4DB6-9FB9-6A86D22B4FE8}" presName="linNode" presStyleCnt="0"/>
      <dgm:spPr/>
    </dgm:pt>
    <dgm:pt modelId="{45237C90-4C8C-478E-B9CD-D360083D0952}" type="pres">
      <dgm:prSet presAssocID="{EF8E420C-AAF4-4DB6-9FB9-6A86D22B4FE8}" presName="parentShp" presStyleLbl="node1" presStyleIdx="1" presStyleCnt="2">
        <dgm:presLayoutVars>
          <dgm:bulletEnabled val="1"/>
        </dgm:presLayoutVars>
      </dgm:prSet>
      <dgm:spPr/>
      <dgm:t>
        <a:bodyPr/>
        <a:lstStyle/>
        <a:p>
          <a:endParaRPr lang="en-US"/>
        </a:p>
      </dgm:t>
    </dgm:pt>
    <dgm:pt modelId="{6A76750A-5C16-4DCC-8953-2D1E08CCA503}" type="pres">
      <dgm:prSet presAssocID="{EF8E420C-AAF4-4DB6-9FB9-6A86D22B4FE8}" presName="childShp" presStyleLbl="bgAccFollowNode1" presStyleIdx="1" presStyleCnt="2" custScaleY="271804" custLinFactNeighborX="443" custLinFactNeighborY="15361">
        <dgm:presLayoutVars>
          <dgm:bulletEnabled val="1"/>
        </dgm:presLayoutVars>
      </dgm:prSet>
      <dgm:spPr/>
      <dgm:t>
        <a:bodyPr/>
        <a:lstStyle/>
        <a:p>
          <a:endParaRPr lang="en-US"/>
        </a:p>
      </dgm:t>
    </dgm:pt>
  </dgm:ptLst>
  <dgm:cxnLst>
    <dgm:cxn modelId="{29FF5A86-5DEA-4C01-BE33-00AE7D067FB6}" srcId="{EF8E420C-AAF4-4DB6-9FB9-6A86D22B4FE8}" destId="{A41DFC7E-3095-472F-A002-93AFDE3D5946}" srcOrd="0" destOrd="0" parTransId="{8F8A191E-1FBF-4177-B5E8-5D6148EE198A}" sibTransId="{0DA1A80A-7A95-4438-BF6A-55C91E4A2418}"/>
    <dgm:cxn modelId="{64CEC241-D7F9-4864-B093-94522CED834C}" srcId="{3B5B480A-8298-4018-ABB2-AFF099407261}" destId="{EF8E420C-AAF4-4DB6-9FB9-6A86D22B4FE8}" srcOrd="1" destOrd="0" parTransId="{652AE4D5-718B-440E-9F35-08F6498BDC95}" sibTransId="{1C6C5FCB-EEF2-40F4-831C-B7D6D9AD60D8}"/>
    <dgm:cxn modelId="{89193D5C-CE7F-4337-AEB2-9787B0C0591E}" srcId="{EEFE2E53-3F9F-42FA-A8DD-5C1C29F28240}" destId="{E105FDFB-EA02-49E3-9F74-04B7D16E22FA}" srcOrd="0" destOrd="0" parTransId="{44DF6DF7-3004-4602-974E-2BEBCFB954F6}" sibTransId="{ED5CBD19-9860-4CCE-B031-FF22BB7365B0}"/>
    <dgm:cxn modelId="{C613568A-2942-4CB0-8501-645D7EA5785E}" type="presOf" srcId="{E105FDFB-EA02-49E3-9F74-04B7D16E22FA}" destId="{BD2624B1-AA0A-4AA6-8F8B-2070DEB1189F}" srcOrd="0" destOrd="0" presId="urn:microsoft.com/office/officeart/2005/8/layout/vList6"/>
    <dgm:cxn modelId="{9B95F7C7-13C4-422B-95D3-93B34DAB7D1B}" type="presOf" srcId="{EEFE2E53-3F9F-42FA-A8DD-5C1C29F28240}" destId="{20B58F0B-6487-4F94-8E1F-7244D3CA0805}" srcOrd="0" destOrd="0" presId="urn:microsoft.com/office/officeart/2005/8/layout/vList6"/>
    <dgm:cxn modelId="{D42B0EC2-4826-4041-817C-81CEE4D80055}" type="presOf" srcId="{EF8E420C-AAF4-4DB6-9FB9-6A86D22B4FE8}" destId="{45237C90-4C8C-478E-B9CD-D360083D0952}" srcOrd="0" destOrd="0" presId="urn:microsoft.com/office/officeart/2005/8/layout/vList6"/>
    <dgm:cxn modelId="{9B44E577-5950-4220-AF0C-E4CDF889A53F}" srcId="{3B5B480A-8298-4018-ABB2-AFF099407261}" destId="{EEFE2E53-3F9F-42FA-A8DD-5C1C29F28240}" srcOrd="0" destOrd="0" parTransId="{2113E791-779F-4C14-BE21-10FAA556C65A}" sibTransId="{B50FACB8-AB81-4872-A1C5-4759BC555061}"/>
    <dgm:cxn modelId="{3A9FE20F-6804-4F29-8ADB-AF0F85D54564}" type="presOf" srcId="{A41DFC7E-3095-472F-A002-93AFDE3D5946}" destId="{6A76750A-5C16-4DCC-8953-2D1E08CCA503}" srcOrd="0" destOrd="0" presId="urn:microsoft.com/office/officeart/2005/8/layout/vList6"/>
    <dgm:cxn modelId="{3F713B51-7C60-420E-B01C-6E9EFFBE8924}" type="presOf" srcId="{3B5B480A-8298-4018-ABB2-AFF099407261}" destId="{81EAD9D3-A047-419B-A754-DFA8C1FE4274}" srcOrd="0" destOrd="0" presId="urn:microsoft.com/office/officeart/2005/8/layout/vList6"/>
    <dgm:cxn modelId="{65C23DB2-103F-49A0-A5B4-7CABFF8DD114}" type="presParOf" srcId="{81EAD9D3-A047-419B-A754-DFA8C1FE4274}" destId="{966265ED-6843-47E5-A271-C2A8B1ABF743}" srcOrd="0" destOrd="0" presId="urn:microsoft.com/office/officeart/2005/8/layout/vList6"/>
    <dgm:cxn modelId="{B4A5A3A7-9CE2-4E6A-ABFE-0919336AFF6A}" type="presParOf" srcId="{966265ED-6843-47E5-A271-C2A8B1ABF743}" destId="{20B58F0B-6487-4F94-8E1F-7244D3CA0805}" srcOrd="0" destOrd="0" presId="urn:microsoft.com/office/officeart/2005/8/layout/vList6"/>
    <dgm:cxn modelId="{7421DCF7-DA37-4272-AF58-FB346FE52724}" type="presParOf" srcId="{966265ED-6843-47E5-A271-C2A8B1ABF743}" destId="{BD2624B1-AA0A-4AA6-8F8B-2070DEB1189F}" srcOrd="1" destOrd="0" presId="urn:microsoft.com/office/officeart/2005/8/layout/vList6"/>
    <dgm:cxn modelId="{D056B28D-DE47-41A5-9D5F-B06D31ACD80C}" type="presParOf" srcId="{81EAD9D3-A047-419B-A754-DFA8C1FE4274}" destId="{8657FDBA-E9B5-46DD-8E0F-B825E31BD3FC}" srcOrd="1" destOrd="0" presId="urn:microsoft.com/office/officeart/2005/8/layout/vList6"/>
    <dgm:cxn modelId="{58C94D86-E446-4702-9F9E-6A4AEA805DF3}" type="presParOf" srcId="{81EAD9D3-A047-419B-A754-DFA8C1FE4274}" destId="{66D8F7A9-9DF5-4DF1-9D83-C016200CC0DF}" srcOrd="2" destOrd="0" presId="urn:microsoft.com/office/officeart/2005/8/layout/vList6"/>
    <dgm:cxn modelId="{BB308310-B3F4-40FB-A489-EA437ED6FA69}" type="presParOf" srcId="{66D8F7A9-9DF5-4DF1-9D83-C016200CC0DF}" destId="{45237C90-4C8C-478E-B9CD-D360083D0952}" srcOrd="0" destOrd="0" presId="urn:microsoft.com/office/officeart/2005/8/layout/vList6"/>
    <dgm:cxn modelId="{39240128-4ADC-40EB-9E47-8620AEC31DEC}" type="presParOf" srcId="{66D8F7A9-9DF5-4DF1-9D83-C016200CC0DF}" destId="{6A76750A-5C16-4DCC-8953-2D1E08CCA503}"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9C2A8D6-4BE6-4A42-B864-6C66FC6B212E}" type="doc">
      <dgm:prSet loTypeId="urn:microsoft.com/office/officeart/2005/8/layout/chevron2" loCatId="list" qsTypeId="urn:microsoft.com/office/officeart/2005/8/quickstyle/simple1" qsCatId="simple" csTypeId="urn:microsoft.com/office/officeart/2005/8/colors/colorful4" csCatId="colorful" phldr="1"/>
      <dgm:spPr/>
      <dgm:t>
        <a:bodyPr/>
        <a:lstStyle/>
        <a:p>
          <a:endParaRPr lang="en-US"/>
        </a:p>
      </dgm:t>
    </dgm:pt>
    <dgm:pt modelId="{42D8B7F0-225D-4B97-97E6-8F3379D3AF3D}">
      <dgm:prSet phldrT="[Text]"/>
      <dgm:spPr/>
      <dgm:t>
        <a:bodyPr/>
        <a:lstStyle/>
        <a:p>
          <a:r>
            <a:rPr lang="en-US" dirty="0" smtClean="0"/>
            <a:t>1</a:t>
          </a:r>
          <a:endParaRPr lang="en-US" dirty="0"/>
        </a:p>
      </dgm:t>
    </dgm:pt>
    <dgm:pt modelId="{90EBFFEF-5321-4FF2-9FEB-2AA66468A8BE}" type="parTrans" cxnId="{68271D9B-7059-439B-AE59-9C9E9CA1772C}">
      <dgm:prSet/>
      <dgm:spPr/>
      <dgm:t>
        <a:bodyPr/>
        <a:lstStyle/>
        <a:p>
          <a:endParaRPr lang="en-US"/>
        </a:p>
      </dgm:t>
    </dgm:pt>
    <dgm:pt modelId="{CB58012E-329A-45F8-9E04-8FE330306F00}" type="sibTrans" cxnId="{68271D9B-7059-439B-AE59-9C9E9CA1772C}">
      <dgm:prSet/>
      <dgm:spPr/>
      <dgm:t>
        <a:bodyPr/>
        <a:lstStyle/>
        <a:p>
          <a:endParaRPr lang="en-US"/>
        </a:p>
      </dgm:t>
    </dgm:pt>
    <dgm:pt modelId="{85A622E5-B178-4FF7-9FF5-35204DCB9F55}">
      <dgm:prSet phldrT="[Text]"/>
      <dgm:spPr/>
      <dgm:t>
        <a:bodyPr/>
        <a:lstStyle/>
        <a:p>
          <a:pPr algn="just"/>
          <a:r>
            <a:rPr lang="am-ET" b="1" i="0" u="none" strike="noStrike" baseline="0" dirty="0" smtClean="0">
              <a:solidFill>
                <a:srgbClr val="002060"/>
              </a:solidFill>
              <a:latin typeface="Visual Geez Unicode"/>
            </a:rPr>
            <a:t>በከተማው ውስጥ የለሙ </a:t>
          </a:r>
          <a:r>
            <a:rPr lang="am-ET" b="1" i="0" u="none" strike="noStrike" baseline="0" dirty="0" smtClean="0">
              <a:solidFill>
                <a:srgbClr val="FF0000"/>
              </a:solidFill>
              <a:latin typeface="Visual Geez Unicode"/>
            </a:rPr>
            <a:t>ፓርኮች</a:t>
          </a:r>
          <a:r>
            <a:rPr lang="am-ET" b="1" i="0" u="none" strike="noStrike" baseline="0" dirty="0" smtClean="0">
              <a:solidFill>
                <a:srgbClr val="002060"/>
              </a:solidFill>
              <a:latin typeface="Visual Geez Unicode"/>
            </a:rPr>
            <a:t>፣ ኮሪደሮች፣ </a:t>
          </a:r>
          <a:r>
            <a:rPr lang="am-ET" b="1" i="0" u="none" strike="noStrike" baseline="0" dirty="0" smtClean="0">
              <a:solidFill>
                <a:srgbClr val="FF0000"/>
              </a:solidFill>
              <a:latin typeface="Visual Geez Unicode"/>
            </a:rPr>
            <a:t>መንገዶችና</a:t>
          </a:r>
          <a:r>
            <a:rPr lang="am-ET" b="1" i="0" u="none" strike="noStrike" baseline="0" dirty="0" smtClean="0">
              <a:solidFill>
                <a:srgbClr val="002060"/>
              </a:solidFill>
              <a:latin typeface="Visual Geez Unicode"/>
            </a:rPr>
            <a:t> </a:t>
          </a:r>
          <a:r>
            <a:rPr lang="am-ET" b="1" i="0" u="none" strike="noStrike" baseline="0" dirty="0" smtClean="0">
              <a:solidFill>
                <a:srgbClr val="FF0000"/>
              </a:solidFill>
              <a:latin typeface="Visual Geez Unicode"/>
            </a:rPr>
            <a:t>ተጓዳኝ</a:t>
          </a:r>
          <a:r>
            <a:rPr lang="am-ET" b="1" i="0" u="none" strike="noStrike" baseline="0" dirty="0" smtClean="0">
              <a:solidFill>
                <a:srgbClr val="002060"/>
              </a:solidFill>
              <a:latin typeface="Visual Geez Unicode"/>
            </a:rPr>
            <a:t> ልማቶች ካላቸው </a:t>
          </a:r>
          <a:r>
            <a:rPr lang="am-ET" b="1" i="0" u="none" strike="noStrike" baseline="0" dirty="0" smtClean="0">
              <a:solidFill>
                <a:srgbClr val="FF0000"/>
              </a:solidFill>
              <a:latin typeface="Visual Geez Unicode"/>
            </a:rPr>
            <a:t>ከፍተኛ ማህበራዊ</a:t>
          </a:r>
          <a:r>
            <a:rPr lang="am-ET" b="1" i="0" u="none" strike="noStrike" baseline="0" dirty="0" smtClean="0">
              <a:solidFill>
                <a:srgbClr val="002060"/>
              </a:solidFill>
              <a:latin typeface="Visual Geez Unicode"/>
            </a:rPr>
            <a:t>፣ ኢኮኖሚያዊና ከባቢያዊ ጠቀሜታ</a:t>
          </a:r>
          <a:r>
            <a:rPr lang="en-US" b="1" i="0" u="none" strike="noStrike" baseline="0" dirty="0" smtClean="0">
              <a:solidFill>
                <a:srgbClr val="002060"/>
              </a:solidFill>
              <a:latin typeface="Power Geez Unicode1" pitchFamily="2" charset="0"/>
            </a:rPr>
            <a:t> </a:t>
          </a:r>
          <a:r>
            <a:rPr lang="en-US" b="1" i="0" u="none" strike="noStrike" baseline="0" dirty="0" err="1" smtClean="0">
              <a:solidFill>
                <a:srgbClr val="002060"/>
              </a:solidFill>
              <a:latin typeface="Power Geez Unicode1" pitchFamily="2" charset="0"/>
            </a:rPr>
            <a:t>አንፃር</a:t>
          </a:r>
          <a:endParaRPr lang="en-US" b="1" dirty="0">
            <a:solidFill>
              <a:srgbClr val="002060"/>
            </a:solidFill>
            <a:latin typeface="Power Geez Unicode1" pitchFamily="2" charset="0"/>
          </a:endParaRPr>
        </a:p>
      </dgm:t>
    </dgm:pt>
    <dgm:pt modelId="{C8108472-5BD6-4BE1-A15A-1CFA96739117}" type="parTrans" cxnId="{9963D4C0-0484-4AB6-928C-A93B7756C23F}">
      <dgm:prSet/>
      <dgm:spPr/>
      <dgm:t>
        <a:bodyPr/>
        <a:lstStyle/>
        <a:p>
          <a:endParaRPr lang="en-US"/>
        </a:p>
      </dgm:t>
    </dgm:pt>
    <dgm:pt modelId="{25248D73-812D-4D96-9DE3-9C87536A6303}" type="sibTrans" cxnId="{9963D4C0-0484-4AB6-928C-A93B7756C23F}">
      <dgm:prSet/>
      <dgm:spPr/>
      <dgm:t>
        <a:bodyPr/>
        <a:lstStyle/>
        <a:p>
          <a:endParaRPr lang="en-US"/>
        </a:p>
      </dgm:t>
    </dgm:pt>
    <dgm:pt modelId="{79C0FF2E-252D-4C5E-A101-98A0803F5F13}">
      <dgm:prSet phldrT="[Text]"/>
      <dgm:spPr/>
      <dgm:t>
        <a:bodyPr/>
        <a:lstStyle/>
        <a:p>
          <a:r>
            <a:rPr lang="en-US" dirty="0" smtClean="0"/>
            <a:t>2</a:t>
          </a:r>
          <a:endParaRPr lang="en-US" dirty="0"/>
        </a:p>
      </dgm:t>
    </dgm:pt>
    <dgm:pt modelId="{63FD0EB6-8390-4C03-844F-E565FDE0D5F6}" type="parTrans" cxnId="{587E85AF-D332-422B-9563-5CE87B4BC7D3}">
      <dgm:prSet/>
      <dgm:spPr/>
      <dgm:t>
        <a:bodyPr/>
        <a:lstStyle/>
        <a:p>
          <a:endParaRPr lang="en-US"/>
        </a:p>
      </dgm:t>
    </dgm:pt>
    <dgm:pt modelId="{75CDE9F6-73A0-4531-9C37-CA60958A10A6}" type="sibTrans" cxnId="{587E85AF-D332-422B-9563-5CE87B4BC7D3}">
      <dgm:prSet/>
      <dgm:spPr/>
      <dgm:t>
        <a:bodyPr/>
        <a:lstStyle/>
        <a:p>
          <a:endParaRPr lang="en-US"/>
        </a:p>
      </dgm:t>
    </dgm:pt>
    <dgm:pt modelId="{6D3D3A2A-AB00-42BE-A1A0-68B7AE4433C8}">
      <dgm:prSet phldrT="[Text]"/>
      <dgm:spPr/>
      <dgm:t>
        <a:bodyPr/>
        <a:lstStyle/>
        <a:p>
          <a:pPr algn="just"/>
          <a:r>
            <a:rPr lang="am-ET" b="1" i="0" u="none" strike="noStrike" baseline="0" dirty="0" smtClean="0">
              <a:solidFill>
                <a:srgbClr val="FF0000"/>
              </a:solidFill>
              <a:latin typeface="Visual Geez Unicode"/>
            </a:rPr>
            <a:t>ለከተማችን </a:t>
          </a:r>
          <a:r>
            <a:rPr lang="am-ET" b="1" i="0" u="none" strike="noStrike" baseline="0" dirty="0" smtClean="0">
              <a:solidFill>
                <a:schemeClr val="tx1"/>
              </a:solidFill>
              <a:latin typeface="Visual Geez Unicode"/>
            </a:rPr>
            <a:t>ጽዳት</a:t>
          </a:r>
          <a:r>
            <a:rPr lang="am-ET" b="1" i="0" u="none" strike="noStrike" baseline="0" dirty="0" smtClean="0">
              <a:solidFill>
                <a:srgbClr val="FF0000"/>
              </a:solidFill>
              <a:latin typeface="Visual Geez Unicode"/>
            </a:rPr>
            <a:t>፣ ውበትና </a:t>
          </a:r>
          <a:r>
            <a:rPr lang="am-ET" b="1" i="0" u="none" strike="noStrike" baseline="0" dirty="0" smtClean="0">
              <a:solidFill>
                <a:schemeClr val="tx1"/>
              </a:solidFill>
              <a:latin typeface="Visual Geez Unicode"/>
            </a:rPr>
            <a:t>መልካም ገጽታ </a:t>
          </a:r>
          <a:r>
            <a:rPr lang="am-ET" b="1" i="0" u="none" strike="noStrike" baseline="0" dirty="0" smtClean="0">
              <a:solidFill>
                <a:srgbClr val="FF0000"/>
              </a:solidFill>
              <a:latin typeface="Visual Geez Unicode"/>
            </a:rPr>
            <a:t>የላቀ አስተዋጽኦ ያላቸው በመሆኑ </a:t>
          </a:r>
          <a:r>
            <a:rPr lang="am-ET" b="1" i="0" u="none" strike="noStrike" baseline="0" dirty="0" smtClean="0">
              <a:solidFill>
                <a:schemeClr val="tx1"/>
              </a:solidFill>
              <a:latin typeface="Visual Geez Unicode"/>
            </a:rPr>
            <a:t>ጽዳታቸውን</a:t>
          </a:r>
          <a:r>
            <a:rPr lang="am-ET" b="1" i="0" u="none" strike="noStrike" baseline="0" dirty="0" smtClean="0">
              <a:solidFill>
                <a:srgbClr val="FF0000"/>
              </a:solidFill>
              <a:latin typeface="Visual Geez Unicode"/>
            </a:rPr>
            <a:t>፣ ውበታቸውንና </a:t>
          </a:r>
          <a:r>
            <a:rPr lang="am-ET" b="1" i="0" u="none" strike="noStrike" baseline="0" dirty="0" smtClean="0">
              <a:solidFill>
                <a:schemeClr val="tx1"/>
              </a:solidFill>
              <a:latin typeface="Visual Geez Unicode"/>
            </a:rPr>
            <a:t>መልካም ገጽታቸውን የሚያበላሹ ተግባራትን</a:t>
          </a:r>
          <a:r>
            <a:rPr lang="am-ET" b="1" i="0" u="none" strike="noStrike" baseline="0" dirty="0" smtClean="0">
              <a:solidFill>
                <a:srgbClr val="FF0000"/>
              </a:solidFill>
              <a:latin typeface="Visual Geez Unicode"/>
            </a:rPr>
            <a:t> </a:t>
          </a:r>
          <a:r>
            <a:rPr lang="en-US" b="1" i="0" u="none" strike="noStrike" baseline="0" dirty="0" err="1" smtClean="0">
              <a:solidFill>
                <a:srgbClr val="FF0000"/>
              </a:solidFill>
              <a:latin typeface="Power Geez Unicode1" pitchFamily="2" charset="0"/>
            </a:rPr>
            <a:t>በዘላቂነት</a:t>
          </a:r>
          <a:r>
            <a:rPr lang="en-US" b="1" i="0" u="none" strike="noStrike" baseline="0" dirty="0" smtClean="0">
              <a:solidFill>
                <a:srgbClr val="FF0000"/>
              </a:solidFill>
              <a:latin typeface="Power Geez Unicode1" pitchFamily="2" charset="0"/>
            </a:rPr>
            <a:t> </a:t>
          </a:r>
          <a:r>
            <a:rPr lang="en-US" b="1" i="0" u="none" strike="noStrike" baseline="0" dirty="0" err="1" smtClean="0">
              <a:solidFill>
                <a:srgbClr val="FF0000"/>
              </a:solidFill>
              <a:latin typeface="Power Geez Unicode1" pitchFamily="2" charset="0"/>
            </a:rPr>
            <a:t>ለመከላከል</a:t>
          </a:r>
          <a:endParaRPr lang="en-US" b="1" dirty="0">
            <a:solidFill>
              <a:srgbClr val="FF0000"/>
            </a:solidFill>
            <a:latin typeface="Power Geez Unicode1" pitchFamily="2" charset="0"/>
          </a:endParaRPr>
        </a:p>
      </dgm:t>
    </dgm:pt>
    <dgm:pt modelId="{7BF7071A-8525-4EBE-B98F-00F520CBD92E}" type="parTrans" cxnId="{4FE88942-DDEF-49A6-B798-3D0202B1B738}">
      <dgm:prSet/>
      <dgm:spPr/>
      <dgm:t>
        <a:bodyPr/>
        <a:lstStyle/>
        <a:p>
          <a:endParaRPr lang="en-US"/>
        </a:p>
      </dgm:t>
    </dgm:pt>
    <dgm:pt modelId="{C9517999-2200-4AEF-A886-A4E7854EF407}" type="sibTrans" cxnId="{4FE88942-DDEF-49A6-B798-3D0202B1B738}">
      <dgm:prSet/>
      <dgm:spPr/>
      <dgm:t>
        <a:bodyPr/>
        <a:lstStyle/>
        <a:p>
          <a:endParaRPr lang="en-US"/>
        </a:p>
      </dgm:t>
    </dgm:pt>
    <dgm:pt modelId="{1F7F8DE3-A5CC-4BFD-8EDC-CC73EAC68082}">
      <dgm:prSet phldrT="[Text]"/>
      <dgm:spPr/>
      <dgm:t>
        <a:bodyPr/>
        <a:lstStyle/>
        <a:p>
          <a:r>
            <a:rPr lang="en-US" dirty="0" smtClean="0"/>
            <a:t>3</a:t>
          </a:r>
          <a:endParaRPr lang="en-US" dirty="0"/>
        </a:p>
      </dgm:t>
    </dgm:pt>
    <dgm:pt modelId="{1C4C2746-CA99-4545-8D79-4FE52F362AA0}" type="parTrans" cxnId="{CB9F8DC5-83F9-4878-93E7-AD16052679F5}">
      <dgm:prSet/>
      <dgm:spPr/>
      <dgm:t>
        <a:bodyPr/>
        <a:lstStyle/>
        <a:p>
          <a:endParaRPr lang="en-US"/>
        </a:p>
      </dgm:t>
    </dgm:pt>
    <dgm:pt modelId="{408B1452-4949-4342-833C-C08509B8182C}" type="sibTrans" cxnId="{CB9F8DC5-83F9-4878-93E7-AD16052679F5}">
      <dgm:prSet/>
      <dgm:spPr/>
      <dgm:t>
        <a:bodyPr/>
        <a:lstStyle/>
        <a:p>
          <a:endParaRPr lang="en-US"/>
        </a:p>
      </dgm:t>
    </dgm:pt>
    <dgm:pt modelId="{BC214F56-FB34-4470-9506-C0CBCDA852FB}">
      <dgm:prSet phldrT="[Text]" custT="1"/>
      <dgm:spPr/>
      <dgm:t>
        <a:bodyPr/>
        <a:lstStyle/>
        <a:p>
          <a:r>
            <a:rPr lang="am-ET" sz="2000" b="1" i="0" u="none" strike="noStrike" baseline="0" dirty="0" smtClean="0">
              <a:solidFill>
                <a:srgbClr val="7030A0"/>
              </a:solidFill>
              <a:latin typeface="Visual Geez Unicode"/>
            </a:rPr>
            <a:t>ለመቆጣጠርና </a:t>
          </a:r>
          <a:r>
            <a:rPr lang="am-ET" sz="2000" b="1" i="0" u="none" strike="noStrike" baseline="0" dirty="0" smtClean="0">
              <a:solidFill>
                <a:srgbClr val="FF0000"/>
              </a:solidFill>
              <a:latin typeface="Visual Geez Unicode"/>
            </a:rPr>
            <a:t>አስተዳደራዊ እርምጃ ለመውሰድ </a:t>
          </a:r>
          <a:r>
            <a:rPr lang="am-ET" sz="2000" b="1" i="0" u="none" strike="noStrike" baseline="0" dirty="0" smtClean="0">
              <a:solidFill>
                <a:srgbClr val="7030A0"/>
              </a:solidFill>
              <a:latin typeface="Visual Geez Unicode"/>
            </a:rPr>
            <a:t>በሚያስችል መልኩ ሥራ ላይ የቆየውን </a:t>
          </a:r>
          <a:r>
            <a:rPr lang="am-ET" sz="2000" b="1" i="0" u="none" strike="noStrike" baseline="0" dirty="0" smtClean="0">
              <a:solidFill>
                <a:srgbClr val="FF0000"/>
              </a:solidFill>
              <a:latin typeface="Visual Geez Unicode"/>
            </a:rPr>
            <a:t>የደንብ ማስከበር ሕግ ማሻሻል</a:t>
          </a:r>
          <a:r>
            <a:rPr lang="am-ET" sz="2000" b="1" i="0" u="none" strike="noStrike" baseline="0" dirty="0" smtClean="0">
              <a:solidFill>
                <a:srgbClr val="7030A0"/>
              </a:solidFill>
              <a:latin typeface="Visual Geez Unicode"/>
            </a:rPr>
            <a:t> አስፈላጊ ሆኖ በመገኘቱ፤ </a:t>
          </a:r>
          <a:endParaRPr lang="en-US" sz="2000" b="1" dirty="0">
            <a:solidFill>
              <a:srgbClr val="7030A0"/>
            </a:solidFill>
          </a:endParaRPr>
        </a:p>
      </dgm:t>
    </dgm:pt>
    <dgm:pt modelId="{22D25A96-785E-4999-8BDE-D186A2B9FB98}" type="parTrans" cxnId="{83B2DCB5-9D6A-4BAA-85CB-BD4DE4DE127C}">
      <dgm:prSet/>
      <dgm:spPr/>
      <dgm:t>
        <a:bodyPr/>
        <a:lstStyle/>
        <a:p>
          <a:endParaRPr lang="en-US"/>
        </a:p>
      </dgm:t>
    </dgm:pt>
    <dgm:pt modelId="{E0187BA8-F8CA-4E98-9D18-3601B4B326A1}" type="sibTrans" cxnId="{83B2DCB5-9D6A-4BAA-85CB-BD4DE4DE127C}">
      <dgm:prSet/>
      <dgm:spPr/>
      <dgm:t>
        <a:bodyPr/>
        <a:lstStyle/>
        <a:p>
          <a:endParaRPr lang="en-US"/>
        </a:p>
      </dgm:t>
    </dgm:pt>
    <dgm:pt modelId="{496A61C7-65D2-4AE3-B2A7-35108307308F}" type="pres">
      <dgm:prSet presAssocID="{E9C2A8D6-4BE6-4A42-B864-6C66FC6B212E}" presName="linearFlow" presStyleCnt="0">
        <dgm:presLayoutVars>
          <dgm:dir/>
          <dgm:animLvl val="lvl"/>
          <dgm:resizeHandles val="exact"/>
        </dgm:presLayoutVars>
      </dgm:prSet>
      <dgm:spPr/>
      <dgm:t>
        <a:bodyPr/>
        <a:lstStyle/>
        <a:p>
          <a:endParaRPr lang="en-US"/>
        </a:p>
      </dgm:t>
    </dgm:pt>
    <dgm:pt modelId="{087F0A9C-C659-443C-82D5-80BC3E2B69BF}" type="pres">
      <dgm:prSet presAssocID="{42D8B7F0-225D-4B97-97E6-8F3379D3AF3D}" presName="composite" presStyleCnt="0"/>
      <dgm:spPr/>
    </dgm:pt>
    <dgm:pt modelId="{E626DF42-F094-496E-8B04-2CA0D6DC7D1C}" type="pres">
      <dgm:prSet presAssocID="{42D8B7F0-225D-4B97-97E6-8F3379D3AF3D}" presName="parentText" presStyleLbl="alignNode1" presStyleIdx="0" presStyleCnt="3">
        <dgm:presLayoutVars>
          <dgm:chMax val="1"/>
          <dgm:bulletEnabled val="1"/>
        </dgm:presLayoutVars>
      </dgm:prSet>
      <dgm:spPr/>
      <dgm:t>
        <a:bodyPr/>
        <a:lstStyle/>
        <a:p>
          <a:endParaRPr lang="en-US"/>
        </a:p>
      </dgm:t>
    </dgm:pt>
    <dgm:pt modelId="{12A48194-0710-4DCE-BD70-C18BA5EC6909}" type="pres">
      <dgm:prSet presAssocID="{42D8B7F0-225D-4B97-97E6-8F3379D3AF3D}" presName="descendantText" presStyleLbl="alignAcc1" presStyleIdx="0" presStyleCnt="3">
        <dgm:presLayoutVars>
          <dgm:bulletEnabled val="1"/>
        </dgm:presLayoutVars>
      </dgm:prSet>
      <dgm:spPr/>
      <dgm:t>
        <a:bodyPr/>
        <a:lstStyle/>
        <a:p>
          <a:endParaRPr lang="en-US"/>
        </a:p>
      </dgm:t>
    </dgm:pt>
    <dgm:pt modelId="{92D49F7E-4FE5-4026-933B-537BF16D5D50}" type="pres">
      <dgm:prSet presAssocID="{CB58012E-329A-45F8-9E04-8FE330306F00}" presName="sp" presStyleCnt="0"/>
      <dgm:spPr/>
    </dgm:pt>
    <dgm:pt modelId="{5C490626-C603-449C-B1D2-2642D22AB4BA}" type="pres">
      <dgm:prSet presAssocID="{79C0FF2E-252D-4C5E-A101-98A0803F5F13}" presName="composite" presStyleCnt="0"/>
      <dgm:spPr/>
    </dgm:pt>
    <dgm:pt modelId="{9835B295-D74B-4C7A-B25C-320A2475A16B}" type="pres">
      <dgm:prSet presAssocID="{79C0FF2E-252D-4C5E-A101-98A0803F5F13}" presName="parentText" presStyleLbl="alignNode1" presStyleIdx="1" presStyleCnt="3">
        <dgm:presLayoutVars>
          <dgm:chMax val="1"/>
          <dgm:bulletEnabled val="1"/>
        </dgm:presLayoutVars>
      </dgm:prSet>
      <dgm:spPr/>
      <dgm:t>
        <a:bodyPr/>
        <a:lstStyle/>
        <a:p>
          <a:endParaRPr lang="en-US"/>
        </a:p>
      </dgm:t>
    </dgm:pt>
    <dgm:pt modelId="{CCF6D529-7255-4189-B0B5-C88DE6CDC64C}" type="pres">
      <dgm:prSet presAssocID="{79C0FF2E-252D-4C5E-A101-98A0803F5F13}" presName="descendantText" presStyleLbl="alignAcc1" presStyleIdx="1" presStyleCnt="3">
        <dgm:presLayoutVars>
          <dgm:bulletEnabled val="1"/>
        </dgm:presLayoutVars>
      </dgm:prSet>
      <dgm:spPr/>
      <dgm:t>
        <a:bodyPr/>
        <a:lstStyle/>
        <a:p>
          <a:endParaRPr lang="en-US"/>
        </a:p>
      </dgm:t>
    </dgm:pt>
    <dgm:pt modelId="{7ADEA3A3-806B-4CEE-9ECD-B0058D7E4D9E}" type="pres">
      <dgm:prSet presAssocID="{75CDE9F6-73A0-4531-9C37-CA60958A10A6}" presName="sp" presStyleCnt="0"/>
      <dgm:spPr/>
    </dgm:pt>
    <dgm:pt modelId="{66354975-CA4F-40D4-9EC7-EBC6D018626A}" type="pres">
      <dgm:prSet presAssocID="{1F7F8DE3-A5CC-4BFD-8EDC-CC73EAC68082}" presName="composite" presStyleCnt="0"/>
      <dgm:spPr/>
    </dgm:pt>
    <dgm:pt modelId="{EDD3E869-A275-4337-AF37-BA429CC4E2D9}" type="pres">
      <dgm:prSet presAssocID="{1F7F8DE3-A5CC-4BFD-8EDC-CC73EAC68082}" presName="parentText" presStyleLbl="alignNode1" presStyleIdx="2" presStyleCnt="3">
        <dgm:presLayoutVars>
          <dgm:chMax val="1"/>
          <dgm:bulletEnabled val="1"/>
        </dgm:presLayoutVars>
      </dgm:prSet>
      <dgm:spPr/>
      <dgm:t>
        <a:bodyPr/>
        <a:lstStyle/>
        <a:p>
          <a:endParaRPr lang="en-US"/>
        </a:p>
      </dgm:t>
    </dgm:pt>
    <dgm:pt modelId="{6762C44A-61F6-4ED1-A047-12D7A31CC30B}" type="pres">
      <dgm:prSet presAssocID="{1F7F8DE3-A5CC-4BFD-8EDC-CC73EAC68082}" presName="descendantText" presStyleLbl="alignAcc1" presStyleIdx="2" presStyleCnt="3">
        <dgm:presLayoutVars>
          <dgm:bulletEnabled val="1"/>
        </dgm:presLayoutVars>
      </dgm:prSet>
      <dgm:spPr/>
      <dgm:t>
        <a:bodyPr/>
        <a:lstStyle/>
        <a:p>
          <a:endParaRPr lang="en-US"/>
        </a:p>
      </dgm:t>
    </dgm:pt>
  </dgm:ptLst>
  <dgm:cxnLst>
    <dgm:cxn modelId="{F22BDDBA-E715-4019-8187-18A9F67F96FB}" type="presOf" srcId="{1F7F8DE3-A5CC-4BFD-8EDC-CC73EAC68082}" destId="{EDD3E869-A275-4337-AF37-BA429CC4E2D9}" srcOrd="0" destOrd="0" presId="urn:microsoft.com/office/officeart/2005/8/layout/chevron2"/>
    <dgm:cxn modelId="{4FE88942-DDEF-49A6-B798-3D0202B1B738}" srcId="{79C0FF2E-252D-4C5E-A101-98A0803F5F13}" destId="{6D3D3A2A-AB00-42BE-A1A0-68B7AE4433C8}" srcOrd="0" destOrd="0" parTransId="{7BF7071A-8525-4EBE-B98F-00F520CBD92E}" sibTransId="{C9517999-2200-4AEF-A886-A4E7854EF407}"/>
    <dgm:cxn modelId="{CB9F8DC5-83F9-4878-93E7-AD16052679F5}" srcId="{E9C2A8D6-4BE6-4A42-B864-6C66FC6B212E}" destId="{1F7F8DE3-A5CC-4BFD-8EDC-CC73EAC68082}" srcOrd="2" destOrd="0" parTransId="{1C4C2746-CA99-4545-8D79-4FE52F362AA0}" sibTransId="{408B1452-4949-4342-833C-C08509B8182C}"/>
    <dgm:cxn modelId="{E940C472-5899-457B-AA4D-3A4D2B3A1DA7}" type="presOf" srcId="{42D8B7F0-225D-4B97-97E6-8F3379D3AF3D}" destId="{E626DF42-F094-496E-8B04-2CA0D6DC7D1C}" srcOrd="0" destOrd="0" presId="urn:microsoft.com/office/officeart/2005/8/layout/chevron2"/>
    <dgm:cxn modelId="{83B2DCB5-9D6A-4BAA-85CB-BD4DE4DE127C}" srcId="{1F7F8DE3-A5CC-4BFD-8EDC-CC73EAC68082}" destId="{BC214F56-FB34-4470-9506-C0CBCDA852FB}" srcOrd="0" destOrd="0" parTransId="{22D25A96-785E-4999-8BDE-D186A2B9FB98}" sibTransId="{E0187BA8-F8CA-4E98-9D18-3601B4B326A1}"/>
    <dgm:cxn modelId="{587E85AF-D332-422B-9563-5CE87B4BC7D3}" srcId="{E9C2A8D6-4BE6-4A42-B864-6C66FC6B212E}" destId="{79C0FF2E-252D-4C5E-A101-98A0803F5F13}" srcOrd="1" destOrd="0" parTransId="{63FD0EB6-8390-4C03-844F-E565FDE0D5F6}" sibTransId="{75CDE9F6-73A0-4531-9C37-CA60958A10A6}"/>
    <dgm:cxn modelId="{4E0E2080-D883-484A-B420-F66AA44F7018}" type="presOf" srcId="{6D3D3A2A-AB00-42BE-A1A0-68B7AE4433C8}" destId="{CCF6D529-7255-4189-B0B5-C88DE6CDC64C}" srcOrd="0" destOrd="0" presId="urn:microsoft.com/office/officeart/2005/8/layout/chevron2"/>
    <dgm:cxn modelId="{F4AC4781-53E6-42BB-8BEC-8F266DCDC090}" type="presOf" srcId="{E9C2A8D6-4BE6-4A42-B864-6C66FC6B212E}" destId="{496A61C7-65D2-4AE3-B2A7-35108307308F}" srcOrd="0" destOrd="0" presId="urn:microsoft.com/office/officeart/2005/8/layout/chevron2"/>
    <dgm:cxn modelId="{9963D4C0-0484-4AB6-928C-A93B7756C23F}" srcId="{42D8B7F0-225D-4B97-97E6-8F3379D3AF3D}" destId="{85A622E5-B178-4FF7-9FF5-35204DCB9F55}" srcOrd="0" destOrd="0" parTransId="{C8108472-5BD6-4BE1-A15A-1CFA96739117}" sibTransId="{25248D73-812D-4D96-9DE3-9C87536A6303}"/>
    <dgm:cxn modelId="{7961E9F9-C6FD-4CFD-8575-7000FCC5C5E9}" type="presOf" srcId="{BC214F56-FB34-4470-9506-C0CBCDA852FB}" destId="{6762C44A-61F6-4ED1-A047-12D7A31CC30B}" srcOrd="0" destOrd="0" presId="urn:microsoft.com/office/officeart/2005/8/layout/chevron2"/>
    <dgm:cxn modelId="{68271D9B-7059-439B-AE59-9C9E9CA1772C}" srcId="{E9C2A8D6-4BE6-4A42-B864-6C66FC6B212E}" destId="{42D8B7F0-225D-4B97-97E6-8F3379D3AF3D}" srcOrd="0" destOrd="0" parTransId="{90EBFFEF-5321-4FF2-9FEB-2AA66468A8BE}" sibTransId="{CB58012E-329A-45F8-9E04-8FE330306F00}"/>
    <dgm:cxn modelId="{8F509EE0-4849-4F1F-9D69-EA710ADB6AD2}" type="presOf" srcId="{85A622E5-B178-4FF7-9FF5-35204DCB9F55}" destId="{12A48194-0710-4DCE-BD70-C18BA5EC6909}" srcOrd="0" destOrd="0" presId="urn:microsoft.com/office/officeart/2005/8/layout/chevron2"/>
    <dgm:cxn modelId="{26831A80-8760-42E4-A6CC-7F19787B82F2}" type="presOf" srcId="{79C0FF2E-252D-4C5E-A101-98A0803F5F13}" destId="{9835B295-D74B-4C7A-B25C-320A2475A16B}" srcOrd="0" destOrd="0" presId="urn:microsoft.com/office/officeart/2005/8/layout/chevron2"/>
    <dgm:cxn modelId="{A49F42A2-2815-44D4-96C2-600B8BFA6E79}" type="presParOf" srcId="{496A61C7-65D2-4AE3-B2A7-35108307308F}" destId="{087F0A9C-C659-443C-82D5-80BC3E2B69BF}" srcOrd="0" destOrd="0" presId="urn:microsoft.com/office/officeart/2005/8/layout/chevron2"/>
    <dgm:cxn modelId="{BD897220-FF17-4349-9519-21B33B838DF6}" type="presParOf" srcId="{087F0A9C-C659-443C-82D5-80BC3E2B69BF}" destId="{E626DF42-F094-496E-8B04-2CA0D6DC7D1C}" srcOrd="0" destOrd="0" presId="urn:microsoft.com/office/officeart/2005/8/layout/chevron2"/>
    <dgm:cxn modelId="{E58B8F8B-97BF-40BE-9C72-49D31C4794D1}" type="presParOf" srcId="{087F0A9C-C659-443C-82D5-80BC3E2B69BF}" destId="{12A48194-0710-4DCE-BD70-C18BA5EC6909}" srcOrd="1" destOrd="0" presId="urn:microsoft.com/office/officeart/2005/8/layout/chevron2"/>
    <dgm:cxn modelId="{F445B7A0-F33D-420B-98A5-B460F58302DA}" type="presParOf" srcId="{496A61C7-65D2-4AE3-B2A7-35108307308F}" destId="{92D49F7E-4FE5-4026-933B-537BF16D5D50}" srcOrd="1" destOrd="0" presId="urn:microsoft.com/office/officeart/2005/8/layout/chevron2"/>
    <dgm:cxn modelId="{6CD8F777-4E66-4066-A8FC-6A88165E8FFD}" type="presParOf" srcId="{496A61C7-65D2-4AE3-B2A7-35108307308F}" destId="{5C490626-C603-449C-B1D2-2642D22AB4BA}" srcOrd="2" destOrd="0" presId="urn:microsoft.com/office/officeart/2005/8/layout/chevron2"/>
    <dgm:cxn modelId="{2A766338-C5BB-4120-B9D0-7A676B810854}" type="presParOf" srcId="{5C490626-C603-449C-B1D2-2642D22AB4BA}" destId="{9835B295-D74B-4C7A-B25C-320A2475A16B}" srcOrd="0" destOrd="0" presId="urn:microsoft.com/office/officeart/2005/8/layout/chevron2"/>
    <dgm:cxn modelId="{15E7D45B-EE6D-4BA5-AFF8-2A10DD0CDDD9}" type="presParOf" srcId="{5C490626-C603-449C-B1D2-2642D22AB4BA}" destId="{CCF6D529-7255-4189-B0B5-C88DE6CDC64C}" srcOrd="1" destOrd="0" presId="urn:microsoft.com/office/officeart/2005/8/layout/chevron2"/>
    <dgm:cxn modelId="{83D4A7E7-33D7-4DF4-AAE4-A49877DF4348}" type="presParOf" srcId="{496A61C7-65D2-4AE3-B2A7-35108307308F}" destId="{7ADEA3A3-806B-4CEE-9ECD-B0058D7E4D9E}" srcOrd="3" destOrd="0" presId="urn:microsoft.com/office/officeart/2005/8/layout/chevron2"/>
    <dgm:cxn modelId="{5EDB03EC-A067-484C-8806-4F3CBB077F7A}" type="presParOf" srcId="{496A61C7-65D2-4AE3-B2A7-35108307308F}" destId="{66354975-CA4F-40D4-9EC7-EBC6D018626A}" srcOrd="4" destOrd="0" presId="urn:microsoft.com/office/officeart/2005/8/layout/chevron2"/>
    <dgm:cxn modelId="{DDE12A95-3C90-4228-9599-8BA45975E315}" type="presParOf" srcId="{66354975-CA4F-40D4-9EC7-EBC6D018626A}" destId="{EDD3E869-A275-4337-AF37-BA429CC4E2D9}" srcOrd="0" destOrd="0" presId="urn:microsoft.com/office/officeart/2005/8/layout/chevron2"/>
    <dgm:cxn modelId="{C57BF4F5-6FAB-427E-A011-0BE38FDB2568}" type="presParOf" srcId="{66354975-CA4F-40D4-9EC7-EBC6D018626A}" destId="{6762C44A-61F6-4ED1-A047-12D7A31CC30B}"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45DDD8-2A74-47E8-80B0-973EDDE0CC00}">
      <dsp:nvSpPr>
        <dsp:cNvPr id="0" name=""/>
        <dsp:cNvSpPr/>
      </dsp:nvSpPr>
      <dsp:spPr>
        <a:xfrm>
          <a:off x="-8" y="2632"/>
          <a:ext cx="5304234" cy="482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b" anchorCtr="0">
          <a:noAutofit/>
        </a:bodyPr>
        <a:lstStyle/>
        <a:p>
          <a:pPr lvl="0" algn="l" defTabSz="977900">
            <a:lnSpc>
              <a:spcPct val="90000"/>
            </a:lnSpc>
            <a:spcBef>
              <a:spcPct val="0"/>
            </a:spcBef>
            <a:spcAft>
              <a:spcPct val="35000"/>
            </a:spcAft>
          </a:pPr>
          <a:endParaRPr lang="en-US" sz="2200" kern="1200" dirty="0"/>
        </a:p>
      </dsp:txBody>
      <dsp:txXfrm>
        <a:off x="-8" y="2632"/>
        <a:ext cx="5304234" cy="482203"/>
      </dsp:txXfrm>
    </dsp:sp>
    <dsp:sp modelId="{B8188E6F-634D-4A5C-B7AF-1D28BCAD0F39}">
      <dsp:nvSpPr>
        <dsp:cNvPr id="0" name=""/>
        <dsp:cNvSpPr/>
      </dsp:nvSpPr>
      <dsp:spPr>
        <a:xfrm>
          <a:off x="400589" y="484835"/>
          <a:ext cx="1241190" cy="982265"/>
        </a:xfrm>
        <a:prstGeom prst="chevron">
          <a:avLst>
            <a:gd name="adj" fmla="val 706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7A2934E-4A51-4008-AABA-BBC99BF8C91E}">
      <dsp:nvSpPr>
        <dsp:cNvPr id="0" name=""/>
        <dsp:cNvSpPr/>
      </dsp:nvSpPr>
      <dsp:spPr>
        <a:xfrm>
          <a:off x="1146129" y="484835"/>
          <a:ext cx="1241190" cy="982265"/>
        </a:xfrm>
        <a:prstGeom prst="chevron">
          <a:avLst>
            <a:gd name="adj" fmla="val 706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FD1D73B-4DC5-425A-A038-FA393B9A50EA}">
      <dsp:nvSpPr>
        <dsp:cNvPr id="0" name=""/>
        <dsp:cNvSpPr/>
      </dsp:nvSpPr>
      <dsp:spPr>
        <a:xfrm>
          <a:off x="1892258" y="484835"/>
          <a:ext cx="1241190" cy="982265"/>
        </a:xfrm>
        <a:prstGeom prst="chevron">
          <a:avLst>
            <a:gd name="adj" fmla="val 706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843F6DE-76C1-4192-8BD5-2C807B5764E7}">
      <dsp:nvSpPr>
        <dsp:cNvPr id="0" name=""/>
        <dsp:cNvSpPr/>
      </dsp:nvSpPr>
      <dsp:spPr>
        <a:xfrm>
          <a:off x="2637798" y="484835"/>
          <a:ext cx="1241190" cy="982265"/>
        </a:xfrm>
        <a:prstGeom prst="chevron">
          <a:avLst>
            <a:gd name="adj" fmla="val 706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3C27CED-D70B-43C1-9613-051D2A02CE19}">
      <dsp:nvSpPr>
        <dsp:cNvPr id="0" name=""/>
        <dsp:cNvSpPr/>
      </dsp:nvSpPr>
      <dsp:spPr>
        <a:xfrm>
          <a:off x="3383927" y="484835"/>
          <a:ext cx="1241190" cy="982265"/>
        </a:xfrm>
        <a:prstGeom prst="chevron">
          <a:avLst>
            <a:gd name="adj" fmla="val 706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C637A88-5CC5-469F-A65F-FF810353D0D9}">
      <dsp:nvSpPr>
        <dsp:cNvPr id="0" name=""/>
        <dsp:cNvSpPr/>
      </dsp:nvSpPr>
      <dsp:spPr>
        <a:xfrm>
          <a:off x="4129466" y="484835"/>
          <a:ext cx="1241190" cy="982265"/>
        </a:xfrm>
        <a:prstGeom prst="chevron">
          <a:avLst>
            <a:gd name="adj" fmla="val 706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6E383E6-A89A-4487-878A-EB2FA296DC05}">
      <dsp:nvSpPr>
        <dsp:cNvPr id="0" name=""/>
        <dsp:cNvSpPr/>
      </dsp:nvSpPr>
      <dsp:spPr>
        <a:xfrm>
          <a:off x="4074431" y="484835"/>
          <a:ext cx="2843518" cy="982265"/>
        </a:xfrm>
        <a:prstGeom prst="chevron">
          <a:avLst>
            <a:gd name="adj" fmla="val 706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52F32F4-77FB-426C-8EE2-3AD9EA04B5FC}">
      <dsp:nvSpPr>
        <dsp:cNvPr id="0" name=""/>
        <dsp:cNvSpPr/>
      </dsp:nvSpPr>
      <dsp:spPr>
        <a:xfrm>
          <a:off x="-8" y="610030"/>
          <a:ext cx="6174385" cy="785812"/>
        </a:xfrm>
        <a:prstGeom prst="rect">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5880" tIns="55880" rIns="55880" bIns="55880" numCol="1" spcCol="1270" anchor="ctr" anchorCtr="0">
          <a:noAutofit/>
        </a:bodyPr>
        <a:lstStyle/>
        <a:p>
          <a:pPr lvl="0" algn="l" defTabSz="977900">
            <a:lnSpc>
              <a:spcPct val="90000"/>
            </a:lnSpc>
            <a:spcBef>
              <a:spcPct val="0"/>
            </a:spcBef>
            <a:spcAft>
              <a:spcPct val="35000"/>
            </a:spcAft>
          </a:pPr>
          <a:r>
            <a:rPr lang="en-US" sz="2200" b="1" kern="1200" dirty="0" err="1" smtClean="0">
              <a:solidFill>
                <a:srgbClr val="C00000"/>
              </a:solidFill>
              <a:latin typeface="Power Geez Unicode1" pitchFamily="2" charset="0"/>
            </a:rPr>
            <a:t>ደንብ</a:t>
          </a:r>
          <a:r>
            <a:rPr lang="en-US" sz="2200" b="1" kern="1200" dirty="0" smtClean="0">
              <a:solidFill>
                <a:srgbClr val="C00000"/>
              </a:solidFill>
              <a:latin typeface="Power Geez Unicode1" pitchFamily="2" charset="0"/>
            </a:rPr>
            <a:t> </a:t>
          </a:r>
          <a:r>
            <a:rPr lang="en-US" sz="2200" b="1" kern="1200" dirty="0" err="1" smtClean="0">
              <a:solidFill>
                <a:srgbClr val="C00000"/>
              </a:solidFill>
              <a:latin typeface="Power Geez Unicode1" pitchFamily="2" charset="0"/>
            </a:rPr>
            <a:t>ቁጥር</a:t>
          </a:r>
          <a:r>
            <a:rPr lang="en-US" sz="2200" b="1" kern="1200" dirty="0" smtClean="0">
              <a:solidFill>
                <a:srgbClr val="C00000"/>
              </a:solidFill>
              <a:latin typeface="Power Geez Unicode1" pitchFamily="2" charset="0"/>
            </a:rPr>
            <a:t> </a:t>
          </a:r>
          <a:r>
            <a:rPr lang="en-US" sz="2200" b="1" kern="1200" dirty="0" smtClean="0">
              <a:solidFill>
                <a:srgbClr val="7030A0"/>
              </a:solidFill>
              <a:latin typeface="Power Geez Unicode1" pitchFamily="2" charset="0"/>
            </a:rPr>
            <a:t>167/2016</a:t>
          </a:r>
          <a:r>
            <a:rPr lang="en-US" sz="2200" b="1" kern="1200" dirty="0" smtClean="0">
              <a:solidFill>
                <a:srgbClr val="C00000"/>
              </a:solidFill>
              <a:latin typeface="Power Geez Unicode1" pitchFamily="2" charset="0"/>
            </a:rPr>
            <a:t> </a:t>
          </a:r>
          <a:r>
            <a:rPr lang="en-US" sz="2200" b="1" kern="1200" dirty="0" err="1" smtClean="0">
              <a:solidFill>
                <a:srgbClr val="C00000"/>
              </a:solidFill>
              <a:latin typeface="Power Geez Unicode1" pitchFamily="2" charset="0"/>
            </a:rPr>
            <a:t>ማሻሻል</a:t>
          </a:r>
          <a:r>
            <a:rPr lang="en-US" sz="2200" b="1" kern="1200" dirty="0" smtClean="0">
              <a:solidFill>
                <a:srgbClr val="C00000"/>
              </a:solidFill>
              <a:latin typeface="Power Geez Unicode1" pitchFamily="2" charset="0"/>
            </a:rPr>
            <a:t> </a:t>
          </a:r>
          <a:r>
            <a:rPr lang="en-US" sz="2200" b="1" kern="1200" dirty="0" err="1" smtClean="0">
              <a:solidFill>
                <a:srgbClr val="C00000"/>
              </a:solidFill>
              <a:latin typeface="Power Geez Unicode1" pitchFamily="2" charset="0"/>
            </a:rPr>
            <a:t>ለምን</a:t>
          </a:r>
          <a:r>
            <a:rPr lang="en-US" sz="2200" b="1" kern="1200" dirty="0" smtClean="0">
              <a:solidFill>
                <a:srgbClr val="C00000"/>
              </a:solidFill>
              <a:latin typeface="Power Geez Unicode1" pitchFamily="2" charset="0"/>
            </a:rPr>
            <a:t> </a:t>
          </a:r>
          <a:r>
            <a:rPr lang="en-US" sz="2200" b="1" kern="1200" dirty="0" err="1" smtClean="0">
              <a:solidFill>
                <a:srgbClr val="C00000"/>
              </a:solidFill>
              <a:latin typeface="Power Geez Unicode1" pitchFamily="2" charset="0"/>
            </a:rPr>
            <a:t>እንዳስፈለገ</a:t>
          </a:r>
          <a:endParaRPr lang="en-US" sz="2200" b="1" kern="1200" dirty="0">
            <a:solidFill>
              <a:srgbClr val="C00000"/>
            </a:solidFill>
            <a:latin typeface="Power Geez Unicode1" pitchFamily="2" charset="0"/>
          </a:endParaRPr>
        </a:p>
      </dsp:txBody>
      <dsp:txXfrm>
        <a:off x="-8" y="610030"/>
        <a:ext cx="6174385" cy="785812"/>
      </dsp:txXfrm>
    </dsp:sp>
    <dsp:sp modelId="{5B23B501-2609-4942-8797-2BCFCEE84895}">
      <dsp:nvSpPr>
        <dsp:cNvPr id="0" name=""/>
        <dsp:cNvSpPr/>
      </dsp:nvSpPr>
      <dsp:spPr>
        <a:xfrm flipH="1">
          <a:off x="-8" y="1530747"/>
          <a:ext cx="8382016" cy="482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b" anchorCtr="0">
          <a:noAutofit/>
        </a:bodyPr>
        <a:lstStyle/>
        <a:p>
          <a:pPr lvl="0" algn="l" defTabSz="977900">
            <a:lnSpc>
              <a:spcPct val="90000"/>
            </a:lnSpc>
            <a:spcBef>
              <a:spcPct val="0"/>
            </a:spcBef>
            <a:spcAft>
              <a:spcPct val="35000"/>
            </a:spcAft>
          </a:pPr>
          <a:endParaRPr lang="en-US" sz="2200" kern="1200" dirty="0"/>
        </a:p>
      </dsp:txBody>
      <dsp:txXfrm>
        <a:off x="-8" y="1530747"/>
        <a:ext cx="8382016" cy="482203"/>
      </dsp:txXfrm>
    </dsp:sp>
    <dsp:sp modelId="{12991974-F6F5-475B-BFC9-E849F75F56DC}">
      <dsp:nvSpPr>
        <dsp:cNvPr id="0" name=""/>
        <dsp:cNvSpPr/>
      </dsp:nvSpPr>
      <dsp:spPr>
        <a:xfrm>
          <a:off x="505608" y="2012950"/>
          <a:ext cx="1241190" cy="982265"/>
        </a:xfrm>
        <a:prstGeom prst="chevron">
          <a:avLst>
            <a:gd name="adj" fmla="val 706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45ED832-50E4-49D6-8743-C29A7BED7188}">
      <dsp:nvSpPr>
        <dsp:cNvPr id="0" name=""/>
        <dsp:cNvSpPr/>
      </dsp:nvSpPr>
      <dsp:spPr>
        <a:xfrm>
          <a:off x="1251148" y="2012950"/>
          <a:ext cx="1241190" cy="982265"/>
        </a:xfrm>
        <a:prstGeom prst="chevron">
          <a:avLst>
            <a:gd name="adj" fmla="val 706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A44E4EC-D6C2-4D7A-8058-D9AC6089DC15}">
      <dsp:nvSpPr>
        <dsp:cNvPr id="0" name=""/>
        <dsp:cNvSpPr/>
      </dsp:nvSpPr>
      <dsp:spPr>
        <a:xfrm>
          <a:off x="1997277" y="2012950"/>
          <a:ext cx="1241190" cy="982265"/>
        </a:xfrm>
        <a:prstGeom prst="chevron">
          <a:avLst>
            <a:gd name="adj" fmla="val 706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A61651F-ABC1-4709-8BF1-7E3E92F3654D}">
      <dsp:nvSpPr>
        <dsp:cNvPr id="0" name=""/>
        <dsp:cNvSpPr/>
      </dsp:nvSpPr>
      <dsp:spPr>
        <a:xfrm>
          <a:off x="2742817" y="2012950"/>
          <a:ext cx="1241190" cy="982265"/>
        </a:xfrm>
        <a:prstGeom prst="chevron">
          <a:avLst>
            <a:gd name="adj" fmla="val 706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AA3EBF9-9FC7-4E54-9BD9-4E4805449580}">
      <dsp:nvSpPr>
        <dsp:cNvPr id="0" name=""/>
        <dsp:cNvSpPr/>
      </dsp:nvSpPr>
      <dsp:spPr>
        <a:xfrm>
          <a:off x="3488946" y="2012950"/>
          <a:ext cx="1241190" cy="982265"/>
        </a:xfrm>
        <a:prstGeom prst="chevron">
          <a:avLst>
            <a:gd name="adj" fmla="val 706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E7E4AEA-9A6A-4FEE-8391-188A6919A5CC}">
      <dsp:nvSpPr>
        <dsp:cNvPr id="0" name=""/>
        <dsp:cNvSpPr/>
      </dsp:nvSpPr>
      <dsp:spPr>
        <a:xfrm>
          <a:off x="4234485" y="2012950"/>
          <a:ext cx="1241190" cy="982265"/>
        </a:xfrm>
        <a:prstGeom prst="chevron">
          <a:avLst>
            <a:gd name="adj" fmla="val 706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478A0C0-8CA9-4A39-B3BD-4DE9AC07FF94}">
      <dsp:nvSpPr>
        <dsp:cNvPr id="0" name=""/>
        <dsp:cNvSpPr/>
      </dsp:nvSpPr>
      <dsp:spPr>
        <a:xfrm>
          <a:off x="3731033" y="2012950"/>
          <a:ext cx="3740353" cy="982265"/>
        </a:xfrm>
        <a:prstGeom prst="chevron">
          <a:avLst>
            <a:gd name="adj" fmla="val 706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2A7779-7E06-4C72-8940-1BF5D933F3A4}">
      <dsp:nvSpPr>
        <dsp:cNvPr id="0" name=""/>
        <dsp:cNvSpPr/>
      </dsp:nvSpPr>
      <dsp:spPr>
        <a:xfrm>
          <a:off x="64792" y="2133603"/>
          <a:ext cx="6384423" cy="785812"/>
        </a:xfrm>
        <a:prstGeom prst="rect">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l" defTabSz="1066800">
            <a:lnSpc>
              <a:spcPct val="90000"/>
            </a:lnSpc>
            <a:spcBef>
              <a:spcPct val="0"/>
            </a:spcBef>
            <a:spcAft>
              <a:spcPct val="35000"/>
            </a:spcAft>
          </a:pPr>
          <a:r>
            <a:rPr lang="en-US" sz="2400" b="1" kern="1200" dirty="0" err="1" smtClean="0">
              <a:solidFill>
                <a:srgbClr val="002060"/>
              </a:solidFill>
              <a:latin typeface="Power Geez Unicode1" pitchFamily="2" charset="0"/>
            </a:rPr>
            <a:t>ቀድሞ</a:t>
          </a:r>
          <a:r>
            <a:rPr lang="en-US" sz="2400" b="1" kern="1200" dirty="0" smtClean="0">
              <a:solidFill>
                <a:srgbClr val="002060"/>
              </a:solidFill>
              <a:latin typeface="Power Geez Unicode1" pitchFamily="2" charset="0"/>
            </a:rPr>
            <a:t> </a:t>
          </a:r>
          <a:r>
            <a:rPr lang="en-US" sz="2400" b="1" kern="1200" dirty="0" err="1" smtClean="0">
              <a:solidFill>
                <a:srgbClr val="002060"/>
              </a:solidFill>
              <a:latin typeface="Power Geez Unicode1" pitchFamily="2" charset="0"/>
            </a:rPr>
            <a:t>የነበረው</a:t>
          </a:r>
          <a:r>
            <a:rPr lang="en-US" sz="2400" b="1" kern="1200" dirty="0" smtClean="0">
              <a:solidFill>
                <a:srgbClr val="002060"/>
              </a:solidFill>
              <a:latin typeface="Power Geez Unicode1" pitchFamily="2" charset="0"/>
            </a:rPr>
            <a:t>  </a:t>
          </a:r>
          <a:r>
            <a:rPr lang="en-US" sz="2400" b="1" kern="1200" dirty="0" err="1" smtClean="0">
              <a:solidFill>
                <a:srgbClr val="002060"/>
              </a:solidFill>
              <a:latin typeface="Power Geez Unicode1" pitchFamily="2" charset="0"/>
            </a:rPr>
            <a:t>አንቀፅ</a:t>
          </a:r>
          <a:r>
            <a:rPr lang="en-US" sz="2400" b="1" kern="1200" dirty="0" smtClean="0">
              <a:solidFill>
                <a:srgbClr val="002060"/>
              </a:solidFill>
              <a:latin typeface="Power Geez Unicode1" pitchFamily="2" charset="0"/>
            </a:rPr>
            <a:t> </a:t>
          </a:r>
          <a:r>
            <a:rPr lang="en-US" sz="2400" b="1" kern="1200" dirty="0" err="1" smtClean="0">
              <a:solidFill>
                <a:srgbClr val="002060"/>
              </a:solidFill>
              <a:latin typeface="Power Geez Unicode1" pitchFamily="2" charset="0"/>
            </a:rPr>
            <a:t>ላይ</a:t>
          </a:r>
          <a:r>
            <a:rPr lang="en-US" sz="2400" b="1" kern="1200" dirty="0" smtClean="0">
              <a:solidFill>
                <a:srgbClr val="002060"/>
              </a:solidFill>
              <a:latin typeface="Power Geez Unicode1" pitchFamily="2" charset="0"/>
            </a:rPr>
            <a:t> </a:t>
          </a:r>
          <a:r>
            <a:rPr lang="en-US" sz="2400" b="1" kern="1200" dirty="0" err="1" smtClean="0">
              <a:solidFill>
                <a:srgbClr val="002060"/>
              </a:solidFill>
              <a:latin typeface="Power Geez Unicode1" pitchFamily="2" charset="0"/>
            </a:rPr>
            <a:t>የተሻሻሉ</a:t>
          </a:r>
          <a:r>
            <a:rPr lang="en-US" sz="2400" b="1" kern="1200" dirty="0" smtClean="0">
              <a:solidFill>
                <a:srgbClr val="002060"/>
              </a:solidFill>
              <a:latin typeface="Power Geez Unicode1" pitchFamily="2" charset="0"/>
            </a:rPr>
            <a:t> </a:t>
          </a:r>
          <a:r>
            <a:rPr lang="en-US" sz="2400" b="1" kern="1200" dirty="0" err="1" smtClean="0">
              <a:solidFill>
                <a:srgbClr val="002060"/>
              </a:solidFill>
              <a:latin typeface="Power Geez Unicode1" pitchFamily="2" charset="0"/>
            </a:rPr>
            <a:t>ሃሳቦች</a:t>
          </a:r>
          <a:r>
            <a:rPr lang="en-US" sz="2400" b="1" kern="1200" dirty="0" smtClean="0">
              <a:solidFill>
                <a:srgbClr val="002060"/>
              </a:solidFill>
              <a:latin typeface="Power Geez Unicode1" pitchFamily="2" charset="0"/>
            </a:rPr>
            <a:t> </a:t>
          </a:r>
          <a:endParaRPr lang="en-US" sz="2400" b="1" kern="1200" dirty="0">
            <a:solidFill>
              <a:srgbClr val="002060"/>
            </a:solidFill>
            <a:latin typeface="Power Geez Unicode1" pitchFamily="2" charset="0"/>
          </a:endParaRPr>
        </a:p>
      </dsp:txBody>
      <dsp:txXfrm>
        <a:off x="64792" y="2133603"/>
        <a:ext cx="6384423" cy="785812"/>
      </dsp:txXfrm>
    </dsp:sp>
    <dsp:sp modelId="{23109A6B-4162-401E-98DA-1E0218C8846D}">
      <dsp:nvSpPr>
        <dsp:cNvPr id="0" name=""/>
        <dsp:cNvSpPr/>
      </dsp:nvSpPr>
      <dsp:spPr>
        <a:xfrm>
          <a:off x="-8" y="3058862"/>
          <a:ext cx="8382016" cy="482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b" anchorCtr="0">
          <a:noAutofit/>
        </a:bodyPr>
        <a:lstStyle/>
        <a:p>
          <a:pPr lvl="0" algn="l" defTabSz="977900">
            <a:lnSpc>
              <a:spcPct val="90000"/>
            </a:lnSpc>
            <a:spcBef>
              <a:spcPct val="0"/>
            </a:spcBef>
            <a:spcAft>
              <a:spcPct val="35000"/>
            </a:spcAft>
          </a:pPr>
          <a:endParaRPr lang="en-US" sz="2200" kern="1200" dirty="0"/>
        </a:p>
      </dsp:txBody>
      <dsp:txXfrm>
        <a:off x="-8" y="3058862"/>
        <a:ext cx="8382016" cy="482203"/>
      </dsp:txXfrm>
    </dsp:sp>
    <dsp:sp modelId="{DC7C367E-BC68-48EE-81D1-ADEFD9464916}">
      <dsp:nvSpPr>
        <dsp:cNvPr id="0" name=""/>
        <dsp:cNvSpPr/>
      </dsp:nvSpPr>
      <dsp:spPr>
        <a:xfrm>
          <a:off x="-8" y="3541065"/>
          <a:ext cx="1241190" cy="982265"/>
        </a:xfrm>
        <a:prstGeom prst="chevron">
          <a:avLst>
            <a:gd name="adj" fmla="val 706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DB114BB-A1C1-4905-879F-AEEBCFACFE33}">
      <dsp:nvSpPr>
        <dsp:cNvPr id="0" name=""/>
        <dsp:cNvSpPr/>
      </dsp:nvSpPr>
      <dsp:spPr>
        <a:xfrm>
          <a:off x="745531" y="3541065"/>
          <a:ext cx="1241190" cy="982265"/>
        </a:xfrm>
        <a:prstGeom prst="chevron">
          <a:avLst>
            <a:gd name="adj" fmla="val 706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9E62A7F-5F75-4BA2-91E0-0108BE5A0C44}">
      <dsp:nvSpPr>
        <dsp:cNvPr id="0" name=""/>
        <dsp:cNvSpPr/>
      </dsp:nvSpPr>
      <dsp:spPr>
        <a:xfrm>
          <a:off x="1491660" y="3541065"/>
          <a:ext cx="1241190" cy="982265"/>
        </a:xfrm>
        <a:prstGeom prst="chevron">
          <a:avLst>
            <a:gd name="adj" fmla="val 706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14C01D8-CD1F-4615-BC11-542C2247E26C}">
      <dsp:nvSpPr>
        <dsp:cNvPr id="0" name=""/>
        <dsp:cNvSpPr/>
      </dsp:nvSpPr>
      <dsp:spPr>
        <a:xfrm>
          <a:off x="2237200" y="3541065"/>
          <a:ext cx="1241190" cy="982265"/>
        </a:xfrm>
        <a:prstGeom prst="chevron">
          <a:avLst>
            <a:gd name="adj" fmla="val 706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7245A0A-5E7B-4124-8A19-BD56F805056C}">
      <dsp:nvSpPr>
        <dsp:cNvPr id="0" name=""/>
        <dsp:cNvSpPr/>
      </dsp:nvSpPr>
      <dsp:spPr>
        <a:xfrm>
          <a:off x="2983328" y="3541065"/>
          <a:ext cx="1241190" cy="982265"/>
        </a:xfrm>
        <a:prstGeom prst="chevron">
          <a:avLst>
            <a:gd name="adj" fmla="val 706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62F88EC-FA8F-4796-A1D5-BC067AA5176E}">
      <dsp:nvSpPr>
        <dsp:cNvPr id="0" name=""/>
        <dsp:cNvSpPr/>
      </dsp:nvSpPr>
      <dsp:spPr>
        <a:xfrm>
          <a:off x="3728868" y="3541065"/>
          <a:ext cx="1241190" cy="982265"/>
        </a:xfrm>
        <a:prstGeom prst="chevron">
          <a:avLst>
            <a:gd name="adj" fmla="val 706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859BF7-BCD8-4B18-9EF1-5E41CD265FBC}">
      <dsp:nvSpPr>
        <dsp:cNvPr id="0" name=""/>
        <dsp:cNvSpPr/>
      </dsp:nvSpPr>
      <dsp:spPr>
        <a:xfrm>
          <a:off x="4342910" y="3543697"/>
          <a:ext cx="2570531" cy="982265"/>
        </a:xfrm>
        <a:prstGeom prst="chevron">
          <a:avLst>
            <a:gd name="adj" fmla="val 706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4C983F5-595B-4946-8622-45B1A06A45CD}">
      <dsp:nvSpPr>
        <dsp:cNvPr id="0" name=""/>
        <dsp:cNvSpPr/>
      </dsp:nvSpPr>
      <dsp:spPr>
        <a:xfrm>
          <a:off x="-8" y="3639291"/>
          <a:ext cx="5373189" cy="785812"/>
        </a:xfrm>
        <a:prstGeom prst="rect">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5880" tIns="55880" rIns="55880" bIns="55880" numCol="1" spcCol="1270" anchor="ctr" anchorCtr="0">
          <a:noAutofit/>
        </a:bodyPr>
        <a:lstStyle/>
        <a:p>
          <a:pPr lvl="0" algn="just" defTabSz="977900">
            <a:lnSpc>
              <a:spcPct val="90000"/>
            </a:lnSpc>
            <a:spcBef>
              <a:spcPct val="0"/>
            </a:spcBef>
            <a:spcAft>
              <a:spcPct val="35000"/>
            </a:spcAft>
          </a:pPr>
          <a:r>
            <a:rPr lang="en-US" sz="2200" b="1" kern="1200" smtClean="0">
              <a:solidFill>
                <a:srgbClr val="C00000"/>
              </a:solidFill>
              <a:latin typeface="Power Geez Unicode1" pitchFamily="2" charset="0"/>
            </a:rPr>
            <a:t>ቀድሞ ከነበረው ደንብ ቁጥር 150/2015 አንፃር ደንብ ቁጥር </a:t>
          </a:r>
          <a:r>
            <a:rPr lang="en-US" sz="2200" b="1" kern="1200" smtClean="0">
              <a:solidFill>
                <a:srgbClr val="7030A0"/>
              </a:solidFill>
              <a:latin typeface="Power Geez Unicode1" pitchFamily="2" charset="0"/>
            </a:rPr>
            <a:t>167/2016</a:t>
          </a:r>
          <a:r>
            <a:rPr lang="en-US" sz="2200" b="1" kern="1200" smtClean="0">
              <a:solidFill>
                <a:srgbClr val="C00000"/>
              </a:solidFill>
              <a:latin typeface="Power Geez Unicode1" pitchFamily="2" charset="0"/>
            </a:rPr>
            <a:t> ያለው ልዩነት</a:t>
          </a:r>
          <a:endParaRPr lang="en-US" sz="2200" b="1" kern="1200" dirty="0">
            <a:solidFill>
              <a:srgbClr val="C00000"/>
            </a:solidFill>
            <a:latin typeface="Power Geez Unicode1" pitchFamily="2" charset="0"/>
          </a:endParaRPr>
        </a:p>
      </dsp:txBody>
      <dsp:txXfrm>
        <a:off x="-8" y="3639291"/>
        <a:ext cx="5373189" cy="7858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2624B1-AA0A-4AA6-8F8B-2070DEB1189F}">
      <dsp:nvSpPr>
        <dsp:cNvPr id="0" name=""/>
        <dsp:cNvSpPr/>
      </dsp:nvSpPr>
      <dsp:spPr>
        <a:xfrm>
          <a:off x="3106301" y="936"/>
          <a:ext cx="5046095" cy="1210718"/>
        </a:xfrm>
        <a:prstGeom prst="rightArrow">
          <a:avLst>
            <a:gd name="adj1" fmla="val 75000"/>
            <a:gd name="adj2" fmla="val 50000"/>
          </a:avLst>
        </a:prstGeom>
        <a:solidFill>
          <a:schemeClr val="accent5">
            <a:tint val="40000"/>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just" defTabSz="889000">
            <a:lnSpc>
              <a:spcPct val="90000"/>
            </a:lnSpc>
            <a:spcBef>
              <a:spcPct val="0"/>
            </a:spcBef>
            <a:spcAft>
              <a:spcPct val="15000"/>
            </a:spcAft>
            <a:buChar char="••"/>
          </a:pPr>
          <a:r>
            <a:rPr lang="en-US" sz="2000" b="1" kern="1200" dirty="0" err="1" smtClean="0">
              <a:solidFill>
                <a:srgbClr val="002060"/>
              </a:solidFill>
              <a:latin typeface="Power Geez Unicode1" pitchFamily="2" charset="0"/>
            </a:rPr>
            <a:t>ተደጋጋሚ</a:t>
          </a:r>
          <a:r>
            <a:rPr lang="en-US" sz="2000" b="1" kern="1200" dirty="0" smtClean="0">
              <a:solidFill>
                <a:srgbClr val="002060"/>
              </a:solidFill>
              <a:latin typeface="Power Geez Unicode1" pitchFamily="2" charset="0"/>
            </a:rPr>
            <a:t> </a:t>
          </a:r>
          <a:r>
            <a:rPr lang="en-US" sz="2000" b="1" kern="1200" dirty="0" err="1" smtClean="0">
              <a:solidFill>
                <a:srgbClr val="002060"/>
              </a:solidFill>
              <a:latin typeface="Power Geez Unicode1" pitchFamily="2" charset="0"/>
            </a:rPr>
            <a:t>መድረክ</a:t>
          </a:r>
          <a:r>
            <a:rPr lang="en-US" sz="2000" b="1" kern="1200" dirty="0" smtClean="0">
              <a:solidFill>
                <a:srgbClr val="002060"/>
              </a:solidFill>
              <a:latin typeface="Power Geez Unicode1" pitchFamily="2" charset="0"/>
            </a:rPr>
            <a:t> </a:t>
          </a:r>
          <a:r>
            <a:rPr lang="en-US" sz="2000" b="1" kern="1200" dirty="0" err="1" smtClean="0">
              <a:solidFill>
                <a:srgbClr val="FF0000"/>
              </a:solidFill>
              <a:latin typeface="Power Geez Unicode1" pitchFamily="2" charset="0"/>
            </a:rPr>
            <a:t>ለህብረተሰቡ</a:t>
          </a:r>
          <a:r>
            <a:rPr lang="en-US" sz="2000" b="1" kern="1200" dirty="0" smtClean="0">
              <a:solidFill>
                <a:srgbClr val="002060"/>
              </a:solidFill>
              <a:latin typeface="Power Geez Unicode1" pitchFamily="2" charset="0"/>
            </a:rPr>
            <a:t> </a:t>
          </a:r>
          <a:r>
            <a:rPr lang="en-US" sz="2000" b="1" kern="1200" dirty="0" err="1" smtClean="0">
              <a:solidFill>
                <a:srgbClr val="002060"/>
              </a:solidFill>
              <a:latin typeface="Power Geez Unicode1" pitchFamily="2" charset="0"/>
            </a:rPr>
            <a:t>በመፍጠር</a:t>
          </a:r>
          <a:r>
            <a:rPr lang="en-US" sz="2000" b="1" kern="1200" dirty="0" smtClean="0">
              <a:solidFill>
                <a:srgbClr val="002060"/>
              </a:solidFill>
              <a:latin typeface="Power Geez Unicode1" pitchFamily="2" charset="0"/>
            </a:rPr>
            <a:t> </a:t>
          </a:r>
          <a:r>
            <a:rPr lang="en-US" sz="2000" b="1" kern="1200" dirty="0" err="1" smtClean="0">
              <a:solidFill>
                <a:srgbClr val="002060"/>
              </a:solidFill>
              <a:latin typeface="Power Geez Unicode1" pitchFamily="2" charset="0"/>
            </a:rPr>
            <a:t>በደንብ</a:t>
          </a:r>
          <a:r>
            <a:rPr lang="en-US" sz="2000" b="1" kern="1200" dirty="0" smtClean="0">
              <a:solidFill>
                <a:srgbClr val="002060"/>
              </a:solidFill>
              <a:latin typeface="Power Geez Unicode1" pitchFamily="2" charset="0"/>
            </a:rPr>
            <a:t> </a:t>
          </a:r>
          <a:r>
            <a:rPr lang="en-US" sz="2000" b="1" kern="1200" dirty="0" err="1" smtClean="0">
              <a:solidFill>
                <a:srgbClr val="002060"/>
              </a:solidFill>
              <a:latin typeface="Power Geez Unicode1" pitchFamily="2" charset="0"/>
            </a:rPr>
            <a:t>ቁጥር</a:t>
          </a:r>
          <a:r>
            <a:rPr lang="en-US" sz="2000" b="1" kern="1200" dirty="0" smtClean="0">
              <a:solidFill>
                <a:srgbClr val="002060"/>
              </a:solidFill>
              <a:latin typeface="Power Geez Unicode1" pitchFamily="2" charset="0"/>
            </a:rPr>
            <a:t> </a:t>
          </a:r>
          <a:r>
            <a:rPr lang="en-US" sz="2000" b="1" kern="1200" dirty="0" smtClean="0">
              <a:solidFill>
                <a:srgbClr val="FF0000"/>
              </a:solidFill>
              <a:latin typeface="Power Geez Unicode1" pitchFamily="2" charset="0"/>
            </a:rPr>
            <a:t>167/2016</a:t>
          </a:r>
          <a:r>
            <a:rPr lang="en-US" sz="2000" b="1" kern="1200" dirty="0" smtClean="0">
              <a:solidFill>
                <a:srgbClr val="002060"/>
              </a:solidFill>
              <a:latin typeface="Power Geez Unicode1" pitchFamily="2" charset="0"/>
            </a:rPr>
            <a:t> </a:t>
          </a:r>
          <a:r>
            <a:rPr lang="en-US" sz="2000" b="1" kern="1200" dirty="0" err="1" smtClean="0">
              <a:solidFill>
                <a:srgbClr val="002060"/>
              </a:solidFill>
              <a:latin typeface="Power Geez Unicode1" pitchFamily="2" charset="0"/>
            </a:rPr>
            <a:t>ላይ</a:t>
          </a:r>
          <a:r>
            <a:rPr lang="en-US" sz="2000" b="1" kern="1200" dirty="0" smtClean="0">
              <a:solidFill>
                <a:srgbClr val="002060"/>
              </a:solidFill>
              <a:latin typeface="Power Geez Unicode1" pitchFamily="2" charset="0"/>
            </a:rPr>
            <a:t> </a:t>
          </a:r>
          <a:r>
            <a:rPr lang="en-US" sz="2000" b="1" kern="1200" dirty="0" err="1" smtClean="0">
              <a:solidFill>
                <a:srgbClr val="002060"/>
              </a:solidFill>
              <a:latin typeface="Power Geez Unicode1" pitchFamily="2" charset="0"/>
            </a:rPr>
            <a:t>በቂ</a:t>
          </a:r>
          <a:r>
            <a:rPr lang="en-US" sz="2000" b="1" kern="1200" dirty="0" smtClean="0">
              <a:solidFill>
                <a:srgbClr val="002060"/>
              </a:solidFill>
              <a:latin typeface="Power Geez Unicode1" pitchFamily="2" charset="0"/>
            </a:rPr>
            <a:t> </a:t>
          </a:r>
          <a:r>
            <a:rPr lang="en-US" sz="2000" b="1" kern="1200" dirty="0" err="1" smtClean="0">
              <a:solidFill>
                <a:srgbClr val="002060"/>
              </a:solidFill>
              <a:latin typeface="Power Geez Unicode1" pitchFamily="2" charset="0"/>
            </a:rPr>
            <a:t>ግንዛቤ</a:t>
          </a:r>
          <a:r>
            <a:rPr lang="en-US" sz="2000" b="1" kern="1200" dirty="0" smtClean="0">
              <a:solidFill>
                <a:srgbClr val="002060"/>
              </a:solidFill>
              <a:latin typeface="Power Geez Unicode1" pitchFamily="2" charset="0"/>
            </a:rPr>
            <a:t> </a:t>
          </a:r>
          <a:r>
            <a:rPr lang="en-US" sz="2000" b="1" kern="1200" dirty="0" err="1" smtClean="0">
              <a:solidFill>
                <a:srgbClr val="002060"/>
              </a:solidFill>
              <a:latin typeface="Power Geez Unicode1" pitchFamily="2" charset="0"/>
            </a:rPr>
            <a:t>ይኖረዋል</a:t>
          </a:r>
          <a:r>
            <a:rPr lang="en-US" sz="2000" b="1" kern="1200" dirty="0" smtClean="0">
              <a:solidFill>
                <a:srgbClr val="002060"/>
              </a:solidFill>
              <a:latin typeface="Power Geez Unicode1" pitchFamily="2" charset="0"/>
            </a:rPr>
            <a:t> </a:t>
          </a:r>
          <a:r>
            <a:rPr lang="en-US" sz="2000" b="1" kern="1200" dirty="0" err="1" smtClean="0">
              <a:solidFill>
                <a:srgbClr val="002060"/>
              </a:solidFill>
              <a:latin typeface="Power Geez Unicode1" pitchFamily="2" charset="0"/>
            </a:rPr>
            <a:t>ተብሎይጠበቃል</a:t>
          </a:r>
          <a:endParaRPr lang="en-US" sz="2000" b="1" kern="1200" dirty="0">
            <a:solidFill>
              <a:srgbClr val="002060"/>
            </a:solidFill>
            <a:latin typeface="Power Geez Unicode1" pitchFamily="2" charset="0"/>
          </a:endParaRPr>
        </a:p>
      </dsp:txBody>
      <dsp:txXfrm>
        <a:off x="3106301" y="152276"/>
        <a:ext cx="4592076" cy="908038"/>
      </dsp:txXfrm>
    </dsp:sp>
    <dsp:sp modelId="{20B58F0B-6487-4F94-8E1F-7244D3CA0805}">
      <dsp:nvSpPr>
        <dsp:cNvPr id="0" name=""/>
        <dsp:cNvSpPr/>
      </dsp:nvSpPr>
      <dsp:spPr>
        <a:xfrm>
          <a:off x="1003" y="204028"/>
          <a:ext cx="3105298" cy="804533"/>
        </a:xfrm>
        <a:prstGeom prst="roundRect">
          <a:avLst/>
        </a:prstGeom>
        <a:solidFill>
          <a:schemeClr val="accent5">
            <a:hueOff val="0"/>
            <a:satOff val="0"/>
            <a:lumOff val="0"/>
            <a:alphaOff val="0"/>
          </a:schemeClr>
        </a:solidFill>
        <a:ln>
          <a:noFill/>
        </a:ln>
        <a:effectLst>
          <a:outerShdw blurRad="50800" dist="254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52400" tIns="76200" rIns="152400" bIns="76200" numCol="1" spcCol="1270" anchor="ctr" anchorCtr="0">
          <a:noAutofit/>
        </a:bodyPr>
        <a:lstStyle/>
        <a:p>
          <a:pPr lvl="0" algn="ctr" defTabSz="1778000">
            <a:lnSpc>
              <a:spcPct val="90000"/>
            </a:lnSpc>
            <a:spcBef>
              <a:spcPct val="0"/>
            </a:spcBef>
            <a:spcAft>
              <a:spcPct val="35000"/>
            </a:spcAft>
          </a:pPr>
          <a:r>
            <a:rPr lang="en-US" sz="4000" kern="1200" dirty="0" smtClean="0"/>
            <a:t>1.</a:t>
          </a:r>
          <a:endParaRPr lang="en-US" sz="4000" kern="1200" dirty="0"/>
        </a:p>
      </dsp:txBody>
      <dsp:txXfrm>
        <a:off x="40277" y="243302"/>
        <a:ext cx="3026750" cy="725985"/>
      </dsp:txXfrm>
    </dsp:sp>
    <dsp:sp modelId="{6A76750A-5C16-4DCC-8953-2D1E08CCA503}">
      <dsp:nvSpPr>
        <dsp:cNvPr id="0" name=""/>
        <dsp:cNvSpPr/>
      </dsp:nvSpPr>
      <dsp:spPr>
        <a:xfrm>
          <a:off x="3266137" y="1293044"/>
          <a:ext cx="4887262" cy="2186755"/>
        </a:xfrm>
        <a:prstGeom prst="rightArrow">
          <a:avLst>
            <a:gd name="adj1" fmla="val 75000"/>
            <a:gd name="adj2" fmla="val 50000"/>
          </a:avLst>
        </a:prstGeom>
        <a:solidFill>
          <a:schemeClr val="accent5">
            <a:tint val="40000"/>
            <a:alpha val="90000"/>
            <a:hueOff val="8538722"/>
            <a:satOff val="-22214"/>
            <a:lumOff val="-212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just" defTabSz="889000">
            <a:lnSpc>
              <a:spcPct val="90000"/>
            </a:lnSpc>
            <a:spcBef>
              <a:spcPct val="0"/>
            </a:spcBef>
            <a:spcAft>
              <a:spcPct val="15000"/>
            </a:spcAft>
            <a:buChar char="••"/>
          </a:pPr>
          <a:r>
            <a:rPr lang="en-US" sz="2000" b="1" kern="1200" dirty="0" err="1" smtClean="0">
              <a:solidFill>
                <a:srgbClr val="C00000"/>
              </a:solidFill>
              <a:latin typeface="Power Geez Unicode1" pitchFamily="2" charset="0"/>
            </a:rPr>
            <a:t>የከተማው</a:t>
          </a:r>
          <a:r>
            <a:rPr lang="en-US" sz="2000" b="1" kern="1200" dirty="0" smtClean="0">
              <a:solidFill>
                <a:srgbClr val="C00000"/>
              </a:solidFill>
              <a:latin typeface="Power Geez Unicode1" pitchFamily="2" charset="0"/>
            </a:rPr>
            <a:t> </a:t>
          </a:r>
          <a:r>
            <a:rPr lang="en-US" sz="2000" b="1" kern="1200" dirty="0" err="1" smtClean="0">
              <a:solidFill>
                <a:srgbClr val="C00000"/>
              </a:solidFill>
              <a:latin typeface="Power Geez Unicode1" pitchFamily="2" charset="0"/>
            </a:rPr>
            <a:t>ነዋሪ</a:t>
          </a:r>
          <a:r>
            <a:rPr lang="en-US" sz="2000" b="1" kern="1200" dirty="0" smtClean="0">
              <a:solidFill>
                <a:srgbClr val="C00000"/>
              </a:solidFill>
              <a:latin typeface="Power Geez Unicode1" pitchFamily="2" charset="0"/>
            </a:rPr>
            <a:t> </a:t>
          </a:r>
          <a:r>
            <a:rPr lang="en-US" sz="2000" b="1" kern="1200" dirty="0" err="1" smtClean="0">
              <a:solidFill>
                <a:srgbClr val="C00000"/>
              </a:solidFill>
              <a:latin typeface="Power Geez Unicode1" pitchFamily="2" charset="0"/>
            </a:rPr>
            <a:t>በደንብ</a:t>
          </a:r>
          <a:r>
            <a:rPr lang="en-US" sz="2000" b="1" kern="1200" dirty="0" smtClean="0">
              <a:solidFill>
                <a:srgbClr val="C00000"/>
              </a:solidFill>
              <a:latin typeface="Power Geez Unicode1" pitchFamily="2" charset="0"/>
            </a:rPr>
            <a:t> </a:t>
          </a:r>
          <a:r>
            <a:rPr lang="en-US" sz="2000" b="1" kern="1200" dirty="0" err="1" smtClean="0">
              <a:solidFill>
                <a:srgbClr val="C00000"/>
              </a:solidFill>
              <a:latin typeface="Power Geez Unicode1" pitchFamily="2" charset="0"/>
            </a:rPr>
            <a:t>ቁጥር</a:t>
          </a:r>
          <a:r>
            <a:rPr lang="en-US" sz="2000" b="1" kern="1200" dirty="0" smtClean="0">
              <a:solidFill>
                <a:srgbClr val="C00000"/>
              </a:solidFill>
              <a:latin typeface="Power Geez Unicode1" pitchFamily="2" charset="0"/>
            </a:rPr>
            <a:t> </a:t>
          </a:r>
          <a:r>
            <a:rPr lang="en-US" sz="2000" b="1" kern="1200" dirty="0" smtClean="0">
              <a:solidFill>
                <a:schemeClr val="tx1"/>
              </a:solidFill>
              <a:latin typeface="Power Geez Unicode1" pitchFamily="2" charset="0"/>
            </a:rPr>
            <a:t>167/2016 </a:t>
          </a:r>
          <a:r>
            <a:rPr lang="en-US" sz="2000" b="1" kern="1200" dirty="0" err="1" smtClean="0">
              <a:solidFill>
                <a:srgbClr val="C00000"/>
              </a:solidFill>
              <a:latin typeface="Power Geez Unicode1" pitchFamily="2" charset="0"/>
            </a:rPr>
            <a:t>እና</a:t>
          </a:r>
          <a:r>
            <a:rPr lang="en-US" sz="2000" b="1" kern="1200" dirty="0" smtClean="0">
              <a:solidFill>
                <a:srgbClr val="C00000"/>
              </a:solidFill>
              <a:latin typeface="Power Geez Unicode1" pitchFamily="2" charset="0"/>
            </a:rPr>
            <a:t> </a:t>
          </a:r>
          <a:r>
            <a:rPr lang="en-US" sz="2000" b="1" kern="1200" dirty="0" err="1" smtClean="0">
              <a:solidFill>
                <a:srgbClr val="C00000"/>
              </a:solidFill>
              <a:latin typeface="Power Geez Unicode1" pitchFamily="2" charset="0"/>
            </a:rPr>
            <a:t>በደንብ</a:t>
          </a:r>
          <a:r>
            <a:rPr lang="en-US" sz="2000" b="1" kern="1200" dirty="0" smtClean="0">
              <a:solidFill>
                <a:srgbClr val="C00000"/>
              </a:solidFill>
              <a:latin typeface="Power Geez Unicode1" pitchFamily="2" charset="0"/>
            </a:rPr>
            <a:t> </a:t>
          </a:r>
          <a:r>
            <a:rPr lang="en-US" sz="2000" b="1" kern="1200" dirty="0" err="1" smtClean="0">
              <a:solidFill>
                <a:srgbClr val="C00000"/>
              </a:solidFill>
              <a:latin typeface="Power Geez Unicode1" pitchFamily="2" charset="0"/>
            </a:rPr>
            <a:t>ቁጥር</a:t>
          </a:r>
          <a:r>
            <a:rPr lang="en-US" sz="2000" b="1" kern="1200" dirty="0" smtClean="0">
              <a:solidFill>
                <a:srgbClr val="C00000"/>
              </a:solidFill>
              <a:latin typeface="Power Geez Unicode1" pitchFamily="2" charset="0"/>
            </a:rPr>
            <a:t> </a:t>
          </a:r>
          <a:r>
            <a:rPr lang="en-US" sz="2000" b="1" kern="1200" dirty="0" smtClean="0">
              <a:solidFill>
                <a:schemeClr val="tx1"/>
              </a:solidFill>
              <a:latin typeface="Power Geez Unicode1" pitchFamily="2" charset="0"/>
            </a:rPr>
            <a:t>150/2015</a:t>
          </a:r>
          <a:r>
            <a:rPr lang="en-US" sz="2000" b="1" kern="1200" dirty="0" smtClean="0">
              <a:solidFill>
                <a:srgbClr val="C00000"/>
              </a:solidFill>
              <a:latin typeface="Power Geez Unicode1" pitchFamily="2" charset="0"/>
            </a:rPr>
            <a:t> </a:t>
          </a:r>
          <a:r>
            <a:rPr lang="en-US" sz="2000" b="1" kern="1200" dirty="0" err="1" smtClean="0">
              <a:solidFill>
                <a:srgbClr val="C00000"/>
              </a:solidFill>
              <a:latin typeface="Power Geez Unicode1" pitchFamily="2" charset="0"/>
            </a:rPr>
            <a:t>መካከል</a:t>
          </a:r>
          <a:r>
            <a:rPr lang="en-US" sz="2000" b="1" kern="1200" dirty="0" smtClean="0">
              <a:solidFill>
                <a:srgbClr val="C00000"/>
              </a:solidFill>
              <a:latin typeface="Power Geez Unicode1" pitchFamily="2" charset="0"/>
            </a:rPr>
            <a:t> </a:t>
          </a:r>
          <a:r>
            <a:rPr lang="en-US" sz="2000" b="1" kern="1200" dirty="0" err="1" smtClean="0">
              <a:solidFill>
                <a:srgbClr val="C00000"/>
              </a:solidFill>
              <a:latin typeface="Power Geez Unicode1" pitchFamily="2" charset="0"/>
            </a:rPr>
            <a:t>የተሻሻለውን</a:t>
          </a:r>
          <a:r>
            <a:rPr lang="en-US" sz="2000" b="1" kern="1200" dirty="0" smtClean="0">
              <a:solidFill>
                <a:srgbClr val="C00000"/>
              </a:solidFill>
              <a:latin typeface="Power Geez Unicode1" pitchFamily="2" charset="0"/>
            </a:rPr>
            <a:t> </a:t>
          </a:r>
          <a:r>
            <a:rPr lang="en-US" sz="2000" b="1" kern="1200" dirty="0" err="1" smtClean="0">
              <a:solidFill>
                <a:srgbClr val="C00000"/>
              </a:solidFill>
              <a:latin typeface="Power Geez Unicode1" pitchFamily="2" charset="0"/>
            </a:rPr>
            <a:t>አንቀጽ</a:t>
          </a:r>
          <a:r>
            <a:rPr lang="en-US" sz="2000" b="1" kern="1200" dirty="0" smtClean="0">
              <a:solidFill>
                <a:srgbClr val="C00000"/>
              </a:solidFill>
              <a:latin typeface="Power Geez Unicode1" pitchFamily="2" charset="0"/>
            </a:rPr>
            <a:t> </a:t>
          </a:r>
          <a:r>
            <a:rPr lang="en-US" sz="2000" b="1" kern="1200" dirty="0" err="1" smtClean="0">
              <a:solidFill>
                <a:srgbClr val="C00000"/>
              </a:solidFill>
              <a:latin typeface="Power Geez Unicode1" pitchFamily="2" charset="0"/>
            </a:rPr>
            <a:t>እንዲረዱ</a:t>
          </a:r>
          <a:r>
            <a:rPr lang="en-US" sz="2000" b="1" kern="1200" dirty="0" smtClean="0">
              <a:solidFill>
                <a:srgbClr val="C00000"/>
              </a:solidFill>
              <a:latin typeface="Power Geez Unicode1" pitchFamily="2" charset="0"/>
            </a:rPr>
            <a:t> </a:t>
          </a:r>
          <a:r>
            <a:rPr lang="en-US" sz="2000" b="1" kern="1200" dirty="0" err="1" smtClean="0">
              <a:solidFill>
                <a:srgbClr val="C00000"/>
              </a:solidFill>
              <a:latin typeface="Power Geez Unicode1" pitchFamily="2" charset="0"/>
            </a:rPr>
            <a:t>ማድረግ</a:t>
          </a:r>
          <a:r>
            <a:rPr lang="en-US" sz="2000" b="1" kern="1200" dirty="0" smtClean="0">
              <a:solidFill>
                <a:srgbClr val="C00000"/>
              </a:solidFill>
              <a:latin typeface="Power Geez Unicode1" pitchFamily="2" charset="0"/>
            </a:rPr>
            <a:t> </a:t>
          </a:r>
          <a:r>
            <a:rPr lang="en-US" sz="2000" b="1" kern="1200" dirty="0" err="1" smtClean="0">
              <a:solidFill>
                <a:srgbClr val="C00000"/>
              </a:solidFill>
              <a:latin typeface="Power Geez Unicode1" pitchFamily="2" charset="0"/>
            </a:rPr>
            <a:t>የተቀረውን</a:t>
          </a:r>
          <a:r>
            <a:rPr lang="en-US" sz="2000" b="1" kern="1200" dirty="0" smtClean="0">
              <a:solidFill>
                <a:srgbClr val="C00000"/>
              </a:solidFill>
              <a:latin typeface="Power Geez Unicode1" pitchFamily="2" charset="0"/>
            </a:rPr>
            <a:t> </a:t>
          </a:r>
          <a:r>
            <a:rPr lang="en-US" sz="2000" b="1" kern="1200" dirty="0" err="1" smtClean="0">
              <a:solidFill>
                <a:schemeClr val="tx1"/>
              </a:solidFill>
              <a:latin typeface="Power Geez Unicode1" pitchFamily="2" charset="0"/>
            </a:rPr>
            <a:t>የህ</a:t>
          </a:r>
          <a:r>
            <a:rPr lang="en-US" sz="2000" b="1" kern="1200" dirty="0" smtClean="0">
              <a:solidFill>
                <a:schemeClr val="tx1"/>
              </a:solidFill>
              <a:latin typeface="Power Geez Unicode1" pitchFamily="2" charset="0"/>
            </a:rPr>
            <a:t>/</a:t>
          </a:r>
          <a:r>
            <a:rPr lang="en-US" sz="2000" b="1" kern="1200" dirty="0" err="1" smtClean="0">
              <a:solidFill>
                <a:schemeClr val="tx1"/>
              </a:solidFill>
              <a:latin typeface="Power Geez Unicode1" pitchFamily="2" charset="0"/>
            </a:rPr>
            <a:t>ክፍል</a:t>
          </a:r>
          <a:r>
            <a:rPr lang="en-US" sz="2000" b="1" kern="1200" dirty="0" smtClean="0">
              <a:solidFill>
                <a:schemeClr val="tx1"/>
              </a:solidFill>
              <a:latin typeface="Power Geez Unicode1" pitchFamily="2" charset="0"/>
            </a:rPr>
            <a:t> </a:t>
          </a:r>
          <a:r>
            <a:rPr lang="en-US" sz="2000" b="1" kern="1200" dirty="0" err="1" smtClean="0">
              <a:solidFill>
                <a:schemeClr val="tx1"/>
              </a:solidFill>
              <a:latin typeface="Power Geez Unicode1" pitchFamily="2" charset="0"/>
            </a:rPr>
            <a:t>ግንዛቤ</a:t>
          </a:r>
          <a:r>
            <a:rPr lang="en-US" sz="2000" b="1" kern="1200" dirty="0" smtClean="0">
              <a:solidFill>
                <a:schemeClr val="tx1"/>
              </a:solidFill>
              <a:latin typeface="Power Geez Unicode1" pitchFamily="2" charset="0"/>
            </a:rPr>
            <a:t> </a:t>
          </a:r>
          <a:r>
            <a:rPr lang="en-US" sz="2000" b="1" kern="1200" dirty="0" err="1" smtClean="0">
              <a:solidFill>
                <a:schemeClr val="tx1"/>
              </a:solidFill>
              <a:latin typeface="Power Geez Unicode1" pitchFamily="2" charset="0"/>
            </a:rPr>
            <a:t>እንዲፈጥሩ</a:t>
          </a:r>
          <a:r>
            <a:rPr lang="en-US" sz="2000" b="1" kern="1200" dirty="0" smtClean="0">
              <a:solidFill>
                <a:srgbClr val="C00000"/>
              </a:solidFill>
              <a:latin typeface="Power Geez Unicode1" pitchFamily="2" charset="0"/>
            </a:rPr>
            <a:t> </a:t>
          </a:r>
          <a:r>
            <a:rPr lang="en-US" sz="2000" b="1" kern="1200" dirty="0" err="1" smtClean="0">
              <a:solidFill>
                <a:srgbClr val="C00000"/>
              </a:solidFill>
              <a:latin typeface="Power Geez Unicode1" pitchFamily="2" charset="0"/>
            </a:rPr>
            <a:t>ይረዳል</a:t>
          </a:r>
          <a:endParaRPr lang="en-US" sz="1300" b="1" kern="1200" dirty="0">
            <a:solidFill>
              <a:srgbClr val="C00000"/>
            </a:solidFill>
            <a:latin typeface="Power Geez Unicode1" pitchFamily="2" charset="0"/>
          </a:endParaRPr>
        </a:p>
      </dsp:txBody>
      <dsp:txXfrm>
        <a:off x="3266137" y="1566388"/>
        <a:ext cx="4067229" cy="1640067"/>
      </dsp:txXfrm>
    </dsp:sp>
    <dsp:sp modelId="{45237C90-4C8C-478E-B9CD-D360083D0952}">
      <dsp:nvSpPr>
        <dsp:cNvPr id="0" name=""/>
        <dsp:cNvSpPr/>
      </dsp:nvSpPr>
      <dsp:spPr>
        <a:xfrm>
          <a:off x="3981" y="1983219"/>
          <a:ext cx="3258175" cy="804533"/>
        </a:xfrm>
        <a:prstGeom prst="roundRect">
          <a:avLst/>
        </a:prstGeom>
        <a:solidFill>
          <a:schemeClr val="accent5">
            <a:hueOff val="8171956"/>
            <a:satOff val="5577"/>
            <a:lumOff val="-15685"/>
            <a:alphaOff val="0"/>
          </a:schemeClr>
        </a:solidFill>
        <a:ln>
          <a:noFill/>
        </a:ln>
        <a:effectLst>
          <a:outerShdw blurRad="50800" dist="254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52400" tIns="76200" rIns="152400" bIns="76200" numCol="1" spcCol="1270" anchor="ctr" anchorCtr="0">
          <a:noAutofit/>
        </a:bodyPr>
        <a:lstStyle/>
        <a:p>
          <a:pPr lvl="0" algn="ctr" defTabSz="1778000">
            <a:lnSpc>
              <a:spcPct val="90000"/>
            </a:lnSpc>
            <a:spcBef>
              <a:spcPct val="0"/>
            </a:spcBef>
            <a:spcAft>
              <a:spcPct val="35000"/>
            </a:spcAft>
          </a:pPr>
          <a:r>
            <a:rPr lang="en-US" sz="4000" kern="1200" dirty="0" smtClean="0"/>
            <a:t>2.</a:t>
          </a:r>
          <a:endParaRPr lang="en-US" sz="4000" kern="1200" dirty="0"/>
        </a:p>
      </dsp:txBody>
      <dsp:txXfrm>
        <a:off x="43255" y="2022493"/>
        <a:ext cx="3179627" cy="72598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26DF42-F094-496E-8B04-2CA0D6DC7D1C}">
      <dsp:nvSpPr>
        <dsp:cNvPr id="0" name=""/>
        <dsp:cNvSpPr/>
      </dsp:nvSpPr>
      <dsp:spPr>
        <a:xfrm rot="5400000">
          <a:off x="-253993" y="256588"/>
          <a:ext cx="1693291" cy="1185304"/>
        </a:xfrm>
        <a:prstGeom prst="chevron">
          <a:avLst/>
        </a:prstGeom>
        <a:solidFill>
          <a:schemeClr val="accent4">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lvl="0" algn="ctr" defTabSz="1466850">
            <a:lnSpc>
              <a:spcPct val="90000"/>
            </a:lnSpc>
            <a:spcBef>
              <a:spcPct val="0"/>
            </a:spcBef>
            <a:spcAft>
              <a:spcPct val="35000"/>
            </a:spcAft>
          </a:pPr>
          <a:r>
            <a:rPr lang="en-US" sz="3300" kern="1200" dirty="0" smtClean="0"/>
            <a:t>1</a:t>
          </a:r>
          <a:endParaRPr lang="en-US" sz="3300" kern="1200" dirty="0"/>
        </a:p>
      </dsp:txBody>
      <dsp:txXfrm rot="-5400000">
        <a:off x="1" y="595246"/>
        <a:ext cx="1185304" cy="507987"/>
      </dsp:txXfrm>
    </dsp:sp>
    <dsp:sp modelId="{12A48194-0710-4DCE-BD70-C18BA5EC6909}">
      <dsp:nvSpPr>
        <dsp:cNvPr id="0" name=""/>
        <dsp:cNvSpPr/>
      </dsp:nvSpPr>
      <dsp:spPr>
        <a:xfrm rot="5400000">
          <a:off x="4271432" y="-3083532"/>
          <a:ext cx="1100639" cy="7272895"/>
        </a:xfrm>
        <a:prstGeom prst="round2SameRect">
          <a:avLst/>
        </a:prstGeom>
        <a:solidFill>
          <a:schemeClr val="lt1">
            <a:alpha val="90000"/>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just" defTabSz="889000">
            <a:lnSpc>
              <a:spcPct val="90000"/>
            </a:lnSpc>
            <a:spcBef>
              <a:spcPct val="0"/>
            </a:spcBef>
            <a:spcAft>
              <a:spcPct val="15000"/>
            </a:spcAft>
            <a:buChar char="••"/>
          </a:pPr>
          <a:r>
            <a:rPr lang="am-ET" sz="2000" b="1" i="0" u="none" strike="noStrike" kern="1200" baseline="0" dirty="0" smtClean="0">
              <a:solidFill>
                <a:srgbClr val="002060"/>
              </a:solidFill>
              <a:latin typeface="Visual Geez Unicode"/>
            </a:rPr>
            <a:t>በከተማው ውስጥ የለሙ </a:t>
          </a:r>
          <a:r>
            <a:rPr lang="am-ET" sz="2000" b="1" i="0" u="none" strike="noStrike" kern="1200" baseline="0" dirty="0" smtClean="0">
              <a:solidFill>
                <a:srgbClr val="FF0000"/>
              </a:solidFill>
              <a:latin typeface="Visual Geez Unicode"/>
            </a:rPr>
            <a:t>ፓርኮች</a:t>
          </a:r>
          <a:r>
            <a:rPr lang="am-ET" sz="2000" b="1" i="0" u="none" strike="noStrike" kern="1200" baseline="0" dirty="0" smtClean="0">
              <a:solidFill>
                <a:srgbClr val="002060"/>
              </a:solidFill>
              <a:latin typeface="Visual Geez Unicode"/>
            </a:rPr>
            <a:t>፣ ኮሪደሮች፣ </a:t>
          </a:r>
          <a:r>
            <a:rPr lang="am-ET" sz="2000" b="1" i="0" u="none" strike="noStrike" kern="1200" baseline="0" dirty="0" smtClean="0">
              <a:solidFill>
                <a:srgbClr val="FF0000"/>
              </a:solidFill>
              <a:latin typeface="Visual Geez Unicode"/>
            </a:rPr>
            <a:t>መንገዶችና</a:t>
          </a:r>
          <a:r>
            <a:rPr lang="am-ET" sz="2000" b="1" i="0" u="none" strike="noStrike" kern="1200" baseline="0" dirty="0" smtClean="0">
              <a:solidFill>
                <a:srgbClr val="002060"/>
              </a:solidFill>
              <a:latin typeface="Visual Geez Unicode"/>
            </a:rPr>
            <a:t> </a:t>
          </a:r>
          <a:r>
            <a:rPr lang="am-ET" sz="2000" b="1" i="0" u="none" strike="noStrike" kern="1200" baseline="0" dirty="0" smtClean="0">
              <a:solidFill>
                <a:srgbClr val="FF0000"/>
              </a:solidFill>
              <a:latin typeface="Visual Geez Unicode"/>
            </a:rPr>
            <a:t>ተጓዳኝ</a:t>
          </a:r>
          <a:r>
            <a:rPr lang="am-ET" sz="2000" b="1" i="0" u="none" strike="noStrike" kern="1200" baseline="0" dirty="0" smtClean="0">
              <a:solidFill>
                <a:srgbClr val="002060"/>
              </a:solidFill>
              <a:latin typeface="Visual Geez Unicode"/>
            </a:rPr>
            <a:t> ልማቶች ካላቸው </a:t>
          </a:r>
          <a:r>
            <a:rPr lang="am-ET" sz="2000" b="1" i="0" u="none" strike="noStrike" kern="1200" baseline="0" dirty="0" smtClean="0">
              <a:solidFill>
                <a:srgbClr val="FF0000"/>
              </a:solidFill>
              <a:latin typeface="Visual Geez Unicode"/>
            </a:rPr>
            <a:t>ከፍተኛ ማህበራዊ</a:t>
          </a:r>
          <a:r>
            <a:rPr lang="am-ET" sz="2000" b="1" i="0" u="none" strike="noStrike" kern="1200" baseline="0" dirty="0" smtClean="0">
              <a:solidFill>
                <a:srgbClr val="002060"/>
              </a:solidFill>
              <a:latin typeface="Visual Geez Unicode"/>
            </a:rPr>
            <a:t>፣ ኢኮኖሚያዊና ከባቢያዊ ጠቀሜታ</a:t>
          </a:r>
          <a:r>
            <a:rPr lang="en-US" sz="2000" b="1" i="0" u="none" strike="noStrike" kern="1200" baseline="0" dirty="0" smtClean="0">
              <a:solidFill>
                <a:srgbClr val="002060"/>
              </a:solidFill>
              <a:latin typeface="Power Geez Unicode1" pitchFamily="2" charset="0"/>
            </a:rPr>
            <a:t> </a:t>
          </a:r>
          <a:r>
            <a:rPr lang="en-US" sz="2000" b="1" i="0" u="none" strike="noStrike" kern="1200" baseline="0" dirty="0" err="1" smtClean="0">
              <a:solidFill>
                <a:srgbClr val="002060"/>
              </a:solidFill>
              <a:latin typeface="Power Geez Unicode1" pitchFamily="2" charset="0"/>
            </a:rPr>
            <a:t>አንፃር</a:t>
          </a:r>
          <a:endParaRPr lang="en-US" sz="2000" b="1" kern="1200" dirty="0">
            <a:solidFill>
              <a:srgbClr val="002060"/>
            </a:solidFill>
            <a:latin typeface="Power Geez Unicode1" pitchFamily="2" charset="0"/>
          </a:endParaRPr>
        </a:p>
      </dsp:txBody>
      <dsp:txXfrm rot="-5400000">
        <a:off x="1185305" y="56324"/>
        <a:ext cx="7219166" cy="993181"/>
      </dsp:txXfrm>
    </dsp:sp>
    <dsp:sp modelId="{9835B295-D74B-4C7A-B25C-320A2475A16B}">
      <dsp:nvSpPr>
        <dsp:cNvPr id="0" name=""/>
        <dsp:cNvSpPr/>
      </dsp:nvSpPr>
      <dsp:spPr>
        <a:xfrm rot="5400000">
          <a:off x="-253993" y="1756847"/>
          <a:ext cx="1693291" cy="1185304"/>
        </a:xfrm>
        <a:prstGeom prst="chevron">
          <a:avLst/>
        </a:prstGeom>
        <a:solidFill>
          <a:schemeClr val="accent4">
            <a:hueOff val="-987791"/>
            <a:satOff val="11154"/>
            <a:lumOff val="5980"/>
            <a:alphaOff val="0"/>
          </a:schemeClr>
        </a:solidFill>
        <a:ln w="15875" cap="flat" cmpd="sng" algn="ctr">
          <a:solidFill>
            <a:schemeClr val="accent4">
              <a:hueOff val="-987791"/>
              <a:satOff val="11154"/>
              <a:lumOff val="598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lvl="0" algn="ctr" defTabSz="1466850">
            <a:lnSpc>
              <a:spcPct val="90000"/>
            </a:lnSpc>
            <a:spcBef>
              <a:spcPct val="0"/>
            </a:spcBef>
            <a:spcAft>
              <a:spcPct val="35000"/>
            </a:spcAft>
          </a:pPr>
          <a:r>
            <a:rPr lang="en-US" sz="3300" kern="1200" dirty="0" smtClean="0"/>
            <a:t>2</a:t>
          </a:r>
          <a:endParaRPr lang="en-US" sz="3300" kern="1200" dirty="0"/>
        </a:p>
      </dsp:txBody>
      <dsp:txXfrm rot="-5400000">
        <a:off x="1" y="2095505"/>
        <a:ext cx="1185304" cy="507987"/>
      </dsp:txXfrm>
    </dsp:sp>
    <dsp:sp modelId="{CCF6D529-7255-4189-B0B5-C88DE6CDC64C}">
      <dsp:nvSpPr>
        <dsp:cNvPr id="0" name=""/>
        <dsp:cNvSpPr/>
      </dsp:nvSpPr>
      <dsp:spPr>
        <a:xfrm rot="5400000">
          <a:off x="4271432" y="-1583273"/>
          <a:ext cx="1100639" cy="7272895"/>
        </a:xfrm>
        <a:prstGeom prst="round2SameRect">
          <a:avLst/>
        </a:prstGeom>
        <a:solidFill>
          <a:schemeClr val="lt1">
            <a:alpha val="90000"/>
            <a:hueOff val="0"/>
            <a:satOff val="0"/>
            <a:lumOff val="0"/>
            <a:alphaOff val="0"/>
          </a:schemeClr>
        </a:solidFill>
        <a:ln w="15875" cap="flat" cmpd="sng" algn="ctr">
          <a:solidFill>
            <a:schemeClr val="accent4">
              <a:hueOff val="-987791"/>
              <a:satOff val="11154"/>
              <a:lumOff val="598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just" defTabSz="889000">
            <a:lnSpc>
              <a:spcPct val="90000"/>
            </a:lnSpc>
            <a:spcBef>
              <a:spcPct val="0"/>
            </a:spcBef>
            <a:spcAft>
              <a:spcPct val="15000"/>
            </a:spcAft>
            <a:buChar char="••"/>
          </a:pPr>
          <a:r>
            <a:rPr lang="am-ET" sz="2000" b="1" i="0" u="none" strike="noStrike" kern="1200" baseline="0" dirty="0" smtClean="0">
              <a:solidFill>
                <a:srgbClr val="FF0000"/>
              </a:solidFill>
              <a:latin typeface="Visual Geez Unicode"/>
            </a:rPr>
            <a:t>ለከተማችን </a:t>
          </a:r>
          <a:r>
            <a:rPr lang="am-ET" sz="2000" b="1" i="0" u="none" strike="noStrike" kern="1200" baseline="0" dirty="0" smtClean="0">
              <a:solidFill>
                <a:schemeClr val="tx1"/>
              </a:solidFill>
              <a:latin typeface="Visual Geez Unicode"/>
            </a:rPr>
            <a:t>ጽዳት</a:t>
          </a:r>
          <a:r>
            <a:rPr lang="am-ET" sz="2000" b="1" i="0" u="none" strike="noStrike" kern="1200" baseline="0" dirty="0" smtClean="0">
              <a:solidFill>
                <a:srgbClr val="FF0000"/>
              </a:solidFill>
              <a:latin typeface="Visual Geez Unicode"/>
            </a:rPr>
            <a:t>፣ ውበትና </a:t>
          </a:r>
          <a:r>
            <a:rPr lang="am-ET" sz="2000" b="1" i="0" u="none" strike="noStrike" kern="1200" baseline="0" dirty="0" smtClean="0">
              <a:solidFill>
                <a:schemeClr val="tx1"/>
              </a:solidFill>
              <a:latin typeface="Visual Geez Unicode"/>
            </a:rPr>
            <a:t>መልካም ገጽታ </a:t>
          </a:r>
          <a:r>
            <a:rPr lang="am-ET" sz="2000" b="1" i="0" u="none" strike="noStrike" kern="1200" baseline="0" dirty="0" smtClean="0">
              <a:solidFill>
                <a:srgbClr val="FF0000"/>
              </a:solidFill>
              <a:latin typeface="Visual Geez Unicode"/>
            </a:rPr>
            <a:t>የላቀ አስተዋጽኦ ያላቸው በመሆኑ </a:t>
          </a:r>
          <a:r>
            <a:rPr lang="am-ET" sz="2000" b="1" i="0" u="none" strike="noStrike" kern="1200" baseline="0" dirty="0" smtClean="0">
              <a:solidFill>
                <a:schemeClr val="tx1"/>
              </a:solidFill>
              <a:latin typeface="Visual Geez Unicode"/>
            </a:rPr>
            <a:t>ጽዳታቸውን</a:t>
          </a:r>
          <a:r>
            <a:rPr lang="am-ET" sz="2000" b="1" i="0" u="none" strike="noStrike" kern="1200" baseline="0" dirty="0" smtClean="0">
              <a:solidFill>
                <a:srgbClr val="FF0000"/>
              </a:solidFill>
              <a:latin typeface="Visual Geez Unicode"/>
            </a:rPr>
            <a:t>፣ ውበታቸውንና </a:t>
          </a:r>
          <a:r>
            <a:rPr lang="am-ET" sz="2000" b="1" i="0" u="none" strike="noStrike" kern="1200" baseline="0" dirty="0" smtClean="0">
              <a:solidFill>
                <a:schemeClr val="tx1"/>
              </a:solidFill>
              <a:latin typeface="Visual Geez Unicode"/>
            </a:rPr>
            <a:t>መልካም ገጽታቸውን የሚያበላሹ ተግባራትን</a:t>
          </a:r>
          <a:r>
            <a:rPr lang="am-ET" sz="2000" b="1" i="0" u="none" strike="noStrike" kern="1200" baseline="0" dirty="0" smtClean="0">
              <a:solidFill>
                <a:srgbClr val="FF0000"/>
              </a:solidFill>
              <a:latin typeface="Visual Geez Unicode"/>
            </a:rPr>
            <a:t> </a:t>
          </a:r>
          <a:r>
            <a:rPr lang="en-US" sz="2000" b="1" i="0" u="none" strike="noStrike" kern="1200" baseline="0" dirty="0" err="1" smtClean="0">
              <a:solidFill>
                <a:srgbClr val="FF0000"/>
              </a:solidFill>
              <a:latin typeface="Power Geez Unicode1" pitchFamily="2" charset="0"/>
            </a:rPr>
            <a:t>በዘላቂነት</a:t>
          </a:r>
          <a:r>
            <a:rPr lang="en-US" sz="2000" b="1" i="0" u="none" strike="noStrike" kern="1200" baseline="0" dirty="0" smtClean="0">
              <a:solidFill>
                <a:srgbClr val="FF0000"/>
              </a:solidFill>
              <a:latin typeface="Power Geez Unicode1" pitchFamily="2" charset="0"/>
            </a:rPr>
            <a:t> </a:t>
          </a:r>
          <a:r>
            <a:rPr lang="en-US" sz="2000" b="1" i="0" u="none" strike="noStrike" kern="1200" baseline="0" dirty="0" err="1" smtClean="0">
              <a:solidFill>
                <a:srgbClr val="FF0000"/>
              </a:solidFill>
              <a:latin typeface="Power Geez Unicode1" pitchFamily="2" charset="0"/>
            </a:rPr>
            <a:t>ለመከላከል</a:t>
          </a:r>
          <a:endParaRPr lang="en-US" sz="2000" b="1" kern="1200" dirty="0">
            <a:solidFill>
              <a:srgbClr val="FF0000"/>
            </a:solidFill>
            <a:latin typeface="Power Geez Unicode1" pitchFamily="2" charset="0"/>
          </a:endParaRPr>
        </a:p>
      </dsp:txBody>
      <dsp:txXfrm rot="-5400000">
        <a:off x="1185305" y="1556583"/>
        <a:ext cx="7219166" cy="993181"/>
      </dsp:txXfrm>
    </dsp:sp>
    <dsp:sp modelId="{EDD3E869-A275-4337-AF37-BA429CC4E2D9}">
      <dsp:nvSpPr>
        <dsp:cNvPr id="0" name=""/>
        <dsp:cNvSpPr/>
      </dsp:nvSpPr>
      <dsp:spPr>
        <a:xfrm rot="5400000">
          <a:off x="-253993" y="3257106"/>
          <a:ext cx="1693291" cy="1185304"/>
        </a:xfrm>
        <a:prstGeom prst="chevron">
          <a:avLst/>
        </a:prstGeom>
        <a:solidFill>
          <a:schemeClr val="accent4">
            <a:hueOff val="-1975582"/>
            <a:satOff val="22309"/>
            <a:lumOff val="11960"/>
            <a:alphaOff val="0"/>
          </a:schemeClr>
        </a:solidFill>
        <a:ln w="15875" cap="flat" cmpd="sng" algn="ctr">
          <a:solidFill>
            <a:schemeClr val="accent4">
              <a:hueOff val="-1975582"/>
              <a:satOff val="22309"/>
              <a:lumOff val="1196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lvl="0" algn="ctr" defTabSz="1466850">
            <a:lnSpc>
              <a:spcPct val="90000"/>
            </a:lnSpc>
            <a:spcBef>
              <a:spcPct val="0"/>
            </a:spcBef>
            <a:spcAft>
              <a:spcPct val="35000"/>
            </a:spcAft>
          </a:pPr>
          <a:r>
            <a:rPr lang="en-US" sz="3300" kern="1200" dirty="0" smtClean="0"/>
            <a:t>3</a:t>
          </a:r>
          <a:endParaRPr lang="en-US" sz="3300" kern="1200" dirty="0"/>
        </a:p>
      </dsp:txBody>
      <dsp:txXfrm rot="-5400000">
        <a:off x="1" y="3595764"/>
        <a:ext cx="1185304" cy="507987"/>
      </dsp:txXfrm>
    </dsp:sp>
    <dsp:sp modelId="{6762C44A-61F6-4ED1-A047-12D7A31CC30B}">
      <dsp:nvSpPr>
        <dsp:cNvPr id="0" name=""/>
        <dsp:cNvSpPr/>
      </dsp:nvSpPr>
      <dsp:spPr>
        <a:xfrm rot="5400000">
          <a:off x="4271432" y="-83015"/>
          <a:ext cx="1100639" cy="7272895"/>
        </a:xfrm>
        <a:prstGeom prst="round2SameRect">
          <a:avLst/>
        </a:prstGeom>
        <a:solidFill>
          <a:schemeClr val="lt1">
            <a:alpha val="90000"/>
            <a:hueOff val="0"/>
            <a:satOff val="0"/>
            <a:lumOff val="0"/>
            <a:alphaOff val="0"/>
          </a:schemeClr>
        </a:solidFill>
        <a:ln w="15875" cap="flat" cmpd="sng" algn="ctr">
          <a:solidFill>
            <a:schemeClr val="accent4">
              <a:hueOff val="-1975582"/>
              <a:satOff val="22309"/>
              <a:lumOff val="1196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am-ET" sz="2000" b="1" i="0" u="none" strike="noStrike" kern="1200" baseline="0" dirty="0" smtClean="0">
              <a:solidFill>
                <a:srgbClr val="7030A0"/>
              </a:solidFill>
              <a:latin typeface="Visual Geez Unicode"/>
            </a:rPr>
            <a:t>ለመቆጣጠርና </a:t>
          </a:r>
          <a:r>
            <a:rPr lang="am-ET" sz="2000" b="1" i="0" u="none" strike="noStrike" kern="1200" baseline="0" dirty="0" smtClean="0">
              <a:solidFill>
                <a:srgbClr val="FF0000"/>
              </a:solidFill>
              <a:latin typeface="Visual Geez Unicode"/>
            </a:rPr>
            <a:t>አስተዳደራዊ እርምጃ ለመውሰድ </a:t>
          </a:r>
          <a:r>
            <a:rPr lang="am-ET" sz="2000" b="1" i="0" u="none" strike="noStrike" kern="1200" baseline="0" dirty="0" smtClean="0">
              <a:solidFill>
                <a:srgbClr val="7030A0"/>
              </a:solidFill>
              <a:latin typeface="Visual Geez Unicode"/>
            </a:rPr>
            <a:t>በሚያስችል መልኩ ሥራ ላይ የቆየውን </a:t>
          </a:r>
          <a:r>
            <a:rPr lang="am-ET" sz="2000" b="1" i="0" u="none" strike="noStrike" kern="1200" baseline="0" dirty="0" smtClean="0">
              <a:solidFill>
                <a:srgbClr val="FF0000"/>
              </a:solidFill>
              <a:latin typeface="Visual Geez Unicode"/>
            </a:rPr>
            <a:t>የደንብ ማስከበር ሕግ ማሻሻል</a:t>
          </a:r>
          <a:r>
            <a:rPr lang="am-ET" sz="2000" b="1" i="0" u="none" strike="noStrike" kern="1200" baseline="0" dirty="0" smtClean="0">
              <a:solidFill>
                <a:srgbClr val="7030A0"/>
              </a:solidFill>
              <a:latin typeface="Visual Geez Unicode"/>
            </a:rPr>
            <a:t> አስፈላጊ ሆኖ በመገኘቱ፤ </a:t>
          </a:r>
          <a:endParaRPr lang="en-US" sz="2000" b="1" kern="1200" dirty="0">
            <a:solidFill>
              <a:srgbClr val="7030A0"/>
            </a:solidFill>
          </a:endParaRPr>
        </a:p>
      </dsp:txBody>
      <dsp:txXfrm rot="-5400000">
        <a:off x="1185305" y="3056841"/>
        <a:ext cx="7219166" cy="993181"/>
      </dsp:txXfrm>
    </dsp:sp>
  </dsp:spTree>
</dsp:drawing>
</file>

<file path=ppt/diagrams/layout1.xml><?xml version="1.0" encoding="utf-8"?>
<dgm:layoutDef xmlns:dgm="http://schemas.openxmlformats.org/drawingml/2006/diagram" xmlns:a="http://schemas.openxmlformats.org/drawingml/2006/main" uniqueId="urn:microsoft.com/office/officeart/2008/layout/VerticalAccentList">
  <dgm:title val=""/>
  <dgm:desc val=""/>
  <dgm:catLst>
    <dgm:cat type="list" pri="16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dgm:chPref/>
      <dgm:dir/>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constrLst>
      <dgm:constr type="primFontSz" for="des" forName="parenttext" refType="primFontSz" refFor="des" refForName="childtext" op="gte"/>
      <dgm:constr type="w" for="ch" forName="composite" refType="w"/>
      <dgm:constr type="h" for="ch" forName="composite" refType="h"/>
      <dgm:constr type="w" for="ch" forName="parallelogramComposite" refType="w"/>
      <dgm:constr type="h" for="ch" forName="parallelogramComposite" refType="h"/>
      <dgm:constr type="w" for="ch" forName="parenttextcomposite" refType="w" fact="0.9"/>
      <dgm:constr type="h" for="ch" forName="parenttextcomposite" refType="h" fact="0.6"/>
      <dgm:constr type="h" for="ch" forName="sibTrans" refType="h" refFor="ch" refForName="composite" op="equ" fact="0.02"/>
      <dgm:constr type="h" for="ch" forName="sibTrans" op="equ"/>
    </dgm:constrLst>
    <dgm:forEach name="nodesForEach" axis="ch" ptType="node">
      <dgm:layoutNode name="parenttextcomposite">
        <dgm:alg type="composite">
          <dgm:param type="ar" val="11"/>
        </dgm:alg>
        <dgm:shape xmlns:r="http://schemas.openxmlformats.org/officeDocument/2006/relationships" r:blip="">
          <dgm:adjLst/>
        </dgm:shape>
        <dgm:constrLst>
          <dgm:constr type="h" for="ch" forName="parenttext" refType="h"/>
          <dgm:constr type="w" for="ch" forName="parenttext" refType="w"/>
        </dgm:constrLst>
        <dgm:layoutNode name="parenttext" styleLbl="revTx">
          <dgm:varLst>
            <dgm:chMax/>
            <dgm:chPref val="2"/>
            <dgm:bulletEnabled val="1"/>
          </dgm:varLst>
          <dgm:choose name="Name4">
            <dgm:if name="Name5" func="var" arg="dir" op="equ" val="norm">
              <dgm:alg type="tx">
                <dgm:param type="parTxLTRAlign" val="l"/>
                <dgm:param type="txAnchorVert" val="b"/>
              </dgm:alg>
            </dgm:if>
            <dgm:else name="Name6">
              <dgm:alg type="tx">
                <dgm:param type="parTxLTRAlign" val="r"/>
                <dgm:param type="txAnchorVert" val="b"/>
              </dgm:alg>
            </dgm:else>
          </dgm:choose>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choose name="Name7">
        <dgm:if name="Name8" axis="ch" ptType="node" func="cnt" op="gte" val="1">
          <dgm:layoutNode name="composite">
            <dgm:alg type="composite">
              <dgm:param type="ar" val="6"/>
            </dgm:alg>
            <dgm:shape xmlns:r="http://schemas.openxmlformats.org/officeDocument/2006/relationships" r:blip="">
              <dgm:adjLst/>
            </dgm:shape>
            <dgm:choose name="Name9">
              <dgm:if name="Name10" func="var" arg="dir" op="equ" val="norm">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301"/>
                  <dgm:constr type="t" for="ch" forName="childtext" refType="h" fact="0.1"/>
                  <dgm:constr type="w" for="ch" forName="childtext" refType="w" fact="0.9117"/>
                  <dgm:constr type="h" for="ch" forName="childtext" refType="h" fact="0.8"/>
                </dgm:constrLst>
              </dgm:if>
              <dgm:else name="Name11">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883"/>
                  <dgm:constr type="t" for="ch" forName="childtext" refType="h" fact="0.1"/>
                  <dgm:constr type="w" for="ch" forName="childtext" refType="w" fact="0.9117"/>
                  <dgm:constr type="h" for="ch" forName="childtext" refType="h" fact="0.8"/>
                </dgm:constrLst>
              </dgm:else>
            </dgm:choose>
            <dgm:ruleLst/>
            <dgm:layoutNode name="chevron1" styleLbl="alignNode1">
              <dgm:alg type="sp"/>
              <dgm:choose name="Name12">
                <dgm:if name="Name13" func="var" arg="dir" op="equ" val="norm">
                  <dgm:shape xmlns:r="http://schemas.openxmlformats.org/officeDocument/2006/relationships" type="chevron" r:blip="">
                    <dgm:adjLst>
                      <dgm:adj idx="1" val="0.7061"/>
                    </dgm:adjLst>
                  </dgm:shape>
                </dgm:if>
                <dgm:else name="Name14">
                  <dgm:shape xmlns:r="http://schemas.openxmlformats.org/officeDocument/2006/relationships" rot="180" type="chevron" r:blip="">
                    <dgm:adjLst>
                      <dgm:adj idx="1" val="0.7061"/>
                    </dgm:adjLst>
                  </dgm:shape>
                </dgm:else>
              </dgm:choose>
              <dgm:presOf/>
            </dgm:layoutNode>
            <dgm:layoutNode name="chevron2" styleLbl="alignNode1">
              <dgm:alg type="sp"/>
              <dgm:choose name="Name15">
                <dgm:if name="Name16" func="var" arg="dir" op="equ" val="norm">
                  <dgm:shape xmlns:r="http://schemas.openxmlformats.org/officeDocument/2006/relationships" type="chevron" r:blip="">
                    <dgm:adjLst>
                      <dgm:adj idx="1" val="0.7061"/>
                    </dgm:adjLst>
                  </dgm:shape>
                </dgm:if>
                <dgm:else name="Name17">
                  <dgm:shape xmlns:r="http://schemas.openxmlformats.org/officeDocument/2006/relationships" rot="180" type="chevron" r:blip="">
                    <dgm:adjLst>
                      <dgm:adj idx="1" val="0.7061"/>
                    </dgm:adjLst>
                  </dgm:shape>
                </dgm:else>
              </dgm:choose>
              <dgm:presOf/>
            </dgm:layoutNode>
            <dgm:layoutNode name="chevron3" styleLbl="alignNode1">
              <dgm:alg type="sp"/>
              <dgm:choose name="Name18">
                <dgm:if name="Name19" func="var" arg="dir" op="equ" val="norm">
                  <dgm:shape xmlns:r="http://schemas.openxmlformats.org/officeDocument/2006/relationships" type="chevron" r:blip="">
                    <dgm:adjLst>
                      <dgm:adj idx="1" val="0.7061"/>
                    </dgm:adjLst>
                  </dgm:shape>
                </dgm:if>
                <dgm:else name="Name20">
                  <dgm:shape xmlns:r="http://schemas.openxmlformats.org/officeDocument/2006/relationships" rot="180" type="chevron" r:blip="">
                    <dgm:adjLst>
                      <dgm:adj idx="1" val="0.7061"/>
                    </dgm:adjLst>
                  </dgm:shape>
                </dgm:else>
              </dgm:choose>
              <dgm:presOf/>
            </dgm:layoutNode>
            <dgm:layoutNode name="chevron4" styleLbl="alignNode1">
              <dgm:alg type="sp"/>
              <dgm:choose name="Name21">
                <dgm:if name="Name22" func="var" arg="dir" op="equ" val="norm">
                  <dgm:shape xmlns:r="http://schemas.openxmlformats.org/officeDocument/2006/relationships" type="chevron" r:blip="">
                    <dgm:adjLst>
                      <dgm:adj idx="1" val="0.7061"/>
                    </dgm:adjLst>
                  </dgm:shape>
                </dgm:if>
                <dgm:else name="Name23">
                  <dgm:shape xmlns:r="http://schemas.openxmlformats.org/officeDocument/2006/relationships" rot="180" type="chevron" r:blip="">
                    <dgm:adjLst>
                      <dgm:adj idx="1" val="0.7061"/>
                    </dgm:adjLst>
                  </dgm:shape>
                </dgm:else>
              </dgm:choose>
              <dgm:presOf/>
            </dgm:layoutNode>
            <dgm:layoutNode name="chevron5" styleLbl="alignNode1">
              <dgm:alg type="sp"/>
              <dgm:choose name="Name24">
                <dgm:if name="Name25" func="var" arg="dir" op="equ" val="norm">
                  <dgm:shape xmlns:r="http://schemas.openxmlformats.org/officeDocument/2006/relationships" type="chevron" r:blip="">
                    <dgm:adjLst>
                      <dgm:adj idx="1" val="0.7061"/>
                    </dgm:adjLst>
                  </dgm:shape>
                </dgm:if>
                <dgm:else name="Name26">
                  <dgm:shape xmlns:r="http://schemas.openxmlformats.org/officeDocument/2006/relationships" rot="180" type="chevron" r:blip="">
                    <dgm:adjLst>
                      <dgm:adj idx="1" val="0.7061"/>
                    </dgm:adjLst>
                  </dgm:shape>
                </dgm:else>
              </dgm:choose>
              <dgm:presOf/>
            </dgm:layoutNode>
            <dgm:layoutNode name="chevron6" styleLbl="alignNode1">
              <dgm:alg type="sp"/>
              <dgm:choose name="Name27">
                <dgm:if name="Name28" func="var" arg="dir" op="equ" val="norm">
                  <dgm:shape xmlns:r="http://schemas.openxmlformats.org/officeDocument/2006/relationships" type="chevron" r:blip="">
                    <dgm:adjLst>
                      <dgm:adj idx="1" val="0.7061"/>
                    </dgm:adjLst>
                  </dgm:shape>
                </dgm:if>
                <dgm:else name="Name29">
                  <dgm:shape xmlns:r="http://schemas.openxmlformats.org/officeDocument/2006/relationships" rot="180" type="chevron" r:blip="">
                    <dgm:adjLst>
                      <dgm:adj idx="1" val="0.7061"/>
                    </dgm:adjLst>
                  </dgm:shape>
                </dgm:else>
              </dgm:choose>
              <dgm:presOf/>
            </dgm:layoutNode>
            <dgm:layoutNode name="chevron7" styleLbl="alignNode1">
              <dgm:alg type="sp"/>
              <dgm:choose name="Name30">
                <dgm:if name="Name31" func="var" arg="dir" op="equ" val="norm">
                  <dgm:shape xmlns:r="http://schemas.openxmlformats.org/officeDocument/2006/relationships" type="chevron" r:blip="">
                    <dgm:adjLst>
                      <dgm:adj idx="1" val="0.7061"/>
                    </dgm:adjLst>
                  </dgm:shape>
                </dgm:if>
                <dgm:else name="Name32">
                  <dgm:shape xmlns:r="http://schemas.openxmlformats.org/officeDocument/2006/relationships" rot="180" type="chevron" r:blip="">
                    <dgm:adjLst>
                      <dgm:adj idx="1" val="0.7061"/>
                    </dgm:adjLst>
                  </dgm:shape>
                </dgm:else>
              </dgm:choose>
              <dgm:presOf/>
            </dgm:layoutNode>
            <dgm:layoutNode name="childtext" styleLbl="solidFgAcc1">
              <dgm:varLst>
                <dgm:chMax/>
                <dgm:chPref val="0"/>
                <dgm:bulletEnabled val="1"/>
              </dgm:varLst>
              <dgm:choose name="Name33">
                <dgm:if name="Name34" func="var" arg="dir" op="equ" val="norm">
                  <dgm:alg type="tx">
                    <dgm:param type="parTxLTRAlign" val="l"/>
                    <dgm:param type="txAnchorVertCh" val="t"/>
                  </dgm:alg>
                </dgm:if>
                <dgm:else name="Name35">
                  <dgm:alg type="tx">
                    <dgm:param type="parTxLTRAlign" val="r"/>
                    <dgm:param type="shpTxLTRAlignCh" val="r"/>
                    <dgm:param type="txAnchorVertCh" val="t"/>
                  </dgm:alg>
                </dgm:else>
              </dgm:choose>
              <dgm:shape xmlns:r="http://schemas.openxmlformats.org/officeDocument/2006/relationships" type="rect" r:blip="">
                <dgm:adjLst/>
              </dgm:shap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if>
        <dgm:else name="Name36">
          <dgm:layoutNode name="parallelogramComposite">
            <dgm:alg type="composite">
              <dgm:param type="ar" val="50"/>
            </dgm:alg>
            <dgm:shape xmlns:r="http://schemas.openxmlformats.org/officeDocument/2006/relationships" r:blip="">
              <dgm:adjLst/>
            </dgm:shape>
            <dgm:constrLst>
              <dgm:constr type="l" for="ch" forName="parallelogram1" refType="w" fact="0"/>
              <dgm:constr type="t" for="ch" forName="parallelogram1" refType="h" fact="0"/>
              <dgm:constr type="w" for="ch" forName="parallelogram1" refType="w" fact="0.12"/>
              <dgm:constr type="h" for="ch" forName="parallelogram1" refType="h"/>
              <dgm:constr type="l" for="ch" forName="parallelogram2" refType="w" fact="0.127"/>
              <dgm:constr type="t" for="ch" forName="parallelogram2" refType="h" fact="0"/>
              <dgm:constr type="w" for="ch" forName="parallelogram2" refType="w" fact="0.12"/>
              <dgm:constr type="h" for="ch" forName="parallelogram2" refType="h"/>
              <dgm:constr type="l" for="ch" forName="parallelogram3" refType="w" fact="0.254"/>
              <dgm:constr type="t" for="ch" forName="parallelogram3" refType="h" fact="0"/>
              <dgm:constr type="w" for="ch" forName="parallelogram3" refType="w" fact="0.12"/>
              <dgm:constr type="h" for="ch" forName="parallelogram3" refType="h"/>
              <dgm:constr type="l" for="ch" forName="parallelogram4" refType="w" fact="0.381"/>
              <dgm:constr type="t" for="ch" forName="parallelogram4" refType="h" fact="0"/>
              <dgm:constr type="w" for="ch" forName="parallelogram4" refType="w" fact="0.12"/>
              <dgm:constr type="h" for="ch" forName="parallelogram4" refType="h"/>
              <dgm:constr type="l" for="ch" forName="parallelogram5" refType="w" fact="0.508"/>
              <dgm:constr type="t" for="ch" forName="parallelogram5" refType="h" fact="0"/>
              <dgm:constr type="w" for="ch" forName="parallelogram5" refType="w" fact="0.12"/>
              <dgm:constr type="h" for="ch" forName="parallelogram5" refType="h"/>
              <dgm:constr type="l" for="ch" forName="parallelogram6" refType="w" fact="0.635"/>
              <dgm:constr type="t" for="ch" forName="parallelogram6" refType="h" fact="0"/>
              <dgm:constr type="w" for="ch" forName="parallelogram6" refType="w" fact="0.12"/>
              <dgm:constr type="h" for="ch" forName="parallelogram6" refType="h"/>
              <dgm:constr type="l" for="ch" forName="parallelogram7" refType="w" fact="0.762"/>
              <dgm:constr type="t" for="ch" forName="parallelogram7" refType="h" fact="0"/>
              <dgm:constr type="w" for="ch" forName="parallelogram7" refType="w" fact="0.12"/>
              <dgm:constr type="h" for="ch" forName="parallelogram7" refType="h"/>
            </dgm:constrLst>
            <dgm:ruleLst/>
            <dgm:layoutNode name="parallelogram1" styleLbl="alignNode1">
              <dgm:alg type="sp"/>
              <dgm:shape xmlns:r="http://schemas.openxmlformats.org/officeDocument/2006/relationships" type="parallelogram" r:blip="">
                <dgm:adjLst>
                  <dgm:adj idx="1" val="1.4084"/>
                </dgm:adjLst>
              </dgm:shape>
              <dgm:presOf/>
            </dgm:layoutNode>
            <dgm:layoutNode name="parallelogram2" styleLbl="alignNode1">
              <dgm:alg type="sp"/>
              <dgm:shape xmlns:r="http://schemas.openxmlformats.org/officeDocument/2006/relationships" type="parallelogram" r:blip="">
                <dgm:adjLst>
                  <dgm:adj idx="1" val="1.4084"/>
                </dgm:adjLst>
              </dgm:shape>
              <dgm:presOf/>
            </dgm:layoutNode>
            <dgm:layoutNode name="parallelogram3" styleLbl="alignNode1">
              <dgm:alg type="sp"/>
              <dgm:shape xmlns:r="http://schemas.openxmlformats.org/officeDocument/2006/relationships" type="parallelogram" r:blip="">
                <dgm:adjLst>
                  <dgm:adj idx="1" val="1.4084"/>
                </dgm:adjLst>
              </dgm:shape>
              <dgm:presOf/>
            </dgm:layoutNode>
            <dgm:layoutNode name="parallelogram4" styleLbl="alignNode1">
              <dgm:alg type="sp"/>
              <dgm:shape xmlns:r="http://schemas.openxmlformats.org/officeDocument/2006/relationships" type="parallelogram" r:blip="">
                <dgm:adjLst>
                  <dgm:adj idx="1" val="1.4084"/>
                </dgm:adjLst>
              </dgm:shape>
              <dgm:presOf/>
            </dgm:layoutNode>
            <dgm:layoutNode name="parallelogram5" styleLbl="alignNode1">
              <dgm:alg type="sp"/>
              <dgm:shape xmlns:r="http://schemas.openxmlformats.org/officeDocument/2006/relationships" type="parallelogram" r:blip="">
                <dgm:adjLst>
                  <dgm:adj idx="1" val="1.4084"/>
                </dgm:adjLst>
              </dgm:shape>
              <dgm:presOf/>
            </dgm:layoutNode>
            <dgm:layoutNode name="parallelogram6" styleLbl="alignNode1">
              <dgm:alg type="sp"/>
              <dgm:shape xmlns:r="http://schemas.openxmlformats.org/officeDocument/2006/relationships" type="parallelogram" r:blip="">
                <dgm:adjLst>
                  <dgm:adj idx="1" val="1.4084"/>
                </dgm:adjLst>
              </dgm:shape>
              <dgm:presOf/>
            </dgm:layoutNode>
            <dgm:layoutNode name="parallelogram7" styleLbl="alignNode1">
              <dgm:alg type="sp"/>
              <dgm:shape xmlns:r="http://schemas.openxmlformats.org/officeDocument/2006/relationships" type="parallelogram" r:blip="">
                <dgm:adjLst>
                  <dgm:adj idx="1" val="1.4084"/>
                </dgm:adjLst>
              </dgm:shape>
              <dgm:presOf/>
            </dgm:layoutNode>
          </dgm:layoutNode>
        </dgm:else>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EE660183-8DDE-41CE-8DFF-343338CAAA19}" type="datetimeFigureOut">
              <a:rPr lang="en-US" smtClean="0"/>
              <a:t>3/18/2025</a:t>
            </a:fld>
            <a:endParaRPr lang="en-US"/>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92BA5F54-C5E4-42F6-BF23-4FF37D5E708A}" type="slidenum">
              <a:rPr lang="en-US" smtClean="0"/>
              <a:t>‹#›</a:t>
            </a:fld>
            <a:endParaRPr lang="en-US"/>
          </a:p>
        </p:txBody>
      </p:sp>
    </p:spTree>
    <p:extLst>
      <p:ext uri="{BB962C8B-B14F-4D97-AF65-F5344CB8AC3E}">
        <p14:creationId xmlns:p14="http://schemas.microsoft.com/office/powerpoint/2010/main" val="3016360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BA5F54-C5E4-42F6-BF23-4FF37D5E708A}" type="slidenum">
              <a:rPr lang="en-US" smtClean="0"/>
              <a:t>11</a:t>
            </a:fld>
            <a:endParaRPr lang="en-US"/>
          </a:p>
        </p:txBody>
      </p:sp>
    </p:spTree>
    <p:extLst>
      <p:ext uri="{BB962C8B-B14F-4D97-AF65-F5344CB8AC3E}">
        <p14:creationId xmlns:p14="http://schemas.microsoft.com/office/powerpoint/2010/main" val="19848667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83A0A80-CA09-417C-B6C2-2182465DEEB6}" type="datetimeFigureOut">
              <a:rPr lang="en-US" smtClean="0"/>
              <a:t>3/18/2025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D54020-90DA-47BB-8FAA-DD055C2E236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3A0A80-CA09-417C-B6C2-2182465DEEB6}" type="datetimeFigureOut">
              <a:rPr lang="en-US" smtClean="0"/>
              <a:t>3/18/2025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D54020-90DA-47BB-8FAA-DD055C2E2362}" type="slidenum">
              <a:rPr lang="en-US" smtClean="0"/>
              <a:t>‹#›</a:t>
            </a:fld>
            <a:endParaRPr lang="en-US"/>
          </a:p>
        </p:txBody>
      </p:sp>
      <p:sp>
        <p:nvSpPr>
          <p:cNvPr id="7" name="Title 6"/>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83A0A80-CA09-417C-B6C2-2182465DEEB6}" type="datetimeFigureOut">
              <a:rPr lang="en-US" smtClean="0"/>
              <a:t>3/18/2025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D54020-90DA-47BB-8FAA-DD055C2E236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B83A0A80-CA09-417C-B6C2-2182465DEEB6}" type="datetimeFigureOut">
              <a:rPr lang="en-US" smtClean="0"/>
              <a:t>3/18/2025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D54020-90DA-47BB-8FAA-DD055C2E2362}" type="slidenum">
              <a:rPr lang="en-US" smtClean="0"/>
              <a:t>‹#›</a:t>
            </a:fld>
            <a:endParaRPr lang="en-US"/>
          </a:p>
        </p:txBody>
      </p:sp>
      <p:sp>
        <p:nvSpPr>
          <p:cNvPr id="9" name="Content Placeholder 8"/>
          <p:cNvSpPr>
            <a:spLocks noGrp="1"/>
          </p:cNvSpPr>
          <p:nvPr>
            <p:ph sz="quarter" idx="13"/>
          </p:nvPr>
        </p:nvSpPr>
        <p:spPr>
          <a:xfrm>
            <a:off x="676655" y="2679192"/>
            <a:ext cx="3822192" cy="34472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83A0A80-CA09-417C-B6C2-2182465DEEB6}" type="datetimeFigureOut">
              <a:rPr lang="en-US" smtClean="0"/>
              <a:t>3/18/2025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2D54020-90DA-47BB-8FAA-DD055C2E236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83A0A80-CA09-417C-B6C2-2182465DEEB6}" type="datetimeFigureOut">
              <a:rPr lang="en-US" smtClean="0"/>
              <a:t>3/18/2025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2D54020-90DA-47BB-8FAA-DD055C2E236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83A0A80-CA09-417C-B6C2-2182465DEEB6}" type="datetimeFigureOut">
              <a:rPr lang="en-US" smtClean="0"/>
              <a:t>3/18/2025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2D54020-90DA-47BB-8FAA-DD055C2E236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83A0A80-CA09-417C-B6C2-2182465DEEB6}" type="datetimeFigureOut">
              <a:rPr lang="en-US" smtClean="0"/>
              <a:t>3/18/2025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D54020-90DA-47BB-8FAA-DD055C2E2362}" type="slidenum">
              <a:rPr lang="en-US" smtClean="0"/>
              <a:t>‹#›</a:t>
            </a:fld>
            <a:endParaRPr 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83A0A80-CA09-417C-B6C2-2182465DEEB6}" type="datetimeFigureOut">
              <a:rPr lang="en-US" smtClean="0"/>
              <a:t>3/18/2025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D54020-90DA-47BB-8FAA-DD055C2E2362}" type="slidenum">
              <a:rPr lang="en-US" smtClean="0"/>
              <a:t>‹#›</a:t>
            </a:fld>
            <a:endParaRPr 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3A0A80-CA09-417C-B6C2-2182465DEEB6}" type="datetimeFigureOut">
              <a:rPr lang="en-US" smtClean="0"/>
              <a:t>3/18/2025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D54020-90DA-47BB-8FAA-DD055C2E236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83A0A80-CA09-417C-B6C2-2182465DEEB6}" type="datetimeFigureOut">
              <a:rPr lang="en-US" smtClean="0"/>
              <a:t>3/18/2025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D54020-90DA-47BB-8FAA-DD055C2E2362}" type="slidenum">
              <a:rPr lang="en-US" smtClean="0"/>
              <a:t>‹#›</a:t>
            </a:fld>
            <a:endParaRPr 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83A0A80-CA09-417C-B6C2-2182465DEEB6}" type="datetimeFigureOut">
              <a:rPr lang="en-US" smtClean="0"/>
              <a:t>3/18/2025</a:t>
            </a:fld>
            <a:endParaRPr 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D2D54020-90DA-47BB-8FAA-DD055C2E2362}" type="slidenum">
              <a:rPr lang="en-US" smtClean="0"/>
              <a:t>‹#›</a:t>
            </a:fld>
            <a:endParaRPr 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6800" y="152400"/>
            <a:ext cx="7772400" cy="5257800"/>
          </a:xfrm>
          <a:ln>
            <a:solidFill>
              <a:schemeClr val="accent1"/>
            </a:solidFill>
          </a:ln>
        </p:spPr>
        <p:txBody>
          <a:bodyPr>
            <a:normAutofit/>
          </a:bodyPr>
          <a:lstStyle/>
          <a:p>
            <a:r>
              <a:rPr lang="en-US" sz="3600" b="1" dirty="0" err="1" smtClean="0">
                <a:solidFill>
                  <a:schemeClr val="tx1"/>
                </a:solidFill>
                <a:latin typeface="Power Geez Unicode1" pitchFamily="2" charset="0"/>
              </a:rPr>
              <a:t>በአዲስ</a:t>
            </a:r>
            <a:r>
              <a:rPr lang="en-US" sz="3600" b="1" dirty="0" smtClean="0">
                <a:solidFill>
                  <a:schemeClr val="tx1"/>
                </a:solidFill>
                <a:latin typeface="Power Geez Unicode1" pitchFamily="2" charset="0"/>
              </a:rPr>
              <a:t> </a:t>
            </a:r>
            <a:r>
              <a:rPr lang="en-US" sz="3600" b="1" dirty="0" err="1" smtClean="0">
                <a:solidFill>
                  <a:schemeClr val="tx1"/>
                </a:solidFill>
                <a:latin typeface="Power Geez Unicode1" pitchFamily="2" charset="0"/>
              </a:rPr>
              <a:t>አበባ</a:t>
            </a:r>
            <a:r>
              <a:rPr lang="en-US" sz="3600" b="1" dirty="0" smtClean="0">
                <a:solidFill>
                  <a:schemeClr val="tx1"/>
                </a:solidFill>
                <a:latin typeface="Power Geez Unicode1" pitchFamily="2" charset="0"/>
              </a:rPr>
              <a:t> </a:t>
            </a:r>
            <a:r>
              <a:rPr lang="en-US" sz="3600" b="1" dirty="0" err="1" smtClean="0">
                <a:solidFill>
                  <a:schemeClr val="tx1"/>
                </a:solidFill>
                <a:latin typeface="Power Geez Unicode1" pitchFamily="2" charset="0"/>
              </a:rPr>
              <a:t>ከተማ</a:t>
            </a:r>
            <a:r>
              <a:rPr lang="en-US" sz="3600" b="1" dirty="0" smtClean="0">
                <a:solidFill>
                  <a:schemeClr val="tx1"/>
                </a:solidFill>
                <a:latin typeface="Power Geez Unicode1" pitchFamily="2" charset="0"/>
              </a:rPr>
              <a:t> </a:t>
            </a:r>
            <a:r>
              <a:rPr lang="en-US" sz="3600" b="1" dirty="0" err="1" smtClean="0">
                <a:solidFill>
                  <a:schemeClr val="tx1"/>
                </a:solidFill>
                <a:latin typeface="Power Geez Unicode1" pitchFamily="2" charset="0"/>
              </a:rPr>
              <a:t>አስተዳደር</a:t>
            </a:r>
            <a:r>
              <a:rPr lang="en-US" sz="3600" b="1" dirty="0" smtClean="0">
                <a:solidFill>
                  <a:schemeClr val="tx1"/>
                </a:solidFill>
                <a:latin typeface="Power Geez Unicode1" pitchFamily="2" charset="0"/>
              </a:rPr>
              <a:t> </a:t>
            </a:r>
            <a:r>
              <a:rPr lang="en-US" sz="3600" b="1" dirty="0" err="1" smtClean="0">
                <a:solidFill>
                  <a:schemeClr val="tx1"/>
                </a:solidFill>
                <a:latin typeface="Power Geez Unicode1" pitchFamily="2" charset="0"/>
              </a:rPr>
              <a:t>የደንብ</a:t>
            </a:r>
            <a:r>
              <a:rPr lang="en-US" sz="3600" b="1" dirty="0" smtClean="0">
                <a:solidFill>
                  <a:schemeClr val="tx1"/>
                </a:solidFill>
                <a:latin typeface="Power Geez Unicode1" pitchFamily="2" charset="0"/>
              </a:rPr>
              <a:t> </a:t>
            </a:r>
            <a:r>
              <a:rPr lang="en-US" sz="3600" b="1" dirty="0" err="1" smtClean="0">
                <a:solidFill>
                  <a:schemeClr val="tx1"/>
                </a:solidFill>
                <a:latin typeface="Power Geez Unicode1" pitchFamily="2" charset="0"/>
              </a:rPr>
              <a:t>ማስከበር</a:t>
            </a:r>
            <a:r>
              <a:rPr lang="en-US" sz="3600" b="1" dirty="0" smtClean="0">
                <a:solidFill>
                  <a:schemeClr val="tx1"/>
                </a:solidFill>
                <a:latin typeface="Power Geez Unicode1" pitchFamily="2" charset="0"/>
              </a:rPr>
              <a:t> </a:t>
            </a:r>
            <a:r>
              <a:rPr lang="en-US" sz="3600" b="1" dirty="0" err="1" smtClean="0">
                <a:solidFill>
                  <a:schemeClr val="tx1"/>
                </a:solidFill>
                <a:latin typeface="Power Geez Unicode1" pitchFamily="2" charset="0"/>
              </a:rPr>
              <a:t>ባለስልጣን</a:t>
            </a:r>
            <a:r>
              <a:rPr lang="en-US" sz="3600" b="1" dirty="0" smtClean="0">
                <a:solidFill>
                  <a:schemeClr val="tx1"/>
                </a:solidFill>
                <a:latin typeface="Power Geez Unicode1" pitchFamily="2" charset="0"/>
              </a:rPr>
              <a:t> </a:t>
            </a:r>
            <a:r>
              <a:rPr lang="en-US" sz="4000" b="1" dirty="0" smtClean="0"/>
              <a:t/>
            </a:r>
            <a:br>
              <a:rPr lang="en-US" sz="4000" b="1" dirty="0" smtClean="0"/>
            </a:br>
            <a:r>
              <a:rPr lang="en-US" sz="4000" b="1" dirty="0" err="1" smtClean="0">
                <a:solidFill>
                  <a:schemeClr val="tx1"/>
                </a:solidFill>
                <a:latin typeface="Power Geez Unicode1" pitchFamily="2" charset="0"/>
              </a:rPr>
              <a:t>ለተለያዩ</a:t>
            </a:r>
            <a:r>
              <a:rPr lang="en-US" sz="4000" b="1" dirty="0" smtClean="0">
                <a:solidFill>
                  <a:schemeClr val="tx1"/>
                </a:solidFill>
                <a:latin typeface="Power Geez Unicode1" pitchFamily="2" charset="0"/>
              </a:rPr>
              <a:t> </a:t>
            </a:r>
            <a:r>
              <a:rPr lang="en-US" sz="4000" b="1" dirty="0" err="1" smtClean="0">
                <a:solidFill>
                  <a:schemeClr val="tx1"/>
                </a:solidFill>
                <a:latin typeface="Power Geez Unicode1" pitchFamily="2" charset="0"/>
              </a:rPr>
              <a:t>ህብረተሰብ</a:t>
            </a:r>
            <a:r>
              <a:rPr lang="en-US" sz="4000" b="1" dirty="0" smtClean="0">
                <a:solidFill>
                  <a:schemeClr val="tx1"/>
                </a:solidFill>
                <a:latin typeface="Power Geez Unicode1" pitchFamily="2" charset="0"/>
              </a:rPr>
              <a:t> </a:t>
            </a:r>
            <a:r>
              <a:rPr lang="en-US" sz="4000" b="1" dirty="0" err="1" smtClean="0">
                <a:solidFill>
                  <a:schemeClr val="tx1"/>
                </a:solidFill>
                <a:latin typeface="Power Geez Unicode1" pitchFamily="2" charset="0"/>
              </a:rPr>
              <a:t>ከፍሎችና</a:t>
            </a:r>
            <a:r>
              <a:rPr lang="en-US" sz="4000" b="1" dirty="0" smtClean="0">
                <a:solidFill>
                  <a:schemeClr val="tx1"/>
                </a:solidFill>
                <a:latin typeface="Power Geez Unicode1" pitchFamily="2" charset="0"/>
              </a:rPr>
              <a:t> </a:t>
            </a:r>
            <a:r>
              <a:rPr lang="en-US" sz="4000" b="1" dirty="0" err="1" smtClean="0">
                <a:solidFill>
                  <a:schemeClr val="tx1"/>
                </a:solidFill>
                <a:latin typeface="Power Geez Unicode1" pitchFamily="2" charset="0"/>
              </a:rPr>
              <a:t>ባለ</a:t>
            </a:r>
            <a:r>
              <a:rPr lang="en-US" sz="4000" b="1" dirty="0" smtClean="0">
                <a:solidFill>
                  <a:schemeClr val="tx1"/>
                </a:solidFill>
                <a:latin typeface="Power Geez Unicode1" pitchFamily="2" charset="0"/>
              </a:rPr>
              <a:t> </a:t>
            </a:r>
            <a:r>
              <a:rPr lang="en-US" sz="4000" b="1" dirty="0" err="1" smtClean="0">
                <a:solidFill>
                  <a:schemeClr val="tx1"/>
                </a:solidFill>
                <a:latin typeface="Power Geez Unicode1" pitchFamily="2" charset="0"/>
              </a:rPr>
              <a:t>ድርሻ</a:t>
            </a:r>
            <a:r>
              <a:rPr lang="en-US" sz="4000" b="1" dirty="0" smtClean="0">
                <a:solidFill>
                  <a:schemeClr val="tx1"/>
                </a:solidFill>
                <a:latin typeface="Power Geez Unicode1" pitchFamily="2" charset="0"/>
              </a:rPr>
              <a:t> </a:t>
            </a:r>
            <a:r>
              <a:rPr lang="en-US" sz="4000" b="1" dirty="0" err="1" smtClean="0">
                <a:solidFill>
                  <a:schemeClr val="tx1"/>
                </a:solidFill>
                <a:latin typeface="Power Geez Unicode1" pitchFamily="2" charset="0"/>
              </a:rPr>
              <a:t>አካላት</a:t>
            </a:r>
            <a:r>
              <a:rPr lang="en-US" sz="4000" b="1" dirty="0" smtClean="0">
                <a:solidFill>
                  <a:schemeClr val="tx1"/>
                </a:solidFill>
                <a:latin typeface="Power Geez Unicode1" pitchFamily="2" charset="0"/>
              </a:rPr>
              <a:t> </a:t>
            </a:r>
            <a:r>
              <a:rPr lang="en-US" sz="4000" b="1" dirty="0" err="1" smtClean="0">
                <a:solidFill>
                  <a:srgbClr val="FF0000"/>
                </a:solidFill>
                <a:latin typeface="Power Geez Unicode1" pitchFamily="2" charset="0"/>
              </a:rPr>
              <a:t>በደንብ</a:t>
            </a:r>
            <a:r>
              <a:rPr lang="en-US" sz="4000" b="1" dirty="0" smtClean="0">
                <a:solidFill>
                  <a:srgbClr val="FF0000"/>
                </a:solidFill>
                <a:latin typeface="Power Geez Unicode1" pitchFamily="2" charset="0"/>
              </a:rPr>
              <a:t> </a:t>
            </a:r>
            <a:r>
              <a:rPr lang="en-US" sz="4000" b="1" dirty="0" err="1" smtClean="0">
                <a:solidFill>
                  <a:srgbClr val="FF0000"/>
                </a:solidFill>
                <a:latin typeface="Power Geez Unicode1" pitchFamily="2" charset="0"/>
              </a:rPr>
              <a:t>ቁጥር</a:t>
            </a:r>
            <a:r>
              <a:rPr lang="en-US" sz="4000" b="1" dirty="0" smtClean="0">
                <a:solidFill>
                  <a:srgbClr val="FF0000"/>
                </a:solidFill>
                <a:latin typeface="Power Geez Unicode1" pitchFamily="2" charset="0"/>
              </a:rPr>
              <a:t> 167/2016 </a:t>
            </a:r>
            <a:r>
              <a:rPr lang="en-US" sz="4000" b="1" dirty="0" err="1" smtClean="0">
                <a:solidFill>
                  <a:srgbClr val="FF0000"/>
                </a:solidFill>
                <a:latin typeface="Power Geez Unicode1" pitchFamily="2" charset="0"/>
              </a:rPr>
              <a:t>ላይ</a:t>
            </a:r>
            <a:r>
              <a:rPr lang="en-US" sz="4000" b="1" dirty="0" smtClean="0">
                <a:solidFill>
                  <a:srgbClr val="FF0000"/>
                </a:solidFill>
                <a:latin typeface="Power Geez Unicode1" pitchFamily="2" charset="0"/>
              </a:rPr>
              <a:t> </a:t>
            </a:r>
            <a:r>
              <a:rPr lang="en-US" sz="4000" b="1" dirty="0" err="1" smtClean="0">
                <a:solidFill>
                  <a:srgbClr val="FF0000"/>
                </a:solidFill>
                <a:latin typeface="Power Geez Unicode1" pitchFamily="2" charset="0"/>
              </a:rPr>
              <a:t>ግንዛቤ</a:t>
            </a:r>
            <a:r>
              <a:rPr lang="en-US" sz="4000" b="1" dirty="0" smtClean="0">
                <a:solidFill>
                  <a:srgbClr val="FF0000"/>
                </a:solidFill>
                <a:latin typeface="Power Geez Unicode1" pitchFamily="2" charset="0"/>
              </a:rPr>
              <a:t> </a:t>
            </a:r>
            <a:r>
              <a:rPr lang="en-US" sz="4000" b="1" dirty="0" err="1" smtClean="0">
                <a:solidFill>
                  <a:srgbClr val="FF0000"/>
                </a:solidFill>
                <a:latin typeface="Power Geez Unicode1" pitchFamily="2" charset="0"/>
              </a:rPr>
              <a:t>ለመፍጠር</a:t>
            </a:r>
            <a:r>
              <a:rPr lang="en-US" sz="4000" b="1" dirty="0" smtClean="0">
                <a:solidFill>
                  <a:srgbClr val="FF0000"/>
                </a:solidFill>
                <a:latin typeface="Power Geez Unicode1" pitchFamily="2" charset="0"/>
              </a:rPr>
              <a:t> </a:t>
            </a:r>
            <a:r>
              <a:rPr lang="en-US" sz="4000" b="1" dirty="0" err="1" smtClean="0">
                <a:solidFill>
                  <a:srgbClr val="FF0000"/>
                </a:solidFill>
                <a:latin typeface="Power Geez Unicode1" pitchFamily="2" charset="0"/>
              </a:rPr>
              <a:t>የተዘጋጀ</a:t>
            </a:r>
            <a:r>
              <a:rPr lang="en-US" sz="4000" b="1" dirty="0" smtClean="0">
                <a:solidFill>
                  <a:srgbClr val="FF0000"/>
                </a:solidFill>
                <a:latin typeface="Power Geez Unicode1" pitchFamily="2" charset="0"/>
              </a:rPr>
              <a:t> </a:t>
            </a:r>
            <a:r>
              <a:rPr lang="en-US" sz="4000" b="1" dirty="0" err="1" smtClean="0">
                <a:solidFill>
                  <a:srgbClr val="FF0000"/>
                </a:solidFill>
                <a:latin typeface="Power Geez Unicode1" pitchFamily="2" charset="0"/>
              </a:rPr>
              <a:t>ሰነድ</a:t>
            </a:r>
            <a:endParaRPr lang="en-US" sz="4000" b="1" dirty="0">
              <a:solidFill>
                <a:srgbClr val="FF0000"/>
              </a:solidFill>
              <a:latin typeface="Power Geez Unicode1" pitchFamily="2" charset="0"/>
            </a:endParaRPr>
          </a:p>
        </p:txBody>
      </p:sp>
      <p:sp>
        <p:nvSpPr>
          <p:cNvPr id="3" name="Subtitle 2"/>
          <p:cNvSpPr>
            <a:spLocks noGrp="1"/>
          </p:cNvSpPr>
          <p:nvPr>
            <p:ph type="subTitle" idx="1"/>
          </p:nvPr>
        </p:nvSpPr>
        <p:spPr>
          <a:xfrm>
            <a:off x="2209800" y="4953000"/>
            <a:ext cx="6400800" cy="1828800"/>
          </a:xfrm>
        </p:spPr>
        <p:txBody>
          <a:bodyPr>
            <a:normAutofit lnSpcReduction="10000"/>
          </a:bodyPr>
          <a:lstStyle/>
          <a:p>
            <a:pPr algn="r"/>
            <a:endParaRPr lang="en-US" sz="3600" b="1" dirty="0" smtClean="0">
              <a:solidFill>
                <a:schemeClr val="tx1"/>
              </a:solidFill>
              <a:latin typeface="Power Geez Unicode1" pitchFamily="2" charset="0"/>
            </a:endParaRPr>
          </a:p>
          <a:p>
            <a:pPr algn="r"/>
            <a:r>
              <a:rPr lang="en-US" sz="3600" b="1" dirty="0" err="1" smtClean="0">
                <a:solidFill>
                  <a:schemeClr val="tx1"/>
                </a:solidFill>
                <a:latin typeface="Power Geez Unicode1" pitchFamily="2" charset="0"/>
              </a:rPr>
              <a:t>ሚያዚያ</a:t>
            </a:r>
            <a:r>
              <a:rPr lang="en-US" sz="3600" b="1" dirty="0" smtClean="0">
                <a:solidFill>
                  <a:schemeClr val="tx1"/>
                </a:solidFill>
                <a:latin typeface="Power Geez Unicode1" pitchFamily="2" charset="0"/>
              </a:rPr>
              <a:t> 2017 </a:t>
            </a:r>
            <a:r>
              <a:rPr lang="en-US" sz="3600" b="1" dirty="0" err="1" smtClean="0">
                <a:solidFill>
                  <a:schemeClr val="tx1"/>
                </a:solidFill>
                <a:latin typeface="Power Geez Unicode1" pitchFamily="2" charset="0"/>
              </a:rPr>
              <a:t>ዓ.ም</a:t>
            </a:r>
            <a:endParaRPr lang="en-US" sz="3600" b="1" dirty="0">
              <a:solidFill>
                <a:schemeClr val="tx1"/>
              </a:solidFill>
              <a:latin typeface="Power Geez Unicode1" pitchFamily="2" charset="0"/>
            </a:endParaRPr>
          </a:p>
          <a:p>
            <a:pPr algn="r"/>
            <a:r>
              <a:rPr lang="en-US" sz="3600" b="1" dirty="0" err="1" smtClean="0">
                <a:solidFill>
                  <a:schemeClr val="tx1"/>
                </a:solidFill>
                <a:latin typeface="Power Geez Unicode1" pitchFamily="2" charset="0"/>
              </a:rPr>
              <a:t>አፖስቶ</a:t>
            </a:r>
            <a:endParaRPr lang="en-US" sz="3600" b="1" dirty="0">
              <a:solidFill>
                <a:schemeClr val="tx1"/>
              </a:solidFill>
              <a:latin typeface="Power Geez Unicode1" pitchFamily="2" charset="0"/>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4361" y="457200"/>
            <a:ext cx="5486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9461710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761250887"/>
              </p:ext>
            </p:extLst>
          </p:nvPr>
        </p:nvGraphicFramePr>
        <p:xfrm>
          <a:off x="457200" y="1219200"/>
          <a:ext cx="83820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p:cNvSpPr>
            <a:spLocks noGrp="1"/>
          </p:cNvSpPr>
          <p:nvPr>
            <p:ph type="title"/>
          </p:nvPr>
        </p:nvSpPr>
        <p:spPr/>
        <p:txBody>
          <a:bodyPr>
            <a:normAutofit/>
          </a:bodyPr>
          <a:lstStyle/>
          <a:p>
            <a:r>
              <a:rPr lang="en-US" sz="3200" dirty="0" err="1" smtClean="0">
                <a:latin typeface="Power Geez Unicode1" pitchFamily="2" charset="0"/>
              </a:rPr>
              <a:t>የሰነዱ</a:t>
            </a:r>
            <a:r>
              <a:rPr lang="en-US" sz="3200" dirty="0" smtClean="0">
                <a:latin typeface="Power Geez Unicode1" pitchFamily="2" charset="0"/>
              </a:rPr>
              <a:t> </a:t>
            </a:r>
            <a:r>
              <a:rPr lang="en-US" sz="3200" dirty="0" err="1" smtClean="0">
                <a:latin typeface="Power Geez Unicode1" pitchFamily="2" charset="0"/>
              </a:rPr>
              <a:t>ይዘት</a:t>
            </a:r>
            <a:endParaRPr lang="en-US" sz="3200" dirty="0">
              <a:latin typeface="Power Geez Unicode1" pitchFamily="2" charset="0"/>
            </a:endParaRPr>
          </a:p>
        </p:txBody>
      </p:sp>
      <p:grpSp>
        <p:nvGrpSpPr>
          <p:cNvPr id="5" name="Group 4"/>
          <p:cNvGrpSpPr/>
          <p:nvPr/>
        </p:nvGrpSpPr>
        <p:grpSpPr>
          <a:xfrm>
            <a:off x="457200" y="5943600"/>
            <a:ext cx="5631331" cy="785455"/>
            <a:chOff x="997416" y="582647"/>
            <a:chExt cx="5631331" cy="785455"/>
          </a:xfrm>
        </p:grpSpPr>
        <p:sp>
          <p:nvSpPr>
            <p:cNvPr id="6" name="Rectangle 5"/>
            <p:cNvSpPr/>
            <p:nvPr/>
          </p:nvSpPr>
          <p:spPr>
            <a:xfrm>
              <a:off x="997416" y="582647"/>
              <a:ext cx="5370747" cy="785455"/>
            </a:xfrm>
            <a:prstGeom prst="rect">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7" name="Rectangle 6"/>
            <p:cNvSpPr/>
            <p:nvPr/>
          </p:nvSpPr>
          <p:spPr>
            <a:xfrm>
              <a:off x="1258000" y="582647"/>
              <a:ext cx="5370747" cy="78545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53340" tIns="53340" rIns="53340" bIns="53340" numCol="1" spcCol="1270" anchor="ctr" anchorCtr="0">
              <a:noAutofit/>
            </a:bodyPr>
            <a:lstStyle/>
            <a:p>
              <a:pPr lvl="0" algn="ctr" defTabSz="933450">
                <a:lnSpc>
                  <a:spcPct val="90000"/>
                </a:lnSpc>
                <a:spcBef>
                  <a:spcPct val="0"/>
                </a:spcBef>
                <a:spcAft>
                  <a:spcPct val="35000"/>
                </a:spcAft>
              </a:pPr>
              <a:r>
                <a:rPr lang="en-US" sz="2800" b="1" dirty="0" err="1">
                  <a:solidFill>
                    <a:srgbClr val="7030A0"/>
                  </a:solidFill>
                  <a:latin typeface="Power Geez Unicode1" pitchFamily="2" charset="0"/>
                </a:rPr>
                <a:t>ከ</a:t>
              </a:r>
              <a:r>
                <a:rPr lang="en-US" sz="2800" b="1" kern="1200" dirty="0" err="1" smtClean="0">
                  <a:solidFill>
                    <a:srgbClr val="7030A0"/>
                  </a:solidFill>
                  <a:latin typeface="Power Geez Unicode1" pitchFamily="2" charset="0"/>
                </a:rPr>
                <a:t>ሰነዱ</a:t>
              </a:r>
              <a:r>
                <a:rPr lang="en-US" sz="2800" b="1" kern="1200" dirty="0" smtClean="0">
                  <a:solidFill>
                    <a:srgbClr val="7030A0"/>
                  </a:solidFill>
                  <a:latin typeface="Power Geez Unicode1" pitchFamily="2" charset="0"/>
                </a:rPr>
                <a:t> </a:t>
              </a:r>
              <a:r>
                <a:rPr lang="en-US" sz="2800" b="1" kern="1200" dirty="0" err="1" smtClean="0">
                  <a:solidFill>
                    <a:srgbClr val="7030A0"/>
                  </a:solidFill>
                  <a:latin typeface="Power Geez Unicode1" pitchFamily="2" charset="0"/>
                </a:rPr>
                <a:t>የሚጠቁ</a:t>
              </a:r>
              <a:r>
                <a:rPr lang="en-US" sz="2800" b="1" kern="1200" dirty="0" smtClean="0">
                  <a:solidFill>
                    <a:srgbClr val="7030A0"/>
                  </a:solidFill>
                  <a:latin typeface="Power Geez Unicode1" pitchFamily="2" charset="0"/>
                </a:rPr>
                <a:t> </a:t>
              </a:r>
              <a:r>
                <a:rPr lang="en-US" sz="2800" b="1" kern="1200" dirty="0" err="1" smtClean="0">
                  <a:solidFill>
                    <a:srgbClr val="7030A0"/>
                  </a:solidFill>
                  <a:latin typeface="Power Geez Unicode1" pitchFamily="2" charset="0"/>
                </a:rPr>
                <a:t>ውጤቶች</a:t>
              </a:r>
              <a:endParaRPr lang="en-US" sz="2800" b="1" kern="1200" dirty="0">
                <a:solidFill>
                  <a:srgbClr val="7030A0"/>
                </a:solidFill>
                <a:latin typeface="Power Geez Unicode1" pitchFamily="2" charset="0"/>
              </a:endParaRPr>
            </a:p>
          </p:txBody>
        </p:sp>
      </p:grpSp>
      <p:sp>
        <p:nvSpPr>
          <p:cNvPr id="9" name="Round Single Corner Rectangle 8"/>
          <p:cNvSpPr/>
          <p:nvPr/>
        </p:nvSpPr>
        <p:spPr>
          <a:xfrm>
            <a:off x="457200" y="1219200"/>
            <a:ext cx="6858000" cy="533400"/>
          </a:xfrm>
          <a:prstGeom prst="round1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2800" b="1" dirty="0" err="1" smtClean="0">
                <a:solidFill>
                  <a:srgbClr val="FFFF00"/>
                </a:solidFill>
                <a:latin typeface="Power Geez Unicode1" pitchFamily="2" charset="0"/>
              </a:rPr>
              <a:t>የሰነዱ</a:t>
            </a:r>
            <a:r>
              <a:rPr lang="en-US" sz="2800" b="1" dirty="0" smtClean="0">
                <a:solidFill>
                  <a:srgbClr val="FFFF00"/>
                </a:solidFill>
                <a:latin typeface="Power Geez Unicode1" pitchFamily="2" charset="0"/>
              </a:rPr>
              <a:t> </a:t>
            </a:r>
            <a:r>
              <a:rPr lang="en-US" sz="2800" b="1" dirty="0" err="1" smtClean="0">
                <a:solidFill>
                  <a:srgbClr val="FFFF00"/>
                </a:solidFill>
                <a:latin typeface="Power Geez Unicode1" pitchFamily="2" charset="0"/>
              </a:rPr>
              <a:t>ሪዕስና</a:t>
            </a:r>
            <a:r>
              <a:rPr lang="en-US" sz="2800" b="1" dirty="0" smtClean="0">
                <a:solidFill>
                  <a:srgbClr val="FFFF00"/>
                </a:solidFill>
                <a:latin typeface="Power Geez Unicode1" pitchFamily="2" charset="0"/>
              </a:rPr>
              <a:t> </a:t>
            </a:r>
            <a:r>
              <a:rPr lang="en-US" sz="2800" b="1" dirty="0" err="1" smtClean="0">
                <a:solidFill>
                  <a:srgbClr val="FFFF00"/>
                </a:solidFill>
                <a:latin typeface="Power Geez Unicode1" pitchFamily="2" charset="0"/>
              </a:rPr>
              <a:t>አስፈላጊነት</a:t>
            </a:r>
            <a:endParaRPr lang="en-US" sz="2800" b="1" dirty="0">
              <a:solidFill>
                <a:srgbClr val="FFFF00"/>
              </a:solidFill>
              <a:latin typeface="Power Geez Unicode1" pitchFamily="2" charset="0"/>
            </a:endParaRPr>
          </a:p>
        </p:txBody>
      </p:sp>
      <p:sp>
        <p:nvSpPr>
          <p:cNvPr id="12" name="Chevron 11"/>
          <p:cNvSpPr/>
          <p:nvPr/>
        </p:nvSpPr>
        <p:spPr>
          <a:xfrm>
            <a:off x="4218354" y="5746790"/>
            <a:ext cx="3740353" cy="982265"/>
          </a:xfrm>
          <a:prstGeom prst="chevron">
            <a:avLst>
              <a:gd name="adj" fmla="val 70610"/>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Tree>
    <p:extLst>
      <p:ext uri="{BB962C8B-B14F-4D97-AF65-F5344CB8AC3E}">
        <p14:creationId xmlns:p14="http://schemas.microsoft.com/office/powerpoint/2010/main" val="420221074"/>
      </p:ext>
    </p:extLst>
  </p:cSld>
  <p:clrMapOvr>
    <a:masterClrMapping/>
  </p:clrMapOvr>
  <p:transition spd="slow">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828800"/>
            <a:ext cx="8381999" cy="4572000"/>
          </a:xfrm>
        </p:spPr>
        <p:txBody>
          <a:bodyPr/>
          <a:lstStyle/>
          <a:p>
            <a:endParaRPr lang="en-US" dirty="0"/>
          </a:p>
        </p:txBody>
      </p:sp>
      <p:sp>
        <p:nvSpPr>
          <p:cNvPr id="3" name="Title 2"/>
          <p:cNvSpPr>
            <a:spLocks noGrp="1"/>
          </p:cNvSpPr>
          <p:nvPr>
            <p:ph type="title"/>
          </p:nvPr>
        </p:nvSpPr>
        <p:spPr/>
        <p:txBody>
          <a:bodyPr/>
          <a:lstStyle/>
          <a:p>
            <a:r>
              <a:rPr lang="en-US" b="1" dirty="0" err="1">
                <a:solidFill>
                  <a:srgbClr val="C00000"/>
                </a:solidFill>
                <a:latin typeface="Power Geez Unicode1" pitchFamily="2" charset="0"/>
              </a:rPr>
              <a:t>የሰነዱ</a:t>
            </a:r>
            <a:r>
              <a:rPr lang="en-US" b="1" dirty="0">
                <a:solidFill>
                  <a:srgbClr val="C00000"/>
                </a:solidFill>
                <a:latin typeface="Power Geez Unicode1" pitchFamily="2" charset="0"/>
              </a:rPr>
              <a:t> </a:t>
            </a:r>
            <a:r>
              <a:rPr lang="en-US" b="1" dirty="0" err="1">
                <a:solidFill>
                  <a:srgbClr val="C00000"/>
                </a:solidFill>
                <a:latin typeface="Power Geez Unicode1" pitchFamily="2" charset="0"/>
              </a:rPr>
              <a:t>ርዕስ</a:t>
            </a:r>
            <a:endParaRPr lang="en-US" dirty="0"/>
          </a:p>
        </p:txBody>
      </p:sp>
      <p:sp>
        <p:nvSpPr>
          <p:cNvPr id="4" name="Flowchart: Stored Data 3"/>
          <p:cNvSpPr/>
          <p:nvPr/>
        </p:nvSpPr>
        <p:spPr>
          <a:xfrm>
            <a:off x="533400" y="1981200"/>
            <a:ext cx="7848600" cy="4267200"/>
          </a:xfrm>
          <a:prstGeom prst="flowChartOnlineStorage">
            <a:avLst/>
          </a:prstGeom>
        </p:spPr>
        <p:style>
          <a:lnRef idx="0">
            <a:schemeClr val="accent2"/>
          </a:lnRef>
          <a:fillRef idx="3">
            <a:schemeClr val="accent2"/>
          </a:fillRef>
          <a:effectRef idx="3">
            <a:schemeClr val="accent2"/>
          </a:effectRef>
          <a:fontRef idx="minor">
            <a:schemeClr val="lt1"/>
          </a:fontRef>
        </p:style>
        <p:txBody>
          <a:bodyPr rtlCol="0" anchor="ctr"/>
          <a:lstStyle/>
          <a:p>
            <a:pPr lvl="0" algn="ctr">
              <a:spcBef>
                <a:spcPct val="20000"/>
              </a:spcBef>
            </a:pPr>
            <a:r>
              <a:rPr lang="am-ET" sz="3600" dirty="0">
                <a:solidFill>
                  <a:srgbClr val="002060"/>
                </a:solidFill>
                <a:latin typeface="Visual Geez Unicode"/>
              </a:rPr>
              <a:t>የአዲስ አበባ ከተማ አስተዳደር የደንብ ማስከበር ባለስልጣን </a:t>
            </a:r>
            <a:r>
              <a:rPr lang="am-ET" sz="3600" dirty="0" smtClean="0">
                <a:solidFill>
                  <a:srgbClr val="FF0000"/>
                </a:solidFill>
                <a:latin typeface="Visual Geez Unicode"/>
              </a:rPr>
              <a:t>አደረጃጀት</a:t>
            </a:r>
            <a:r>
              <a:rPr lang="en-US" sz="3600" dirty="0" smtClean="0">
                <a:solidFill>
                  <a:srgbClr val="FF0000"/>
                </a:solidFill>
                <a:latin typeface="Power Geez Unicode1" pitchFamily="2" charset="0"/>
              </a:rPr>
              <a:t> </a:t>
            </a:r>
            <a:r>
              <a:rPr lang="am-ET" sz="3600" dirty="0" smtClean="0">
                <a:solidFill>
                  <a:srgbClr val="002060"/>
                </a:solidFill>
                <a:latin typeface="Visual Geez Unicode"/>
              </a:rPr>
              <a:t>፣ </a:t>
            </a:r>
            <a:r>
              <a:rPr lang="am-ET" sz="3600" b="1" dirty="0">
                <a:solidFill>
                  <a:srgbClr val="FF0000"/>
                </a:solidFill>
                <a:latin typeface="Visual Geez Unicode"/>
              </a:rPr>
              <a:t>አሰራር</a:t>
            </a:r>
            <a:r>
              <a:rPr lang="am-ET" sz="3600" dirty="0">
                <a:solidFill>
                  <a:srgbClr val="002060"/>
                </a:solidFill>
                <a:latin typeface="Visual Geez Unicode"/>
              </a:rPr>
              <a:t> እና </a:t>
            </a:r>
            <a:r>
              <a:rPr lang="am-ET" sz="3600" b="1" dirty="0">
                <a:solidFill>
                  <a:srgbClr val="C00000"/>
                </a:solidFill>
                <a:latin typeface="Visual Geez Unicode"/>
              </a:rPr>
              <a:t>የፓራሚሊተሪ ሠራተኞች </a:t>
            </a:r>
            <a:r>
              <a:rPr lang="am-ET" sz="3600" dirty="0">
                <a:solidFill>
                  <a:srgbClr val="002060"/>
                </a:solidFill>
                <a:latin typeface="Visual Geez Unicode"/>
              </a:rPr>
              <a:t>አስተዳደር </a:t>
            </a:r>
            <a:r>
              <a:rPr lang="en-US" sz="3600" b="1" dirty="0" err="1">
                <a:solidFill>
                  <a:srgbClr val="002060"/>
                </a:solidFill>
                <a:latin typeface="Power Geez Unicode1" pitchFamily="2" charset="0"/>
              </a:rPr>
              <a:t>ደንብ</a:t>
            </a:r>
            <a:r>
              <a:rPr lang="en-US" sz="3600" b="1" dirty="0">
                <a:solidFill>
                  <a:srgbClr val="002060"/>
                </a:solidFill>
                <a:latin typeface="Power Geez Unicode1" pitchFamily="2" charset="0"/>
              </a:rPr>
              <a:t> </a:t>
            </a:r>
            <a:r>
              <a:rPr lang="en-US" sz="3600" b="1" dirty="0" err="1">
                <a:solidFill>
                  <a:srgbClr val="002060"/>
                </a:solidFill>
                <a:latin typeface="Power Geez Unicode1" pitchFamily="2" charset="0"/>
              </a:rPr>
              <a:t>ቁጥር</a:t>
            </a:r>
            <a:r>
              <a:rPr lang="en-US" sz="3600" b="1" dirty="0">
                <a:solidFill>
                  <a:srgbClr val="002060"/>
                </a:solidFill>
                <a:latin typeface="Power Geez Unicode1" pitchFamily="2" charset="0"/>
              </a:rPr>
              <a:t> </a:t>
            </a:r>
            <a:r>
              <a:rPr lang="en-US" sz="3600" b="1" dirty="0">
                <a:solidFill>
                  <a:srgbClr val="C00000"/>
                </a:solidFill>
                <a:latin typeface="Power Geez Unicode1" pitchFamily="2" charset="0"/>
              </a:rPr>
              <a:t>150/2015</a:t>
            </a:r>
            <a:r>
              <a:rPr lang="en-US" sz="3600" dirty="0">
                <a:solidFill>
                  <a:srgbClr val="002060"/>
                </a:solidFill>
                <a:latin typeface="Power Geez Unicode1" pitchFamily="2" charset="0"/>
              </a:rPr>
              <a:t> </a:t>
            </a:r>
            <a:r>
              <a:rPr lang="am-ET" sz="3600" dirty="0">
                <a:solidFill>
                  <a:srgbClr val="002060"/>
                </a:solidFill>
                <a:latin typeface="Visual Geez Unicode"/>
              </a:rPr>
              <a:t> (ማሻሻያ) </a:t>
            </a:r>
            <a:r>
              <a:rPr lang="am-ET" sz="3600" b="1" dirty="0">
                <a:solidFill>
                  <a:srgbClr val="FF0000"/>
                </a:solidFill>
                <a:latin typeface="Visual Geez Unicode"/>
              </a:rPr>
              <a:t>ደንብ</a:t>
            </a:r>
            <a:r>
              <a:rPr lang="en-US" sz="3600" b="1" dirty="0">
                <a:solidFill>
                  <a:srgbClr val="FF0000"/>
                </a:solidFill>
                <a:latin typeface="Power Geez Unicode1" pitchFamily="2" charset="0"/>
              </a:rPr>
              <a:t> </a:t>
            </a:r>
            <a:r>
              <a:rPr lang="en-US" sz="3600" b="1" dirty="0" err="1">
                <a:solidFill>
                  <a:srgbClr val="FF0000"/>
                </a:solidFill>
                <a:latin typeface="Power Geez Unicode1" pitchFamily="2" charset="0"/>
              </a:rPr>
              <a:t>ቁጥር</a:t>
            </a:r>
            <a:r>
              <a:rPr lang="en-US" sz="3600" b="1" dirty="0">
                <a:solidFill>
                  <a:srgbClr val="FF0000"/>
                </a:solidFill>
                <a:latin typeface="Power Geez Unicode1" pitchFamily="2" charset="0"/>
              </a:rPr>
              <a:t> 167/2016</a:t>
            </a:r>
            <a:r>
              <a:rPr lang="am-ET" sz="3600" b="1" dirty="0">
                <a:solidFill>
                  <a:srgbClr val="FF0000"/>
                </a:solidFill>
                <a:latin typeface="Visual Geez Unicode"/>
              </a:rPr>
              <a:t> </a:t>
            </a:r>
            <a:endParaRPr lang="en-US" sz="3600" b="1" dirty="0">
              <a:solidFill>
                <a:srgbClr val="FF0000"/>
              </a:solidFill>
              <a:latin typeface="Power Geez Unicode1" pitchFamily="2" charset="0"/>
            </a:endParaRPr>
          </a:p>
        </p:txBody>
      </p:sp>
    </p:spTree>
    <p:extLst>
      <p:ext uri="{BB962C8B-B14F-4D97-AF65-F5344CB8AC3E}">
        <p14:creationId xmlns:p14="http://schemas.microsoft.com/office/powerpoint/2010/main" val="383889665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FF0000"/>
                </a:solidFill>
                <a:latin typeface="Power Geez Unicode1" pitchFamily="2" charset="0"/>
              </a:rPr>
              <a:t>የሰነዱ</a:t>
            </a:r>
            <a:r>
              <a:rPr lang="en-US" b="1" dirty="0" smtClean="0">
                <a:solidFill>
                  <a:srgbClr val="FF0000"/>
                </a:solidFill>
                <a:latin typeface="Power Geez Unicode1" pitchFamily="2" charset="0"/>
              </a:rPr>
              <a:t> </a:t>
            </a:r>
            <a:r>
              <a:rPr lang="en-US" b="1" dirty="0" err="1" smtClean="0">
                <a:solidFill>
                  <a:srgbClr val="FF0000"/>
                </a:solidFill>
                <a:latin typeface="Power Geez Unicode1" pitchFamily="2" charset="0"/>
              </a:rPr>
              <a:t>አስፈላጊነት</a:t>
            </a:r>
            <a:endParaRPr lang="en-US" b="1" dirty="0">
              <a:solidFill>
                <a:srgbClr val="FF0000"/>
              </a:solidFill>
              <a:latin typeface="Power Geez Unicode1" pitchFamily="2" charset="0"/>
            </a:endParaRPr>
          </a:p>
        </p:txBody>
      </p:sp>
      <p:sp>
        <p:nvSpPr>
          <p:cNvPr id="4" name="Hexagon 3"/>
          <p:cNvSpPr/>
          <p:nvPr/>
        </p:nvSpPr>
        <p:spPr>
          <a:xfrm>
            <a:off x="228600" y="2286000"/>
            <a:ext cx="8610600" cy="3810000"/>
          </a:xfrm>
          <a:prstGeom prst="hexagon">
            <a:avLst/>
          </a:prstGeom>
        </p:spPr>
        <p:style>
          <a:lnRef idx="1">
            <a:schemeClr val="accent5"/>
          </a:lnRef>
          <a:fillRef idx="2">
            <a:schemeClr val="accent5"/>
          </a:fillRef>
          <a:effectRef idx="1">
            <a:schemeClr val="accent5"/>
          </a:effectRef>
          <a:fontRef idx="minor">
            <a:schemeClr val="dk1"/>
          </a:fontRef>
        </p:style>
        <p:txBody>
          <a:bodyPr rtlCol="0" anchor="ctr"/>
          <a:lstStyle/>
          <a:p>
            <a:pPr marL="342900" lvl="0" indent="-342900" algn="just">
              <a:spcBef>
                <a:spcPct val="20000"/>
              </a:spcBef>
              <a:buFont typeface="Wingdings" pitchFamily="2" charset="2"/>
              <a:buChar char="Ø"/>
            </a:pPr>
            <a:r>
              <a:rPr lang="en-US" sz="3200" b="1" dirty="0" err="1">
                <a:solidFill>
                  <a:srgbClr val="FF0000"/>
                </a:solidFill>
                <a:latin typeface="Power Geez Unicode1" pitchFamily="2" charset="0"/>
              </a:rPr>
              <a:t>ደንብ</a:t>
            </a:r>
            <a:r>
              <a:rPr lang="en-US" sz="3200" b="1" dirty="0">
                <a:solidFill>
                  <a:srgbClr val="FF0000"/>
                </a:solidFill>
                <a:latin typeface="Power Geez Unicode1" pitchFamily="2" charset="0"/>
              </a:rPr>
              <a:t> </a:t>
            </a:r>
            <a:r>
              <a:rPr lang="en-US" sz="3200" b="1" dirty="0" err="1">
                <a:solidFill>
                  <a:srgbClr val="FF0000"/>
                </a:solidFill>
                <a:latin typeface="Power Geez Unicode1" pitchFamily="2" charset="0"/>
              </a:rPr>
              <a:t>ቁጥር</a:t>
            </a:r>
            <a:r>
              <a:rPr lang="en-US" sz="3200" b="1" dirty="0">
                <a:solidFill>
                  <a:srgbClr val="FF0000"/>
                </a:solidFill>
                <a:latin typeface="Power Geez Unicode1" pitchFamily="2" charset="0"/>
              </a:rPr>
              <a:t> </a:t>
            </a:r>
            <a:r>
              <a:rPr lang="en-US" sz="3200" b="1" dirty="0" smtClean="0">
                <a:solidFill>
                  <a:srgbClr val="FF0000"/>
                </a:solidFill>
                <a:latin typeface="Power Geez Unicode1" pitchFamily="2" charset="0"/>
              </a:rPr>
              <a:t>150/2015 </a:t>
            </a:r>
            <a:r>
              <a:rPr lang="en-US" sz="3200" b="1" dirty="0" err="1" smtClean="0">
                <a:solidFill>
                  <a:srgbClr val="FF0000"/>
                </a:solidFill>
                <a:latin typeface="Power Geez Unicode1" pitchFamily="2" charset="0"/>
              </a:rPr>
              <a:t>ለማሻሻል</a:t>
            </a:r>
            <a:r>
              <a:rPr lang="en-US" sz="3200" b="1" dirty="0" smtClean="0">
                <a:solidFill>
                  <a:srgbClr val="FF0000"/>
                </a:solidFill>
                <a:latin typeface="Power Geez Unicode1" pitchFamily="2" charset="0"/>
              </a:rPr>
              <a:t> </a:t>
            </a:r>
            <a:r>
              <a:rPr lang="en-US" sz="3200" b="1" dirty="0" err="1" smtClean="0">
                <a:solidFill>
                  <a:srgbClr val="FF0000"/>
                </a:solidFill>
                <a:latin typeface="Power Geez Unicode1" pitchFamily="2" charset="0"/>
              </a:rPr>
              <a:t>የወጣ</a:t>
            </a:r>
            <a:r>
              <a:rPr lang="en-US" sz="3200" b="1" dirty="0" smtClean="0">
                <a:solidFill>
                  <a:srgbClr val="FF0000"/>
                </a:solidFill>
                <a:latin typeface="Power Geez Unicode1" pitchFamily="2" charset="0"/>
              </a:rPr>
              <a:t> </a:t>
            </a:r>
            <a:r>
              <a:rPr lang="en-US" sz="3200" b="1" dirty="0" err="1" smtClean="0">
                <a:solidFill>
                  <a:srgbClr val="FF0000"/>
                </a:solidFill>
                <a:latin typeface="Power Geez Unicode1" pitchFamily="2" charset="0"/>
              </a:rPr>
              <a:t>ደንብ</a:t>
            </a:r>
            <a:r>
              <a:rPr lang="en-US" sz="3200" b="1" dirty="0" smtClean="0">
                <a:solidFill>
                  <a:srgbClr val="FF0000"/>
                </a:solidFill>
                <a:latin typeface="Power Geez Unicode1" pitchFamily="2" charset="0"/>
              </a:rPr>
              <a:t> </a:t>
            </a:r>
            <a:r>
              <a:rPr lang="en-US" sz="3200" b="1" dirty="0" err="1" smtClean="0">
                <a:solidFill>
                  <a:srgbClr val="FF0000"/>
                </a:solidFill>
                <a:latin typeface="Power Geez Unicode1" pitchFamily="2" charset="0"/>
              </a:rPr>
              <a:t>ቁጥር</a:t>
            </a:r>
            <a:r>
              <a:rPr lang="en-US" sz="3200" b="1" dirty="0" smtClean="0">
                <a:solidFill>
                  <a:srgbClr val="FF0000"/>
                </a:solidFill>
                <a:latin typeface="Power Geez Unicode1" pitchFamily="2" charset="0"/>
              </a:rPr>
              <a:t> 167/2016 </a:t>
            </a:r>
            <a:r>
              <a:rPr lang="en-US" sz="3200" b="1" dirty="0" err="1" smtClean="0">
                <a:solidFill>
                  <a:schemeClr val="tx1"/>
                </a:solidFill>
                <a:latin typeface="Power Geez Unicode1" pitchFamily="2" charset="0"/>
              </a:rPr>
              <a:t>ለህብረተሰቡ</a:t>
            </a:r>
            <a:r>
              <a:rPr lang="en-US" sz="3200" b="1" dirty="0" smtClean="0">
                <a:solidFill>
                  <a:schemeClr val="tx1"/>
                </a:solidFill>
                <a:latin typeface="Power Geez Unicode1" pitchFamily="2" charset="0"/>
              </a:rPr>
              <a:t> </a:t>
            </a:r>
            <a:r>
              <a:rPr lang="en-US" sz="3200" b="1" dirty="0" err="1" smtClean="0">
                <a:solidFill>
                  <a:schemeClr val="tx1"/>
                </a:solidFill>
                <a:latin typeface="Power Geez Unicode1" pitchFamily="2" charset="0"/>
              </a:rPr>
              <a:t>ግንዛቤ</a:t>
            </a:r>
            <a:r>
              <a:rPr lang="en-US" sz="3200" b="1" dirty="0" smtClean="0">
                <a:solidFill>
                  <a:schemeClr val="tx1"/>
                </a:solidFill>
                <a:latin typeface="Power Geez Unicode1" pitchFamily="2" charset="0"/>
              </a:rPr>
              <a:t> </a:t>
            </a:r>
            <a:r>
              <a:rPr lang="en-US" sz="3200" b="1" dirty="0" err="1" smtClean="0">
                <a:solidFill>
                  <a:schemeClr val="tx1"/>
                </a:solidFill>
                <a:latin typeface="Power Geez Unicode1" pitchFamily="2" charset="0"/>
              </a:rPr>
              <a:t>ለመፍጠር</a:t>
            </a:r>
            <a:r>
              <a:rPr lang="en-US" sz="3200" b="1" dirty="0" smtClean="0">
                <a:solidFill>
                  <a:schemeClr val="tx1"/>
                </a:solidFill>
                <a:latin typeface="Power Geez Unicode1" pitchFamily="2" charset="0"/>
              </a:rPr>
              <a:t> </a:t>
            </a:r>
            <a:r>
              <a:rPr lang="en-US" sz="3200" b="1" dirty="0" err="1" smtClean="0">
                <a:solidFill>
                  <a:schemeClr val="tx1"/>
                </a:solidFill>
                <a:latin typeface="Power Geez Unicode1" pitchFamily="2" charset="0"/>
              </a:rPr>
              <a:t>ይሆናል</a:t>
            </a:r>
            <a:r>
              <a:rPr lang="en-US" sz="3200" b="1" dirty="0" smtClean="0">
                <a:solidFill>
                  <a:schemeClr val="tx1"/>
                </a:solidFill>
                <a:latin typeface="Power Geez Unicode1" pitchFamily="2" charset="0"/>
              </a:rPr>
              <a:t> ፡</a:t>
            </a:r>
            <a:r>
              <a:rPr lang="en-US" sz="3200" dirty="0" smtClean="0">
                <a:solidFill>
                  <a:schemeClr val="tx1"/>
                </a:solidFill>
              </a:rPr>
              <a:t>፡</a:t>
            </a:r>
            <a:endParaRPr lang="en-US" sz="3200" dirty="0">
              <a:solidFill>
                <a:schemeClr val="tx1"/>
              </a:solidFill>
            </a:endParaRPr>
          </a:p>
        </p:txBody>
      </p:sp>
    </p:spTree>
    <p:extLst>
      <p:ext uri="{BB962C8B-B14F-4D97-AF65-F5344CB8AC3E}">
        <p14:creationId xmlns:p14="http://schemas.microsoft.com/office/powerpoint/2010/main" val="185764652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just">
              <a:buNone/>
            </a:pPr>
            <a:endParaRPr lang="en-US" sz="2800" dirty="0" smtClean="0"/>
          </a:p>
        </p:txBody>
      </p:sp>
      <p:sp>
        <p:nvSpPr>
          <p:cNvPr id="2" name="Title 1"/>
          <p:cNvSpPr>
            <a:spLocks noGrp="1"/>
          </p:cNvSpPr>
          <p:nvPr>
            <p:ph type="title"/>
          </p:nvPr>
        </p:nvSpPr>
        <p:spPr/>
        <p:txBody>
          <a:bodyPr>
            <a:normAutofit/>
          </a:bodyPr>
          <a:lstStyle/>
          <a:p>
            <a:endParaRPr lang="en-US" sz="2800" dirty="0"/>
          </a:p>
        </p:txBody>
      </p:sp>
      <p:sp>
        <p:nvSpPr>
          <p:cNvPr id="4" name="Explosion 2 3"/>
          <p:cNvSpPr/>
          <p:nvPr/>
        </p:nvSpPr>
        <p:spPr>
          <a:xfrm>
            <a:off x="1524000" y="0"/>
            <a:ext cx="6172200" cy="1600200"/>
          </a:xfrm>
          <a:prstGeom prst="irregularSeal2">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solidFill>
                  <a:srgbClr val="FFFF00"/>
                </a:solidFill>
                <a:latin typeface="Power Geez Unicode1" pitchFamily="2" charset="0"/>
                <a:ea typeface="+mj-ea"/>
                <a:cs typeface="+mj-cs"/>
              </a:rPr>
              <a:t>ከሰነዱ</a:t>
            </a:r>
            <a:r>
              <a:rPr lang="en-US" sz="2400" b="1" dirty="0">
                <a:solidFill>
                  <a:srgbClr val="FFFF00"/>
                </a:solidFill>
                <a:latin typeface="Power Geez Unicode1" pitchFamily="2" charset="0"/>
                <a:ea typeface="+mj-ea"/>
                <a:cs typeface="+mj-cs"/>
              </a:rPr>
              <a:t> </a:t>
            </a:r>
            <a:r>
              <a:rPr lang="en-US" sz="2400" b="1" dirty="0" err="1">
                <a:solidFill>
                  <a:srgbClr val="FFFF00"/>
                </a:solidFill>
                <a:latin typeface="Power Geez Unicode1" pitchFamily="2" charset="0"/>
                <a:ea typeface="+mj-ea"/>
                <a:cs typeface="+mj-cs"/>
              </a:rPr>
              <a:t>የሚጠበቁ</a:t>
            </a:r>
            <a:r>
              <a:rPr lang="en-US" sz="2400" b="1" dirty="0">
                <a:solidFill>
                  <a:srgbClr val="FFFF00"/>
                </a:solidFill>
                <a:latin typeface="Power Geez Unicode1" pitchFamily="2" charset="0"/>
                <a:ea typeface="+mj-ea"/>
                <a:cs typeface="+mj-cs"/>
              </a:rPr>
              <a:t> </a:t>
            </a:r>
            <a:r>
              <a:rPr lang="en-US" sz="2400" b="1" dirty="0" err="1">
                <a:solidFill>
                  <a:srgbClr val="FFFF00"/>
                </a:solidFill>
                <a:latin typeface="Power Geez Unicode1" pitchFamily="2" charset="0"/>
                <a:ea typeface="+mj-ea"/>
                <a:cs typeface="+mj-cs"/>
              </a:rPr>
              <a:t>ውጤቶች</a:t>
            </a:r>
            <a:r>
              <a:rPr lang="en-US" sz="2400" b="1" dirty="0">
                <a:solidFill>
                  <a:srgbClr val="FFFF00"/>
                </a:solidFill>
                <a:latin typeface="Power Geez Unicode1" pitchFamily="2" charset="0"/>
                <a:ea typeface="+mj-ea"/>
                <a:cs typeface="+mj-cs"/>
              </a:rPr>
              <a:t> </a:t>
            </a:r>
            <a:endParaRPr lang="en-US" sz="1600" b="1" dirty="0">
              <a:solidFill>
                <a:srgbClr val="FFFF00"/>
              </a:solidFill>
              <a:latin typeface="Power Geez Unicode1" pitchFamily="2" charset="0"/>
            </a:endParaRPr>
          </a:p>
        </p:txBody>
      </p:sp>
      <p:graphicFrame>
        <p:nvGraphicFramePr>
          <p:cNvPr id="6" name="Diagram 5"/>
          <p:cNvGraphicFramePr/>
          <p:nvPr>
            <p:extLst>
              <p:ext uri="{D42A27DB-BD31-4B8C-83A1-F6EECF244321}">
                <p14:modId xmlns:p14="http://schemas.microsoft.com/office/powerpoint/2010/main" val="3540115092"/>
              </p:ext>
            </p:extLst>
          </p:nvPr>
        </p:nvGraphicFramePr>
        <p:xfrm>
          <a:off x="533400" y="1981200"/>
          <a:ext cx="8153400" cy="3479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07241084"/>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600200"/>
            <a:ext cx="8382000" cy="4525963"/>
          </a:xfrm>
        </p:spPr>
        <p:txBody>
          <a:bodyPr>
            <a:normAutofit/>
          </a:bodyPr>
          <a:lstStyle/>
          <a:p>
            <a:pPr algn="just">
              <a:buFont typeface="Wingdings" pitchFamily="2" charset="2"/>
              <a:buChar char="q"/>
            </a:pPr>
            <a:endParaRPr lang="en-US" dirty="0"/>
          </a:p>
        </p:txBody>
      </p:sp>
      <p:sp>
        <p:nvSpPr>
          <p:cNvPr id="2" name="Title 1"/>
          <p:cNvSpPr>
            <a:spLocks noGrp="1"/>
          </p:cNvSpPr>
          <p:nvPr>
            <p:ph type="title"/>
          </p:nvPr>
        </p:nvSpPr>
        <p:spPr/>
        <p:txBody>
          <a:bodyPr>
            <a:normAutofit/>
          </a:bodyPr>
          <a:lstStyle/>
          <a:p>
            <a:r>
              <a:rPr lang="en-US" sz="3600" b="1" dirty="0" err="1">
                <a:solidFill>
                  <a:srgbClr val="C00000"/>
                </a:solidFill>
                <a:latin typeface="Power Geez Unicode1" pitchFamily="2" charset="0"/>
              </a:rPr>
              <a:t>ደንቡን</a:t>
            </a:r>
            <a:r>
              <a:rPr lang="en-US" sz="3600" b="1" dirty="0">
                <a:solidFill>
                  <a:srgbClr val="C00000"/>
                </a:solidFill>
                <a:latin typeface="Power Geez Unicode1" pitchFamily="2" charset="0"/>
              </a:rPr>
              <a:t> </a:t>
            </a:r>
            <a:r>
              <a:rPr lang="en-US" sz="3600" b="1" dirty="0" err="1">
                <a:solidFill>
                  <a:srgbClr val="C00000"/>
                </a:solidFill>
                <a:latin typeface="Power Geez Unicode1" pitchFamily="2" charset="0"/>
              </a:rPr>
              <a:t>ለማሻሻል</a:t>
            </a:r>
            <a:r>
              <a:rPr lang="en-US" sz="3600" b="1" dirty="0">
                <a:solidFill>
                  <a:srgbClr val="C00000"/>
                </a:solidFill>
                <a:latin typeface="Power Geez Unicode1" pitchFamily="2" charset="0"/>
              </a:rPr>
              <a:t> </a:t>
            </a:r>
            <a:r>
              <a:rPr lang="en-US" sz="3600" b="1" dirty="0" err="1" smtClean="0">
                <a:solidFill>
                  <a:srgbClr val="C00000"/>
                </a:solidFill>
                <a:latin typeface="Power Geez Unicode1" pitchFamily="2" charset="0"/>
              </a:rPr>
              <a:t>ያስፈለገበት</a:t>
            </a:r>
            <a:endParaRPr lang="en-US" sz="3600" b="1" dirty="0">
              <a:solidFill>
                <a:srgbClr val="C00000"/>
              </a:solidFill>
              <a:latin typeface="Power Geez Unicode1" pitchFamily="2" charset="0"/>
            </a:endParaRPr>
          </a:p>
        </p:txBody>
      </p:sp>
      <p:sp>
        <p:nvSpPr>
          <p:cNvPr id="4" name="Frame 3"/>
          <p:cNvSpPr/>
          <p:nvPr/>
        </p:nvSpPr>
        <p:spPr>
          <a:xfrm>
            <a:off x="457200" y="304800"/>
            <a:ext cx="8229600" cy="1143000"/>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aphicFrame>
        <p:nvGraphicFramePr>
          <p:cNvPr id="5" name="Diagram 4"/>
          <p:cNvGraphicFramePr/>
          <p:nvPr>
            <p:extLst>
              <p:ext uri="{D42A27DB-BD31-4B8C-83A1-F6EECF244321}">
                <p14:modId xmlns:p14="http://schemas.microsoft.com/office/powerpoint/2010/main" val="1044192073"/>
              </p:ext>
            </p:extLst>
          </p:nvPr>
        </p:nvGraphicFramePr>
        <p:xfrm>
          <a:off x="228600" y="1397000"/>
          <a:ext cx="8458200" cy="4699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5303867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1" y="1828800"/>
            <a:ext cx="7823200" cy="4297363"/>
          </a:xfrm>
        </p:spPr>
        <p:txBody>
          <a:bodyPr/>
          <a:lstStyle/>
          <a:p>
            <a:pPr algn="just">
              <a:buFont typeface="Wingdings" pitchFamily="2" charset="2"/>
              <a:buChar char="q"/>
            </a:pPr>
            <a:r>
              <a:rPr lang="en-US" sz="3600" b="1" i="0" u="none" strike="noStrike" baseline="0" dirty="0" err="1" smtClean="0">
                <a:solidFill>
                  <a:srgbClr val="7030A0"/>
                </a:solidFill>
                <a:latin typeface="Power Geez Unicode1" pitchFamily="2" charset="0"/>
              </a:rPr>
              <a:t>ደንብ</a:t>
            </a:r>
            <a:r>
              <a:rPr lang="en-US" sz="3600" b="1" i="0" u="none" strike="noStrike" dirty="0" smtClean="0">
                <a:solidFill>
                  <a:srgbClr val="7030A0"/>
                </a:solidFill>
                <a:latin typeface="Power Geez Unicode1" pitchFamily="2" charset="0"/>
              </a:rPr>
              <a:t> </a:t>
            </a:r>
            <a:r>
              <a:rPr lang="en-US" sz="3600" b="1" i="0" u="none" strike="noStrike" dirty="0" err="1" smtClean="0">
                <a:solidFill>
                  <a:srgbClr val="7030A0"/>
                </a:solidFill>
                <a:latin typeface="Power Geez Unicode1" pitchFamily="2" charset="0"/>
              </a:rPr>
              <a:t>ቁጥር</a:t>
            </a:r>
            <a:r>
              <a:rPr lang="en-US" sz="3600" b="1" i="0" u="none" strike="noStrike" dirty="0" smtClean="0">
                <a:solidFill>
                  <a:srgbClr val="7030A0"/>
                </a:solidFill>
                <a:latin typeface="Power Geez Unicode1" pitchFamily="2" charset="0"/>
              </a:rPr>
              <a:t> </a:t>
            </a:r>
            <a:r>
              <a:rPr lang="en-US" sz="3600" b="1" i="0" u="none" strike="noStrike" baseline="0" dirty="0" smtClean="0">
                <a:solidFill>
                  <a:srgbClr val="FF0000"/>
                </a:solidFill>
                <a:latin typeface="Power Geez Unicode1" pitchFamily="2" charset="0"/>
              </a:rPr>
              <a:t>150/2015</a:t>
            </a:r>
            <a:r>
              <a:rPr lang="en-US" sz="3600" b="1" i="0" u="none" strike="noStrike" baseline="0" dirty="0" smtClean="0">
                <a:solidFill>
                  <a:srgbClr val="7030A0"/>
                </a:solidFill>
                <a:latin typeface="Power Geez Unicode1" pitchFamily="2" charset="0"/>
              </a:rPr>
              <a:t>  </a:t>
            </a:r>
            <a:r>
              <a:rPr lang="am-ET" sz="3600" b="1" i="0" u="none" strike="noStrike" baseline="0" dirty="0" smtClean="0">
                <a:solidFill>
                  <a:srgbClr val="7030A0"/>
                </a:solidFill>
                <a:latin typeface="Visual Geez Unicode"/>
              </a:rPr>
              <a:t> አንቀጽ 15፣ 16፣ 17 እና 18 ተሰርዘው </a:t>
            </a:r>
            <a:endParaRPr lang="en-US" sz="3600" b="1" i="0" u="none" strike="noStrike" baseline="0" dirty="0" smtClean="0">
              <a:solidFill>
                <a:srgbClr val="7030A0"/>
              </a:solidFill>
              <a:latin typeface="Power Geez Unicode1" pitchFamily="2" charset="0"/>
            </a:endParaRPr>
          </a:p>
          <a:p>
            <a:pPr marL="0" indent="0">
              <a:buNone/>
            </a:pPr>
            <a:endParaRPr lang="en-US" b="1" i="0" u="none" strike="noStrike" baseline="0" dirty="0" smtClean="0">
              <a:solidFill>
                <a:srgbClr val="000000"/>
              </a:solidFill>
              <a:latin typeface="Power Geez Unicode1" pitchFamily="2" charset="0"/>
            </a:endParaRPr>
          </a:p>
          <a:p>
            <a:pPr marL="0" indent="0">
              <a:buNone/>
            </a:pPr>
            <a:endParaRPr lang="en-US" b="1" dirty="0">
              <a:solidFill>
                <a:srgbClr val="000000"/>
              </a:solidFill>
              <a:latin typeface="Power Geez Unicode1" pitchFamily="2" charset="0"/>
            </a:endParaRPr>
          </a:p>
          <a:p>
            <a:pPr marL="0" indent="0">
              <a:buNone/>
            </a:pPr>
            <a:endParaRPr lang="en-US" b="1" i="0" u="none" strike="noStrike" baseline="0" dirty="0" smtClean="0">
              <a:solidFill>
                <a:srgbClr val="000000"/>
              </a:solidFill>
              <a:latin typeface="Power Geez Unicode1" pitchFamily="2" charset="0"/>
            </a:endParaRPr>
          </a:p>
          <a:p>
            <a:pPr algn="just">
              <a:buFont typeface="Wingdings" pitchFamily="2" charset="2"/>
              <a:buChar char="q"/>
            </a:pPr>
            <a:r>
              <a:rPr lang="am-ET" sz="3200" b="1" i="0" u="none" strike="noStrike" baseline="0" dirty="0" smtClean="0">
                <a:latin typeface="Visual Geez Unicode"/>
              </a:rPr>
              <a:t>በአዲስ </a:t>
            </a:r>
            <a:r>
              <a:rPr lang="en-US" sz="3200" b="1" dirty="0" err="1" smtClean="0">
                <a:latin typeface="Power Geez Unicode1" pitchFamily="2" charset="0"/>
              </a:rPr>
              <a:t>ማሻሻያ</a:t>
            </a:r>
            <a:r>
              <a:rPr lang="en-US" sz="3200" b="1" dirty="0" smtClean="0">
                <a:latin typeface="Power Geez Unicode1" pitchFamily="2" charset="0"/>
              </a:rPr>
              <a:t> </a:t>
            </a:r>
            <a:r>
              <a:rPr lang="en-US" sz="3200" b="1" dirty="0" err="1" smtClean="0">
                <a:latin typeface="Power Geez Unicode1" pitchFamily="2" charset="0"/>
              </a:rPr>
              <a:t>ደንብ</a:t>
            </a:r>
            <a:r>
              <a:rPr lang="en-US" sz="3200" b="1" dirty="0" smtClean="0">
                <a:latin typeface="Power Geez Unicode1" pitchFamily="2" charset="0"/>
              </a:rPr>
              <a:t> </a:t>
            </a:r>
            <a:r>
              <a:rPr lang="en-US" sz="3200" b="1" dirty="0" smtClean="0">
                <a:solidFill>
                  <a:srgbClr val="FF0000"/>
                </a:solidFill>
                <a:latin typeface="Power Geez Unicode1" pitchFamily="2" charset="0"/>
              </a:rPr>
              <a:t>167/2016 </a:t>
            </a:r>
            <a:r>
              <a:rPr lang="am-ET" sz="3200" b="1" i="0" u="none" strike="noStrike" baseline="0" dirty="0" smtClean="0">
                <a:solidFill>
                  <a:srgbClr val="FF0000"/>
                </a:solidFill>
                <a:latin typeface="Visual Geez Unicode"/>
              </a:rPr>
              <a:t>አንቀጽ 15፣ 16፣ 17 እና 18 ተተክተዋል፤ </a:t>
            </a:r>
          </a:p>
          <a:p>
            <a:endParaRPr lang="en-US" sz="2800" dirty="0">
              <a:latin typeface="Power Geez Unicode1" pitchFamily="2" charset="0"/>
            </a:endParaRPr>
          </a:p>
        </p:txBody>
      </p:sp>
      <p:sp>
        <p:nvSpPr>
          <p:cNvPr id="2" name="Title 1"/>
          <p:cNvSpPr>
            <a:spLocks noGrp="1"/>
          </p:cNvSpPr>
          <p:nvPr>
            <p:ph type="title"/>
          </p:nvPr>
        </p:nvSpPr>
        <p:spPr/>
        <p:txBody>
          <a:bodyPr/>
          <a:lstStyle/>
          <a:p>
            <a:r>
              <a:rPr lang="am-ET" sz="3600" b="1" dirty="0" smtClean="0">
                <a:solidFill>
                  <a:srgbClr val="FF0000"/>
                </a:solidFill>
                <a:latin typeface="Visual Geez Unicode"/>
                <a:ea typeface="+mn-ea"/>
                <a:cs typeface="+mn-cs"/>
              </a:rPr>
              <a:t>ማሻሻያ</a:t>
            </a:r>
            <a:r>
              <a:rPr lang="en-US" sz="3600" b="1" dirty="0" smtClean="0">
                <a:solidFill>
                  <a:srgbClr val="FF0000"/>
                </a:solidFill>
                <a:latin typeface="Power Geez Unicode1" pitchFamily="2" charset="0"/>
                <a:ea typeface="+mn-ea"/>
                <a:cs typeface="+mn-cs"/>
              </a:rPr>
              <a:t> </a:t>
            </a:r>
            <a:r>
              <a:rPr lang="en-US" sz="3600" b="1" dirty="0" err="1" smtClean="0">
                <a:solidFill>
                  <a:srgbClr val="FF0000"/>
                </a:solidFill>
                <a:latin typeface="Power Geez Unicode1" pitchFamily="2" charset="0"/>
                <a:ea typeface="+mn-ea"/>
                <a:cs typeface="+mn-cs"/>
              </a:rPr>
              <a:t>የተደረጉባቸው</a:t>
            </a:r>
            <a:r>
              <a:rPr lang="en-US" sz="3600" b="1" dirty="0" smtClean="0">
                <a:solidFill>
                  <a:srgbClr val="FF0000"/>
                </a:solidFill>
                <a:latin typeface="Power Geez Unicode1" pitchFamily="2" charset="0"/>
                <a:ea typeface="+mn-ea"/>
                <a:cs typeface="+mn-cs"/>
              </a:rPr>
              <a:t> </a:t>
            </a:r>
            <a:r>
              <a:rPr lang="en-US" sz="3600" b="1" dirty="0" err="1" smtClean="0">
                <a:solidFill>
                  <a:srgbClr val="FF0000"/>
                </a:solidFill>
                <a:latin typeface="Power Geez Unicode1" pitchFamily="2" charset="0"/>
                <a:ea typeface="+mn-ea"/>
                <a:cs typeface="+mn-cs"/>
              </a:rPr>
              <a:t>አንቀጾች</a:t>
            </a:r>
            <a:endParaRPr lang="en-US" b="1" dirty="0">
              <a:solidFill>
                <a:srgbClr val="FF0000"/>
              </a:solidFill>
              <a:latin typeface="Power Geez Unicode1" pitchFamily="2" charset="0"/>
            </a:endParaRPr>
          </a:p>
        </p:txBody>
      </p:sp>
    </p:spTree>
    <p:extLst>
      <p:ext uri="{BB962C8B-B14F-4D97-AF65-F5344CB8AC3E}">
        <p14:creationId xmlns:p14="http://schemas.microsoft.com/office/powerpoint/2010/main" val="22759813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1600200"/>
            <a:ext cx="8991600" cy="4953000"/>
          </a:xfrm>
        </p:spPr>
        <p:txBody>
          <a:bodyPr/>
          <a:lstStyle/>
          <a:p>
            <a:pPr>
              <a:buFont typeface="Wingdings" pitchFamily="2" charset="2"/>
              <a:buChar char="Ø"/>
            </a:pPr>
            <a:r>
              <a:rPr lang="en-GB" dirty="0" smtClean="0">
                <a:latin typeface="Power Geez Unicode1" pitchFamily="2" charset="0"/>
              </a:rPr>
              <a:t> </a:t>
            </a:r>
            <a:r>
              <a:rPr lang="en-GB" sz="3200" b="1" dirty="0" err="1" smtClean="0">
                <a:solidFill>
                  <a:srgbClr val="FF0000"/>
                </a:solidFill>
                <a:latin typeface="Power Geez Unicode1" pitchFamily="2" charset="0"/>
              </a:rPr>
              <a:t>አንቀጽ</a:t>
            </a:r>
            <a:r>
              <a:rPr lang="en-GB" sz="3200" b="1" dirty="0" smtClean="0">
                <a:solidFill>
                  <a:srgbClr val="FF0000"/>
                </a:solidFill>
                <a:latin typeface="Power Geez Unicode1" pitchFamily="2" charset="0"/>
              </a:rPr>
              <a:t> 15 </a:t>
            </a:r>
            <a:r>
              <a:rPr lang="en-GB" sz="3200" b="1" dirty="0" err="1" smtClean="0">
                <a:solidFill>
                  <a:schemeClr val="tx1"/>
                </a:solidFill>
                <a:latin typeface="Power Geez Unicode1" pitchFamily="2" charset="0"/>
              </a:rPr>
              <a:t>ስለ</a:t>
            </a:r>
            <a:r>
              <a:rPr lang="en-GB" sz="3200" b="1" dirty="0" smtClean="0">
                <a:solidFill>
                  <a:schemeClr val="tx1"/>
                </a:solidFill>
                <a:latin typeface="Power Geez Unicode1" pitchFamily="2" charset="0"/>
              </a:rPr>
              <a:t> </a:t>
            </a:r>
            <a:r>
              <a:rPr lang="en-GB" sz="3200" b="1" dirty="0" err="1" smtClean="0">
                <a:solidFill>
                  <a:schemeClr val="tx1"/>
                </a:solidFill>
                <a:latin typeface="Power Geez Unicode1" pitchFamily="2" charset="0"/>
              </a:rPr>
              <a:t>አስተዳደራዊ</a:t>
            </a:r>
            <a:r>
              <a:rPr lang="en-GB" sz="3200" b="1" dirty="0" smtClean="0">
                <a:solidFill>
                  <a:schemeClr val="tx1"/>
                </a:solidFill>
                <a:latin typeface="Power Geez Unicode1" pitchFamily="2" charset="0"/>
              </a:rPr>
              <a:t> </a:t>
            </a:r>
            <a:r>
              <a:rPr lang="en-GB" sz="3200" b="1" dirty="0" err="1" smtClean="0">
                <a:solidFill>
                  <a:schemeClr val="tx1"/>
                </a:solidFill>
                <a:latin typeface="Power Geez Unicode1" pitchFamily="2" charset="0"/>
              </a:rPr>
              <a:t>ቅጣት</a:t>
            </a:r>
            <a:r>
              <a:rPr lang="en-GB" sz="3200" b="1" dirty="0" smtClean="0">
                <a:solidFill>
                  <a:schemeClr val="tx1"/>
                </a:solidFill>
                <a:latin typeface="Power Geez Unicode1" pitchFamily="2" charset="0"/>
              </a:rPr>
              <a:t> ፤</a:t>
            </a:r>
            <a:r>
              <a:rPr lang="en-GB" sz="3200" b="1" dirty="0" err="1" smtClean="0">
                <a:solidFill>
                  <a:schemeClr val="tx1"/>
                </a:solidFill>
                <a:latin typeface="Power Geez Unicode1" pitchFamily="2" charset="0"/>
              </a:rPr>
              <a:t>እርምጃ</a:t>
            </a:r>
            <a:r>
              <a:rPr lang="en-GB" sz="3200" b="1" dirty="0" smtClean="0">
                <a:solidFill>
                  <a:schemeClr val="tx1"/>
                </a:solidFill>
                <a:latin typeface="Power Geez Unicode1" pitchFamily="2" charset="0"/>
              </a:rPr>
              <a:t> </a:t>
            </a:r>
            <a:r>
              <a:rPr lang="en-GB" sz="3200" b="1" dirty="0" err="1" smtClean="0">
                <a:solidFill>
                  <a:schemeClr val="tx1"/>
                </a:solidFill>
                <a:latin typeface="Power Geez Unicode1" pitchFamily="2" charset="0"/>
              </a:rPr>
              <a:t>አወሳሰድ</a:t>
            </a:r>
            <a:r>
              <a:rPr lang="en-GB" sz="3200" b="1" dirty="0" smtClean="0">
                <a:solidFill>
                  <a:schemeClr val="tx1"/>
                </a:solidFill>
                <a:latin typeface="Power Geez Unicode1" pitchFamily="2" charset="0"/>
              </a:rPr>
              <a:t>  </a:t>
            </a:r>
            <a:r>
              <a:rPr lang="en-GB" sz="3200" b="1" dirty="0" err="1" smtClean="0">
                <a:solidFill>
                  <a:schemeClr val="tx1"/>
                </a:solidFill>
                <a:latin typeface="Power Geez Unicode1" pitchFamily="2" charset="0"/>
              </a:rPr>
              <a:t>እና</a:t>
            </a:r>
            <a:r>
              <a:rPr lang="en-GB" sz="3200" b="1" dirty="0" smtClean="0">
                <a:solidFill>
                  <a:schemeClr val="tx1"/>
                </a:solidFill>
                <a:latin typeface="Power Geez Unicode1" pitchFamily="2" charset="0"/>
              </a:rPr>
              <a:t> </a:t>
            </a:r>
            <a:r>
              <a:rPr lang="en-GB" sz="3200" b="1" dirty="0" err="1" smtClean="0">
                <a:solidFill>
                  <a:schemeClr val="tx1"/>
                </a:solidFill>
                <a:latin typeface="Power Geez Unicode1" pitchFamily="2" charset="0"/>
              </a:rPr>
              <a:t>አቤቱታ</a:t>
            </a:r>
            <a:r>
              <a:rPr lang="en-GB" sz="3200" b="1" dirty="0" smtClean="0">
                <a:solidFill>
                  <a:schemeClr val="tx1"/>
                </a:solidFill>
                <a:latin typeface="Power Geez Unicode1" pitchFamily="2" charset="0"/>
              </a:rPr>
              <a:t> </a:t>
            </a:r>
            <a:r>
              <a:rPr lang="en-GB" sz="3200" b="1" dirty="0" err="1" smtClean="0">
                <a:solidFill>
                  <a:schemeClr val="tx1"/>
                </a:solidFill>
                <a:latin typeface="Power Geez Unicode1" pitchFamily="2" charset="0"/>
              </a:rPr>
              <a:t>አቀራረብ</a:t>
            </a:r>
            <a:r>
              <a:rPr lang="en-GB" sz="3200" b="1" dirty="0" smtClean="0">
                <a:solidFill>
                  <a:schemeClr val="tx1"/>
                </a:solidFill>
                <a:latin typeface="Power Geez Unicode1" pitchFamily="2" charset="0"/>
              </a:rPr>
              <a:t> </a:t>
            </a:r>
          </a:p>
          <a:p>
            <a:pPr>
              <a:buFont typeface="Wingdings" pitchFamily="2" charset="2"/>
              <a:buChar char="Ø"/>
            </a:pPr>
            <a:r>
              <a:rPr lang="en-GB" sz="3200" b="1" dirty="0" err="1">
                <a:solidFill>
                  <a:srgbClr val="FF0000"/>
                </a:solidFill>
                <a:latin typeface="Power Geez Unicode1" pitchFamily="2" charset="0"/>
              </a:rPr>
              <a:t>አንቀጽ</a:t>
            </a:r>
            <a:r>
              <a:rPr lang="en-GB" sz="3200" b="1" dirty="0">
                <a:solidFill>
                  <a:srgbClr val="FF0000"/>
                </a:solidFill>
                <a:latin typeface="Power Geez Unicode1" pitchFamily="2" charset="0"/>
              </a:rPr>
              <a:t> </a:t>
            </a:r>
            <a:r>
              <a:rPr lang="en-GB" sz="3200" b="1" dirty="0" smtClean="0">
                <a:solidFill>
                  <a:srgbClr val="FF0000"/>
                </a:solidFill>
                <a:latin typeface="Power Geez Unicode1" pitchFamily="2" charset="0"/>
              </a:rPr>
              <a:t>16 </a:t>
            </a:r>
            <a:r>
              <a:rPr lang="en-GB" sz="3200" b="1" dirty="0" err="1" smtClean="0">
                <a:solidFill>
                  <a:schemeClr val="tx1"/>
                </a:solidFill>
                <a:latin typeface="Power Geez Unicode1" pitchFamily="2" charset="0"/>
              </a:rPr>
              <a:t>ስለተደጋጋሚ</a:t>
            </a:r>
            <a:r>
              <a:rPr lang="en-GB" sz="3200" b="1" dirty="0" smtClean="0">
                <a:solidFill>
                  <a:schemeClr val="tx1"/>
                </a:solidFill>
                <a:latin typeface="Power Geez Unicode1" pitchFamily="2" charset="0"/>
              </a:rPr>
              <a:t> </a:t>
            </a:r>
            <a:r>
              <a:rPr lang="en-GB" sz="3200" b="1" dirty="0" err="1" smtClean="0">
                <a:solidFill>
                  <a:schemeClr val="tx1"/>
                </a:solidFill>
                <a:latin typeface="Power Geez Unicode1" pitchFamily="2" charset="0"/>
              </a:rPr>
              <a:t>ጥፋትና</a:t>
            </a:r>
            <a:r>
              <a:rPr lang="en-GB" sz="3200" b="1" dirty="0" smtClean="0">
                <a:solidFill>
                  <a:schemeClr val="tx1"/>
                </a:solidFill>
                <a:latin typeface="Power Geez Unicode1" pitchFamily="2" charset="0"/>
              </a:rPr>
              <a:t> </a:t>
            </a:r>
            <a:r>
              <a:rPr lang="en-GB" sz="3200" b="1" dirty="0" err="1" smtClean="0">
                <a:solidFill>
                  <a:schemeClr val="tx1"/>
                </a:solidFill>
                <a:latin typeface="Power Geez Unicode1" pitchFamily="2" charset="0"/>
              </a:rPr>
              <a:t>አስተዳደራዊ</a:t>
            </a:r>
            <a:r>
              <a:rPr lang="en-GB" sz="3200" b="1" dirty="0" smtClean="0">
                <a:solidFill>
                  <a:schemeClr val="tx1"/>
                </a:solidFill>
                <a:latin typeface="Power Geez Unicode1" pitchFamily="2" charset="0"/>
              </a:rPr>
              <a:t> </a:t>
            </a:r>
            <a:r>
              <a:rPr lang="en-GB" sz="3200" b="1" dirty="0" err="1" smtClean="0">
                <a:solidFill>
                  <a:schemeClr val="tx1"/>
                </a:solidFill>
                <a:latin typeface="Power Geez Unicode1" pitchFamily="2" charset="0"/>
              </a:rPr>
              <a:t>ቅጣት</a:t>
            </a:r>
            <a:r>
              <a:rPr lang="en-GB" sz="3200" b="1" dirty="0" smtClean="0">
                <a:solidFill>
                  <a:schemeClr val="tx1"/>
                </a:solidFill>
                <a:latin typeface="Power Geez Unicode1" pitchFamily="2" charset="0"/>
              </a:rPr>
              <a:t> </a:t>
            </a:r>
          </a:p>
          <a:p>
            <a:pPr>
              <a:buFont typeface="Wingdings" pitchFamily="2" charset="2"/>
              <a:buChar char="Ø"/>
            </a:pPr>
            <a:r>
              <a:rPr lang="en-GB" sz="3200" b="1" dirty="0" err="1">
                <a:solidFill>
                  <a:srgbClr val="FF0000"/>
                </a:solidFill>
                <a:latin typeface="Power Geez Unicode1" pitchFamily="2" charset="0"/>
              </a:rPr>
              <a:t>አንቀጽ</a:t>
            </a:r>
            <a:r>
              <a:rPr lang="en-GB" sz="3200" b="1" dirty="0">
                <a:solidFill>
                  <a:srgbClr val="FF0000"/>
                </a:solidFill>
                <a:latin typeface="Power Geez Unicode1" pitchFamily="2" charset="0"/>
              </a:rPr>
              <a:t> </a:t>
            </a:r>
            <a:r>
              <a:rPr lang="en-GB" sz="3200" b="1" dirty="0" smtClean="0">
                <a:solidFill>
                  <a:srgbClr val="FF0000"/>
                </a:solidFill>
                <a:latin typeface="Power Geez Unicode1" pitchFamily="2" charset="0"/>
              </a:rPr>
              <a:t>17 </a:t>
            </a:r>
            <a:r>
              <a:rPr lang="en-GB" sz="3200" b="1" dirty="0" err="1" smtClean="0">
                <a:solidFill>
                  <a:schemeClr val="tx1"/>
                </a:solidFill>
                <a:latin typeface="Power Geez Unicode1" pitchFamily="2" charset="0"/>
              </a:rPr>
              <a:t>ቅጣት</a:t>
            </a:r>
            <a:r>
              <a:rPr lang="en-GB" sz="3200" b="1" dirty="0" smtClean="0">
                <a:solidFill>
                  <a:schemeClr val="tx1"/>
                </a:solidFill>
                <a:latin typeface="Power Geez Unicode1" pitchFamily="2" charset="0"/>
              </a:rPr>
              <a:t> </a:t>
            </a:r>
            <a:r>
              <a:rPr lang="en-GB" sz="3200" b="1" dirty="0" err="1" smtClean="0">
                <a:solidFill>
                  <a:schemeClr val="tx1"/>
                </a:solidFill>
                <a:latin typeface="Power Geez Unicode1" pitchFamily="2" charset="0"/>
              </a:rPr>
              <a:t>ስለማስፈጸም</a:t>
            </a:r>
            <a:r>
              <a:rPr lang="en-GB" sz="3200" b="1" dirty="0" smtClean="0">
                <a:solidFill>
                  <a:schemeClr val="tx1"/>
                </a:solidFill>
                <a:latin typeface="Power Geez Unicode1" pitchFamily="2" charset="0"/>
              </a:rPr>
              <a:t> </a:t>
            </a:r>
          </a:p>
          <a:p>
            <a:pPr>
              <a:buFont typeface="Wingdings" pitchFamily="2" charset="2"/>
              <a:buChar char="Ø"/>
            </a:pPr>
            <a:r>
              <a:rPr lang="en-GB" sz="3200" b="1" dirty="0" err="1">
                <a:solidFill>
                  <a:srgbClr val="FF0000"/>
                </a:solidFill>
                <a:latin typeface="Power Geez Unicode1" pitchFamily="2" charset="0"/>
              </a:rPr>
              <a:t>አንቀጽ</a:t>
            </a:r>
            <a:r>
              <a:rPr lang="en-GB" sz="3200" b="1" dirty="0">
                <a:solidFill>
                  <a:srgbClr val="FF0000"/>
                </a:solidFill>
                <a:latin typeface="Power Geez Unicode1" pitchFamily="2" charset="0"/>
              </a:rPr>
              <a:t> </a:t>
            </a:r>
            <a:r>
              <a:rPr lang="en-GB" sz="3200" b="1" dirty="0" smtClean="0">
                <a:solidFill>
                  <a:srgbClr val="FF0000"/>
                </a:solidFill>
                <a:latin typeface="Power Geez Unicode1" pitchFamily="2" charset="0"/>
              </a:rPr>
              <a:t>18 </a:t>
            </a:r>
            <a:r>
              <a:rPr lang="en-GB" sz="3200" b="1" dirty="0" err="1" smtClean="0">
                <a:solidFill>
                  <a:schemeClr val="tx1"/>
                </a:solidFill>
                <a:latin typeface="Power Geez Unicode1" pitchFamily="2" charset="0"/>
              </a:rPr>
              <a:t>ስለአቤቱታ</a:t>
            </a:r>
            <a:r>
              <a:rPr lang="en-GB" sz="3200" b="1" dirty="0" smtClean="0">
                <a:solidFill>
                  <a:schemeClr val="tx1"/>
                </a:solidFill>
                <a:latin typeface="Power Geez Unicode1" pitchFamily="2" charset="0"/>
              </a:rPr>
              <a:t> </a:t>
            </a:r>
            <a:r>
              <a:rPr lang="en-GB" sz="3200" b="1" dirty="0" err="1" smtClean="0">
                <a:solidFill>
                  <a:schemeClr val="tx1"/>
                </a:solidFill>
                <a:latin typeface="Power Geez Unicode1" pitchFamily="2" charset="0"/>
              </a:rPr>
              <a:t>አቀራረ</a:t>
            </a:r>
            <a:r>
              <a:rPr lang="en-GB" sz="2800" b="1" dirty="0" err="1" smtClean="0">
                <a:solidFill>
                  <a:schemeClr val="tx1"/>
                </a:solidFill>
                <a:latin typeface="Power Geez Unicode1" pitchFamily="2" charset="0"/>
              </a:rPr>
              <a:t>ብ</a:t>
            </a:r>
            <a:r>
              <a:rPr lang="en-GB" sz="2800" b="1" dirty="0" smtClean="0">
                <a:solidFill>
                  <a:schemeClr val="tx1"/>
                </a:solidFill>
                <a:latin typeface="Power Geez Unicode1" pitchFamily="2" charset="0"/>
              </a:rPr>
              <a:t> </a:t>
            </a:r>
            <a:endParaRPr lang="en-US" sz="2800" b="1" dirty="0">
              <a:solidFill>
                <a:schemeClr val="tx1"/>
              </a:solidFill>
              <a:latin typeface="Power Geez Unicode1" pitchFamily="2" charset="0"/>
            </a:endParaRPr>
          </a:p>
        </p:txBody>
      </p:sp>
      <p:sp>
        <p:nvSpPr>
          <p:cNvPr id="3" name="Title 2"/>
          <p:cNvSpPr>
            <a:spLocks noGrp="1"/>
          </p:cNvSpPr>
          <p:nvPr>
            <p:ph type="title"/>
          </p:nvPr>
        </p:nvSpPr>
        <p:spPr/>
        <p:txBody>
          <a:bodyPr/>
          <a:lstStyle/>
          <a:p>
            <a:r>
              <a:rPr lang="en-GB" b="1" dirty="0" err="1" smtClean="0">
                <a:solidFill>
                  <a:srgbClr val="FF0000"/>
                </a:solidFill>
                <a:latin typeface="Power Geez Unicode1" pitchFamily="2" charset="0"/>
              </a:rPr>
              <a:t>አንቀጾቹን</a:t>
            </a:r>
            <a:r>
              <a:rPr lang="en-GB" b="1" dirty="0" smtClean="0">
                <a:solidFill>
                  <a:srgbClr val="FF0000"/>
                </a:solidFill>
                <a:latin typeface="Power Geez Unicode1" pitchFamily="2" charset="0"/>
              </a:rPr>
              <a:t> </a:t>
            </a:r>
            <a:r>
              <a:rPr lang="en-GB" b="1" dirty="0" err="1" smtClean="0">
                <a:solidFill>
                  <a:srgbClr val="FF0000"/>
                </a:solidFill>
                <a:latin typeface="Power Geez Unicode1" pitchFamily="2" charset="0"/>
              </a:rPr>
              <a:t>ስናይ</a:t>
            </a:r>
            <a:endParaRPr lang="en-US" b="1" dirty="0">
              <a:solidFill>
                <a:srgbClr val="FF0000"/>
              </a:solidFill>
              <a:latin typeface="Power Geez Unicode1" pitchFamily="2" charset="0"/>
            </a:endParaRPr>
          </a:p>
        </p:txBody>
      </p:sp>
    </p:spTree>
    <p:extLst>
      <p:ext uri="{BB962C8B-B14F-4D97-AF65-F5344CB8AC3E}">
        <p14:creationId xmlns:p14="http://schemas.microsoft.com/office/powerpoint/2010/main" val="117196133"/>
      </p:ext>
    </p:extLst>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590800"/>
            <a:ext cx="8229600" cy="3840163"/>
          </a:xfr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indent="0" algn="ctr">
              <a:buNone/>
            </a:pPr>
            <a:r>
              <a:rPr lang="en-US" b="1" i="0" u="none" strike="noStrike" spc="50" baseline="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Visual Geez Unicode"/>
              </a:rPr>
              <a:t>    </a:t>
            </a:r>
            <a:r>
              <a:rPr lang="en-US" sz="3600" b="1" i="0" u="none" strike="noStrike" spc="50" baseline="0" dirty="0" err="1" smtClean="0">
                <a:ln w="11430"/>
                <a:solidFill>
                  <a:schemeClr val="tx1"/>
                </a:solidFill>
                <a:effectLst>
                  <a:outerShdw blurRad="76200" dist="50800" dir="5400000" algn="tl" rotWithShape="0">
                    <a:srgbClr val="000000">
                      <a:alpha val="65000"/>
                    </a:srgbClr>
                  </a:outerShdw>
                </a:effectLst>
                <a:latin typeface="Visual Geez Unicode"/>
              </a:rPr>
              <a:t>ርዕሱም</a:t>
            </a:r>
            <a:r>
              <a:rPr lang="en-US" sz="3600" b="1" i="0" u="none" strike="noStrik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Visual Geez Unicode"/>
              </a:rPr>
              <a:t> </a:t>
            </a:r>
            <a:endParaRPr lang="en-US" sz="3600" b="1" i="0" u="none" strike="noStrike" spc="50" baseline="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Visual Geez Unicode"/>
            </a:endParaRPr>
          </a:p>
          <a:p>
            <a:pPr algn="ctr"/>
            <a:r>
              <a:rPr lang="am-ET" sz="3600" b="1" i="0" u="none" strike="noStrike" spc="50" baseline="0" dirty="0" smtClean="0">
                <a:ln w="11430"/>
                <a:solidFill>
                  <a:srgbClr val="FF0000"/>
                </a:solidFill>
                <a:effectLst>
                  <a:outerShdw blurRad="76200" dist="50800" dir="5400000" algn="tl" rotWithShape="0">
                    <a:srgbClr val="000000">
                      <a:alpha val="65000"/>
                    </a:srgbClr>
                  </a:outerShdw>
                </a:effectLst>
                <a:latin typeface="Visual Geez Unicode"/>
              </a:rPr>
              <a:t>በሕገወጥ መንገድ ፍሳሽም ሆነ ደረቅ ቆሻሻ ማስወገድ </a:t>
            </a:r>
            <a:r>
              <a:rPr lang="en-US" sz="3600" b="1" i="0" u="none" strike="noStrike" spc="50" baseline="0" dirty="0" err="1" smtClean="0">
                <a:ln w="11430"/>
                <a:solidFill>
                  <a:srgbClr val="FF0000"/>
                </a:solidFill>
                <a:effectLst>
                  <a:outerShdw blurRad="76200" dist="50800" dir="5400000" algn="tl" rotWithShape="0">
                    <a:srgbClr val="000000">
                      <a:alpha val="65000"/>
                    </a:srgbClr>
                  </a:outerShdw>
                </a:effectLst>
                <a:latin typeface="Visual Geez Unicode"/>
              </a:rPr>
              <a:t>የሚል</a:t>
            </a:r>
            <a:r>
              <a:rPr lang="en-US" sz="3600" b="1" i="0" u="none" strike="noStrike" spc="50" dirty="0" smtClean="0">
                <a:ln w="11430"/>
                <a:solidFill>
                  <a:srgbClr val="FF0000"/>
                </a:solidFill>
                <a:effectLst>
                  <a:outerShdw blurRad="76200" dist="50800" dir="5400000" algn="tl" rotWithShape="0">
                    <a:srgbClr val="000000">
                      <a:alpha val="65000"/>
                    </a:srgbClr>
                  </a:outerShdw>
                </a:effectLst>
                <a:latin typeface="Visual Geez Unicode"/>
              </a:rPr>
              <a:t> </a:t>
            </a:r>
            <a:r>
              <a:rPr lang="en-US" sz="3600" b="1" i="0" u="none" strike="noStrike" spc="50" dirty="0" err="1" smtClean="0">
                <a:ln w="11430"/>
                <a:solidFill>
                  <a:srgbClr val="FF0000"/>
                </a:solidFill>
                <a:effectLst>
                  <a:outerShdw blurRad="76200" dist="50800" dir="5400000" algn="tl" rotWithShape="0">
                    <a:srgbClr val="000000">
                      <a:alpha val="65000"/>
                    </a:srgbClr>
                  </a:outerShdw>
                </a:effectLst>
                <a:latin typeface="Visual Geez Unicode"/>
              </a:rPr>
              <a:t>ሲሆን</a:t>
            </a:r>
            <a:r>
              <a:rPr lang="en-US" sz="3600" b="1" i="0" u="none" strike="noStrike" spc="50" dirty="0" smtClean="0">
                <a:ln w="11430"/>
                <a:solidFill>
                  <a:srgbClr val="FF0000"/>
                </a:solidFill>
                <a:effectLst>
                  <a:outerShdw blurRad="76200" dist="50800" dir="5400000" algn="tl" rotWithShape="0">
                    <a:srgbClr val="000000">
                      <a:alpha val="65000"/>
                    </a:srgbClr>
                  </a:outerShdw>
                </a:effectLst>
                <a:latin typeface="Visual Geez Unicode"/>
              </a:rPr>
              <a:t> </a:t>
            </a:r>
            <a:r>
              <a:rPr lang="en-US" sz="3600" b="1" i="0" u="none" strike="noStrike" spc="50" dirty="0" err="1" smtClean="0">
                <a:ln w="11430"/>
                <a:solidFill>
                  <a:schemeClr val="tx1"/>
                </a:solidFill>
                <a:effectLst>
                  <a:outerShdw blurRad="76200" dist="50800" dir="5400000" algn="tl" rotWithShape="0">
                    <a:srgbClr val="000000">
                      <a:alpha val="65000"/>
                    </a:srgbClr>
                  </a:outerShdw>
                </a:effectLst>
                <a:latin typeface="Visual Geez Unicode"/>
              </a:rPr>
              <a:t>ዝርዝሩን</a:t>
            </a:r>
            <a:r>
              <a:rPr lang="en-US" sz="3600" b="1" i="0" u="none" strike="noStrike" spc="50" dirty="0" smtClean="0">
                <a:ln w="11430"/>
                <a:solidFill>
                  <a:schemeClr val="tx1"/>
                </a:solidFill>
                <a:effectLst>
                  <a:outerShdw blurRad="76200" dist="50800" dir="5400000" algn="tl" rotWithShape="0">
                    <a:srgbClr val="000000">
                      <a:alpha val="65000"/>
                    </a:srgbClr>
                  </a:outerShdw>
                </a:effectLst>
                <a:latin typeface="Visual Geez Unicode"/>
              </a:rPr>
              <a:t> </a:t>
            </a:r>
            <a:r>
              <a:rPr lang="en-US" sz="3600" b="1" i="0" u="none" strike="noStrike" spc="50" dirty="0" err="1" smtClean="0">
                <a:ln w="11430"/>
                <a:solidFill>
                  <a:schemeClr val="tx1"/>
                </a:solidFill>
                <a:effectLst>
                  <a:outerShdw blurRad="76200" dist="50800" dir="5400000" algn="tl" rotWithShape="0">
                    <a:srgbClr val="000000">
                      <a:alpha val="65000"/>
                    </a:srgbClr>
                  </a:outerShdw>
                </a:effectLst>
                <a:latin typeface="Visual Geez Unicode"/>
              </a:rPr>
              <a:t>ስናይ</a:t>
            </a:r>
            <a:r>
              <a:rPr lang="en-US" sz="3600" b="1" i="0" u="none" strike="noStrike" spc="50" dirty="0" smtClean="0">
                <a:ln w="11430"/>
                <a:solidFill>
                  <a:schemeClr val="tx1"/>
                </a:solidFill>
                <a:effectLst>
                  <a:outerShdw blurRad="76200" dist="50800" dir="5400000" algn="tl" rotWithShape="0">
                    <a:srgbClr val="000000">
                      <a:alpha val="65000"/>
                    </a:srgbClr>
                  </a:outerShdw>
                </a:effectLst>
                <a:latin typeface="Visual Geez Unicode"/>
              </a:rPr>
              <a:t>  </a:t>
            </a:r>
            <a:endParaRPr lang="en-US" sz="3600" b="1" spc="50" dirty="0">
              <a:ln w="11430"/>
              <a:solidFill>
                <a:schemeClr val="tx1"/>
              </a:solidFill>
              <a:effectLst>
                <a:outerShdw blurRad="76200" dist="50800" dir="5400000" algn="tl" rotWithShape="0">
                  <a:srgbClr val="000000">
                    <a:alpha val="65000"/>
                  </a:srgbClr>
                </a:outerShdw>
              </a:effectLst>
              <a:latin typeface="Power Geez Unicode1" pitchFamily="2" charset="0"/>
            </a:endParaRPr>
          </a:p>
        </p:txBody>
      </p:sp>
      <p:sp>
        <p:nvSpPr>
          <p:cNvPr id="2" name="Title 1"/>
          <p:cNvSpPr>
            <a:spLocks noGrp="1"/>
          </p:cNvSpPr>
          <p:nvPr>
            <p:ph type="title"/>
          </p:nvPr>
        </p:nvSpPr>
        <p:spPr>
          <a:xfrm>
            <a:off x="304800" y="274638"/>
            <a:ext cx="8686800" cy="1782762"/>
          </a:xfrm>
        </p:spPr>
        <p:txBody>
          <a:bodyPr>
            <a:noAutofit/>
          </a:bodyPr>
          <a:lstStyle/>
          <a:p>
            <a:r>
              <a:rPr lang="en-US" sz="3200" b="1" dirty="0" smtClean="0">
                <a:solidFill>
                  <a:srgbClr val="FF0000"/>
                </a:solidFill>
                <a:latin typeface="Visual Geez Unicode"/>
              </a:rPr>
              <a:t/>
            </a:r>
            <a:br>
              <a:rPr lang="en-US" sz="3200" b="1" dirty="0" smtClean="0">
                <a:solidFill>
                  <a:srgbClr val="FF0000"/>
                </a:solidFill>
                <a:latin typeface="Visual Geez Unicode"/>
              </a:rPr>
            </a:br>
            <a:r>
              <a:rPr lang="en-US" sz="3200" b="1" dirty="0" err="1" smtClean="0">
                <a:solidFill>
                  <a:srgbClr val="FF0000"/>
                </a:solidFill>
                <a:latin typeface="Visual Geez Unicode"/>
              </a:rPr>
              <a:t>ከደንብ</a:t>
            </a:r>
            <a:r>
              <a:rPr lang="en-US" sz="3200" b="1" dirty="0" smtClean="0">
                <a:solidFill>
                  <a:srgbClr val="FF0000"/>
                </a:solidFill>
                <a:latin typeface="Visual Geez Unicode"/>
              </a:rPr>
              <a:t> </a:t>
            </a:r>
            <a:r>
              <a:rPr lang="en-US" sz="3200" b="1" dirty="0" err="1" smtClean="0">
                <a:solidFill>
                  <a:srgbClr val="FF0000"/>
                </a:solidFill>
                <a:latin typeface="Visual Geez Unicode"/>
              </a:rPr>
              <a:t>ቁጥር</a:t>
            </a:r>
            <a:r>
              <a:rPr lang="en-US" sz="3200" b="1" dirty="0" smtClean="0">
                <a:solidFill>
                  <a:srgbClr val="FF0000"/>
                </a:solidFill>
                <a:latin typeface="Visual Geez Unicode"/>
              </a:rPr>
              <a:t> </a:t>
            </a:r>
            <a:r>
              <a:rPr lang="en-US" sz="3200" b="1" dirty="0" smtClean="0">
                <a:solidFill>
                  <a:srgbClr val="FFFF00"/>
                </a:solidFill>
                <a:latin typeface="Visual Geez Unicode"/>
              </a:rPr>
              <a:t>150/2015</a:t>
            </a:r>
            <a:r>
              <a:rPr lang="en-US" sz="3200" b="1" dirty="0" smtClean="0">
                <a:latin typeface="Visual Geez Unicode"/>
              </a:rPr>
              <a:t> </a:t>
            </a:r>
            <a:r>
              <a:rPr lang="en-US" sz="3200" b="1" dirty="0" err="1" smtClean="0">
                <a:solidFill>
                  <a:schemeClr val="tx1"/>
                </a:solidFill>
                <a:latin typeface="Visual Geez Unicode"/>
              </a:rPr>
              <a:t>ካሉት</a:t>
            </a:r>
            <a:r>
              <a:rPr lang="en-US" sz="3200" b="1" dirty="0" smtClean="0">
                <a:solidFill>
                  <a:schemeClr val="tx1"/>
                </a:solidFill>
                <a:latin typeface="Visual Geez Unicode"/>
              </a:rPr>
              <a:t> 6 </a:t>
            </a:r>
            <a:r>
              <a:rPr lang="en-US" sz="3200" b="1" dirty="0" err="1" smtClean="0">
                <a:solidFill>
                  <a:schemeClr val="tx1"/>
                </a:solidFill>
                <a:latin typeface="Visual Geez Unicode"/>
              </a:rPr>
              <a:t>የቅጣት</a:t>
            </a:r>
            <a:r>
              <a:rPr lang="en-US" sz="3200" b="1" dirty="0" smtClean="0">
                <a:solidFill>
                  <a:schemeClr val="tx1"/>
                </a:solidFill>
                <a:latin typeface="Visual Geez Unicode"/>
              </a:rPr>
              <a:t> </a:t>
            </a:r>
            <a:r>
              <a:rPr lang="en-US" sz="3200" b="1" dirty="0" err="1" smtClean="0">
                <a:solidFill>
                  <a:srgbClr val="FF0000"/>
                </a:solidFill>
                <a:latin typeface="Visual Geez Unicode"/>
              </a:rPr>
              <a:t>ሰንጠረዥ</a:t>
            </a:r>
            <a:r>
              <a:rPr lang="en-US" sz="3200" b="1" dirty="0" smtClean="0">
                <a:solidFill>
                  <a:srgbClr val="FF0000"/>
                </a:solidFill>
                <a:latin typeface="Visual Geez Unicode"/>
              </a:rPr>
              <a:t> </a:t>
            </a:r>
            <a:r>
              <a:rPr lang="en-US" sz="3200" b="1" dirty="0" err="1" smtClean="0">
                <a:solidFill>
                  <a:srgbClr val="FF0000"/>
                </a:solidFill>
                <a:latin typeface="Visual Geez Unicode"/>
              </a:rPr>
              <a:t>ውስጥ</a:t>
            </a:r>
            <a:r>
              <a:rPr lang="en-US" sz="3200" b="1" dirty="0" smtClean="0">
                <a:solidFill>
                  <a:srgbClr val="FF0000"/>
                </a:solidFill>
                <a:latin typeface="Visual Geez Unicode"/>
              </a:rPr>
              <a:t> </a:t>
            </a:r>
            <a:r>
              <a:rPr lang="en-US" sz="3200" b="1" dirty="0" err="1" smtClean="0">
                <a:solidFill>
                  <a:srgbClr val="FF0000"/>
                </a:solidFill>
                <a:latin typeface="Visual Geez Unicode"/>
              </a:rPr>
              <a:t>የተሻሻለው</a:t>
            </a:r>
            <a:r>
              <a:rPr lang="en-US" sz="3200" b="1" dirty="0" smtClean="0">
                <a:solidFill>
                  <a:srgbClr val="FF0000"/>
                </a:solidFill>
                <a:latin typeface="Visual Geez Unicode"/>
              </a:rPr>
              <a:t> </a:t>
            </a:r>
            <a:r>
              <a:rPr lang="en-US" sz="3200" b="1" dirty="0">
                <a:solidFill>
                  <a:srgbClr val="FF0000"/>
                </a:solidFill>
                <a:latin typeface="Visual Geez Unicode"/>
              </a:rPr>
              <a:t/>
            </a:r>
            <a:br>
              <a:rPr lang="en-US" sz="3200" b="1" dirty="0">
                <a:solidFill>
                  <a:srgbClr val="FF0000"/>
                </a:solidFill>
                <a:latin typeface="Visual Geez Unicode"/>
              </a:rPr>
            </a:br>
            <a:r>
              <a:rPr lang="am-ET" sz="3200" b="1" dirty="0" smtClean="0">
                <a:solidFill>
                  <a:schemeClr val="tx1"/>
                </a:solidFill>
                <a:latin typeface="Visual Geez Unicode"/>
              </a:rPr>
              <a:t>የቅጣት </a:t>
            </a:r>
            <a:r>
              <a:rPr lang="am-ET" sz="3200" b="1" dirty="0">
                <a:solidFill>
                  <a:schemeClr val="tx1"/>
                </a:solidFill>
                <a:latin typeface="Visual Geez Unicode"/>
              </a:rPr>
              <a:t>ሰንጠረዥ 2</a:t>
            </a:r>
            <a:r>
              <a:rPr lang="am-ET" sz="3200" b="1" dirty="0">
                <a:latin typeface="Visual Geez Unicode"/>
              </a:rPr>
              <a:t> </a:t>
            </a:r>
            <a:r>
              <a:rPr lang="en-US" sz="3200" b="1" dirty="0" err="1" smtClean="0">
                <a:solidFill>
                  <a:srgbClr val="FF0000"/>
                </a:solidFill>
                <a:latin typeface="Visual Geez Unicode"/>
              </a:rPr>
              <a:t>ሲሆን</a:t>
            </a:r>
            <a:r>
              <a:rPr lang="am-ET" sz="3200" b="1" dirty="0">
                <a:solidFill>
                  <a:srgbClr val="FF0000"/>
                </a:solidFill>
                <a:latin typeface="Visual Geez Unicode"/>
              </a:rPr>
              <a:t/>
            </a:r>
            <a:br>
              <a:rPr lang="am-ET" sz="3200" b="1" dirty="0">
                <a:solidFill>
                  <a:srgbClr val="FF0000"/>
                </a:solidFill>
                <a:latin typeface="Visual Geez Unicode"/>
              </a:rPr>
            </a:br>
            <a:endParaRPr lang="en-US" sz="3200" b="1" dirty="0">
              <a:solidFill>
                <a:srgbClr val="FF0000"/>
              </a:solidFill>
            </a:endParaRPr>
          </a:p>
        </p:txBody>
      </p:sp>
    </p:spTree>
    <p:extLst>
      <p:ext uri="{BB962C8B-B14F-4D97-AF65-F5344CB8AC3E}">
        <p14:creationId xmlns:p14="http://schemas.microsoft.com/office/powerpoint/2010/main" val="417390927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910741181"/>
              </p:ext>
            </p:extLst>
          </p:nvPr>
        </p:nvGraphicFramePr>
        <p:xfrm>
          <a:off x="76200" y="76200"/>
          <a:ext cx="8915401" cy="7498956"/>
        </p:xfrm>
        <a:graphic>
          <a:graphicData uri="http://schemas.openxmlformats.org/drawingml/2006/table">
            <a:tbl>
              <a:tblPr firstRow="1" bandRow="1">
                <a:tableStyleId>{5C22544A-7EE6-4342-B048-85BDC9FD1C3A}</a:tableStyleId>
              </a:tblPr>
              <a:tblGrid>
                <a:gridCol w="457200"/>
                <a:gridCol w="3657600"/>
                <a:gridCol w="1524000"/>
                <a:gridCol w="1493521"/>
                <a:gridCol w="1783080"/>
              </a:tblGrid>
              <a:tr h="1548699">
                <a:tc>
                  <a:txBody>
                    <a:bodyPr/>
                    <a:lstStyle/>
                    <a:p>
                      <a:endParaRPr lang="en-US" sz="2000" b="0" i="0" u="none" strike="noStrike" baseline="0" dirty="0" smtClean="0">
                        <a:solidFill>
                          <a:srgbClr val="000000"/>
                        </a:solidFill>
                        <a:latin typeface="Visual Geez Unicode"/>
                      </a:endParaRPr>
                    </a:p>
                    <a:p>
                      <a:endParaRPr lang="en-US" sz="2000" b="0" i="0" u="none" strike="noStrike" baseline="0" dirty="0" smtClean="0">
                        <a:solidFill>
                          <a:srgbClr val="000000"/>
                        </a:solidFill>
                        <a:latin typeface="Visual Geez Unicode"/>
                      </a:endParaRPr>
                    </a:p>
                    <a:p>
                      <a:endParaRPr lang="en-US" sz="2000" b="0" i="0" u="none" strike="noStrike" baseline="0" dirty="0" smtClean="0">
                        <a:solidFill>
                          <a:srgbClr val="000000"/>
                        </a:solidFill>
                        <a:latin typeface="Visual Geez Unicode"/>
                      </a:endParaRPr>
                    </a:p>
                    <a:p>
                      <a:r>
                        <a:rPr lang="am-ET" sz="2000" b="0" i="0" u="none" strike="noStrike" baseline="0" dirty="0" smtClean="0">
                          <a:solidFill>
                            <a:srgbClr val="000000"/>
                          </a:solidFill>
                          <a:latin typeface="Visual Geez Unicode"/>
                        </a:rPr>
                        <a:t>ተ.ቁ</a:t>
                      </a:r>
                      <a:r>
                        <a:rPr lang="am-ET" sz="1400" b="0" i="0" u="none" strike="noStrike" baseline="0" dirty="0" smtClean="0">
                          <a:solidFill>
                            <a:srgbClr val="000000"/>
                          </a:solidFill>
                          <a:latin typeface="Visual Geez Unicode"/>
                        </a:rPr>
                        <a:t> 	</a:t>
                      </a:r>
                      <a:r>
                        <a:rPr lang="en-US" sz="1400" b="0" i="0" u="none" strike="noStrike" baseline="0" dirty="0" smtClean="0">
                          <a:solidFill>
                            <a:srgbClr val="000000"/>
                          </a:solidFill>
                          <a:latin typeface="Power Geez Unicode1" pitchFamily="2" charset="0"/>
                        </a:rPr>
                        <a:t> </a:t>
                      </a:r>
                      <a:endParaRPr lang="am-ET" sz="1400" b="0" i="0" u="none" strike="noStrike" baseline="0" dirty="0" smtClean="0">
                        <a:solidFill>
                          <a:srgbClr val="000000"/>
                        </a:solidFill>
                        <a:latin typeface="Visual Geez Unicode"/>
                      </a:endParaRPr>
                    </a:p>
                  </a:txBody>
                  <a:tcPr/>
                </a:tc>
                <a:tc>
                  <a:txBody>
                    <a:bodyPr/>
                    <a:lstStyle/>
                    <a:p>
                      <a:endParaRPr lang="en-US" sz="1800" b="1" i="0" u="none" strike="noStrike" baseline="0" dirty="0" smtClean="0">
                        <a:solidFill>
                          <a:srgbClr val="FF0000"/>
                        </a:solidFill>
                        <a:latin typeface="Power Geez Unicode1" pitchFamily="2" charset="0"/>
                      </a:endParaRPr>
                    </a:p>
                    <a:p>
                      <a:endParaRPr lang="en-US" sz="1800" b="1" i="0" u="none" strike="noStrike" baseline="0" dirty="0" smtClean="0">
                        <a:solidFill>
                          <a:srgbClr val="FF0000"/>
                        </a:solidFill>
                        <a:latin typeface="Power Geez Unicode1" pitchFamily="2" charset="0"/>
                      </a:endParaRPr>
                    </a:p>
                    <a:p>
                      <a:endParaRPr lang="en-US" sz="1800" b="1" i="0" u="none" strike="noStrike" baseline="0" dirty="0" smtClean="0">
                        <a:solidFill>
                          <a:srgbClr val="FF0000"/>
                        </a:solidFill>
                        <a:latin typeface="Power Geez Unicode1" pitchFamily="2" charset="0"/>
                      </a:endParaRPr>
                    </a:p>
                    <a:p>
                      <a:r>
                        <a:rPr lang="en-US" sz="2400" b="1" i="0" u="none" strike="noStrike" baseline="0" dirty="0" err="1" smtClean="0">
                          <a:solidFill>
                            <a:srgbClr val="FF0000"/>
                          </a:solidFill>
                          <a:latin typeface="Power Geez Unicode1" pitchFamily="2" charset="0"/>
                        </a:rPr>
                        <a:t>የጥፋት</a:t>
                      </a:r>
                      <a:r>
                        <a:rPr lang="en-US" sz="2400" b="1" i="0" u="none" strike="noStrike" baseline="0" dirty="0" smtClean="0">
                          <a:solidFill>
                            <a:srgbClr val="FF0000"/>
                          </a:solidFill>
                          <a:latin typeface="Power Geez Unicode1" pitchFamily="2" charset="0"/>
                        </a:rPr>
                        <a:t> </a:t>
                      </a:r>
                      <a:r>
                        <a:rPr lang="en-US" sz="2400" b="1" i="0" u="none" strike="noStrike" baseline="0" dirty="0" err="1" smtClean="0">
                          <a:solidFill>
                            <a:srgbClr val="FF0000"/>
                          </a:solidFill>
                          <a:latin typeface="Power Geez Unicode1" pitchFamily="2" charset="0"/>
                        </a:rPr>
                        <a:t>አይነቶች</a:t>
                      </a:r>
                      <a:endParaRPr lang="am-ET" sz="2400" b="1" i="0" u="none" strike="noStrike" baseline="0" dirty="0" smtClean="0">
                        <a:solidFill>
                          <a:srgbClr val="FF0000"/>
                        </a:solidFill>
                        <a:latin typeface="Visual Geez Unicode"/>
                      </a:endParaRPr>
                    </a:p>
                  </a:txBody>
                  <a:tcPr/>
                </a:tc>
                <a:tc>
                  <a:txBody>
                    <a:bodyPr/>
                    <a:lstStyle/>
                    <a:p>
                      <a:r>
                        <a:rPr lang="en-US" sz="2000" b="1" i="0" u="none" strike="noStrike" baseline="0" dirty="0" err="1" smtClean="0">
                          <a:solidFill>
                            <a:srgbClr val="FF0000"/>
                          </a:solidFill>
                          <a:latin typeface="Power Geez Unicode1" pitchFamily="2" charset="0"/>
                        </a:rPr>
                        <a:t>ቀድሞ</a:t>
                      </a:r>
                      <a:r>
                        <a:rPr lang="en-US" sz="2000" b="1" i="0" u="none" strike="noStrike" baseline="0" dirty="0" smtClean="0">
                          <a:solidFill>
                            <a:srgbClr val="FF0000"/>
                          </a:solidFill>
                          <a:latin typeface="Power Geez Unicode1" pitchFamily="2" charset="0"/>
                        </a:rPr>
                        <a:t> በነበረው150/2015 </a:t>
                      </a:r>
                      <a:r>
                        <a:rPr lang="en-US" sz="2000" b="1" i="0" u="none" strike="noStrike" baseline="0" dirty="0" err="1" smtClean="0">
                          <a:solidFill>
                            <a:srgbClr val="FF0000"/>
                          </a:solidFill>
                          <a:latin typeface="Power Geez Unicode1" pitchFamily="2" charset="0"/>
                        </a:rPr>
                        <a:t>የተቀመጠ</a:t>
                      </a:r>
                      <a:r>
                        <a:rPr lang="en-US" sz="2000" b="1" i="0" u="none" strike="noStrike" baseline="0" dirty="0" smtClean="0">
                          <a:solidFill>
                            <a:srgbClr val="FF0000"/>
                          </a:solidFill>
                          <a:latin typeface="Power Geez Unicode1" pitchFamily="2" charset="0"/>
                        </a:rPr>
                        <a:t> </a:t>
                      </a:r>
                      <a:r>
                        <a:rPr lang="en-US" sz="2000" b="1" i="0" u="none" strike="noStrike" baseline="0" dirty="0" err="1" smtClean="0">
                          <a:solidFill>
                            <a:srgbClr val="FF0000"/>
                          </a:solidFill>
                          <a:latin typeface="Power Geez Unicode1" pitchFamily="2" charset="0"/>
                        </a:rPr>
                        <a:t>ቅጣት</a:t>
                      </a:r>
                      <a:endParaRPr lang="am-ET" sz="2000" b="1" i="0" u="none" strike="noStrike" baseline="0" dirty="0" smtClean="0">
                        <a:solidFill>
                          <a:srgbClr val="FF0000"/>
                        </a:solidFill>
                        <a:latin typeface="Visual Geez Unicode"/>
                      </a:endParaRPr>
                    </a:p>
                  </a:txBody>
                  <a:tcPr/>
                </a:tc>
                <a:tc>
                  <a:txBody>
                    <a:bodyPr/>
                    <a:lstStyle/>
                    <a:p>
                      <a:r>
                        <a:rPr lang="en-US" sz="2000" b="1" i="0" u="none" strike="noStrike" baseline="0" dirty="0" err="1" smtClean="0">
                          <a:solidFill>
                            <a:srgbClr val="FF0000"/>
                          </a:solidFill>
                          <a:latin typeface="Power Geez Unicode1" pitchFamily="2" charset="0"/>
                        </a:rPr>
                        <a:t>አሁን</a:t>
                      </a:r>
                      <a:r>
                        <a:rPr lang="en-US" sz="2000" b="1" i="0" u="none" strike="noStrike" baseline="0" dirty="0" smtClean="0">
                          <a:solidFill>
                            <a:srgbClr val="FF0000"/>
                          </a:solidFill>
                          <a:latin typeface="Power Geez Unicode1" pitchFamily="2" charset="0"/>
                        </a:rPr>
                        <a:t> </a:t>
                      </a:r>
                      <a:r>
                        <a:rPr lang="en-US" sz="2000" b="1" i="0" u="none" strike="noStrike" baseline="0" dirty="0" err="1" smtClean="0">
                          <a:solidFill>
                            <a:srgbClr val="FF0000"/>
                          </a:solidFill>
                          <a:latin typeface="Power Geez Unicode1" pitchFamily="2" charset="0"/>
                        </a:rPr>
                        <a:t>በተሸሻለው</a:t>
                      </a:r>
                      <a:r>
                        <a:rPr lang="en-US" sz="2000" b="1" i="0" u="none" strike="noStrike" baseline="0" dirty="0" smtClean="0">
                          <a:solidFill>
                            <a:srgbClr val="FF0000"/>
                          </a:solidFill>
                          <a:latin typeface="Power Geez Unicode1" pitchFamily="2" charset="0"/>
                        </a:rPr>
                        <a:t> 167/16 </a:t>
                      </a:r>
                      <a:r>
                        <a:rPr lang="en-US" sz="2000" b="1" i="0" u="none" strike="noStrike" baseline="0" dirty="0" err="1" smtClean="0">
                          <a:solidFill>
                            <a:srgbClr val="FF0000"/>
                          </a:solidFill>
                          <a:latin typeface="Power Geez Unicode1" pitchFamily="2" charset="0"/>
                        </a:rPr>
                        <a:t>የተቀመጠ</a:t>
                      </a:r>
                      <a:r>
                        <a:rPr lang="en-US" sz="2000" b="1" i="0" u="none" strike="noStrike" baseline="0" dirty="0" smtClean="0">
                          <a:solidFill>
                            <a:srgbClr val="FF0000"/>
                          </a:solidFill>
                          <a:latin typeface="Power Geez Unicode1" pitchFamily="2" charset="0"/>
                        </a:rPr>
                        <a:t> </a:t>
                      </a:r>
                      <a:r>
                        <a:rPr lang="en-US" sz="2000" b="1" i="0" u="none" strike="noStrike" baseline="0" dirty="0" err="1" smtClean="0">
                          <a:solidFill>
                            <a:srgbClr val="FF0000"/>
                          </a:solidFill>
                          <a:latin typeface="Power Geez Unicode1" pitchFamily="2" charset="0"/>
                        </a:rPr>
                        <a:t>ቅጣት</a:t>
                      </a:r>
                      <a:endParaRPr lang="am-ET" sz="2000" b="1" i="0" u="none" strike="noStrike" baseline="0" dirty="0" smtClean="0">
                        <a:solidFill>
                          <a:srgbClr val="FF0000"/>
                        </a:solidFill>
                        <a:latin typeface="Visual Geez Unicode"/>
                      </a:endParaRPr>
                    </a:p>
                  </a:txBody>
                  <a:tcPr/>
                </a:tc>
                <a:tc>
                  <a:txBody>
                    <a:bodyPr/>
                    <a:lstStyle/>
                    <a:p>
                      <a:pPr algn="just"/>
                      <a:r>
                        <a:rPr lang="en-US" sz="2000" b="1" dirty="0" err="1" smtClean="0">
                          <a:solidFill>
                            <a:srgbClr val="FF0000"/>
                          </a:solidFill>
                          <a:latin typeface="Power Geez Unicode1" pitchFamily="2" charset="0"/>
                        </a:rPr>
                        <a:t>ከህገ</a:t>
                      </a:r>
                      <a:r>
                        <a:rPr lang="en-US" sz="2000" b="1" baseline="0" dirty="0" smtClean="0">
                          <a:solidFill>
                            <a:srgbClr val="FF0000"/>
                          </a:solidFill>
                          <a:latin typeface="Power Geez Unicode1" pitchFamily="2" charset="0"/>
                        </a:rPr>
                        <a:t> </a:t>
                      </a:r>
                      <a:r>
                        <a:rPr lang="en-US" sz="2000" b="1" baseline="0" dirty="0" err="1" smtClean="0">
                          <a:solidFill>
                            <a:srgbClr val="FF0000"/>
                          </a:solidFill>
                          <a:latin typeface="Power Geez Unicode1" pitchFamily="2" charset="0"/>
                        </a:rPr>
                        <a:t>ወጥ</a:t>
                      </a:r>
                      <a:r>
                        <a:rPr lang="en-US" sz="2000" b="1" baseline="0" dirty="0" smtClean="0">
                          <a:solidFill>
                            <a:srgbClr val="FF0000"/>
                          </a:solidFill>
                          <a:latin typeface="Power Geez Unicode1" pitchFamily="2" charset="0"/>
                        </a:rPr>
                        <a:t> </a:t>
                      </a:r>
                      <a:r>
                        <a:rPr lang="en-US" sz="2000" b="1" baseline="0" dirty="0" err="1" smtClean="0">
                          <a:solidFill>
                            <a:srgbClr val="FF0000"/>
                          </a:solidFill>
                          <a:latin typeface="Power Geez Unicode1" pitchFamily="2" charset="0"/>
                        </a:rPr>
                        <a:t>ፈፃሚው</a:t>
                      </a:r>
                      <a:r>
                        <a:rPr lang="en-US" sz="2000" b="1" baseline="0" dirty="0" smtClean="0">
                          <a:solidFill>
                            <a:srgbClr val="FF0000"/>
                          </a:solidFill>
                          <a:latin typeface="Power Geez Unicode1" pitchFamily="2" charset="0"/>
                        </a:rPr>
                        <a:t> </a:t>
                      </a:r>
                      <a:r>
                        <a:rPr lang="en-US" sz="2000" b="1" baseline="0" dirty="0" err="1" smtClean="0">
                          <a:solidFill>
                            <a:srgbClr val="FF0000"/>
                          </a:solidFill>
                          <a:latin typeface="Power Geez Unicode1" pitchFamily="2" charset="0"/>
                        </a:rPr>
                        <a:t>የሚጠበቅ</a:t>
                      </a:r>
                      <a:endParaRPr lang="en-US" sz="2000" b="1" dirty="0">
                        <a:solidFill>
                          <a:srgbClr val="FF0000"/>
                        </a:solidFill>
                        <a:latin typeface="Power Geez Unicode1" pitchFamily="2" charset="0"/>
                      </a:endParaRPr>
                    </a:p>
                  </a:txBody>
                  <a:tcPr/>
                </a:tc>
              </a:tr>
              <a:tr h="4434840">
                <a:tc>
                  <a:txBody>
                    <a:bodyPr/>
                    <a:lstStyle/>
                    <a:p>
                      <a:endParaRPr lang="en-US" sz="2000" dirty="0" smtClean="0">
                        <a:latin typeface="Power Geez Unicode1" pitchFamily="2" charset="0"/>
                      </a:endParaRPr>
                    </a:p>
                    <a:p>
                      <a:endParaRPr lang="en-US" sz="2000" dirty="0" smtClean="0">
                        <a:latin typeface="Power Geez Unicode1" pitchFamily="2" charset="0"/>
                      </a:endParaRPr>
                    </a:p>
                    <a:p>
                      <a:endParaRPr lang="en-US" sz="2000" dirty="0" smtClean="0">
                        <a:latin typeface="Power Geez Unicode1" pitchFamily="2" charset="0"/>
                      </a:endParaRPr>
                    </a:p>
                    <a:p>
                      <a:endParaRPr lang="en-US" sz="2000" dirty="0" smtClean="0">
                        <a:latin typeface="Power Geez Unicode1" pitchFamily="2" charset="0"/>
                      </a:endParaRPr>
                    </a:p>
                    <a:p>
                      <a:r>
                        <a:rPr lang="en-US" sz="2000" dirty="0" smtClean="0">
                          <a:latin typeface="Power Geez Unicode1" pitchFamily="2" charset="0"/>
                        </a:rPr>
                        <a:t>1</a:t>
                      </a:r>
                    </a:p>
                    <a:p>
                      <a:endParaRPr lang="en-US" sz="2000" dirty="0">
                        <a:latin typeface="Power Geez Unicode1" pitchFamily="2" charset="0"/>
                      </a:endParaRPr>
                    </a:p>
                  </a:txBody>
                  <a:tcPr/>
                </a:tc>
                <a:tc>
                  <a:txBody>
                    <a:bodyPr/>
                    <a:lstStyle/>
                    <a:p>
                      <a:pPr marL="457200" marR="0" lvl="1" indent="0" algn="just" defTabSz="914400" rtl="0" eaLnBrk="1" fontAlgn="auto" latinLnBrk="0" hangingPunct="1">
                        <a:lnSpc>
                          <a:spcPct val="100000"/>
                        </a:lnSpc>
                        <a:spcBef>
                          <a:spcPts val="1000"/>
                        </a:spcBef>
                        <a:spcAft>
                          <a:spcPts val="0"/>
                        </a:spcAft>
                        <a:buClrTx/>
                        <a:buSzTx/>
                        <a:buFont typeface="+mj-lt"/>
                        <a:buNone/>
                        <a:tabLst/>
                        <a:defRPr/>
                      </a:pPr>
                      <a:r>
                        <a:rPr lang="en-US" sz="2000" b="1" kern="1200" dirty="0" err="1" smtClean="0">
                          <a:solidFill>
                            <a:schemeClr val="dk1"/>
                          </a:solidFill>
                          <a:effectLst/>
                          <a:latin typeface="Power Geez Unicode1" pitchFamily="2" charset="0"/>
                          <a:ea typeface="+mn-ea"/>
                          <a:cs typeface="+mn-cs"/>
                        </a:rPr>
                        <a:t>ማንኛውም</a:t>
                      </a:r>
                      <a:r>
                        <a:rPr lang="en-US" sz="2000" b="1" kern="1200" dirty="0" smtClean="0">
                          <a:solidFill>
                            <a:schemeClr val="dk1"/>
                          </a:solidFill>
                          <a:effectLst/>
                          <a:latin typeface="Power Geez Unicode1" pitchFamily="2" charset="0"/>
                          <a:ea typeface="+mn-ea"/>
                          <a:cs typeface="+mn-cs"/>
                        </a:rPr>
                        <a:t> </a:t>
                      </a:r>
                      <a:r>
                        <a:rPr lang="en-US" sz="2000" b="1" kern="1200" dirty="0" err="1" smtClean="0">
                          <a:solidFill>
                            <a:schemeClr val="dk1"/>
                          </a:solidFill>
                          <a:effectLst/>
                          <a:latin typeface="Power Geez Unicode1" pitchFamily="2" charset="0"/>
                          <a:ea typeface="+mn-ea"/>
                          <a:cs typeface="+mn-cs"/>
                        </a:rPr>
                        <a:t>ሰው</a:t>
                      </a:r>
                      <a:r>
                        <a:rPr lang="en-US" sz="2000" b="1" kern="1200" dirty="0" smtClean="0">
                          <a:solidFill>
                            <a:schemeClr val="dk1"/>
                          </a:solidFill>
                          <a:effectLst/>
                          <a:latin typeface="Power Geez Unicode1" pitchFamily="2" charset="0"/>
                          <a:ea typeface="+mn-ea"/>
                          <a:cs typeface="+mn-cs"/>
                        </a:rPr>
                        <a:t> </a:t>
                      </a:r>
                      <a:r>
                        <a:rPr lang="en-US" sz="2000" b="1" kern="1200" dirty="0" err="1" smtClean="0">
                          <a:solidFill>
                            <a:schemeClr val="dk1"/>
                          </a:solidFill>
                          <a:effectLst/>
                          <a:latin typeface="Power Geez Unicode1" pitchFamily="2" charset="0"/>
                          <a:ea typeface="+mn-ea"/>
                          <a:cs typeface="+mn-cs"/>
                        </a:rPr>
                        <a:t>ያመነጨውን</a:t>
                      </a:r>
                      <a:r>
                        <a:rPr lang="en-US" sz="2000" b="1" kern="1200" dirty="0" smtClean="0">
                          <a:solidFill>
                            <a:schemeClr val="dk1"/>
                          </a:solidFill>
                          <a:effectLst/>
                          <a:latin typeface="Power Geez Unicode1" pitchFamily="2" charset="0"/>
                          <a:ea typeface="+mn-ea"/>
                          <a:cs typeface="+mn-cs"/>
                        </a:rPr>
                        <a:t> </a:t>
                      </a:r>
                      <a:r>
                        <a:rPr lang="en-US" sz="2000" b="1" kern="1200" dirty="0" err="1" smtClean="0">
                          <a:solidFill>
                            <a:schemeClr val="dk1"/>
                          </a:solidFill>
                          <a:effectLst/>
                          <a:latin typeface="Power Geez Unicode1" pitchFamily="2" charset="0"/>
                          <a:ea typeface="+mn-ea"/>
                          <a:cs typeface="+mn-cs"/>
                        </a:rPr>
                        <a:t>ደረቅ</a:t>
                      </a:r>
                      <a:r>
                        <a:rPr lang="en-US" sz="2000" b="1" kern="1200" dirty="0" smtClean="0">
                          <a:solidFill>
                            <a:schemeClr val="dk1"/>
                          </a:solidFill>
                          <a:effectLst/>
                          <a:latin typeface="Power Geez Unicode1" pitchFamily="2" charset="0"/>
                          <a:ea typeface="+mn-ea"/>
                          <a:cs typeface="+mn-cs"/>
                        </a:rPr>
                        <a:t> </a:t>
                      </a:r>
                      <a:r>
                        <a:rPr lang="en-US" sz="2000" b="1" kern="1200" dirty="0" err="1" smtClean="0">
                          <a:solidFill>
                            <a:schemeClr val="dk1"/>
                          </a:solidFill>
                          <a:effectLst/>
                          <a:latin typeface="Power Geez Unicode1" pitchFamily="2" charset="0"/>
                          <a:ea typeface="+mn-ea"/>
                          <a:cs typeface="+mn-cs"/>
                        </a:rPr>
                        <a:t>ቆሻሻ</a:t>
                      </a:r>
                      <a:r>
                        <a:rPr lang="en-US" sz="2000" b="1" kern="1200" dirty="0" smtClean="0">
                          <a:solidFill>
                            <a:schemeClr val="dk1"/>
                          </a:solidFill>
                          <a:effectLst/>
                          <a:latin typeface="Power Geez Unicode1" pitchFamily="2" charset="0"/>
                          <a:ea typeface="+mn-ea"/>
                          <a:cs typeface="+mn-cs"/>
                        </a:rPr>
                        <a:t> </a:t>
                      </a:r>
                      <a:r>
                        <a:rPr lang="en-US" sz="2000" b="1" kern="1200" dirty="0" err="1" smtClean="0">
                          <a:solidFill>
                            <a:schemeClr val="dk1"/>
                          </a:solidFill>
                          <a:effectLst/>
                          <a:latin typeface="Power Geez Unicode1" pitchFamily="2" charset="0"/>
                          <a:ea typeface="+mn-ea"/>
                          <a:cs typeface="+mn-cs"/>
                        </a:rPr>
                        <a:t>በግቢው</a:t>
                      </a:r>
                      <a:r>
                        <a:rPr lang="en-US" sz="2000" b="1" kern="1200" dirty="0" smtClean="0">
                          <a:solidFill>
                            <a:schemeClr val="dk1"/>
                          </a:solidFill>
                          <a:effectLst/>
                          <a:latin typeface="Power Geez Unicode1" pitchFamily="2" charset="0"/>
                          <a:ea typeface="+mn-ea"/>
                          <a:cs typeface="+mn-cs"/>
                        </a:rPr>
                        <a:t> </a:t>
                      </a:r>
                      <a:r>
                        <a:rPr lang="en-US" sz="2000" b="1" kern="1200" dirty="0" err="1" smtClean="0">
                          <a:solidFill>
                            <a:schemeClr val="dk1"/>
                          </a:solidFill>
                          <a:effectLst/>
                          <a:latin typeface="Power Geez Unicode1" pitchFamily="2" charset="0"/>
                          <a:ea typeface="+mn-ea"/>
                          <a:cs typeface="+mn-cs"/>
                        </a:rPr>
                        <a:t>ውስጥ</a:t>
                      </a:r>
                      <a:r>
                        <a:rPr lang="en-US" sz="2000" b="1" kern="1200" dirty="0" smtClean="0">
                          <a:solidFill>
                            <a:schemeClr val="dk1"/>
                          </a:solidFill>
                          <a:effectLst/>
                          <a:latin typeface="Power Geez Unicode1" pitchFamily="2" charset="0"/>
                          <a:ea typeface="+mn-ea"/>
                          <a:cs typeface="+mn-cs"/>
                        </a:rPr>
                        <a:t> </a:t>
                      </a:r>
                      <a:r>
                        <a:rPr lang="en-US" sz="2000" b="1" kern="1200" dirty="0" err="1" smtClean="0">
                          <a:solidFill>
                            <a:schemeClr val="dk1"/>
                          </a:solidFill>
                          <a:effectLst/>
                          <a:latin typeface="Power Geez Unicode1" pitchFamily="2" charset="0"/>
                          <a:ea typeface="+mn-ea"/>
                          <a:cs typeface="+mn-cs"/>
                        </a:rPr>
                        <a:t>በአግባቡ</a:t>
                      </a:r>
                      <a:r>
                        <a:rPr lang="en-US" sz="2000" b="1" kern="1200" dirty="0" smtClean="0">
                          <a:solidFill>
                            <a:schemeClr val="dk1"/>
                          </a:solidFill>
                          <a:effectLst/>
                          <a:latin typeface="Power Geez Unicode1" pitchFamily="2" charset="0"/>
                          <a:ea typeface="+mn-ea"/>
                          <a:cs typeface="+mn-cs"/>
                        </a:rPr>
                        <a:t> </a:t>
                      </a:r>
                      <a:r>
                        <a:rPr lang="en-US" sz="2000" b="1" kern="1200" dirty="0" err="1" smtClean="0">
                          <a:solidFill>
                            <a:schemeClr val="dk1"/>
                          </a:solidFill>
                          <a:effectLst/>
                          <a:latin typeface="Power Geez Unicode1" pitchFamily="2" charset="0"/>
                          <a:ea typeface="+mn-ea"/>
                          <a:cs typeface="+mn-cs"/>
                        </a:rPr>
                        <a:t>አለመያዝ</a:t>
                      </a:r>
                      <a:r>
                        <a:rPr lang="en-US" sz="2000" b="1" kern="1200" dirty="0" smtClean="0">
                          <a:solidFill>
                            <a:schemeClr val="dk1"/>
                          </a:solidFill>
                          <a:effectLst/>
                          <a:latin typeface="Power Geez Unicode1" pitchFamily="2" charset="0"/>
                          <a:ea typeface="+mn-ea"/>
                          <a:cs typeface="+mn-cs"/>
                        </a:rPr>
                        <a:t>፤ </a:t>
                      </a:r>
                      <a:r>
                        <a:rPr lang="en-US" sz="2000" b="1" kern="1200" dirty="0" err="1" smtClean="0">
                          <a:solidFill>
                            <a:schemeClr val="dk1"/>
                          </a:solidFill>
                          <a:effectLst/>
                          <a:latin typeface="Power Geez Unicode1" pitchFamily="2" charset="0"/>
                          <a:ea typeface="+mn-ea"/>
                          <a:cs typeface="+mn-cs"/>
                        </a:rPr>
                        <a:t>በዓይነት</a:t>
                      </a:r>
                      <a:r>
                        <a:rPr lang="en-US" sz="2000" b="1" kern="1200" dirty="0" smtClean="0">
                          <a:solidFill>
                            <a:schemeClr val="dk1"/>
                          </a:solidFill>
                          <a:effectLst/>
                          <a:latin typeface="Power Geez Unicode1" pitchFamily="2" charset="0"/>
                          <a:ea typeface="+mn-ea"/>
                          <a:cs typeface="+mn-cs"/>
                        </a:rPr>
                        <a:t> </a:t>
                      </a:r>
                      <a:r>
                        <a:rPr lang="en-US" sz="2000" b="1" kern="1200" dirty="0" err="1" smtClean="0">
                          <a:solidFill>
                            <a:schemeClr val="dk1"/>
                          </a:solidFill>
                          <a:effectLst/>
                          <a:latin typeface="Power Geez Unicode1" pitchFamily="2" charset="0"/>
                          <a:ea typeface="+mn-ea"/>
                          <a:cs typeface="+mn-cs"/>
                        </a:rPr>
                        <a:t>አለመለየት</a:t>
                      </a:r>
                      <a:r>
                        <a:rPr lang="en-US" sz="2000" b="1" kern="1200" dirty="0" smtClean="0">
                          <a:solidFill>
                            <a:schemeClr val="dk1"/>
                          </a:solidFill>
                          <a:effectLst/>
                          <a:latin typeface="Power Geez Unicode1" pitchFamily="2" charset="0"/>
                          <a:ea typeface="+mn-ea"/>
                          <a:cs typeface="+mn-cs"/>
                        </a:rPr>
                        <a:t>፤ </a:t>
                      </a:r>
                      <a:r>
                        <a:rPr lang="en-US" sz="2000" b="1" kern="1200" dirty="0" err="1" smtClean="0">
                          <a:solidFill>
                            <a:schemeClr val="dk1"/>
                          </a:solidFill>
                          <a:effectLst/>
                          <a:latin typeface="Power Geez Unicode1" pitchFamily="2" charset="0"/>
                          <a:ea typeface="+mn-ea"/>
                          <a:cs typeface="+mn-cs"/>
                        </a:rPr>
                        <a:t>ማዝረክረክ</a:t>
                      </a:r>
                      <a:r>
                        <a:rPr lang="en-US" sz="2000" b="1" kern="1200" dirty="0" smtClean="0">
                          <a:solidFill>
                            <a:schemeClr val="dk1"/>
                          </a:solidFill>
                          <a:effectLst/>
                          <a:latin typeface="Power Geez Unicode1" pitchFamily="2" charset="0"/>
                          <a:ea typeface="+mn-ea"/>
                          <a:cs typeface="+mn-cs"/>
                        </a:rPr>
                        <a:t>፤ </a:t>
                      </a:r>
                      <a:r>
                        <a:rPr lang="en-US" sz="2000" b="1" kern="1200" dirty="0" err="1" smtClean="0">
                          <a:solidFill>
                            <a:schemeClr val="dk1"/>
                          </a:solidFill>
                          <a:effectLst/>
                          <a:latin typeface="Power Geez Unicode1" pitchFamily="2" charset="0"/>
                          <a:ea typeface="+mn-ea"/>
                          <a:cs typeface="+mn-cs"/>
                        </a:rPr>
                        <a:t>ለጤናና</a:t>
                      </a:r>
                      <a:r>
                        <a:rPr lang="en-US" sz="2000" b="1" kern="1200" dirty="0" smtClean="0">
                          <a:solidFill>
                            <a:schemeClr val="dk1"/>
                          </a:solidFill>
                          <a:effectLst/>
                          <a:latin typeface="Power Geez Unicode1" pitchFamily="2" charset="0"/>
                          <a:ea typeface="+mn-ea"/>
                          <a:cs typeface="+mn-cs"/>
                        </a:rPr>
                        <a:t> </a:t>
                      </a:r>
                      <a:r>
                        <a:rPr lang="en-US" sz="2000" b="1" kern="1200" dirty="0" err="1" smtClean="0">
                          <a:solidFill>
                            <a:schemeClr val="dk1"/>
                          </a:solidFill>
                          <a:effectLst/>
                          <a:latin typeface="Power Geez Unicode1" pitchFamily="2" charset="0"/>
                          <a:ea typeface="+mn-ea"/>
                          <a:cs typeface="+mn-cs"/>
                        </a:rPr>
                        <a:t>የአካባቢ</a:t>
                      </a:r>
                      <a:r>
                        <a:rPr lang="en-US" sz="2000" b="1" kern="1200" dirty="0" smtClean="0">
                          <a:solidFill>
                            <a:schemeClr val="dk1"/>
                          </a:solidFill>
                          <a:effectLst/>
                          <a:latin typeface="Power Geez Unicode1" pitchFamily="2" charset="0"/>
                          <a:ea typeface="+mn-ea"/>
                          <a:cs typeface="+mn-cs"/>
                        </a:rPr>
                        <a:t> </a:t>
                      </a:r>
                      <a:r>
                        <a:rPr lang="en-US" sz="2000" b="1" kern="1200" dirty="0" err="1" smtClean="0">
                          <a:solidFill>
                            <a:schemeClr val="dk1"/>
                          </a:solidFill>
                          <a:effectLst/>
                          <a:latin typeface="Power Geez Unicode1" pitchFamily="2" charset="0"/>
                          <a:ea typeface="+mn-ea"/>
                          <a:cs typeface="+mn-cs"/>
                        </a:rPr>
                        <a:t>ገጽታ</a:t>
                      </a:r>
                      <a:r>
                        <a:rPr lang="en-US" sz="2000" b="1" kern="1200" dirty="0" smtClean="0">
                          <a:solidFill>
                            <a:schemeClr val="dk1"/>
                          </a:solidFill>
                          <a:effectLst/>
                          <a:latin typeface="Power Geez Unicode1" pitchFamily="2" charset="0"/>
                          <a:ea typeface="+mn-ea"/>
                          <a:cs typeface="+mn-cs"/>
                        </a:rPr>
                        <a:t> </a:t>
                      </a:r>
                      <a:r>
                        <a:rPr lang="en-US" sz="2000" b="1" kern="1200" dirty="0" err="1" smtClean="0">
                          <a:solidFill>
                            <a:schemeClr val="dk1"/>
                          </a:solidFill>
                          <a:effectLst/>
                          <a:latin typeface="Power Geez Unicode1" pitchFamily="2" charset="0"/>
                          <a:ea typeface="+mn-ea"/>
                          <a:cs typeface="+mn-cs"/>
                        </a:rPr>
                        <a:t>በሚጎዳ</a:t>
                      </a:r>
                      <a:r>
                        <a:rPr lang="en-US" sz="2000" b="1" kern="1200" dirty="0" smtClean="0">
                          <a:solidFill>
                            <a:schemeClr val="dk1"/>
                          </a:solidFill>
                          <a:effectLst/>
                          <a:latin typeface="Power Geez Unicode1" pitchFamily="2" charset="0"/>
                          <a:ea typeface="+mn-ea"/>
                          <a:cs typeface="+mn-cs"/>
                        </a:rPr>
                        <a:t> </a:t>
                      </a:r>
                      <a:r>
                        <a:rPr lang="en-US" sz="2000" b="1" kern="1200" dirty="0" err="1" smtClean="0">
                          <a:solidFill>
                            <a:schemeClr val="dk1"/>
                          </a:solidFill>
                          <a:effectLst/>
                          <a:latin typeface="Power Geez Unicode1" pitchFamily="2" charset="0"/>
                          <a:ea typeface="+mn-ea"/>
                          <a:cs typeface="+mn-cs"/>
                        </a:rPr>
                        <a:t>መልኩ</a:t>
                      </a:r>
                      <a:r>
                        <a:rPr lang="en-US" sz="2000" b="1" kern="1200" dirty="0" smtClean="0">
                          <a:solidFill>
                            <a:schemeClr val="dk1"/>
                          </a:solidFill>
                          <a:effectLst/>
                          <a:latin typeface="Power Geez Unicode1" pitchFamily="2" charset="0"/>
                          <a:ea typeface="+mn-ea"/>
                          <a:cs typeface="+mn-cs"/>
                        </a:rPr>
                        <a:t> </a:t>
                      </a:r>
                      <a:r>
                        <a:rPr lang="en-US" sz="2000" b="1" kern="1200" dirty="0" err="1" smtClean="0">
                          <a:solidFill>
                            <a:schemeClr val="dk1"/>
                          </a:solidFill>
                          <a:effectLst/>
                          <a:latin typeface="Power Geez Unicode1" pitchFamily="2" charset="0"/>
                          <a:ea typeface="+mn-ea"/>
                          <a:cs typeface="+mn-cs"/>
                        </a:rPr>
                        <a:t>ማከማቸት</a:t>
                      </a:r>
                      <a:r>
                        <a:rPr lang="en-US" sz="2000" b="1" kern="1200" dirty="0" smtClean="0">
                          <a:solidFill>
                            <a:schemeClr val="dk1"/>
                          </a:solidFill>
                          <a:effectLst/>
                          <a:latin typeface="Power Geez Unicode1" pitchFamily="2" charset="0"/>
                          <a:ea typeface="+mn-ea"/>
                          <a:cs typeface="+mn-cs"/>
                        </a:rPr>
                        <a:t>፤ </a:t>
                      </a:r>
                    </a:p>
                    <a:p>
                      <a:pPr marL="457200" marR="0" lvl="1" indent="0" algn="just" defTabSz="914400" rtl="0" eaLnBrk="1" fontAlgn="auto" latinLnBrk="0" hangingPunct="1">
                        <a:lnSpc>
                          <a:spcPct val="100000"/>
                        </a:lnSpc>
                        <a:spcBef>
                          <a:spcPts val="1000"/>
                        </a:spcBef>
                        <a:spcAft>
                          <a:spcPts val="0"/>
                        </a:spcAft>
                        <a:buClrTx/>
                        <a:buSzTx/>
                        <a:buFont typeface="+mj-lt"/>
                        <a:buNone/>
                        <a:tabLst/>
                        <a:defRPr/>
                      </a:pPr>
                      <a:endParaRPr lang="en-US" sz="3600" b="1" kern="1200" dirty="0" smtClean="0">
                        <a:solidFill>
                          <a:schemeClr val="dk1"/>
                        </a:solidFill>
                        <a:effectLst/>
                        <a:latin typeface="Power Geez Unicode1" pitchFamily="2" charset="0"/>
                        <a:ea typeface="+mn-ea"/>
                        <a:cs typeface="+mn-cs"/>
                      </a:endParaRPr>
                    </a:p>
                    <a:p>
                      <a:pPr marL="457200" marR="0" lvl="1" indent="0" algn="just">
                        <a:spcBef>
                          <a:spcPts val="1000"/>
                        </a:spcBef>
                        <a:spcAft>
                          <a:spcPts val="0"/>
                        </a:spcAft>
                        <a:buFont typeface="+mj-lt"/>
                        <a:buNone/>
                      </a:pPr>
                      <a:r>
                        <a:rPr lang="en-US" sz="1800" b="1" dirty="0" smtClean="0">
                          <a:solidFill>
                            <a:schemeClr val="tx1"/>
                          </a:solidFill>
                          <a:effectLst/>
                          <a:latin typeface="Power Geez Unicode1" pitchFamily="2" charset="0"/>
                          <a:ea typeface="Times New Roman"/>
                          <a:cs typeface="Visual Geez Unicode"/>
                        </a:rPr>
                        <a:t>1. 1 </a:t>
                      </a:r>
                      <a:r>
                        <a:rPr lang="en-US" sz="1800" b="1" dirty="0" err="1" smtClean="0">
                          <a:solidFill>
                            <a:schemeClr val="tx1"/>
                          </a:solidFill>
                          <a:effectLst/>
                          <a:latin typeface="Power Geez Unicode1" pitchFamily="2" charset="0"/>
                          <a:ea typeface="Times New Roman"/>
                          <a:cs typeface="Visual Geez Unicode"/>
                        </a:rPr>
                        <a:t>ከመኖሪያ</a:t>
                      </a:r>
                      <a:r>
                        <a:rPr lang="en-US" sz="1800" b="1" dirty="0" smtClean="0">
                          <a:solidFill>
                            <a:schemeClr val="tx1"/>
                          </a:solidFill>
                          <a:effectLst/>
                          <a:latin typeface="Power Geez Unicode1" pitchFamily="2" charset="0"/>
                          <a:ea typeface="Times New Roman"/>
                          <a:cs typeface="Visual Geez Unicode"/>
                        </a:rPr>
                        <a:t> </a:t>
                      </a:r>
                      <a:r>
                        <a:rPr lang="en-US" sz="1800" b="1" dirty="0" err="1" smtClean="0">
                          <a:solidFill>
                            <a:schemeClr val="tx1"/>
                          </a:solidFill>
                          <a:effectLst/>
                          <a:latin typeface="Power Geez Unicode1" pitchFamily="2" charset="0"/>
                          <a:ea typeface="Times New Roman"/>
                          <a:cs typeface="Visual Geez Unicode"/>
                        </a:rPr>
                        <a:t>ቤት</a:t>
                      </a:r>
                      <a:r>
                        <a:rPr lang="en-US" sz="1800" b="1" dirty="0" smtClean="0">
                          <a:solidFill>
                            <a:schemeClr val="tx1"/>
                          </a:solidFill>
                          <a:effectLst/>
                          <a:latin typeface="Power Geez Unicode1" pitchFamily="2" charset="0"/>
                          <a:ea typeface="Times New Roman"/>
                          <a:cs typeface="Visual Geez Unicode"/>
                        </a:rPr>
                        <a:t> </a:t>
                      </a:r>
                      <a:r>
                        <a:rPr lang="en-US" sz="1800" b="1" dirty="0" err="1" smtClean="0">
                          <a:solidFill>
                            <a:schemeClr val="tx1"/>
                          </a:solidFill>
                          <a:effectLst/>
                          <a:latin typeface="Power Geez Unicode1" pitchFamily="2" charset="0"/>
                          <a:ea typeface="Times New Roman"/>
                          <a:cs typeface="Visual Geez Unicode"/>
                        </a:rPr>
                        <a:t>ከሆነ</a:t>
                      </a:r>
                      <a:endParaRPr lang="en-US" sz="1800" b="1" dirty="0" smtClean="0">
                        <a:solidFill>
                          <a:schemeClr val="tx1"/>
                        </a:solidFill>
                        <a:effectLst/>
                        <a:latin typeface="Power Geez Unicode1" pitchFamily="2" charset="0"/>
                        <a:ea typeface="Times New Roman"/>
                        <a:cs typeface="Visual Geez Unicode"/>
                      </a:endParaRPr>
                    </a:p>
                    <a:p>
                      <a:pPr marL="457200" marR="0" lvl="1" indent="0" algn="just" defTabSz="914400" rtl="0" eaLnBrk="1" fontAlgn="auto" latinLnBrk="0" hangingPunct="1">
                        <a:lnSpc>
                          <a:spcPct val="100000"/>
                        </a:lnSpc>
                        <a:spcBef>
                          <a:spcPts val="1000"/>
                        </a:spcBef>
                        <a:spcAft>
                          <a:spcPts val="0"/>
                        </a:spcAft>
                        <a:buClrTx/>
                        <a:buSzTx/>
                        <a:buFont typeface="+mj-lt"/>
                        <a:buNone/>
                        <a:tabLst/>
                        <a:defRPr/>
                      </a:pPr>
                      <a:r>
                        <a:rPr lang="en-US" sz="1800" b="1" dirty="0" smtClean="0">
                          <a:effectLst/>
                          <a:latin typeface="Power Geez Unicode1" pitchFamily="2" charset="0"/>
                          <a:ea typeface="Times New Roman"/>
                          <a:cs typeface="Visual Geez Unicode"/>
                        </a:rPr>
                        <a:t>1. 2ከድርጅት </a:t>
                      </a:r>
                      <a:r>
                        <a:rPr lang="en-US" sz="1800" b="1" dirty="0" err="1" smtClean="0">
                          <a:effectLst/>
                          <a:latin typeface="Power Geez Unicode1" pitchFamily="2" charset="0"/>
                          <a:ea typeface="Times New Roman"/>
                          <a:cs typeface="Visual Geez Unicode"/>
                        </a:rPr>
                        <a:t>ከሆነ</a:t>
                      </a:r>
                      <a:endParaRPr lang="en-US" sz="1800" b="1" dirty="0" smtClean="0">
                        <a:solidFill>
                          <a:schemeClr val="tx1"/>
                        </a:solidFill>
                        <a:effectLst/>
                        <a:latin typeface="Power Geez Unicode1" pitchFamily="2" charset="0"/>
                        <a:ea typeface="Times New Roman"/>
                        <a:cs typeface="Times New Roman"/>
                      </a:endParaRPr>
                    </a:p>
                    <a:p>
                      <a:pPr algn="just"/>
                      <a:r>
                        <a:rPr lang="en-US" sz="1200" b="1" dirty="0" smtClean="0">
                          <a:effectLst/>
                          <a:latin typeface="Power Geez Unicode1" pitchFamily="2" charset="0"/>
                          <a:ea typeface="Times New Roman"/>
                          <a:cs typeface="Visual Geez Unicode"/>
                        </a:rPr>
                        <a:t> </a:t>
                      </a:r>
                      <a:endParaRPr lang="en-US" sz="2800" dirty="0">
                        <a:latin typeface="Power Geez Unicode1" pitchFamily="2" charset="0"/>
                      </a:endParaRPr>
                    </a:p>
                  </a:txBody>
                  <a:tcPr/>
                </a:tc>
                <a:tc>
                  <a:txBody>
                    <a:bodyPr/>
                    <a:lstStyle/>
                    <a:p>
                      <a:r>
                        <a:rPr lang="en-US" sz="2000" dirty="0" smtClean="0">
                          <a:latin typeface="Power Geez Unicode1" pitchFamily="2" charset="0"/>
                        </a:rPr>
                        <a:t> </a:t>
                      </a:r>
                    </a:p>
                    <a:p>
                      <a:endParaRPr lang="en-US" sz="2000" b="1" dirty="0" smtClean="0">
                        <a:latin typeface="Power Geez Unicode1" pitchFamily="2" charset="0"/>
                      </a:endParaRPr>
                    </a:p>
                    <a:p>
                      <a:endParaRPr lang="en-US" sz="2000" b="1" dirty="0" smtClean="0">
                        <a:latin typeface="Power Geez Unicode1" pitchFamily="2" charset="0"/>
                      </a:endParaRPr>
                    </a:p>
                    <a:p>
                      <a:endParaRPr lang="en-US" sz="2000" b="1" dirty="0" smtClean="0">
                        <a:latin typeface="Power Geez Unicode1" pitchFamily="2" charset="0"/>
                      </a:endParaRPr>
                    </a:p>
                    <a:p>
                      <a:endParaRPr lang="en-US" sz="1400" b="1" dirty="0" smtClean="0">
                        <a:latin typeface="Power Geez Unicode1" pitchFamily="2" charset="0"/>
                      </a:endParaRPr>
                    </a:p>
                    <a:p>
                      <a:endParaRPr lang="en-US" sz="1400" b="1" dirty="0" smtClean="0">
                        <a:latin typeface="Power Geez Unicode1" pitchFamily="2" charset="0"/>
                      </a:endParaRPr>
                    </a:p>
                    <a:p>
                      <a:endParaRPr lang="en-US" sz="1400" b="1" dirty="0" smtClean="0">
                        <a:latin typeface="Power Geez Unicode1" pitchFamily="2" charset="0"/>
                      </a:endParaRPr>
                    </a:p>
                    <a:p>
                      <a:endParaRPr lang="en-US" sz="1400" b="1" dirty="0" smtClean="0">
                        <a:latin typeface="Power Geez Unicode1" pitchFamily="2" charset="0"/>
                      </a:endParaRPr>
                    </a:p>
                    <a:p>
                      <a:endParaRPr lang="en-US" sz="1400" b="1" dirty="0" smtClean="0">
                        <a:latin typeface="Power Geez Unicode1" pitchFamily="2" charset="0"/>
                      </a:endParaRPr>
                    </a:p>
                    <a:p>
                      <a:endParaRPr lang="en-US" sz="1400" b="1" dirty="0" smtClean="0">
                        <a:latin typeface="Power Geez Unicode1" pitchFamily="2" charset="0"/>
                      </a:endParaRPr>
                    </a:p>
                    <a:p>
                      <a:endParaRPr lang="en-US" sz="1400" b="1" dirty="0" smtClean="0">
                        <a:latin typeface="Power Geez Unicode1" pitchFamily="2" charset="0"/>
                      </a:endParaRPr>
                    </a:p>
                    <a:p>
                      <a:endParaRPr lang="en-US" sz="1400" b="1" dirty="0" smtClean="0">
                        <a:latin typeface="Power Geez Unicode1" pitchFamily="2" charset="0"/>
                      </a:endParaRPr>
                    </a:p>
                    <a:p>
                      <a:r>
                        <a:rPr lang="en-US" sz="1800" b="1" dirty="0" err="1" smtClean="0">
                          <a:latin typeface="Power Geez Unicode1" pitchFamily="2" charset="0"/>
                        </a:rPr>
                        <a:t>ብር</a:t>
                      </a:r>
                      <a:r>
                        <a:rPr lang="en-US" sz="1800" b="1" baseline="0" dirty="0" smtClean="0">
                          <a:latin typeface="Power Geez Unicode1" pitchFamily="2" charset="0"/>
                        </a:rPr>
                        <a:t> 500</a:t>
                      </a:r>
                    </a:p>
                    <a:p>
                      <a:endParaRPr lang="en-US" sz="1800" b="1" baseline="0" dirty="0" smtClean="0">
                        <a:latin typeface="Power Geez Unicode1" pitchFamily="2" charset="0"/>
                      </a:endParaRPr>
                    </a:p>
                    <a:p>
                      <a:r>
                        <a:rPr lang="en-US" sz="1800" b="1" baseline="0" dirty="0" err="1" smtClean="0">
                          <a:latin typeface="Power Geez Unicode1" pitchFamily="2" charset="0"/>
                        </a:rPr>
                        <a:t>ብር</a:t>
                      </a:r>
                      <a:r>
                        <a:rPr lang="en-US" sz="1800" b="1" baseline="0" dirty="0" smtClean="0">
                          <a:latin typeface="Power Geez Unicode1" pitchFamily="2" charset="0"/>
                        </a:rPr>
                        <a:t> 3000</a:t>
                      </a:r>
                      <a:endParaRPr lang="en-US" sz="1800" b="1" dirty="0">
                        <a:latin typeface="Power Geez Unicode1" pitchFamily="2" charset="0"/>
                      </a:endParaRPr>
                    </a:p>
                  </a:txBody>
                  <a:tcPr/>
                </a:tc>
                <a:tc>
                  <a:txBody>
                    <a:bodyPr/>
                    <a:lstStyle/>
                    <a:p>
                      <a:endParaRPr lang="en-US" sz="1600" b="1" dirty="0" smtClean="0">
                        <a:latin typeface="Power Geez Unicode1" pitchFamily="2" charset="0"/>
                      </a:endParaRPr>
                    </a:p>
                    <a:p>
                      <a:endParaRPr lang="en-US" sz="1600" b="1" dirty="0" smtClean="0">
                        <a:latin typeface="Power Geez Unicode1" pitchFamily="2" charset="0"/>
                      </a:endParaRPr>
                    </a:p>
                    <a:p>
                      <a:endParaRPr lang="en-US" sz="1600" b="1" dirty="0" smtClean="0">
                        <a:latin typeface="Power Geez Unicode1" pitchFamily="2" charset="0"/>
                      </a:endParaRPr>
                    </a:p>
                    <a:p>
                      <a:endParaRPr lang="en-US" sz="1600" b="1" dirty="0" smtClean="0">
                        <a:latin typeface="Power Geez Unicode1" pitchFamily="2" charset="0"/>
                      </a:endParaRPr>
                    </a:p>
                    <a:p>
                      <a:endParaRPr lang="en-US" sz="1600" b="1" dirty="0" smtClean="0">
                        <a:latin typeface="Power Geez Unicode1" pitchFamily="2" charset="0"/>
                      </a:endParaRPr>
                    </a:p>
                    <a:p>
                      <a:endParaRPr lang="en-US" sz="1600" b="1" dirty="0" smtClean="0">
                        <a:latin typeface="Power Geez Unicode1" pitchFamily="2" charset="0"/>
                      </a:endParaRPr>
                    </a:p>
                    <a:p>
                      <a:endParaRPr lang="en-US" sz="1600" b="1" dirty="0" smtClean="0">
                        <a:latin typeface="Power Geez Unicode1" pitchFamily="2" charset="0"/>
                      </a:endParaRPr>
                    </a:p>
                    <a:p>
                      <a:endParaRPr lang="en-US" sz="1600" b="1" dirty="0" smtClean="0">
                        <a:latin typeface="Power Geez Unicode1" pitchFamily="2" charset="0"/>
                      </a:endParaRPr>
                    </a:p>
                    <a:p>
                      <a:endParaRPr lang="en-US" sz="1600" b="1" dirty="0" smtClean="0">
                        <a:latin typeface="Power Geez Unicode1" pitchFamily="2" charset="0"/>
                      </a:endParaRPr>
                    </a:p>
                    <a:p>
                      <a:endParaRPr lang="en-US" sz="1600" b="1" dirty="0" smtClean="0">
                        <a:latin typeface="Power Geez Unicode1" pitchFamily="2" charset="0"/>
                      </a:endParaRPr>
                    </a:p>
                    <a:p>
                      <a:endParaRPr lang="en-US" sz="1600" b="1" dirty="0" smtClean="0">
                        <a:latin typeface="Power Geez Unicode1" pitchFamily="2" charset="0"/>
                      </a:endParaRPr>
                    </a:p>
                    <a:p>
                      <a:endParaRPr lang="en-US" sz="1600" b="1" dirty="0" smtClean="0">
                        <a:latin typeface="Power Geez Unicode1" pitchFamily="2" charset="0"/>
                      </a:endParaRPr>
                    </a:p>
                    <a:p>
                      <a:pPr algn="just"/>
                      <a:r>
                        <a:rPr lang="en-US" sz="2000" b="1" dirty="0" err="1" smtClean="0">
                          <a:solidFill>
                            <a:srgbClr val="FF0000"/>
                          </a:solidFill>
                          <a:latin typeface="Power Geez Unicode1" pitchFamily="2" charset="0"/>
                        </a:rPr>
                        <a:t>ብር</a:t>
                      </a:r>
                      <a:r>
                        <a:rPr lang="en-US" sz="2000" b="1" baseline="0" dirty="0" smtClean="0">
                          <a:solidFill>
                            <a:srgbClr val="FF0000"/>
                          </a:solidFill>
                          <a:latin typeface="Power Geez Unicode1" pitchFamily="2" charset="0"/>
                        </a:rPr>
                        <a:t> </a:t>
                      </a:r>
                      <a:r>
                        <a:rPr lang="en-US" sz="2000" b="1" dirty="0" smtClean="0">
                          <a:solidFill>
                            <a:srgbClr val="FF0000"/>
                          </a:solidFill>
                          <a:latin typeface="Power Geez Unicode1" pitchFamily="2" charset="0"/>
                        </a:rPr>
                        <a:t>2.000</a:t>
                      </a:r>
                    </a:p>
                    <a:p>
                      <a:pPr algn="just"/>
                      <a:endParaRPr lang="en-US" sz="2000" b="1" dirty="0" smtClean="0">
                        <a:latin typeface="Power Geez Unicode1" pitchFamily="2" charset="0"/>
                      </a:endParaRPr>
                    </a:p>
                    <a:p>
                      <a:pPr algn="just"/>
                      <a:r>
                        <a:rPr lang="en-US" sz="2000" b="1" dirty="0" err="1" smtClean="0">
                          <a:solidFill>
                            <a:srgbClr val="FF0000"/>
                          </a:solidFill>
                          <a:latin typeface="Power Geez Unicode1" pitchFamily="2" charset="0"/>
                        </a:rPr>
                        <a:t>ብር</a:t>
                      </a:r>
                      <a:r>
                        <a:rPr lang="en-US" sz="2000" b="1" baseline="0" dirty="0" smtClean="0">
                          <a:solidFill>
                            <a:srgbClr val="FF0000"/>
                          </a:solidFill>
                          <a:latin typeface="Power Geez Unicode1" pitchFamily="2" charset="0"/>
                        </a:rPr>
                        <a:t> </a:t>
                      </a:r>
                      <a:r>
                        <a:rPr lang="en-US" sz="2000" b="1" dirty="0" smtClean="0">
                          <a:solidFill>
                            <a:srgbClr val="FF0000"/>
                          </a:solidFill>
                          <a:latin typeface="Power Geez Unicode1" pitchFamily="2" charset="0"/>
                        </a:rPr>
                        <a:t>50.000</a:t>
                      </a:r>
                      <a:endParaRPr lang="en-US" sz="2000" b="1" dirty="0">
                        <a:solidFill>
                          <a:srgbClr val="FF0000"/>
                        </a:solidFill>
                        <a:latin typeface="Power Geez Unicode1" pitchFamily="2" charset="0"/>
                      </a:endParaRPr>
                    </a:p>
                  </a:txBody>
                  <a:tcPr/>
                </a:tc>
                <a:tc>
                  <a:txBody>
                    <a:bodyPr/>
                    <a:lstStyle/>
                    <a:p>
                      <a:pPr algn="just"/>
                      <a:r>
                        <a:rPr lang="en-US" sz="1800" b="1" kern="1200" dirty="0" err="1" smtClean="0">
                          <a:solidFill>
                            <a:srgbClr val="FF0000"/>
                          </a:solidFill>
                          <a:effectLst/>
                          <a:latin typeface="Power Geez Unicode1" pitchFamily="2" charset="0"/>
                          <a:ea typeface="+mn-ea"/>
                          <a:cs typeface="+mn-cs"/>
                        </a:rPr>
                        <a:t>የቅጣት</a:t>
                      </a:r>
                      <a:r>
                        <a:rPr lang="en-US" sz="1800" b="1" kern="1200" dirty="0" smtClean="0">
                          <a:solidFill>
                            <a:srgbClr val="FF0000"/>
                          </a:solidFill>
                          <a:effectLst/>
                          <a:latin typeface="Power Geez Unicode1" pitchFamily="2" charset="0"/>
                          <a:ea typeface="+mn-ea"/>
                          <a:cs typeface="+mn-cs"/>
                        </a:rPr>
                        <a:t> </a:t>
                      </a:r>
                      <a:r>
                        <a:rPr lang="en-US" sz="1800" b="1" kern="1200" dirty="0" err="1" smtClean="0">
                          <a:solidFill>
                            <a:srgbClr val="FF0000"/>
                          </a:solidFill>
                          <a:effectLst/>
                          <a:latin typeface="Power Geez Unicode1" pitchFamily="2" charset="0"/>
                          <a:ea typeface="+mn-ea"/>
                          <a:cs typeface="+mn-cs"/>
                        </a:rPr>
                        <a:t>ክፍያ</a:t>
                      </a:r>
                      <a:r>
                        <a:rPr lang="en-US" sz="1800" b="1" kern="1200" dirty="0" smtClean="0">
                          <a:solidFill>
                            <a:srgbClr val="FF0000"/>
                          </a:solidFill>
                          <a:effectLst/>
                          <a:latin typeface="Power Geez Unicode1" pitchFamily="2" charset="0"/>
                          <a:ea typeface="+mn-ea"/>
                          <a:cs typeface="+mn-cs"/>
                        </a:rPr>
                        <a:t> </a:t>
                      </a:r>
                      <a:r>
                        <a:rPr lang="en-US" sz="1800" b="1" kern="1200" dirty="0" err="1" smtClean="0">
                          <a:solidFill>
                            <a:srgbClr val="FF0000"/>
                          </a:solidFill>
                          <a:effectLst/>
                          <a:latin typeface="Power Geez Unicode1" pitchFamily="2" charset="0"/>
                          <a:ea typeface="+mn-ea"/>
                          <a:cs typeface="+mn-cs"/>
                        </a:rPr>
                        <a:t>መጠን</a:t>
                      </a:r>
                      <a:r>
                        <a:rPr lang="en-US" sz="1800" b="1" kern="1200" dirty="0" smtClean="0">
                          <a:solidFill>
                            <a:srgbClr val="FF0000"/>
                          </a:solidFill>
                          <a:effectLst/>
                          <a:latin typeface="Power Geez Unicode1" pitchFamily="2" charset="0"/>
                          <a:ea typeface="+mn-ea"/>
                          <a:cs typeface="+mn-cs"/>
                        </a:rPr>
                        <a:t> </a:t>
                      </a:r>
                      <a:r>
                        <a:rPr lang="en-US" sz="1800" b="1" kern="1200" dirty="0" err="1" smtClean="0">
                          <a:solidFill>
                            <a:srgbClr val="FF0000"/>
                          </a:solidFill>
                          <a:effectLst/>
                          <a:latin typeface="Power Geez Unicode1" pitchFamily="2" charset="0"/>
                          <a:ea typeface="+mn-ea"/>
                          <a:cs typeface="+mn-cs"/>
                        </a:rPr>
                        <a:t>መክፈልና</a:t>
                      </a:r>
                      <a:r>
                        <a:rPr lang="en-US" sz="1800" b="1" kern="1200" dirty="0" smtClean="0">
                          <a:solidFill>
                            <a:srgbClr val="FF0000"/>
                          </a:solidFill>
                          <a:effectLst/>
                          <a:latin typeface="Power Geez Unicode1" pitchFamily="2" charset="0"/>
                          <a:ea typeface="+mn-ea"/>
                          <a:cs typeface="+mn-cs"/>
                        </a:rPr>
                        <a:t> </a:t>
                      </a:r>
                      <a:r>
                        <a:rPr lang="en-US" sz="1800" b="1" kern="1200" dirty="0" err="1" smtClean="0">
                          <a:solidFill>
                            <a:srgbClr val="FF0000"/>
                          </a:solidFill>
                          <a:effectLst/>
                          <a:latin typeface="Power Geez Unicode1" pitchFamily="2" charset="0"/>
                          <a:ea typeface="+mn-ea"/>
                          <a:cs typeface="+mn-cs"/>
                        </a:rPr>
                        <a:t>ያከማቸውን</a:t>
                      </a:r>
                      <a:r>
                        <a:rPr lang="en-US" sz="1800" b="1" kern="1200" dirty="0" smtClean="0">
                          <a:solidFill>
                            <a:srgbClr val="FF0000"/>
                          </a:solidFill>
                          <a:effectLst/>
                          <a:latin typeface="Power Geez Unicode1" pitchFamily="2" charset="0"/>
                          <a:ea typeface="+mn-ea"/>
                          <a:cs typeface="+mn-cs"/>
                        </a:rPr>
                        <a:t> </a:t>
                      </a:r>
                      <a:r>
                        <a:rPr lang="en-US" sz="1800" b="1" kern="1200" dirty="0" err="1" smtClean="0">
                          <a:solidFill>
                            <a:srgbClr val="FF0000"/>
                          </a:solidFill>
                          <a:effectLst/>
                          <a:latin typeface="Power Geez Unicode1" pitchFamily="2" charset="0"/>
                          <a:ea typeface="+mn-ea"/>
                          <a:cs typeface="+mn-cs"/>
                        </a:rPr>
                        <a:t>ደረቅ</a:t>
                      </a:r>
                      <a:r>
                        <a:rPr lang="en-US" sz="1800" b="1" kern="1200" dirty="0" smtClean="0">
                          <a:solidFill>
                            <a:srgbClr val="FF0000"/>
                          </a:solidFill>
                          <a:effectLst/>
                          <a:latin typeface="Power Geez Unicode1" pitchFamily="2" charset="0"/>
                          <a:ea typeface="+mn-ea"/>
                          <a:cs typeface="+mn-cs"/>
                        </a:rPr>
                        <a:t> </a:t>
                      </a:r>
                      <a:r>
                        <a:rPr lang="en-US" sz="1800" b="1" kern="1200" dirty="0" err="1" smtClean="0">
                          <a:solidFill>
                            <a:srgbClr val="FF0000"/>
                          </a:solidFill>
                          <a:effectLst/>
                          <a:latin typeface="Power Geez Unicode1" pitchFamily="2" charset="0"/>
                          <a:ea typeface="+mn-ea"/>
                          <a:cs typeface="+mn-cs"/>
                        </a:rPr>
                        <a:t>ቆሻሻ</a:t>
                      </a:r>
                      <a:r>
                        <a:rPr lang="en-US" sz="1800" b="1" kern="1200" dirty="0" smtClean="0">
                          <a:solidFill>
                            <a:srgbClr val="FF0000"/>
                          </a:solidFill>
                          <a:effectLst/>
                          <a:latin typeface="Power Geez Unicode1" pitchFamily="2" charset="0"/>
                          <a:ea typeface="+mn-ea"/>
                          <a:cs typeface="+mn-cs"/>
                        </a:rPr>
                        <a:t> </a:t>
                      </a:r>
                      <a:r>
                        <a:rPr lang="en-US" sz="1800" b="1" kern="1200" dirty="0" err="1" smtClean="0">
                          <a:solidFill>
                            <a:srgbClr val="FF0000"/>
                          </a:solidFill>
                          <a:effectLst/>
                          <a:latin typeface="Power Geez Unicode1" pitchFamily="2" charset="0"/>
                          <a:ea typeface="+mn-ea"/>
                          <a:cs typeface="+mn-cs"/>
                        </a:rPr>
                        <a:t>ማንሳት</a:t>
                      </a:r>
                      <a:endParaRPr lang="en-US" sz="1800" dirty="0">
                        <a:solidFill>
                          <a:srgbClr val="FF0000"/>
                        </a:solidFill>
                        <a:latin typeface="Power Geez Unicode1" pitchFamily="2" charset="0"/>
                      </a:endParaRPr>
                    </a:p>
                  </a:txBody>
                  <a:tcPr/>
                </a:tc>
              </a:tr>
              <a:tr h="717156">
                <a:tc>
                  <a:txBody>
                    <a:bodyPr/>
                    <a:lstStyle/>
                    <a:p>
                      <a:endParaRPr lang="en-US" sz="2000" dirty="0" smtClean="0">
                        <a:latin typeface="Power Geez Unicode1" pitchFamily="2" charset="0"/>
                      </a:endParaRPr>
                    </a:p>
                    <a:p>
                      <a:endParaRPr lang="en-US" sz="2000" dirty="0" smtClean="0">
                        <a:latin typeface="Power Geez Unicode1" pitchFamily="2" charset="0"/>
                      </a:endParaRPr>
                    </a:p>
                  </a:txBody>
                  <a:tcPr/>
                </a:tc>
                <a:tc>
                  <a:txBody>
                    <a:bodyPr/>
                    <a:lstStyle/>
                    <a:p>
                      <a:endParaRPr lang="en-US" dirty="0"/>
                    </a:p>
                  </a:txBody>
                  <a:tcPr>
                    <a:solidFill>
                      <a:schemeClr val="bg1"/>
                    </a:solidFill>
                  </a:tcPr>
                </a:tc>
                <a:tc>
                  <a:txBody>
                    <a:bodyPr/>
                    <a:lstStyle/>
                    <a:p>
                      <a:endParaRPr lang="en-US" dirty="0"/>
                    </a:p>
                  </a:txBody>
                  <a:tcPr/>
                </a:tc>
                <a:tc>
                  <a:txBody>
                    <a:bodyPr/>
                    <a:lstStyle/>
                    <a:p>
                      <a:endParaRPr lang="en-US"/>
                    </a:p>
                  </a:txBody>
                  <a:tcPr/>
                </a:tc>
                <a:tc>
                  <a:txBody>
                    <a:bodyPr/>
                    <a:lstStyle/>
                    <a:p>
                      <a:endParaRPr lang="en-US" dirty="0"/>
                    </a:p>
                  </a:txBody>
                  <a:tcPr/>
                </a:tc>
              </a:tr>
            </a:tbl>
          </a:graphicData>
        </a:graphic>
      </p:graphicFrame>
    </p:spTree>
    <p:extLst>
      <p:ext uri="{BB962C8B-B14F-4D97-AF65-F5344CB8AC3E}">
        <p14:creationId xmlns:p14="http://schemas.microsoft.com/office/powerpoint/2010/main" val="211329425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30430405"/>
              </p:ext>
            </p:extLst>
          </p:nvPr>
        </p:nvGraphicFramePr>
        <p:xfrm>
          <a:off x="182880" y="152400"/>
          <a:ext cx="8940800" cy="8229600"/>
        </p:xfrm>
        <a:graphic>
          <a:graphicData uri="http://schemas.openxmlformats.org/drawingml/2006/table">
            <a:tbl>
              <a:tblPr firstRow="1" bandRow="1">
                <a:tableStyleId>{5C22544A-7EE6-4342-B048-85BDC9FD1C3A}</a:tableStyleId>
              </a:tblPr>
              <a:tblGrid>
                <a:gridCol w="711199"/>
                <a:gridCol w="3612697"/>
                <a:gridCol w="1340303"/>
                <a:gridCol w="1493521"/>
                <a:gridCol w="1783080"/>
              </a:tblGrid>
              <a:tr h="152400">
                <a:tc>
                  <a:txBody>
                    <a:bodyPr/>
                    <a:lstStyle/>
                    <a:p>
                      <a:r>
                        <a:rPr lang="am-ET" sz="1800" b="0" i="0" u="none" strike="noStrike" baseline="0" dirty="0" smtClean="0">
                          <a:solidFill>
                            <a:srgbClr val="000000"/>
                          </a:solidFill>
                          <a:latin typeface="Visual Geez Unicode"/>
                        </a:rPr>
                        <a:t>ተ.ቁ</a:t>
                      </a:r>
                      <a:r>
                        <a:rPr lang="am-ET" sz="1400" b="0" i="0" u="none" strike="noStrike" baseline="0" dirty="0" smtClean="0">
                          <a:solidFill>
                            <a:srgbClr val="000000"/>
                          </a:solidFill>
                          <a:latin typeface="Visual Geez Unicode"/>
                        </a:rPr>
                        <a:t> 	</a:t>
                      </a:r>
                      <a:r>
                        <a:rPr lang="en-US" sz="1400" b="0" i="0" u="none" strike="noStrike" baseline="0" dirty="0" smtClean="0">
                          <a:solidFill>
                            <a:srgbClr val="000000"/>
                          </a:solidFill>
                          <a:latin typeface="Power Geez Unicode1" pitchFamily="2" charset="0"/>
                        </a:rPr>
                        <a:t> </a:t>
                      </a:r>
                      <a:endParaRPr lang="am-ET" sz="1400" b="0" i="0" u="none" strike="noStrike" baseline="0" dirty="0" smtClean="0">
                        <a:solidFill>
                          <a:srgbClr val="000000"/>
                        </a:solidFill>
                        <a:latin typeface="Visual Geez Unicode"/>
                      </a:endParaRPr>
                    </a:p>
                  </a:txBody>
                  <a:tcPr/>
                </a:tc>
                <a:tc>
                  <a:txBody>
                    <a:bodyPr/>
                    <a:lstStyle/>
                    <a:p>
                      <a:r>
                        <a:rPr lang="en-US" sz="1800" b="1" i="0" u="none" strike="noStrike" baseline="0" dirty="0" err="1" smtClean="0">
                          <a:solidFill>
                            <a:srgbClr val="FF0000"/>
                          </a:solidFill>
                          <a:latin typeface="Power Geez Unicode1" pitchFamily="2" charset="0"/>
                        </a:rPr>
                        <a:t>የጥፋት</a:t>
                      </a:r>
                      <a:r>
                        <a:rPr lang="en-US" sz="1800" b="1" i="0" u="none" strike="noStrike" baseline="0" dirty="0" smtClean="0">
                          <a:solidFill>
                            <a:srgbClr val="FF0000"/>
                          </a:solidFill>
                          <a:latin typeface="Power Geez Unicode1" pitchFamily="2" charset="0"/>
                        </a:rPr>
                        <a:t> </a:t>
                      </a:r>
                      <a:r>
                        <a:rPr lang="en-US" sz="1800" b="1" i="0" u="none" strike="noStrike" baseline="0" dirty="0" err="1" smtClean="0">
                          <a:solidFill>
                            <a:srgbClr val="FF0000"/>
                          </a:solidFill>
                          <a:latin typeface="Power Geez Unicode1" pitchFamily="2" charset="0"/>
                        </a:rPr>
                        <a:t>አይነቶች</a:t>
                      </a:r>
                      <a:endParaRPr lang="am-ET" sz="1800" b="1" i="0" u="none" strike="noStrike" baseline="0" dirty="0" smtClean="0">
                        <a:solidFill>
                          <a:srgbClr val="FF0000"/>
                        </a:solidFill>
                        <a:latin typeface="Visual Geez Unicode"/>
                      </a:endParaRPr>
                    </a:p>
                  </a:txBody>
                  <a:tcPr/>
                </a:tc>
                <a:tc>
                  <a:txBody>
                    <a:bodyPr/>
                    <a:lstStyle/>
                    <a:p>
                      <a:r>
                        <a:rPr lang="en-US" sz="1400" b="0" i="0" u="none" strike="noStrike" baseline="0" dirty="0" err="1" smtClean="0">
                          <a:solidFill>
                            <a:srgbClr val="000000"/>
                          </a:solidFill>
                          <a:latin typeface="Power Geez Unicode1" pitchFamily="2" charset="0"/>
                        </a:rPr>
                        <a:t>ቀድሞ</a:t>
                      </a:r>
                      <a:r>
                        <a:rPr lang="en-US" sz="1400" b="0" i="0" u="none" strike="noStrike" baseline="0" dirty="0" smtClean="0">
                          <a:solidFill>
                            <a:srgbClr val="000000"/>
                          </a:solidFill>
                          <a:latin typeface="Power Geez Unicode1" pitchFamily="2" charset="0"/>
                        </a:rPr>
                        <a:t> በነበረው150/2015 </a:t>
                      </a:r>
                      <a:r>
                        <a:rPr lang="en-US" sz="1400" b="0" i="0" u="none" strike="noStrike" baseline="0" dirty="0" err="1" smtClean="0">
                          <a:solidFill>
                            <a:srgbClr val="000000"/>
                          </a:solidFill>
                          <a:latin typeface="Power Geez Unicode1" pitchFamily="2" charset="0"/>
                        </a:rPr>
                        <a:t>የተቀመጠ</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ቅጣት</a:t>
                      </a:r>
                      <a:endParaRPr lang="am-ET" sz="1400" b="0" i="0" u="none" strike="noStrike" baseline="0" dirty="0" smtClean="0">
                        <a:solidFill>
                          <a:srgbClr val="000000"/>
                        </a:solidFill>
                        <a:latin typeface="Visual Geez Unicode"/>
                      </a:endParaRPr>
                    </a:p>
                  </a:txBody>
                  <a:tcPr/>
                </a:tc>
                <a:tc>
                  <a:txBody>
                    <a:bodyPr/>
                    <a:lstStyle/>
                    <a:p>
                      <a:r>
                        <a:rPr lang="en-US" sz="1400" b="0" i="0" u="none" strike="noStrike" baseline="0" dirty="0" err="1" smtClean="0">
                          <a:solidFill>
                            <a:srgbClr val="000000"/>
                          </a:solidFill>
                          <a:latin typeface="Power Geez Unicode1" pitchFamily="2" charset="0"/>
                        </a:rPr>
                        <a:t>አሁን</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በተሸሻለው</a:t>
                      </a:r>
                      <a:r>
                        <a:rPr lang="en-US" sz="1400" b="0" i="0" u="none" strike="noStrike" baseline="0" dirty="0" smtClean="0">
                          <a:solidFill>
                            <a:srgbClr val="000000"/>
                          </a:solidFill>
                          <a:latin typeface="Power Geez Unicode1" pitchFamily="2" charset="0"/>
                        </a:rPr>
                        <a:t> 167/16 </a:t>
                      </a:r>
                      <a:r>
                        <a:rPr lang="en-US" sz="1400" b="0" i="0" u="none" strike="noStrike" baseline="0" dirty="0" err="1" smtClean="0">
                          <a:solidFill>
                            <a:srgbClr val="000000"/>
                          </a:solidFill>
                          <a:latin typeface="Power Geez Unicode1" pitchFamily="2" charset="0"/>
                        </a:rPr>
                        <a:t>የተቀመጠ</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ቅጣት</a:t>
                      </a:r>
                      <a:endParaRPr lang="am-ET" sz="1400" b="0" i="0" u="none" strike="noStrike" baseline="0" dirty="0" smtClean="0">
                        <a:solidFill>
                          <a:srgbClr val="000000"/>
                        </a:solidFill>
                        <a:latin typeface="Visual Geez Unicode"/>
                      </a:endParaRPr>
                    </a:p>
                  </a:txBody>
                  <a:tcPr/>
                </a:tc>
                <a:tc>
                  <a:txBody>
                    <a:bodyPr/>
                    <a:lstStyle/>
                    <a:p>
                      <a:r>
                        <a:rPr lang="en-US" sz="1600" dirty="0" err="1" smtClean="0">
                          <a:solidFill>
                            <a:schemeClr val="tx1"/>
                          </a:solidFill>
                          <a:latin typeface="Power Geez Unicode1" pitchFamily="2" charset="0"/>
                        </a:rPr>
                        <a:t>ከህገ</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ወጥ</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ፈፃሚው</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የሚጠበቅ</a:t>
                      </a:r>
                      <a:endParaRPr lang="en-US" sz="1600" dirty="0">
                        <a:solidFill>
                          <a:schemeClr val="tx1"/>
                        </a:solidFill>
                        <a:latin typeface="Power Geez Unicode1" pitchFamily="2" charset="0"/>
                      </a:endParaRPr>
                    </a:p>
                  </a:txBody>
                  <a:tcPr/>
                </a:tc>
              </a:tr>
              <a:tr h="5836920">
                <a:tc>
                  <a:txBody>
                    <a:bodyPr/>
                    <a:lstStyle/>
                    <a:p>
                      <a:endParaRPr lang="en-US" sz="2000" dirty="0" smtClean="0">
                        <a:latin typeface="Power Geez Unicode1" pitchFamily="2" charset="0"/>
                      </a:endParaRPr>
                    </a:p>
                    <a:p>
                      <a:endParaRPr lang="en-US" sz="2000" dirty="0" smtClean="0">
                        <a:latin typeface="Power Geez Unicode1" pitchFamily="2" charset="0"/>
                      </a:endParaRPr>
                    </a:p>
                    <a:p>
                      <a:endParaRPr lang="en-US" sz="2000" dirty="0" smtClean="0">
                        <a:latin typeface="Power Geez Unicode1" pitchFamily="2" charset="0"/>
                      </a:endParaRPr>
                    </a:p>
                    <a:p>
                      <a:endParaRPr lang="en-US" sz="2000" dirty="0" smtClean="0">
                        <a:latin typeface="Power Geez Unicode1" pitchFamily="2" charset="0"/>
                      </a:endParaRPr>
                    </a:p>
                    <a:p>
                      <a:endParaRPr lang="en-US" sz="2000" dirty="0" smtClean="0">
                        <a:latin typeface="Power Geez Unicode1" pitchFamily="2" charset="0"/>
                      </a:endParaRPr>
                    </a:p>
                    <a:p>
                      <a:endParaRPr lang="en-US" sz="2000" dirty="0" smtClean="0">
                        <a:latin typeface="Power Geez Unicode1" pitchFamily="2" charset="0"/>
                      </a:endParaRPr>
                    </a:p>
                    <a:p>
                      <a:r>
                        <a:rPr lang="en-US" sz="2000" dirty="0" smtClean="0">
                          <a:latin typeface="Power Geez Unicode1" pitchFamily="2" charset="0"/>
                        </a:rPr>
                        <a:t>2</a:t>
                      </a:r>
                    </a:p>
                    <a:p>
                      <a:endParaRPr lang="en-US" sz="2000" dirty="0" smtClean="0">
                        <a:latin typeface="Power Geez Unicode1" pitchFamily="2" charset="0"/>
                      </a:endParaRPr>
                    </a:p>
                    <a:p>
                      <a:endParaRPr lang="en-US" sz="2000" dirty="0">
                        <a:latin typeface="Power Geez Unicode1" pitchFamily="2" charset="0"/>
                      </a:endParaRPr>
                    </a:p>
                  </a:txBody>
                  <a:tcPr/>
                </a:tc>
                <a:tc>
                  <a:txBody>
                    <a:bodyPr/>
                    <a:lstStyle/>
                    <a:p>
                      <a:pPr marL="0" marR="0" algn="ctr">
                        <a:spcBef>
                          <a:spcPts val="1000"/>
                        </a:spcBef>
                        <a:spcAft>
                          <a:spcPts val="0"/>
                        </a:spcAft>
                      </a:pPr>
                      <a:r>
                        <a:rPr lang="en-US" sz="1050" b="1" dirty="0" smtClean="0">
                          <a:effectLst/>
                          <a:latin typeface="Power Geez Unicode1" pitchFamily="2" charset="0"/>
                          <a:ea typeface="Times New Roman"/>
                          <a:cs typeface="Visual Geez Unicode"/>
                        </a:rPr>
                        <a:t> </a:t>
                      </a:r>
                      <a:r>
                        <a:rPr lang="en-US" sz="2000" b="1" dirty="0" err="1" smtClean="0">
                          <a:solidFill>
                            <a:srgbClr val="FF0000"/>
                          </a:solidFill>
                          <a:effectLst/>
                          <a:latin typeface="Power Geez Unicode1" pitchFamily="2" charset="0"/>
                          <a:ea typeface="Times New Roman"/>
                          <a:cs typeface="Visual Geez Unicode"/>
                        </a:rPr>
                        <a:t>ማንኛውም</a:t>
                      </a:r>
                      <a:r>
                        <a:rPr lang="en-US" sz="2000" b="1" dirty="0" smtClean="0">
                          <a:solidFill>
                            <a:srgbClr val="FF0000"/>
                          </a:solidFill>
                          <a:effectLst/>
                          <a:latin typeface="Power Geez Unicode1" pitchFamily="2" charset="0"/>
                          <a:ea typeface="Times New Roman"/>
                          <a:cs typeface="Visual Geez Unicode"/>
                        </a:rPr>
                        <a:t> </a:t>
                      </a:r>
                      <a:r>
                        <a:rPr lang="en-US" sz="2000" b="1" dirty="0" err="1" smtClean="0">
                          <a:solidFill>
                            <a:srgbClr val="FF0000"/>
                          </a:solidFill>
                          <a:effectLst/>
                          <a:latin typeface="Power Geez Unicode1" pitchFamily="2" charset="0"/>
                          <a:ea typeface="Times New Roman"/>
                          <a:cs typeface="Visual Geez Unicode"/>
                        </a:rPr>
                        <a:t>የጽዳት</a:t>
                      </a:r>
                      <a:r>
                        <a:rPr lang="en-US" sz="2000" b="1" dirty="0" smtClean="0">
                          <a:solidFill>
                            <a:srgbClr val="FF0000"/>
                          </a:solidFill>
                          <a:effectLst/>
                          <a:latin typeface="Power Geez Unicode1" pitchFamily="2" charset="0"/>
                          <a:ea typeface="Times New Roman"/>
                          <a:cs typeface="Visual Geez Unicode"/>
                        </a:rPr>
                        <a:t> </a:t>
                      </a:r>
                      <a:r>
                        <a:rPr lang="en-US" sz="2000" b="1" dirty="0" err="1" smtClean="0">
                          <a:solidFill>
                            <a:srgbClr val="FF0000"/>
                          </a:solidFill>
                          <a:effectLst/>
                          <a:latin typeface="Power Geez Unicode1" pitchFamily="2" charset="0"/>
                          <a:ea typeface="Times New Roman"/>
                          <a:cs typeface="Visual Geez Unicode"/>
                        </a:rPr>
                        <a:t>አገልግሎት</a:t>
                      </a:r>
                      <a:r>
                        <a:rPr lang="en-US" sz="2000" b="1" dirty="0" smtClean="0">
                          <a:solidFill>
                            <a:srgbClr val="FF0000"/>
                          </a:solidFill>
                          <a:effectLst/>
                          <a:latin typeface="Power Geez Unicode1" pitchFamily="2" charset="0"/>
                          <a:ea typeface="Times New Roman"/>
                          <a:cs typeface="Visual Geez Unicode"/>
                        </a:rPr>
                        <a:t> </a:t>
                      </a:r>
                      <a:r>
                        <a:rPr lang="en-US" sz="2000" b="1" dirty="0" err="1" smtClean="0">
                          <a:solidFill>
                            <a:srgbClr val="FF0000"/>
                          </a:solidFill>
                          <a:effectLst/>
                          <a:latin typeface="Power Geez Unicode1" pitchFamily="2" charset="0"/>
                          <a:ea typeface="Times New Roman"/>
                          <a:cs typeface="Visual Geez Unicode"/>
                        </a:rPr>
                        <a:t>ሰጭ</a:t>
                      </a:r>
                      <a:r>
                        <a:rPr lang="en-US" sz="2000" b="1" dirty="0" smtClean="0">
                          <a:solidFill>
                            <a:srgbClr val="FF0000"/>
                          </a:solidFill>
                          <a:effectLst/>
                          <a:latin typeface="Power Geez Unicode1" pitchFamily="2" charset="0"/>
                          <a:ea typeface="Times New Roman"/>
                          <a:cs typeface="Visual Geez Unicode"/>
                        </a:rPr>
                        <a:t> </a:t>
                      </a:r>
                      <a:r>
                        <a:rPr lang="en-US" sz="2000" b="1" dirty="0" err="1" smtClean="0">
                          <a:solidFill>
                            <a:srgbClr val="FF0000"/>
                          </a:solidFill>
                          <a:effectLst/>
                          <a:latin typeface="Power Geez Unicode1" pitchFamily="2" charset="0"/>
                          <a:ea typeface="Times New Roman"/>
                          <a:cs typeface="Visual Geez Unicode"/>
                        </a:rPr>
                        <a:t>ድርጅት</a:t>
                      </a:r>
                      <a:r>
                        <a:rPr lang="en-US" sz="2000" b="1" dirty="0" smtClean="0">
                          <a:solidFill>
                            <a:srgbClr val="FF0000"/>
                          </a:solidFill>
                          <a:effectLst/>
                          <a:latin typeface="Power Geez Unicode1" pitchFamily="2" charset="0"/>
                          <a:ea typeface="Times New Roman"/>
                          <a:cs typeface="Visual Geez Unicode"/>
                        </a:rPr>
                        <a:t>/</a:t>
                      </a:r>
                      <a:r>
                        <a:rPr lang="en-US" sz="2000" b="1" dirty="0" err="1" smtClean="0">
                          <a:solidFill>
                            <a:srgbClr val="FF0000"/>
                          </a:solidFill>
                          <a:effectLst/>
                          <a:latin typeface="Power Geez Unicode1" pitchFamily="2" charset="0"/>
                          <a:ea typeface="Times New Roman"/>
                          <a:cs typeface="Visual Geez Unicode"/>
                        </a:rPr>
                        <a:t>ማህበር</a:t>
                      </a:r>
                      <a:r>
                        <a:rPr lang="en-US" sz="2000" b="1" dirty="0" smtClean="0">
                          <a:solidFill>
                            <a:srgbClr val="FF0000"/>
                          </a:solidFill>
                          <a:effectLst/>
                          <a:latin typeface="Power Geez Unicode1" pitchFamily="2" charset="0"/>
                          <a:ea typeface="Times New Roman"/>
                          <a:cs typeface="Visual Geez Unicode"/>
                        </a:rPr>
                        <a:t> </a:t>
                      </a:r>
                      <a:endParaRPr lang="en-US" sz="2400" b="1" dirty="0" smtClean="0">
                        <a:solidFill>
                          <a:srgbClr val="FF0000"/>
                        </a:solidFill>
                        <a:effectLst/>
                        <a:latin typeface="Power Geez Unicode1" pitchFamily="2" charset="0"/>
                        <a:ea typeface="Times New Roman"/>
                      </a:endParaRPr>
                    </a:p>
                    <a:p>
                      <a:pPr marL="0" marR="0" lvl="1" indent="0" algn="just">
                        <a:spcBef>
                          <a:spcPts val="1000"/>
                        </a:spcBef>
                        <a:spcAft>
                          <a:spcPts val="0"/>
                        </a:spcAft>
                        <a:buFont typeface="+mj-lt"/>
                        <a:buNone/>
                      </a:pPr>
                      <a:r>
                        <a:rPr lang="en-US" sz="2000" b="1" dirty="0" smtClean="0">
                          <a:solidFill>
                            <a:srgbClr val="FF0000"/>
                          </a:solidFill>
                          <a:effectLst/>
                          <a:latin typeface="Power Geez Unicode1" pitchFamily="2" charset="0"/>
                          <a:ea typeface="Times New Roman"/>
                          <a:cs typeface="Visual Geez Unicode"/>
                        </a:rPr>
                        <a:t>2.1. </a:t>
                      </a:r>
                      <a:r>
                        <a:rPr lang="en-US" sz="2000" b="1" dirty="0" err="1" smtClean="0">
                          <a:solidFill>
                            <a:srgbClr val="002060"/>
                          </a:solidFill>
                          <a:effectLst/>
                          <a:latin typeface="Power Geez Unicode1" pitchFamily="2" charset="0"/>
                          <a:ea typeface="Times New Roman"/>
                          <a:cs typeface="Visual Geez Unicode"/>
                        </a:rPr>
                        <a:t>ደረቅ</a:t>
                      </a:r>
                      <a:r>
                        <a:rPr lang="en-US" sz="2000" b="1" dirty="0" smtClean="0">
                          <a:solidFill>
                            <a:srgbClr val="002060"/>
                          </a:solidFill>
                          <a:effectLst/>
                          <a:latin typeface="Power Geez Unicode1" pitchFamily="2" charset="0"/>
                          <a:ea typeface="Times New Roman"/>
                          <a:cs typeface="Visual Geez Unicode"/>
                        </a:rPr>
                        <a:t> </a:t>
                      </a:r>
                      <a:r>
                        <a:rPr lang="en-US" sz="2000" b="1" dirty="0" err="1" smtClean="0">
                          <a:solidFill>
                            <a:srgbClr val="002060"/>
                          </a:solidFill>
                          <a:effectLst/>
                          <a:latin typeface="Power Geez Unicode1" pitchFamily="2" charset="0"/>
                          <a:ea typeface="Times New Roman"/>
                          <a:cs typeface="Visual Geez Unicode"/>
                        </a:rPr>
                        <a:t>ቆሻሻ</a:t>
                      </a:r>
                      <a:r>
                        <a:rPr lang="en-US" sz="2000" b="1" dirty="0" smtClean="0">
                          <a:solidFill>
                            <a:srgbClr val="002060"/>
                          </a:solidFill>
                          <a:effectLst/>
                          <a:latin typeface="Power Geez Unicode1" pitchFamily="2" charset="0"/>
                          <a:ea typeface="Times New Roman"/>
                          <a:cs typeface="Visual Geez Unicode"/>
                        </a:rPr>
                        <a:t> </a:t>
                      </a:r>
                      <a:r>
                        <a:rPr lang="en-US" sz="2000" b="1" dirty="0" err="1" smtClean="0">
                          <a:solidFill>
                            <a:srgbClr val="002060"/>
                          </a:solidFill>
                          <a:effectLst/>
                          <a:latin typeface="Power Geez Unicode1" pitchFamily="2" charset="0"/>
                          <a:ea typeface="Times New Roman"/>
                          <a:cs typeface="Visual Geez Unicode"/>
                        </a:rPr>
                        <a:t>ሲሰበስብ</a:t>
                      </a:r>
                      <a:r>
                        <a:rPr lang="en-US" sz="2000" b="1" dirty="0" smtClean="0">
                          <a:solidFill>
                            <a:srgbClr val="002060"/>
                          </a:solidFill>
                          <a:effectLst/>
                          <a:latin typeface="Power Geez Unicode1" pitchFamily="2" charset="0"/>
                          <a:ea typeface="Times New Roman"/>
                          <a:cs typeface="Visual Geez Unicode"/>
                        </a:rPr>
                        <a:t> </a:t>
                      </a:r>
                      <a:r>
                        <a:rPr lang="en-US" sz="2000" b="1" dirty="0" err="1" smtClean="0">
                          <a:solidFill>
                            <a:srgbClr val="002060"/>
                          </a:solidFill>
                          <a:effectLst/>
                          <a:latin typeface="Power Geez Unicode1" pitchFamily="2" charset="0"/>
                          <a:ea typeface="Times New Roman"/>
                          <a:cs typeface="Visual Geez Unicode"/>
                        </a:rPr>
                        <a:t>በአካባቢው</a:t>
                      </a:r>
                      <a:r>
                        <a:rPr lang="en-US" sz="2000" b="1" dirty="0" smtClean="0">
                          <a:solidFill>
                            <a:srgbClr val="002060"/>
                          </a:solidFill>
                          <a:effectLst/>
                          <a:latin typeface="Power Geez Unicode1" pitchFamily="2" charset="0"/>
                          <a:ea typeface="Times New Roman"/>
                          <a:cs typeface="Visual Geez Unicode"/>
                        </a:rPr>
                        <a:t> </a:t>
                      </a:r>
                      <a:r>
                        <a:rPr lang="en-US" sz="2000" b="1" dirty="0" err="1" smtClean="0">
                          <a:solidFill>
                            <a:srgbClr val="002060"/>
                          </a:solidFill>
                          <a:effectLst/>
                          <a:latin typeface="Power Geez Unicode1" pitchFamily="2" charset="0"/>
                          <a:ea typeface="Times New Roman"/>
                          <a:cs typeface="Visual Geez Unicode"/>
                        </a:rPr>
                        <a:t>ላይ</a:t>
                      </a:r>
                      <a:r>
                        <a:rPr lang="en-US" sz="2000" b="1" dirty="0" smtClean="0">
                          <a:solidFill>
                            <a:srgbClr val="002060"/>
                          </a:solidFill>
                          <a:effectLst/>
                          <a:latin typeface="Power Geez Unicode1" pitchFamily="2" charset="0"/>
                          <a:ea typeface="Times New Roman"/>
                          <a:cs typeface="Visual Geez Unicode"/>
                        </a:rPr>
                        <a:t> </a:t>
                      </a:r>
                      <a:r>
                        <a:rPr lang="en-US" sz="2000" b="1" dirty="0" err="1" smtClean="0">
                          <a:solidFill>
                            <a:srgbClr val="002060"/>
                          </a:solidFill>
                          <a:effectLst/>
                          <a:latin typeface="Power Geez Unicode1" pitchFamily="2" charset="0"/>
                          <a:ea typeface="Times New Roman"/>
                          <a:cs typeface="Visual Geez Unicode"/>
                        </a:rPr>
                        <a:t>ካንጠባጠበ</a:t>
                      </a:r>
                      <a:r>
                        <a:rPr lang="en-US" sz="2000" b="1" dirty="0" smtClean="0">
                          <a:solidFill>
                            <a:srgbClr val="002060"/>
                          </a:solidFill>
                          <a:effectLst/>
                          <a:latin typeface="Power Geez Unicode1" pitchFamily="2" charset="0"/>
                          <a:ea typeface="Times New Roman"/>
                          <a:cs typeface="Visual Geez Unicode"/>
                        </a:rPr>
                        <a:t> </a:t>
                      </a:r>
                      <a:r>
                        <a:rPr lang="en-US" sz="2000" b="1" dirty="0" err="1" smtClean="0">
                          <a:solidFill>
                            <a:srgbClr val="002060"/>
                          </a:solidFill>
                          <a:effectLst/>
                          <a:latin typeface="Power Geez Unicode1" pitchFamily="2" charset="0"/>
                          <a:ea typeface="Times New Roman"/>
                          <a:cs typeface="Visual Geez Unicode"/>
                        </a:rPr>
                        <a:t>ወይም</a:t>
                      </a:r>
                      <a:r>
                        <a:rPr lang="en-US" sz="2000" b="1" dirty="0" smtClean="0">
                          <a:solidFill>
                            <a:srgbClr val="002060"/>
                          </a:solidFill>
                          <a:effectLst/>
                          <a:latin typeface="Power Geez Unicode1" pitchFamily="2" charset="0"/>
                          <a:ea typeface="Times New Roman"/>
                          <a:cs typeface="Visual Geez Unicode"/>
                        </a:rPr>
                        <a:t> </a:t>
                      </a:r>
                      <a:r>
                        <a:rPr lang="en-US" sz="2000" b="1" dirty="0" err="1" smtClean="0">
                          <a:solidFill>
                            <a:srgbClr val="002060"/>
                          </a:solidFill>
                          <a:effectLst/>
                          <a:latin typeface="Power Geez Unicode1" pitchFamily="2" charset="0"/>
                          <a:ea typeface="Times New Roman"/>
                          <a:cs typeface="Visual Geez Unicode"/>
                        </a:rPr>
                        <a:t>የአካባቢውን</a:t>
                      </a:r>
                      <a:r>
                        <a:rPr lang="en-US" sz="2000" b="1" dirty="0" smtClean="0">
                          <a:solidFill>
                            <a:srgbClr val="002060"/>
                          </a:solidFill>
                          <a:effectLst/>
                          <a:latin typeface="Power Geez Unicode1" pitchFamily="2" charset="0"/>
                          <a:ea typeface="Times New Roman"/>
                          <a:cs typeface="Visual Geez Unicode"/>
                        </a:rPr>
                        <a:t> </a:t>
                      </a:r>
                      <a:r>
                        <a:rPr lang="en-US" sz="2000" b="1" dirty="0" err="1" smtClean="0">
                          <a:solidFill>
                            <a:srgbClr val="002060"/>
                          </a:solidFill>
                          <a:effectLst/>
                          <a:latin typeface="Power Geez Unicode1" pitchFamily="2" charset="0"/>
                          <a:ea typeface="Times New Roman"/>
                          <a:cs typeface="Visual Geez Unicode"/>
                        </a:rPr>
                        <a:t>ገጽታ</a:t>
                      </a:r>
                      <a:r>
                        <a:rPr lang="en-US" sz="2000" b="1" dirty="0" smtClean="0">
                          <a:solidFill>
                            <a:srgbClr val="002060"/>
                          </a:solidFill>
                          <a:effectLst/>
                          <a:latin typeface="Power Geez Unicode1" pitchFamily="2" charset="0"/>
                          <a:ea typeface="Times New Roman"/>
                          <a:cs typeface="Visual Geez Unicode"/>
                        </a:rPr>
                        <a:t> </a:t>
                      </a:r>
                      <a:r>
                        <a:rPr lang="en-US" sz="2000" b="1" dirty="0" err="1" smtClean="0">
                          <a:solidFill>
                            <a:srgbClr val="002060"/>
                          </a:solidFill>
                          <a:effectLst/>
                          <a:latin typeface="Power Geez Unicode1" pitchFamily="2" charset="0"/>
                          <a:ea typeface="Times New Roman"/>
                          <a:cs typeface="Visual Geez Unicode"/>
                        </a:rPr>
                        <a:t>ካበላሸ</a:t>
                      </a:r>
                      <a:endParaRPr lang="en-US" sz="2000" b="1" dirty="0" smtClean="0">
                        <a:solidFill>
                          <a:srgbClr val="002060"/>
                        </a:solidFill>
                        <a:effectLst/>
                        <a:latin typeface="Power Geez Unicode1" pitchFamily="2" charset="0"/>
                        <a:ea typeface="Times New Roman"/>
                        <a:cs typeface="Visual Geez Unicode"/>
                      </a:endParaRPr>
                    </a:p>
                    <a:p>
                      <a:pPr marL="0" marR="0" lvl="1" indent="0" algn="just">
                        <a:spcBef>
                          <a:spcPts val="1000"/>
                        </a:spcBef>
                        <a:spcAft>
                          <a:spcPts val="0"/>
                        </a:spcAft>
                        <a:buFont typeface="+mj-lt"/>
                        <a:buNone/>
                      </a:pPr>
                      <a:endParaRPr lang="en-US" sz="900" b="1" dirty="0" smtClean="0">
                        <a:solidFill>
                          <a:srgbClr val="002060"/>
                        </a:solidFill>
                        <a:effectLst/>
                        <a:latin typeface="Power Geez Unicode1" pitchFamily="2" charset="0"/>
                        <a:ea typeface="Times New Roman"/>
                        <a:cs typeface="Times New Roman"/>
                      </a:endParaRPr>
                    </a:p>
                    <a:p>
                      <a:pPr marL="0" marR="0" lvl="1" indent="0" algn="just">
                        <a:spcBef>
                          <a:spcPts val="1000"/>
                        </a:spcBef>
                        <a:spcAft>
                          <a:spcPts val="0"/>
                        </a:spcAft>
                        <a:buFont typeface="+mj-lt"/>
                        <a:buNone/>
                      </a:pPr>
                      <a:r>
                        <a:rPr lang="en-US" sz="2000" b="0" dirty="0" smtClean="0">
                          <a:solidFill>
                            <a:srgbClr val="FF0000"/>
                          </a:solidFill>
                          <a:effectLst/>
                          <a:latin typeface="Power Geez Unicode1" pitchFamily="2" charset="0"/>
                          <a:ea typeface="Times New Roman"/>
                          <a:cs typeface="Visual Geez Unicode"/>
                        </a:rPr>
                        <a:t>2.2. </a:t>
                      </a:r>
                      <a:r>
                        <a:rPr lang="en-US" sz="2000" b="1" dirty="0" err="1" smtClean="0">
                          <a:solidFill>
                            <a:srgbClr val="7030A0"/>
                          </a:solidFill>
                          <a:effectLst/>
                          <a:latin typeface="Power Geez Unicode1" pitchFamily="2" charset="0"/>
                          <a:ea typeface="Times New Roman"/>
                          <a:cs typeface="Visual Geez Unicode"/>
                        </a:rPr>
                        <a:t>በተቀመጠው</a:t>
                      </a:r>
                      <a:r>
                        <a:rPr lang="en-US" sz="2000" b="1" dirty="0" smtClean="0">
                          <a:solidFill>
                            <a:srgbClr val="7030A0"/>
                          </a:solidFill>
                          <a:effectLst/>
                          <a:latin typeface="Power Geez Unicode1" pitchFamily="2" charset="0"/>
                          <a:ea typeface="Times New Roman"/>
                          <a:cs typeface="Visual Geez Unicode"/>
                        </a:rPr>
                        <a:t> </a:t>
                      </a:r>
                      <a:r>
                        <a:rPr lang="en-US" sz="2000" b="1" dirty="0" err="1" smtClean="0">
                          <a:solidFill>
                            <a:srgbClr val="7030A0"/>
                          </a:solidFill>
                          <a:effectLst/>
                          <a:latin typeface="Power Geez Unicode1" pitchFamily="2" charset="0"/>
                          <a:ea typeface="Times New Roman"/>
                          <a:cs typeface="Visual Geez Unicode"/>
                        </a:rPr>
                        <a:t>ስታንዳርድ</a:t>
                      </a:r>
                      <a:r>
                        <a:rPr lang="en-US" sz="2000" b="1" dirty="0" smtClean="0">
                          <a:solidFill>
                            <a:srgbClr val="7030A0"/>
                          </a:solidFill>
                          <a:effectLst/>
                          <a:latin typeface="Power Geez Unicode1" pitchFamily="2" charset="0"/>
                          <a:ea typeface="Times New Roman"/>
                          <a:cs typeface="Visual Geez Unicode"/>
                        </a:rPr>
                        <a:t> </a:t>
                      </a:r>
                      <a:r>
                        <a:rPr lang="en-US" sz="2000" b="1" dirty="0" err="1" smtClean="0">
                          <a:solidFill>
                            <a:srgbClr val="7030A0"/>
                          </a:solidFill>
                          <a:effectLst/>
                          <a:latin typeface="Power Geez Unicode1" pitchFamily="2" charset="0"/>
                          <a:ea typeface="Times New Roman"/>
                          <a:cs typeface="Visual Geez Unicode"/>
                        </a:rPr>
                        <a:t>መሰረት</a:t>
                      </a:r>
                      <a:r>
                        <a:rPr lang="en-US" sz="2000" b="1" dirty="0" smtClean="0">
                          <a:solidFill>
                            <a:srgbClr val="7030A0"/>
                          </a:solidFill>
                          <a:effectLst/>
                          <a:latin typeface="Power Geez Unicode1" pitchFamily="2" charset="0"/>
                          <a:ea typeface="Times New Roman"/>
                          <a:cs typeface="Visual Geez Unicode"/>
                        </a:rPr>
                        <a:t> </a:t>
                      </a:r>
                      <a:r>
                        <a:rPr lang="en-US" sz="2000" b="1" dirty="0" err="1" smtClean="0">
                          <a:solidFill>
                            <a:srgbClr val="7030A0"/>
                          </a:solidFill>
                          <a:effectLst/>
                          <a:latin typeface="Power Geez Unicode1" pitchFamily="2" charset="0"/>
                          <a:ea typeface="Times New Roman"/>
                          <a:cs typeface="Visual Geez Unicode"/>
                        </a:rPr>
                        <a:t>ለደንበኛው</a:t>
                      </a:r>
                      <a:r>
                        <a:rPr lang="en-US" sz="2000" b="1" dirty="0" smtClean="0">
                          <a:solidFill>
                            <a:srgbClr val="7030A0"/>
                          </a:solidFill>
                          <a:effectLst/>
                          <a:latin typeface="Power Geez Unicode1" pitchFamily="2" charset="0"/>
                          <a:ea typeface="Times New Roman"/>
                          <a:cs typeface="Visual Geez Unicode"/>
                        </a:rPr>
                        <a:t> </a:t>
                      </a:r>
                      <a:r>
                        <a:rPr lang="en-US" sz="2000" b="1" dirty="0" err="1" smtClean="0">
                          <a:solidFill>
                            <a:srgbClr val="7030A0"/>
                          </a:solidFill>
                          <a:effectLst/>
                          <a:latin typeface="Power Geez Unicode1" pitchFamily="2" charset="0"/>
                          <a:ea typeface="Times New Roman"/>
                          <a:cs typeface="Visual Geez Unicode"/>
                        </a:rPr>
                        <a:t>ተገቢውን</a:t>
                      </a:r>
                      <a:r>
                        <a:rPr lang="en-US" sz="2000" b="1" dirty="0" smtClean="0">
                          <a:solidFill>
                            <a:srgbClr val="7030A0"/>
                          </a:solidFill>
                          <a:effectLst/>
                          <a:latin typeface="Power Geez Unicode1" pitchFamily="2" charset="0"/>
                          <a:ea typeface="Times New Roman"/>
                          <a:cs typeface="Visual Geez Unicode"/>
                        </a:rPr>
                        <a:t> </a:t>
                      </a:r>
                      <a:r>
                        <a:rPr lang="en-US" sz="2000" b="1" dirty="0" err="1" smtClean="0">
                          <a:solidFill>
                            <a:srgbClr val="7030A0"/>
                          </a:solidFill>
                          <a:effectLst/>
                          <a:latin typeface="Power Geez Unicode1" pitchFamily="2" charset="0"/>
                          <a:ea typeface="Times New Roman"/>
                          <a:cs typeface="Visual Geez Unicode"/>
                        </a:rPr>
                        <a:t>አገልግሎት</a:t>
                      </a:r>
                      <a:r>
                        <a:rPr lang="en-US" sz="2000" b="1" dirty="0" smtClean="0">
                          <a:solidFill>
                            <a:srgbClr val="7030A0"/>
                          </a:solidFill>
                          <a:effectLst/>
                          <a:latin typeface="Power Geez Unicode1" pitchFamily="2" charset="0"/>
                          <a:ea typeface="Times New Roman"/>
                          <a:cs typeface="Visual Geez Unicode"/>
                        </a:rPr>
                        <a:t> </a:t>
                      </a:r>
                      <a:r>
                        <a:rPr lang="en-US" sz="2000" b="1" dirty="0" err="1" smtClean="0">
                          <a:solidFill>
                            <a:srgbClr val="7030A0"/>
                          </a:solidFill>
                          <a:effectLst/>
                          <a:latin typeface="Power Geez Unicode1" pitchFamily="2" charset="0"/>
                          <a:ea typeface="Times New Roman"/>
                          <a:cs typeface="Visual Geez Unicode"/>
                        </a:rPr>
                        <a:t>ካልሰጠ</a:t>
                      </a:r>
                      <a:endParaRPr lang="en-US" sz="2400" b="1" dirty="0" smtClean="0">
                        <a:solidFill>
                          <a:srgbClr val="002060"/>
                        </a:solidFill>
                        <a:effectLst/>
                        <a:latin typeface="Power Geez Unicode1" pitchFamily="2" charset="0"/>
                        <a:ea typeface="Times New Roman"/>
                        <a:cs typeface="Times New Roman"/>
                      </a:endParaRPr>
                    </a:p>
                    <a:p>
                      <a:pPr marL="0" marR="0" lvl="1" indent="0" algn="just">
                        <a:spcBef>
                          <a:spcPts val="1000"/>
                        </a:spcBef>
                        <a:spcAft>
                          <a:spcPts val="0"/>
                        </a:spcAft>
                        <a:buFont typeface="+mj-lt"/>
                        <a:buNone/>
                      </a:pPr>
                      <a:r>
                        <a:rPr lang="en-US" sz="2000" b="1" dirty="0" smtClean="0">
                          <a:solidFill>
                            <a:srgbClr val="FF0000"/>
                          </a:solidFill>
                          <a:effectLst/>
                          <a:latin typeface="Power Geez Unicode1" pitchFamily="2" charset="0"/>
                          <a:ea typeface="Times New Roman"/>
                          <a:cs typeface="Visual Geez Unicode"/>
                        </a:rPr>
                        <a:t>2.3. </a:t>
                      </a:r>
                      <a:r>
                        <a:rPr lang="en-US" sz="2000" b="1" dirty="0" err="1" smtClean="0">
                          <a:solidFill>
                            <a:srgbClr val="002060"/>
                          </a:solidFill>
                          <a:effectLst/>
                          <a:latin typeface="Power Geez Unicode1" pitchFamily="2" charset="0"/>
                          <a:ea typeface="Times New Roman"/>
                          <a:cs typeface="Visual Geez Unicode"/>
                        </a:rPr>
                        <a:t>ከጽዳት</a:t>
                      </a:r>
                      <a:r>
                        <a:rPr lang="en-US" sz="2000" b="1" dirty="0" smtClean="0">
                          <a:solidFill>
                            <a:srgbClr val="002060"/>
                          </a:solidFill>
                          <a:effectLst/>
                          <a:latin typeface="Power Geez Unicode1" pitchFamily="2" charset="0"/>
                          <a:ea typeface="Times New Roman"/>
                          <a:cs typeface="Visual Geez Unicode"/>
                        </a:rPr>
                        <a:t> </a:t>
                      </a:r>
                      <a:r>
                        <a:rPr lang="en-US" sz="2000" b="1" dirty="0" err="1" smtClean="0">
                          <a:solidFill>
                            <a:srgbClr val="002060"/>
                          </a:solidFill>
                          <a:effectLst/>
                          <a:latin typeface="Power Geez Unicode1" pitchFamily="2" charset="0"/>
                          <a:ea typeface="Times New Roman"/>
                          <a:cs typeface="Visual Geez Unicode"/>
                        </a:rPr>
                        <a:t>አስተዳደር</a:t>
                      </a:r>
                      <a:r>
                        <a:rPr lang="en-US" sz="2000" b="1" dirty="0" smtClean="0">
                          <a:solidFill>
                            <a:srgbClr val="002060"/>
                          </a:solidFill>
                          <a:effectLst/>
                          <a:latin typeface="Power Geez Unicode1" pitchFamily="2" charset="0"/>
                          <a:ea typeface="Times New Roman"/>
                          <a:cs typeface="Visual Geez Unicode"/>
                        </a:rPr>
                        <a:t> </a:t>
                      </a:r>
                      <a:r>
                        <a:rPr lang="en-US" sz="2000" b="1" dirty="0" err="1" smtClean="0">
                          <a:solidFill>
                            <a:srgbClr val="002060"/>
                          </a:solidFill>
                          <a:effectLst/>
                          <a:latin typeface="Power Geez Unicode1" pitchFamily="2" charset="0"/>
                          <a:ea typeface="Times New Roman"/>
                          <a:cs typeface="Visual Geez Unicode"/>
                        </a:rPr>
                        <a:t>ኤጀንሲ</a:t>
                      </a:r>
                      <a:r>
                        <a:rPr lang="en-US" sz="2000" b="1" dirty="0" smtClean="0">
                          <a:solidFill>
                            <a:srgbClr val="002060"/>
                          </a:solidFill>
                          <a:effectLst/>
                          <a:latin typeface="Power Geez Unicode1" pitchFamily="2" charset="0"/>
                          <a:ea typeface="Times New Roman"/>
                          <a:cs typeface="Visual Geez Unicode"/>
                        </a:rPr>
                        <a:t> </a:t>
                      </a:r>
                      <a:r>
                        <a:rPr lang="en-US" sz="2000" b="1" dirty="0" err="1" smtClean="0">
                          <a:solidFill>
                            <a:srgbClr val="002060"/>
                          </a:solidFill>
                          <a:effectLst/>
                          <a:latin typeface="Power Geez Unicode1" pitchFamily="2" charset="0"/>
                          <a:ea typeface="Times New Roman"/>
                          <a:cs typeface="Visual Geez Unicode"/>
                        </a:rPr>
                        <a:t>እውቅና</a:t>
                      </a:r>
                      <a:r>
                        <a:rPr lang="en-US" sz="2000" b="1" dirty="0" smtClean="0">
                          <a:solidFill>
                            <a:srgbClr val="002060"/>
                          </a:solidFill>
                          <a:effectLst/>
                          <a:latin typeface="Power Geez Unicode1" pitchFamily="2" charset="0"/>
                          <a:ea typeface="Times New Roman"/>
                          <a:cs typeface="Visual Geez Unicode"/>
                        </a:rPr>
                        <a:t> </a:t>
                      </a:r>
                      <a:r>
                        <a:rPr lang="en-US" sz="2000" b="1" dirty="0" err="1" smtClean="0">
                          <a:solidFill>
                            <a:srgbClr val="002060"/>
                          </a:solidFill>
                          <a:effectLst/>
                          <a:latin typeface="Power Geez Unicode1" pitchFamily="2" charset="0"/>
                          <a:ea typeface="Times New Roman"/>
                          <a:cs typeface="Visual Geez Unicode"/>
                        </a:rPr>
                        <a:t>ውጭ</a:t>
                      </a:r>
                      <a:r>
                        <a:rPr lang="en-US" sz="2000" b="1" dirty="0" smtClean="0">
                          <a:solidFill>
                            <a:srgbClr val="002060"/>
                          </a:solidFill>
                          <a:effectLst/>
                          <a:latin typeface="Power Geez Unicode1" pitchFamily="2" charset="0"/>
                          <a:ea typeface="Times New Roman"/>
                          <a:cs typeface="Visual Geez Unicode"/>
                        </a:rPr>
                        <a:t> </a:t>
                      </a:r>
                      <a:r>
                        <a:rPr lang="en-US" sz="2000" b="1" dirty="0" err="1" smtClean="0">
                          <a:solidFill>
                            <a:srgbClr val="002060"/>
                          </a:solidFill>
                          <a:effectLst/>
                          <a:latin typeface="Power Geez Unicode1" pitchFamily="2" charset="0"/>
                          <a:ea typeface="Times New Roman"/>
                          <a:cs typeface="Visual Geez Unicode"/>
                        </a:rPr>
                        <a:t>የአገልግሎት</a:t>
                      </a:r>
                      <a:r>
                        <a:rPr lang="en-US" sz="2000" b="1" dirty="0" smtClean="0">
                          <a:solidFill>
                            <a:srgbClr val="002060"/>
                          </a:solidFill>
                          <a:effectLst/>
                          <a:latin typeface="Power Geez Unicode1" pitchFamily="2" charset="0"/>
                          <a:ea typeface="Times New Roman"/>
                          <a:cs typeface="Visual Geez Unicode"/>
                        </a:rPr>
                        <a:t> </a:t>
                      </a:r>
                      <a:r>
                        <a:rPr lang="en-US" sz="2000" b="1" dirty="0" err="1" smtClean="0">
                          <a:solidFill>
                            <a:srgbClr val="002060"/>
                          </a:solidFill>
                          <a:effectLst/>
                          <a:latin typeface="Power Geez Unicode1" pitchFamily="2" charset="0"/>
                          <a:ea typeface="Times New Roman"/>
                          <a:cs typeface="Visual Geez Unicode"/>
                        </a:rPr>
                        <a:t>ክፍያ</a:t>
                      </a:r>
                      <a:r>
                        <a:rPr lang="en-US" sz="2000" b="1" dirty="0" smtClean="0">
                          <a:solidFill>
                            <a:srgbClr val="002060"/>
                          </a:solidFill>
                          <a:effectLst/>
                          <a:latin typeface="Power Geez Unicode1" pitchFamily="2" charset="0"/>
                          <a:ea typeface="Times New Roman"/>
                          <a:cs typeface="Visual Geez Unicode"/>
                        </a:rPr>
                        <a:t> </a:t>
                      </a:r>
                      <a:r>
                        <a:rPr lang="en-US" sz="2000" b="1" dirty="0" err="1" smtClean="0">
                          <a:solidFill>
                            <a:srgbClr val="002060"/>
                          </a:solidFill>
                          <a:effectLst/>
                          <a:latin typeface="Power Geez Unicode1" pitchFamily="2" charset="0"/>
                          <a:ea typeface="Times New Roman"/>
                          <a:cs typeface="Visual Geez Unicode"/>
                        </a:rPr>
                        <a:t>ከደንበኛው</a:t>
                      </a:r>
                      <a:r>
                        <a:rPr lang="en-US" sz="2000" b="1" dirty="0" smtClean="0">
                          <a:solidFill>
                            <a:srgbClr val="002060"/>
                          </a:solidFill>
                          <a:effectLst/>
                          <a:latin typeface="Power Geez Unicode1" pitchFamily="2" charset="0"/>
                          <a:ea typeface="Times New Roman"/>
                          <a:cs typeface="Visual Geez Unicode"/>
                        </a:rPr>
                        <a:t> </a:t>
                      </a:r>
                      <a:r>
                        <a:rPr lang="en-US" sz="2000" b="1" dirty="0" err="1" smtClean="0">
                          <a:solidFill>
                            <a:srgbClr val="002060"/>
                          </a:solidFill>
                          <a:effectLst/>
                          <a:latin typeface="Power Geez Unicode1" pitchFamily="2" charset="0"/>
                          <a:ea typeface="Times New Roman"/>
                          <a:cs typeface="Visual Geez Unicode"/>
                        </a:rPr>
                        <a:t>ከተቀበለ</a:t>
                      </a:r>
                      <a:endParaRPr lang="en-US" sz="1600" b="1" dirty="0" smtClean="0">
                        <a:solidFill>
                          <a:srgbClr val="002060"/>
                        </a:solidFill>
                        <a:effectLst/>
                        <a:latin typeface="Power Geez Unicode1" pitchFamily="2" charset="0"/>
                        <a:ea typeface="Times New Roman"/>
                        <a:cs typeface="Times New Roman"/>
                      </a:endParaRPr>
                    </a:p>
                    <a:p>
                      <a:pPr marL="0" marR="0" lvl="1" indent="0" algn="just">
                        <a:spcBef>
                          <a:spcPts val="1000"/>
                        </a:spcBef>
                        <a:spcAft>
                          <a:spcPts val="0"/>
                        </a:spcAft>
                        <a:buFont typeface="+mj-lt"/>
                        <a:buNone/>
                      </a:pPr>
                      <a:endParaRPr lang="en-US" sz="1000" b="1" dirty="0" smtClean="0">
                        <a:solidFill>
                          <a:srgbClr val="4F81BD"/>
                        </a:solidFill>
                        <a:effectLst/>
                        <a:latin typeface="Power Geez Unicode1" pitchFamily="2" charset="0"/>
                        <a:ea typeface="Times New Roman"/>
                        <a:cs typeface="Times New Roman"/>
                      </a:endParaRPr>
                    </a:p>
                    <a:p>
                      <a:pPr algn="just"/>
                      <a:r>
                        <a:rPr lang="en-US" sz="1800" b="1" dirty="0" smtClean="0">
                          <a:solidFill>
                            <a:srgbClr val="FF0000"/>
                          </a:solidFill>
                          <a:effectLst/>
                          <a:latin typeface="Power Geez Unicode1" pitchFamily="2" charset="0"/>
                          <a:ea typeface="Times New Roman"/>
                          <a:cs typeface="Visual Geez Unicode"/>
                        </a:rPr>
                        <a:t>2.4.</a:t>
                      </a:r>
                      <a:r>
                        <a:rPr lang="en-US" sz="1800" b="1" baseline="0" dirty="0" smtClean="0">
                          <a:solidFill>
                            <a:srgbClr val="FF0000"/>
                          </a:solidFill>
                          <a:effectLst/>
                          <a:latin typeface="Power Geez Unicode1" pitchFamily="2" charset="0"/>
                          <a:ea typeface="Times New Roman"/>
                          <a:cs typeface="Visual Geez Unicode"/>
                        </a:rPr>
                        <a:t> </a:t>
                      </a:r>
                      <a:r>
                        <a:rPr lang="en-US" sz="1800" b="1" dirty="0" err="1" smtClean="0">
                          <a:effectLst/>
                          <a:latin typeface="Power Geez Unicode1" pitchFamily="2" charset="0"/>
                          <a:ea typeface="Times New Roman"/>
                          <a:cs typeface="Visual Geez Unicode"/>
                        </a:rPr>
                        <a:t>ጊዚያዊ</a:t>
                      </a:r>
                      <a:r>
                        <a:rPr lang="en-US" sz="1800" b="1" dirty="0" smtClean="0">
                          <a:effectLst/>
                          <a:latin typeface="Power Geez Unicode1" pitchFamily="2" charset="0"/>
                          <a:ea typeface="Times New Roman"/>
                          <a:cs typeface="Visual Geez Unicode"/>
                        </a:rPr>
                        <a:t> </a:t>
                      </a:r>
                      <a:r>
                        <a:rPr lang="en-US" sz="1800" b="1" dirty="0" err="1" smtClean="0">
                          <a:effectLst/>
                          <a:latin typeface="Power Geez Unicode1" pitchFamily="2" charset="0"/>
                          <a:ea typeface="Times New Roman"/>
                          <a:cs typeface="Visual Geez Unicode"/>
                        </a:rPr>
                        <a:t>የደረቅ</a:t>
                      </a:r>
                      <a:r>
                        <a:rPr lang="en-US" sz="1800" b="1" dirty="0" smtClean="0">
                          <a:effectLst/>
                          <a:latin typeface="Power Geez Unicode1" pitchFamily="2" charset="0"/>
                          <a:ea typeface="Times New Roman"/>
                          <a:cs typeface="Visual Geez Unicode"/>
                        </a:rPr>
                        <a:t> </a:t>
                      </a:r>
                      <a:r>
                        <a:rPr lang="en-US" sz="1800" b="1" dirty="0" err="1" smtClean="0">
                          <a:effectLst/>
                          <a:latin typeface="Power Geez Unicode1" pitchFamily="2" charset="0"/>
                          <a:ea typeface="Times New Roman"/>
                          <a:cs typeface="Visual Geez Unicode"/>
                        </a:rPr>
                        <a:t>ቆሻሻ</a:t>
                      </a:r>
                      <a:r>
                        <a:rPr lang="en-US" sz="1800" b="1" dirty="0" smtClean="0">
                          <a:effectLst/>
                          <a:latin typeface="Power Geez Unicode1" pitchFamily="2" charset="0"/>
                          <a:ea typeface="Times New Roman"/>
                          <a:cs typeface="Visual Geez Unicode"/>
                        </a:rPr>
                        <a:t> </a:t>
                      </a:r>
                      <a:r>
                        <a:rPr lang="en-US" sz="1800" b="1" dirty="0" err="1" smtClean="0">
                          <a:effectLst/>
                          <a:latin typeface="Power Geez Unicode1" pitchFamily="2" charset="0"/>
                          <a:ea typeface="Times New Roman"/>
                          <a:cs typeface="Visual Geez Unicode"/>
                        </a:rPr>
                        <a:t>ማሰቀመጫ</a:t>
                      </a:r>
                      <a:r>
                        <a:rPr lang="en-US" sz="1800" b="1" dirty="0" smtClean="0">
                          <a:effectLst/>
                          <a:latin typeface="Power Geez Unicode1" pitchFamily="2" charset="0"/>
                          <a:ea typeface="Times New Roman"/>
                          <a:cs typeface="Visual Geez Unicode"/>
                        </a:rPr>
                        <a:t> </a:t>
                      </a:r>
                      <a:r>
                        <a:rPr lang="en-US" sz="1800" b="1" dirty="0" err="1" smtClean="0">
                          <a:effectLst/>
                          <a:latin typeface="Power Geez Unicode1" pitchFamily="2" charset="0"/>
                          <a:ea typeface="Times New Roman"/>
                          <a:cs typeface="Visual Geez Unicode"/>
                        </a:rPr>
                        <a:t>ቦታዎችን</a:t>
                      </a:r>
                      <a:r>
                        <a:rPr lang="en-US" sz="1800" b="1" dirty="0" smtClean="0">
                          <a:effectLst/>
                          <a:latin typeface="Power Geez Unicode1" pitchFamily="2" charset="0"/>
                          <a:ea typeface="Times New Roman"/>
                          <a:cs typeface="Visual Geez Unicode"/>
                        </a:rPr>
                        <a:t> </a:t>
                      </a:r>
                      <a:r>
                        <a:rPr lang="en-US" sz="1800" b="1" dirty="0" err="1" smtClean="0">
                          <a:effectLst/>
                          <a:latin typeface="Power Geez Unicode1" pitchFamily="2" charset="0"/>
                          <a:ea typeface="Times New Roman"/>
                          <a:cs typeface="Visual Geez Unicode"/>
                        </a:rPr>
                        <a:t>እስከ</a:t>
                      </a:r>
                      <a:r>
                        <a:rPr lang="en-US" sz="1800" b="1" dirty="0" smtClean="0">
                          <a:effectLst/>
                          <a:latin typeface="Power Geez Unicode1" pitchFamily="2" charset="0"/>
                          <a:ea typeface="Times New Roman"/>
                          <a:cs typeface="Visual Geez Unicode"/>
                        </a:rPr>
                        <a:t> 5 </a:t>
                      </a:r>
                      <a:r>
                        <a:rPr lang="en-US" sz="1800" b="1" dirty="0" err="1" smtClean="0">
                          <a:effectLst/>
                          <a:latin typeface="Power Geez Unicode1" pitchFamily="2" charset="0"/>
                          <a:ea typeface="Times New Roman"/>
                          <a:cs typeface="Visual Geez Unicode"/>
                        </a:rPr>
                        <a:t>ሜትር</a:t>
                      </a:r>
                      <a:r>
                        <a:rPr lang="en-US" sz="1800" b="1" dirty="0" smtClean="0">
                          <a:effectLst/>
                          <a:latin typeface="Power Geez Unicode1" pitchFamily="2" charset="0"/>
                          <a:ea typeface="Times New Roman"/>
                          <a:cs typeface="Visual Geez Unicode"/>
                        </a:rPr>
                        <a:t> </a:t>
                      </a:r>
                      <a:r>
                        <a:rPr lang="en-US" sz="1800" b="1" dirty="0" err="1" smtClean="0">
                          <a:effectLst/>
                          <a:latin typeface="Power Geez Unicode1" pitchFamily="2" charset="0"/>
                          <a:ea typeface="Times New Roman"/>
                          <a:cs typeface="Visual Geez Unicode"/>
                        </a:rPr>
                        <a:t>ዙሪ</a:t>
                      </a:r>
                      <a:r>
                        <a:rPr lang="en-US" sz="1800" b="1" dirty="0" smtClean="0">
                          <a:effectLst/>
                          <a:latin typeface="Power Geez Unicode1" pitchFamily="2" charset="0"/>
                          <a:ea typeface="Times New Roman"/>
                          <a:cs typeface="Visual Geez Unicode"/>
                        </a:rPr>
                        <a:t> </a:t>
                      </a:r>
                      <a:r>
                        <a:rPr lang="en-US" sz="1800" b="1" dirty="0" err="1" smtClean="0">
                          <a:effectLst/>
                          <a:latin typeface="Power Geez Unicode1" pitchFamily="2" charset="0"/>
                          <a:ea typeface="Times New Roman"/>
                          <a:cs typeface="Visual Geez Unicode"/>
                        </a:rPr>
                        <a:t>ድረስ</a:t>
                      </a:r>
                      <a:r>
                        <a:rPr lang="en-US" sz="1800" b="1" dirty="0" smtClean="0">
                          <a:effectLst/>
                          <a:latin typeface="Power Geez Unicode1" pitchFamily="2" charset="0"/>
                          <a:ea typeface="Times New Roman"/>
                          <a:cs typeface="Visual Geez Unicode"/>
                        </a:rPr>
                        <a:t> </a:t>
                      </a:r>
                      <a:r>
                        <a:rPr lang="en-US" sz="1800" b="1" dirty="0" err="1" smtClean="0">
                          <a:effectLst/>
                          <a:latin typeface="Power Geez Unicode1" pitchFamily="2" charset="0"/>
                          <a:ea typeface="Times New Roman"/>
                          <a:cs typeface="Visual Geez Unicode"/>
                        </a:rPr>
                        <a:t>ጽዱ</a:t>
                      </a:r>
                      <a:r>
                        <a:rPr lang="en-US" sz="1800" b="1" dirty="0" smtClean="0">
                          <a:effectLst/>
                          <a:latin typeface="Power Geez Unicode1" pitchFamily="2" charset="0"/>
                          <a:ea typeface="Times New Roman"/>
                          <a:cs typeface="Visual Geez Unicode"/>
                        </a:rPr>
                        <a:t> </a:t>
                      </a:r>
                      <a:r>
                        <a:rPr lang="en-US" sz="1800" b="1" dirty="0" err="1" smtClean="0">
                          <a:effectLst/>
                          <a:latin typeface="Power Geez Unicode1" pitchFamily="2" charset="0"/>
                          <a:ea typeface="Times New Roman"/>
                          <a:cs typeface="Visual Geez Unicode"/>
                        </a:rPr>
                        <a:t>ካላደረገ</a:t>
                      </a:r>
                      <a:r>
                        <a:rPr lang="en-US" sz="1800" b="0" dirty="0" smtClean="0">
                          <a:solidFill>
                            <a:srgbClr val="4F81BD"/>
                          </a:solidFill>
                          <a:effectLst/>
                          <a:latin typeface="Power Geez Unicode1" pitchFamily="2" charset="0"/>
                          <a:ea typeface="Times New Roman"/>
                          <a:cs typeface="Visual Geez Unicode"/>
                        </a:rPr>
                        <a:t> </a:t>
                      </a:r>
                      <a:endParaRPr lang="en-US" sz="2800" b="1" dirty="0" smtClean="0">
                        <a:solidFill>
                          <a:srgbClr val="4F81BD"/>
                        </a:solidFill>
                        <a:effectLst/>
                        <a:latin typeface="Power Geez Unicode1" pitchFamily="2" charset="0"/>
                        <a:ea typeface="Times New Roman"/>
                        <a:cs typeface="Times New Roman"/>
                      </a:endParaRPr>
                    </a:p>
                    <a:p>
                      <a:r>
                        <a:rPr lang="en-US" sz="1100" b="1" dirty="0" smtClean="0">
                          <a:effectLst/>
                          <a:latin typeface="Power Geez Unicode1" pitchFamily="2" charset="0"/>
                          <a:ea typeface="Times New Roman"/>
                          <a:cs typeface="Visual Geez Unicode"/>
                        </a:rPr>
                        <a:t>        </a:t>
                      </a:r>
                      <a:endParaRPr lang="en-US" sz="2400" dirty="0" smtClean="0">
                        <a:latin typeface="Power Geez Unicode1" pitchFamily="2" charset="0"/>
                      </a:endParaRPr>
                    </a:p>
                    <a:p>
                      <a:endParaRPr lang="en-US" sz="2000" dirty="0">
                        <a:latin typeface="Power Geez Unicode1" pitchFamily="2" charset="0"/>
                      </a:endParaRPr>
                    </a:p>
                  </a:txBody>
                  <a:tcPr/>
                </a:tc>
                <a:tc>
                  <a:txBody>
                    <a:bodyPr/>
                    <a:lstStyle/>
                    <a:p>
                      <a:r>
                        <a:rPr lang="en-US" sz="2000" dirty="0" smtClean="0">
                          <a:latin typeface="Power Geez Unicode1" pitchFamily="2" charset="0"/>
                        </a:rPr>
                        <a:t> </a:t>
                      </a:r>
                    </a:p>
                    <a:p>
                      <a:endParaRPr lang="en-US" sz="2000" b="1" dirty="0" smtClean="0">
                        <a:latin typeface="Power Geez Unicode1" pitchFamily="2" charset="0"/>
                      </a:endParaRPr>
                    </a:p>
                    <a:p>
                      <a:r>
                        <a:rPr lang="en-US" sz="2000" b="1" dirty="0" err="1" smtClean="0">
                          <a:solidFill>
                            <a:srgbClr val="FF0000"/>
                          </a:solidFill>
                          <a:latin typeface="Power Geez Unicode1" pitchFamily="2" charset="0"/>
                        </a:rPr>
                        <a:t>ብር</a:t>
                      </a:r>
                      <a:r>
                        <a:rPr lang="en-US" sz="2000" b="1" baseline="0" dirty="0" smtClean="0">
                          <a:solidFill>
                            <a:srgbClr val="FF0000"/>
                          </a:solidFill>
                          <a:latin typeface="Power Geez Unicode1" pitchFamily="2" charset="0"/>
                        </a:rPr>
                        <a:t> 300</a:t>
                      </a:r>
                    </a:p>
                    <a:p>
                      <a:endParaRPr lang="en-US" sz="2000" b="1" baseline="0" dirty="0" smtClean="0">
                        <a:solidFill>
                          <a:srgbClr val="FF0000"/>
                        </a:solidFill>
                        <a:latin typeface="Power Geez Unicode1" pitchFamily="2" charset="0"/>
                      </a:endParaRPr>
                    </a:p>
                    <a:p>
                      <a:endParaRPr lang="en-US" sz="2000" b="1" baseline="0" dirty="0" smtClean="0">
                        <a:solidFill>
                          <a:srgbClr val="FF0000"/>
                        </a:solidFill>
                        <a:latin typeface="Power Geez Unicode1" pitchFamily="2" charset="0"/>
                      </a:endParaRPr>
                    </a:p>
                    <a:p>
                      <a:endParaRPr lang="en-US" sz="2000" b="1" baseline="0" dirty="0" smtClean="0">
                        <a:solidFill>
                          <a:srgbClr val="FF0000"/>
                        </a:solidFill>
                        <a:latin typeface="Power Geez Unicode1" pitchFamily="2" charset="0"/>
                      </a:endParaRPr>
                    </a:p>
                    <a:p>
                      <a:endParaRPr lang="en-US" sz="1400" b="1" baseline="0" dirty="0" smtClean="0">
                        <a:solidFill>
                          <a:srgbClr val="FF0000"/>
                        </a:solidFill>
                        <a:latin typeface="Power Geez Unicode1" pitchFamily="2" charset="0"/>
                      </a:endParaRPr>
                    </a:p>
                    <a:p>
                      <a:r>
                        <a:rPr lang="en-US" sz="2000" b="1" baseline="0" dirty="0" err="1" smtClean="0">
                          <a:solidFill>
                            <a:srgbClr val="FF0000"/>
                          </a:solidFill>
                          <a:latin typeface="Power Geez Unicode1" pitchFamily="2" charset="0"/>
                        </a:rPr>
                        <a:t>ብር</a:t>
                      </a:r>
                      <a:r>
                        <a:rPr lang="en-US" sz="2000" b="1" baseline="0" dirty="0" smtClean="0">
                          <a:solidFill>
                            <a:srgbClr val="FF0000"/>
                          </a:solidFill>
                          <a:latin typeface="Power Geez Unicode1" pitchFamily="2" charset="0"/>
                        </a:rPr>
                        <a:t> 1000</a:t>
                      </a:r>
                    </a:p>
                    <a:p>
                      <a:endParaRPr lang="en-US" sz="2000" b="1" baseline="0" dirty="0" smtClean="0">
                        <a:solidFill>
                          <a:srgbClr val="FF0000"/>
                        </a:solidFill>
                        <a:latin typeface="Power Geez Unicode1" pitchFamily="2" charset="0"/>
                      </a:endParaRPr>
                    </a:p>
                    <a:p>
                      <a:endParaRPr lang="en-US" sz="2000" b="1" baseline="0" dirty="0" smtClean="0">
                        <a:solidFill>
                          <a:srgbClr val="FF0000"/>
                        </a:solidFill>
                        <a:latin typeface="Power Geez Unicode1" pitchFamily="2" charset="0"/>
                      </a:endParaRPr>
                    </a:p>
                    <a:p>
                      <a:endParaRPr lang="en-US" sz="2000" b="1" baseline="0" dirty="0" smtClean="0">
                        <a:solidFill>
                          <a:srgbClr val="FF0000"/>
                        </a:solidFill>
                        <a:latin typeface="Power Geez Unicode1" pitchFamily="2" charset="0"/>
                      </a:endParaRPr>
                    </a:p>
                    <a:p>
                      <a:endParaRPr lang="en-US" sz="2000" b="1" baseline="0" dirty="0" smtClean="0">
                        <a:solidFill>
                          <a:srgbClr val="FF0000"/>
                        </a:solidFill>
                        <a:latin typeface="Power Geez Unicode1" pitchFamily="2" charset="0"/>
                      </a:endParaRPr>
                    </a:p>
                    <a:p>
                      <a:r>
                        <a:rPr lang="en-US" sz="2000" b="1" baseline="0" dirty="0" err="1" smtClean="0">
                          <a:solidFill>
                            <a:srgbClr val="FF0000"/>
                          </a:solidFill>
                          <a:latin typeface="Power Geez Unicode1" pitchFamily="2" charset="0"/>
                        </a:rPr>
                        <a:t>ብር</a:t>
                      </a:r>
                      <a:r>
                        <a:rPr lang="en-US" sz="2000" b="1" baseline="0" dirty="0" smtClean="0">
                          <a:solidFill>
                            <a:srgbClr val="FF0000"/>
                          </a:solidFill>
                          <a:latin typeface="Power Geez Unicode1" pitchFamily="2" charset="0"/>
                        </a:rPr>
                        <a:t> 3000</a:t>
                      </a:r>
                    </a:p>
                    <a:p>
                      <a:endParaRPr lang="en-US" sz="2000" b="1" baseline="0" dirty="0" smtClean="0">
                        <a:solidFill>
                          <a:srgbClr val="FF0000"/>
                        </a:solidFill>
                        <a:latin typeface="Power Geez Unicode1" pitchFamily="2" charset="0"/>
                      </a:endParaRPr>
                    </a:p>
                    <a:p>
                      <a:endParaRPr lang="en-US" sz="2000" b="1" baseline="0" dirty="0" smtClean="0">
                        <a:solidFill>
                          <a:srgbClr val="FF0000"/>
                        </a:solidFill>
                        <a:latin typeface="Power Geez Unicode1" pitchFamily="2" charset="0"/>
                      </a:endParaRPr>
                    </a:p>
                    <a:p>
                      <a:endParaRPr lang="en-US" sz="2000" b="1" baseline="0" dirty="0" smtClean="0">
                        <a:solidFill>
                          <a:srgbClr val="FF0000"/>
                        </a:solidFill>
                        <a:latin typeface="Power Geez Unicode1" pitchFamily="2" charset="0"/>
                      </a:endParaRPr>
                    </a:p>
                    <a:p>
                      <a:endParaRPr lang="en-US" sz="2000" b="1" baseline="0" dirty="0" smtClean="0">
                        <a:solidFill>
                          <a:srgbClr val="FF0000"/>
                        </a:solidFill>
                        <a:latin typeface="Power Geez Unicode1" pitchFamily="2" charset="0"/>
                      </a:endParaRPr>
                    </a:p>
                    <a:p>
                      <a:r>
                        <a:rPr lang="en-US" sz="2000" b="1" baseline="0" dirty="0" err="1" smtClean="0">
                          <a:solidFill>
                            <a:srgbClr val="FF0000"/>
                          </a:solidFill>
                          <a:latin typeface="Power Geez Unicode1" pitchFamily="2" charset="0"/>
                        </a:rPr>
                        <a:t>ብር</a:t>
                      </a:r>
                      <a:r>
                        <a:rPr lang="en-US" sz="2000" b="1" baseline="0" dirty="0" smtClean="0">
                          <a:solidFill>
                            <a:srgbClr val="FF0000"/>
                          </a:solidFill>
                          <a:latin typeface="Power Geez Unicode1" pitchFamily="2" charset="0"/>
                        </a:rPr>
                        <a:t> 1.000</a:t>
                      </a:r>
                      <a:endParaRPr lang="en-US" sz="2000" b="1" dirty="0" smtClean="0">
                        <a:solidFill>
                          <a:srgbClr val="FF0000"/>
                        </a:solidFill>
                        <a:latin typeface="Power Geez Unicode1" pitchFamily="2" charset="0"/>
                      </a:endParaRPr>
                    </a:p>
                    <a:p>
                      <a:endParaRPr lang="en-US" sz="2000" b="1" dirty="0" smtClean="0">
                        <a:latin typeface="Power Geez Unicode1" pitchFamily="2" charset="0"/>
                      </a:endParaRPr>
                    </a:p>
                    <a:p>
                      <a:endParaRPr lang="en-US" sz="2000" b="1" dirty="0" smtClean="0">
                        <a:latin typeface="Power Geez Unicode1" pitchFamily="2" charset="0"/>
                      </a:endParaRPr>
                    </a:p>
                  </a:txBody>
                  <a:tcPr/>
                </a:tc>
                <a:tc>
                  <a:txBody>
                    <a:bodyPr/>
                    <a:lstStyle/>
                    <a:p>
                      <a:endParaRPr lang="en-US" sz="1600" b="1" dirty="0" smtClean="0">
                        <a:latin typeface="Power Geez Unicode1" pitchFamily="2" charset="0"/>
                      </a:endParaRPr>
                    </a:p>
                    <a:p>
                      <a:pPr marL="0" marR="0" algn="ctr">
                        <a:spcBef>
                          <a:spcPts val="1000"/>
                        </a:spcBef>
                        <a:spcAft>
                          <a:spcPts val="0"/>
                        </a:spcAft>
                      </a:pPr>
                      <a:r>
                        <a:rPr lang="en-US" sz="2000" b="1" dirty="0" err="1" smtClean="0">
                          <a:solidFill>
                            <a:srgbClr val="002060"/>
                          </a:solidFill>
                          <a:effectLst/>
                          <a:latin typeface="Power Geez Unicode1" pitchFamily="2" charset="0"/>
                          <a:ea typeface="Times New Roman"/>
                          <a:cs typeface="Visual Geez Unicode"/>
                        </a:rPr>
                        <a:t>ብር</a:t>
                      </a:r>
                      <a:r>
                        <a:rPr lang="en-US" sz="2000" b="1" dirty="0" smtClean="0">
                          <a:solidFill>
                            <a:srgbClr val="002060"/>
                          </a:solidFill>
                          <a:effectLst/>
                          <a:latin typeface="Power Geez Unicode1" pitchFamily="2" charset="0"/>
                          <a:ea typeface="Times New Roman"/>
                          <a:cs typeface="Visual Geez Unicode"/>
                        </a:rPr>
                        <a:t> 25.000.00 </a:t>
                      </a:r>
                      <a:endParaRPr lang="en-US" sz="3200" b="1" dirty="0" smtClean="0">
                        <a:solidFill>
                          <a:srgbClr val="002060"/>
                        </a:solidFill>
                        <a:effectLst/>
                        <a:latin typeface="Power Geez Unicode1" pitchFamily="2" charset="0"/>
                        <a:ea typeface="Times New Roman"/>
                      </a:endParaRPr>
                    </a:p>
                    <a:p>
                      <a:pPr marL="0" marR="0" algn="ctr">
                        <a:spcBef>
                          <a:spcPts val="1000"/>
                        </a:spcBef>
                        <a:spcAft>
                          <a:spcPts val="0"/>
                        </a:spcAft>
                      </a:pPr>
                      <a:endParaRPr lang="en-US" sz="2000" b="1" dirty="0" smtClean="0">
                        <a:solidFill>
                          <a:srgbClr val="002060"/>
                        </a:solidFill>
                        <a:effectLst/>
                        <a:latin typeface="Power Geez Unicode1" pitchFamily="2" charset="0"/>
                        <a:ea typeface="Times New Roman"/>
                        <a:cs typeface="Visual Geez Unicode"/>
                      </a:endParaRPr>
                    </a:p>
                    <a:p>
                      <a:pPr marL="0" marR="0" algn="ctr">
                        <a:spcBef>
                          <a:spcPts val="1000"/>
                        </a:spcBef>
                        <a:spcAft>
                          <a:spcPts val="0"/>
                        </a:spcAft>
                      </a:pPr>
                      <a:endParaRPr lang="en-US" sz="1800" b="1" dirty="0" smtClean="0">
                        <a:solidFill>
                          <a:srgbClr val="002060"/>
                        </a:solidFill>
                        <a:effectLst/>
                        <a:latin typeface="Power Geez Unicode1" pitchFamily="2" charset="0"/>
                        <a:ea typeface="Times New Roman"/>
                        <a:cs typeface="Visual Geez Unicode"/>
                      </a:endParaRPr>
                    </a:p>
                    <a:p>
                      <a:pPr marL="0" marR="0" algn="ctr">
                        <a:spcBef>
                          <a:spcPts val="1000"/>
                        </a:spcBef>
                        <a:spcAft>
                          <a:spcPts val="0"/>
                        </a:spcAft>
                      </a:pPr>
                      <a:r>
                        <a:rPr lang="en-US" sz="2000" b="1" baseline="0" dirty="0" smtClean="0">
                          <a:solidFill>
                            <a:srgbClr val="002060"/>
                          </a:solidFill>
                          <a:effectLst/>
                          <a:latin typeface="Power Geez Unicode1" pitchFamily="2" charset="0"/>
                          <a:ea typeface="Times New Roman"/>
                          <a:cs typeface="Visual Geez Unicode"/>
                        </a:rPr>
                        <a:t> </a:t>
                      </a:r>
                      <a:r>
                        <a:rPr lang="en-US" sz="2000" b="1" dirty="0" err="1" smtClean="0">
                          <a:solidFill>
                            <a:srgbClr val="002060"/>
                          </a:solidFill>
                          <a:effectLst/>
                          <a:latin typeface="Power Geez Unicode1" pitchFamily="2" charset="0"/>
                          <a:ea typeface="Times New Roman"/>
                          <a:cs typeface="Visual Geez Unicode"/>
                        </a:rPr>
                        <a:t>ብር</a:t>
                      </a:r>
                      <a:r>
                        <a:rPr lang="en-US" sz="2000" b="1" dirty="0" smtClean="0">
                          <a:solidFill>
                            <a:srgbClr val="002060"/>
                          </a:solidFill>
                          <a:effectLst/>
                          <a:latin typeface="Power Geez Unicode1" pitchFamily="2" charset="0"/>
                          <a:ea typeface="Times New Roman"/>
                          <a:cs typeface="Visual Geez Unicode"/>
                        </a:rPr>
                        <a:t> 50,000.00 </a:t>
                      </a:r>
                    </a:p>
                    <a:p>
                      <a:pPr marL="0" marR="0" algn="ctr">
                        <a:spcBef>
                          <a:spcPts val="1000"/>
                        </a:spcBef>
                        <a:spcAft>
                          <a:spcPts val="0"/>
                        </a:spcAft>
                      </a:pPr>
                      <a:endParaRPr lang="en-US" sz="3200" b="1" dirty="0" smtClean="0">
                        <a:solidFill>
                          <a:srgbClr val="002060"/>
                        </a:solidFill>
                        <a:effectLst/>
                        <a:latin typeface="Power Geez Unicode1" pitchFamily="2" charset="0"/>
                        <a:ea typeface="Times New Roman"/>
                      </a:endParaRPr>
                    </a:p>
                    <a:p>
                      <a:pPr marL="0" marR="0" algn="ctr">
                        <a:spcBef>
                          <a:spcPts val="1000"/>
                        </a:spcBef>
                        <a:spcAft>
                          <a:spcPts val="0"/>
                        </a:spcAft>
                      </a:pPr>
                      <a:r>
                        <a:rPr lang="en-US" sz="2000" b="1" dirty="0" err="1" smtClean="0">
                          <a:solidFill>
                            <a:srgbClr val="002060"/>
                          </a:solidFill>
                          <a:effectLst/>
                          <a:latin typeface="Power Geez Unicode1" pitchFamily="2" charset="0"/>
                          <a:ea typeface="Times New Roman"/>
                          <a:cs typeface="Visual Geez Unicode"/>
                        </a:rPr>
                        <a:t>ብር</a:t>
                      </a:r>
                      <a:r>
                        <a:rPr lang="en-US" sz="2000" b="1" dirty="0" smtClean="0">
                          <a:solidFill>
                            <a:srgbClr val="002060"/>
                          </a:solidFill>
                          <a:effectLst/>
                          <a:latin typeface="Power Geez Unicode1" pitchFamily="2" charset="0"/>
                          <a:ea typeface="Times New Roman"/>
                          <a:cs typeface="Visual Geez Unicode"/>
                        </a:rPr>
                        <a:t> </a:t>
                      </a:r>
                      <a:r>
                        <a:rPr lang="en-US" sz="2000" b="0" dirty="0" smtClean="0">
                          <a:solidFill>
                            <a:srgbClr val="002060"/>
                          </a:solidFill>
                          <a:effectLst/>
                          <a:latin typeface="Power Geez Unicode1" pitchFamily="2" charset="0"/>
                          <a:ea typeface="Times New Roman"/>
                          <a:cs typeface="Visual Geez Unicode"/>
                        </a:rPr>
                        <a:t>50,000.00</a:t>
                      </a:r>
                    </a:p>
                    <a:p>
                      <a:pPr marL="0" marR="0" algn="ctr">
                        <a:spcBef>
                          <a:spcPts val="1000"/>
                        </a:spcBef>
                        <a:spcAft>
                          <a:spcPts val="0"/>
                        </a:spcAft>
                      </a:pPr>
                      <a:endParaRPr lang="en-US" sz="3200" b="0" dirty="0" smtClean="0">
                        <a:solidFill>
                          <a:srgbClr val="002060"/>
                        </a:solidFill>
                        <a:effectLst/>
                        <a:latin typeface="Power Geez Unicode1" pitchFamily="2" charset="0"/>
                        <a:ea typeface="Times New Roman"/>
                      </a:endParaRPr>
                    </a:p>
                    <a:p>
                      <a:pPr marL="0" marR="0" algn="ctr">
                        <a:spcBef>
                          <a:spcPts val="1000"/>
                        </a:spcBef>
                        <a:spcAft>
                          <a:spcPts val="0"/>
                        </a:spcAft>
                      </a:pPr>
                      <a:r>
                        <a:rPr lang="en-US" sz="2000" b="0" dirty="0" smtClean="0">
                          <a:solidFill>
                            <a:srgbClr val="4F81BD"/>
                          </a:solidFill>
                          <a:effectLst/>
                          <a:latin typeface="Power Geez Unicode1" pitchFamily="2" charset="0"/>
                          <a:ea typeface="Times New Roman"/>
                          <a:cs typeface="Visual Geez Unicode"/>
                        </a:rPr>
                        <a:t> </a:t>
                      </a:r>
                      <a:r>
                        <a:rPr lang="en-US" sz="2000" b="1" dirty="0" smtClean="0">
                          <a:effectLst/>
                          <a:latin typeface="Power Geez Unicode1" pitchFamily="2" charset="0"/>
                          <a:ea typeface="Times New Roman"/>
                          <a:cs typeface="Visual Geez Unicode"/>
                        </a:rPr>
                        <a:t>  </a:t>
                      </a:r>
                      <a:r>
                        <a:rPr lang="en-US" sz="2000" b="1" dirty="0" err="1" smtClean="0">
                          <a:effectLst/>
                          <a:latin typeface="Power Geez Unicode1" pitchFamily="2" charset="0"/>
                          <a:ea typeface="Times New Roman"/>
                          <a:cs typeface="Visual Geez Unicode"/>
                        </a:rPr>
                        <a:t>ብር</a:t>
                      </a:r>
                      <a:endParaRPr lang="en-US" sz="2000" b="1" dirty="0" smtClean="0">
                        <a:effectLst/>
                        <a:latin typeface="Power Geez Unicode1" pitchFamily="2" charset="0"/>
                        <a:ea typeface="Times New Roman"/>
                        <a:cs typeface="Visual Geez Unicode"/>
                      </a:endParaRPr>
                    </a:p>
                    <a:p>
                      <a:pPr marL="0" marR="0" algn="ctr">
                        <a:spcBef>
                          <a:spcPts val="1000"/>
                        </a:spcBef>
                        <a:spcAft>
                          <a:spcPts val="0"/>
                        </a:spcAft>
                      </a:pPr>
                      <a:r>
                        <a:rPr lang="en-US" sz="2000" b="1" dirty="0" smtClean="0">
                          <a:effectLst/>
                          <a:latin typeface="Power Geez Unicode1" pitchFamily="2" charset="0"/>
                          <a:ea typeface="Times New Roman"/>
                          <a:cs typeface="Visual Geez Unicode"/>
                        </a:rPr>
                        <a:t>50,000.00</a:t>
                      </a:r>
                      <a:endParaRPr lang="en-US" sz="2000" dirty="0" smtClean="0">
                        <a:latin typeface="Power Geez Unicode1" pitchFamily="2" charset="0"/>
                      </a:endParaRPr>
                    </a:p>
                    <a:p>
                      <a:endParaRPr lang="en-US" sz="1600" b="1" dirty="0" smtClean="0">
                        <a:latin typeface="Power Geez Unicode1" pitchFamily="2" charset="0"/>
                      </a:endParaRPr>
                    </a:p>
                    <a:p>
                      <a:endParaRPr lang="en-US" sz="1600" b="1" dirty="0" smtClean="0">
                        <a:latin typeface="Power Geez Unicode1" pitchFamily="2"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2000" b="1" kern="1200" dirty="0" err="1" smtClean="0">
                          <a:solidFill>
                            <a:srgbClr val="FF0000"/>
                          </a:solidFill>
                          <a:effectLst/>
                          <a:latin typeface="Power Geez Unicode1" pitchFamily="2" charset="0"/>
                          <a:ea typeface="+mn-ea"/>
                          <a:cs typeface="+mn-cs"/>
                        </a:rPr>
                        <a:t>የቅጣት</a:t>
                      </a:r>
                      <a:r>
                        <a:rPr lang="en-US" sz="2000" b="1" kern="1200" dirty="0" smtClean="0">
                          <a:solidFill>
                            <a:srgbClr val="FF0000"/>
                          </a:solidFill>
                          <a:effectLst/>
                          <a:latin typeface="Power Geez Unicode1" pitchFamily="2" charset="0"/>
                          <a:ea typeface="+mn-ea"/>
                          <a:cs typeface="+mn-cs"/>
                        </a:rPr>
                        <a:t> </a:t>
                      </a:r>
                      <a:r>
                        <a:rPr lang="en-US" sz="2000" b="1" kern="1200" dirty="0" err="1" smtClean="0">
                          <a:solidFill>
                            <a:srgbClr val="FF0000"/>
                          </a:solidFill>
                          <a:effectLst/>
                          <a:latin typeface="Power Geez Unicode1" pitchFamily="2" charset="0"/>
                          <a:ea typeface="+mn-ea"/>
                          <a:cs typeface="+mn-cs"/>
                        </a:rPr>
                        <a:t>ክፍያ</a:t>
                      </a:r>
                      <a:r>
                        <a:rPr lang="en-US" sz="2000" b="1" kern="1200" dirty="0" smtClean="0">
                          <a:solidFill>
                            <a:srgbClr val="FF0000"/>
                          </a:solidFill>
                          <a:effectLst/>
                          <a:latin typeface="Power Geez Unicode1" pitchFamily="2" charset="0"/>
                          <a:ea typeface="+mn-ea"/>
                          <a:cs typeface="+mn-cs"/>
                        </a:rPr>
                        <a:t> </a:t>
                      </a:r>
                      <a:r>
                        <a:rPr lang="en-US" sz="2000" b="1" kern="1200" dirty="0" err="1" smtClean="0">
                          <a:solidFill>
                            <a:srgbClr val="FF0000"/>
                          </a:solidFill>
                          <a:effectLst/>
                          <a:latin typeface="Power Geez Unicode1" pitchFamily="2" charset="0"/>
                          <a:ea typeface="+mn-ea"/>
                          <a:cs typeface="+mn-cs"/>
                        </a:rPr>
                        <a:t>መጠን</a:t>
                      </a:r>
                      <a:r>
                        <a:rPr lang="en-US" sz="2000" b="1" kern="1200" dirty="0" smtClean="0">
                          <a:solidFill>
                            <a:srgbClr val="FF0000"/>
                          </a:solidFill>
                          <a:effectLst/>
                          <a:latin typeface="Power Geez Unicode1" pitchFamily="2" charset="0"/>
                          <a:ea typeface="+mn-ea"/>
                          <a:cs typeface="+mn-cs"/>
                        </a:rPr>
                        <a:t> </a:t>
                      </a:r>
                      <a:r>
                        <a:rPr lang="en-US" sz="2000" b="1" kern="1200" dirty="0" err="1" smtClean="0">
                          <a:solidFill>
                            <a:srgbClr val="FF0000"/>
                          </a:solidFill>
                          <a:effectLst/>
                          <a:latin typeface="Power Geez Unicode1" pitchFamily="2" charset="0"/>
                          <a:ea typeface="+mn-ea"/>
                          <a:cs typeface="+mn-cs"/>
                        </a:rPr>
                        <a:t>መክፈልና</a:t>
                      </a:r>
                      <a:r>
                        <a:rPr lang="en-US" sz="2000" b="1" kern="1200" dirty="0" smtClean="0">
                          <a:solidFill>
                            <a:srgbClr val="FF0000"/>
                          </a:solidFill>
                          <a:effectLst/>
                          <a:latin typeface="Power Geez Unicode1" pitchFamily="2" charset="0"/>
                          <a:ea typeface="+mn-ea"/>
                          <a:cs typeface="+mn-cs"/>
                        </a:rPr>
                        <a:t> </a:t>
                      </a:r>
                      <a:r>
                        <a:rPr lang="en-US" sz="2000" b="1" kern="1200" dirty="0" err="1" smtClean="0">
                          <a:solidFill>
                            <a:srgbClr val="FF0000"/>
                          </a:solidFill>
                          <a:effectLst/>
                          <a:latin typeface="Power Geez Unicode1" pitchFamily="2" charset="0"/>
                          <a:ea typeface="+mn-ea"/>
                          <a:cs typeface="+mn-cs"/>
                        </a:rPr>
                        <a:t>ያከማቸውን</a:t>
                      </a:r>
                      <a:r>
                        <a:rPr lang="en-US" sz="2000" b="1" kern="1200" dirty="0" smtClean="0">
                          <a:solidFill>
                            <a:srgbClr val="FF0000"/>
                          </a:solidFill>
                          <a:effectLst/>
                          <a:latin typeface="Power Geez Unicode1" pitchFamily="2" charset="0"/>
                          <a:ea typeface="+mn-ea"/>
                          <a:cs typeface="+mn-cs"/>
                        </a:rPr>
                        <a:t> </a:t>
                      </a:r>
                      <a:r>
                        <a:rPr lang="en-US" sz="2000" b="1" kern="1200" dirty="0" err="1" smtClean="0">
                          <a:solidFill>
                            <a:srgbClr val="FF0000"/>
                          </a:solidFill>
                          <a:effectLst/>
                          <a:latin typeface="Power Geez Unicode1" pitchFamily="2" charset="0"/>
                          <a:ea typeface="+mn-ea"/>
                          <a:cs typeface="+mn-cs"/>
                        </a:rPr>
                        <a:t>ደረቅ</a:t>
                      </a:r>
                      <a:r>
                        <a:rPr lang="en-US" sz="2000" b="1" kern="1200" dirty="0" smtClean="0">
                          <a:solidFill>
                            <a:srgbClr val="FF0000"/>
                          </a:solidFill>
                          <a:effectLst/>
                          <a:latin typeface="Power Geez Unicode1" pitchFamily="2" charset="0"/>
                          <a:ea typeface="+mn-ea"/>
                          <a:cs typeface="+mn-cs"/>
                        </a:rPr>
                        <a:t> </a:t>
                      </a:r>
                      <a:r>
                        <a:rPr lang="en-US" sz="2000" b="1" kern="1200" dirty="0" err="1" smtClean="0">
                          <a:solidFill>
                            <a:srgbClr val="FF0000"/>
                          </a:solidFill>
                          <a:effectLst/>
                          <a:latin typeface="Power Geez Unicode1" pitchFamily="2" charset="0"/>
                          <a:ea typeface="+mn-ea"/>
                          <a:cs typeface="+mn-cs"/>
                        </a:rPr>
                        <a:t>ቆሻሻ</a:t>
                      </a:r>
                      <a:r>
                        <a:rPr lang="en-US" sz="2000" b="1" kern="1200" dirty="0" smtClean="0">
                          <a:solidFill>
                            <a:srgbClr val="FF0000"/>
                          </a:solidFill>
                          <a:effectLst/>
                          <a:latin typeface="Power Geez Unicode1" pitchFamily="2" charset="0"/>
                          <a:ea typeface="+mn-ea"/>
                          <a:cs typeface="+mn-cs"/>
                        </a:rPr>
                        <a:t> </a:t>
                      </a:r>
                      <a:r>
                        <a:rPr lang="en-US" sz="2000" b="1" kern="1200" dirty="0" err="1" smtClean="0">
                          <a:solidFill>
                            <a:srgbClr val="FF0000"/>
                          </a:solidFill>
                          <a:effectLst/>
                          <a:latin typeface="Power Geez Unicode1" pitchFamily="2" charset="0"/>
                          <a:ea typeface="+mn-ea"/>
                          <a:cs typeface="+mn-cs"/>
                        </a:rPr>
                        <a:t>ማንሳት</a:t>
                      </a:r>
                      <a:endParaRPr lang="en-US" sz="2000" dirty="0" smtClean="0">
                        <a:solidFill>
                          <a:srgbClr val="FF0000"/>
                        </a:solidFill>
                        <a:latin typeface="Power Geez Unicode1" pitchFamily="2" charset="0"/>
                      </a:endParaRPr>
                    </a:p>
                    <a:p>
                      <a:endParaRPr lang="en-US" sz="1400" dirty="0">
                        <a:latin typeface="Power Geez Unicode1" pitchFamily="2" charset="0"/>
                      </a:endParaRPr>
                    </a:p>
                  </a:txBody>
                  <a:tcPr/>
                </a:tc>
              </a:tr>
              <a:tr h="152400">
                <a:tc>
                  <a:txBody>
                    <a:bodyPr/>
                    <a:lstStyle/>
                    <a:p>
                      <a:endParaRPr lang="en-US" sz="2000" dirty="0" smtClean="0">
                        <a:latin typeface="Power Geez Unicode1" pitchFamily="2" charset="0"/>
                      </a:endParaRPr>
                    </a:p>
                    <a:p>
                      <a:endParaRPr lang="en-US" sz="2000" dirty="0" smtClean="0">
                        <a:latin typeface="Power Geez Unicode1" pitchFamily="2" charset="0"/>
                      </a:endParaRPr>
                    </a:p>
                  </a:txBody>
                  <a:tcPr/>
                </a:tc>
                <a:tc>
                  <a:txBody>
                    <a:bodyPr/>
                    <a:lstStyle/>
                    <a:p>
                      <a:pPr marL="0" marR="0" algn="ctr">
                        <a:spcBef>
                          <a:spcPts val="1000"/>
                        </a:spcBef>
                        <a:spcAft>
                          <a:spcPts val="0"/>
                        </a:spcAft>
                      </a:pPr>
                      <a:endParaRPr lang="en-US" sz="2400" dirty="0">
                        <a:latin typeface="Power Geez Unicode1" pitchFamily="2" charset="0"/>
                      </a:endParaRPr>
                    </a:p>
                  </a:txBody>
                  <a:tcPr>
                    <a:solidFill>
                      <a:schemeClr val="bg1"/>
                    </a:solidFill>
                  </a:tcPr>
                </a:tc>
                <a:tc>
                  <a:txBody>
                    <a:bodyPr/>
                    <a:lstStyle/>
                    <a:p>
                      <a:endParaRPr lang="en-US" sz="2400" dirty="0" smtClean="0">
                        <a:latin typeface="Power Geez Unicode1" pitchFamily="2" charset="0"/>
                      </a:endParaRPr>
                    </a:p>
                    <a:p>
                      <a:endParaRPr lang="en-US" sz="1800" b="1" dirty="0" smtClean="0">
                        <a:solidFill>
                          <a:schemeClr val="tx1"/>
                        </a:solidFill>
                        <a:latin typeface="Power Geez Unicode1" pitchFamily="2" charset="0"/>
                      </a:endParaRPr>
                    </a:p>
                  </a:txBody>
                  <a:tcPr/>
                </a:tc>
                <a:tc>
                  <a:txBody>
                    <a:bodyPr/>
                    <a:lstStyle/>
                    <a:p>
                      <a:pPr marL="0" marR="0" algn="ctr">
                        <a:spcBef>
                          <a:spcPts val="1000"/>
                        </a:spcBef>
                        <a:spcAft>
                          <a:spcPts val="0"/>
                        </a:spcAft>
                      </a:pPr>
                      <a:endParaRPr lang="en-US" sz="2400" b="0" dirty="0" smtClean="0">
                        <a:solidFill>
                          <a:srgbClr val="4F81BD"/>
                        </a:solidFill>
                        <a:effectLst/>
                        <a:latin typeface="Power Geez Unicode1" pitchFamily="2" charset="0"/>
                        <a:ea typeface="Times New Roman"/>
                        <a:cs typeface="Visual Geez Unicode"/>
                      </a:endParaRPr>
                    </a:p>
                    <a:p>
                      <a:endParaRPr lang="en-US" sz="2400" dirty="0" smtClean="0">
                        <a:latin typeface="Power Geez Unicode1" pitchFamily="2" charset="0"/>
                      </a:endParaRPr>
                    </a:p>
                    <a:p>
                      <a:endParaRPr lang="en-US" sz="2400" dirty="0">
                        <a:latin typeface="Power Geez Unicode1" pitchFamily="2"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kern="1200" dirty="0" smtClean="0">
                        <a:solidFill>
                          <a:schemeClr val="dk1"/>
                        </a:solidFill>
                        <a:effectLst/>
                        <a:latin typeface="Power Geez Unicode1" pitchFamily="2" charset="0"/>
                        <a:ea typeface="+mn-ea"/>
                        <a:cs typeface="+mn-cs"/>
                      </a:endParaRPr>
                    </a:p>
                    <a:p>
                      <a:endParaRPr lang="en-US" sz="2400" dirty="0">
                        <a:latin typeface="Power Geez Unicode1" pitchFamily="2" charset="0"/>
                      </a:endParaRPr>
                    </a:p>
                  </a:txBody>
                  <a:tcPr/>
                </a:tc>
              </a:tr>
            </a:tbl>
          </a:graphicData>
        </a:graphic>
      </p:graphicFrame>
    </p:spTree>
    <p:extLst>
      <p:ext uri="{BB962C8B-B14F-4D97-AF65-F5344CB8AC3E}">
        <p14:creationId xmlns:p14="http://schemas.microsoft.com/office/powerpoint/2010/main" val="1259688630"/>
      </p:ext>
    </p:extLst>
  </p:cSld>
  <p:clrMapOvr>
    <a:masterClrMapping/>
  </p:clrMapOvr>
  <p:transition spd="slow">
    <p:pull/>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01240162"/>
              </p:ext>
            </p:extLst>
          </p:nvPr>
        </p:nvGraphicFramePr>
        <p:xfrm>
          <a:off x="182880" y="152400"/>
          <a:ext cx="8940800" cy="6437152"/>
        </p:xfrm>
        <a:graphic>
          <a:graphicData uri="http://schemas.openxmlformats.org/drawingml/2006/table">
            <a:tbl>
              <a:tblPr firstRow="1" bandRow="1">
                <a:tableStyleId>{5C22544A-7EE6-4342-B048-85BDC9FD1C3A}</a:tableStyleId>
              </a:tblPr>
              <a:tblGrid>
                <a:gridCol w="711199"/>
                <a:gridCol w="3612697"/>
                <a:gridCol w="1340303"/>
                <a:gridCol w="1493521"/>
                <a:gridCol w="1783080"/>
              </a:tblGrid>
              <a:tr h="658815">
                <a:tc>
                  <a:txBody>
                    <a:bodyPr/>
                    <a:lstStyle/>
                    <a:p>
                      <a:r>
                        <a:rPr lang="am-ET" sz="1800" b="0" i="0" u="none" strike="noStrike" baseline="0" dirty="0" smtClean="0">
                          <a:solidFill>
                            <a:srgbClr val="000000"/>
                          </a:solidFill>
                          <a:latin typeface="Visual Geez Unicode"/>
                        </a:rPr>
                        <a:t>ተ.ቁ</a:t>
                      </a:r>
                      <a:r>
                        <a:rPr lang="am-ET" sz="1400" b="0" i="0" u="none" strike="noStrike" baseline="0" dirty="0" smtClean="0">
                          <a:solidFill>
                            <a:srgbClr val="000000"/>
                          </a:solidFill>
                          <a:latin typeface="Visual Geez Unicode"/>
                        </a:rPr>
                        <a:t> 	</a:t>
                      </a:r>
                      <a:r>
                        <a:rPr lang="en-US" sz="1400" b="0" i="0" u="none" strike="noStrike" baseline="0" dirty="0" smtClean="0">
                          <a:solidFill>
                            <a:srgbClr val="000000"/>
                          </a:solidFill>
                          <a:latin typeface="Power Geez Unicode1" pitchFamily="2" charset="0"/>
                        </a:rPr>
                        <a:t> </a:t>
                      </a:r>
                      <a:endParaRPr lang="am-ET" sz="1400" b="0" i="0" u="none" strike="noStrike" baseline="0" dirty="0" smtClean="0">
                        <a:solidFill>
                          <a:srgbClr val="000000"/>
                        </a:solidFill>
                        <a:latin typeface="Visual Geez Unicode"/>
                      </a:endParaRPr>
                    </a:p>
                  </a:txBody>
                  <a:tcPr/>
                </a:tc>
                <a:tc>
                  <a:txBody>
                    <a:bodyPr/>
                    <a:lstStyle/>
                    <a:p>
                      <a:r>
                        <a:rPr lang="en-US" sz="1800" b="1" i="0" u="none" strike="noStrike" baseline="0" dirty="0" err="1" smtClean="0">
                          <a:solidFill>
                            <a:srgbClr val="FF0000"/>
                          </a:solidFill>
                          <a:latin typeface="Power Geez Unicode1" pitchFamily="2" charset="0"/>
                        </a:rPr>
                        <a:t>የጥፋት</a:t>
                      </a:r>
                      <a:r>
                        <a:rPr lang="en-US" sz="1800" b="1" i="0" u="none" strike="noStrike" baseline="0" dirty="0" smtClean="0">
                          <a:solidFill>
                            <a:srgbClr val="FF0000"/>
                          </a:solidFill>
                          <a:latin typeface="Power Geez Unicode1" pitchFamily="2" charset="0"/>
                        </a:rPr>
                        <a:t> </a:t>
                      </a:r>
                      <a:r>
                        <a:rPr lang="en-US" sz="1800" b="1" i="0" u="none" strike="noStrike" baseline="0" dirty="0" err="1" smtClean="0">
                          <a:solidFill>
                            <a:srgbClr val="FF0000"/>
                          </a:solidFill>
                          <a:latin typeface="Power Geez Unicode1" pitchFamily="2" charset="0"/>
                        </a:rPr>
                        <a:t>አይነቶች</a:t>
                      </a:r>
                      <a:endParaRPr lang="am-ET" sz="1800" b="1" i="0" u="none" strike="noStrike" baseline="0" dirty="0" smtClean="0">
                        <a:solidFill>
                          <a:srgbClr val="FF0000"/>
                        </a:solidFill>
                        <a:latin typeface="Visual Geez Unicode"/>
                      </a:endParaRPr>
                    </a:p>
                  </a:txBody>
                  <a:tcPr/>
                </a:tc>
                <a:tc>
                  <a:txBody>
                    <a:bodyPr/>
                    <a:lstStyle/>
                    <a:p>
                      <a:r>
                        <a:rPr lang="en-US" sz="1400" b="0" i="0" u="none" strike="noStrike" baseline="0" dirty="0" err="1" smtClean="0">
                          <a:solidFill>
                            <a:srgbClr val="000000"/>
                          </a:solidFill>
                          <a:latin typeface="Power Geez Unicode1" pitchFamily="2" charset="0"/>
                        </a:rPr>
                        <a:t>ቀድሞ</a:t>
                      </a:r>
                      <a:r>
                        <a:rPr lang="en-US" sz="1400" b="0" i="0" u="none" strike="noStrike" baseline="0" dirty="0" smtClean="0">
                          <a:solidFill>
                            <a:srgbClr val="000000"/>
                          </a:solidFill>
                          <a:latin typeface="Power Geez Unicode1" pitchFamily="2" charset="0"/>
                        </a:rPr>
                        <a:t> በነበረው150/2015 </a:t>
                      </a:r>
                      <a:r>
                        <a:rPr lang="en-US" sz="1400" b="0" i="0" u="none" strike="noStrike" baseline="0" dirty="0" err="1" smtClean="0">
                          <a:solidFill>
                            <a:srgbClr val="000000"/>
                          </a:solidFill>
                          <a:latin typeface="Power Geez Unicode1" pitchFamily="2" charset="0"/>
                        </a:rPr>
                        <a:t>የተቀመጠ</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ቅጣት</a:t>
                      </a:r>
                      <a:endParaRPr lang="am-ET" sz="1400" b="0" i="0" u="none" strike="noStrike" baseline="0" dirty="0" smtClean="0">
                        <a:solidFill>
                          <a:srgbClr val="000000"/>
                        </a:solidFill>
                        <a:latin typeface="Visual Geez Unicode"/>
                      </a:endParaRPr>
                    </a:p>
                  </a:txBody>
                  <a:tcPr/>
                </a:tc>
                <a:tc>
                  <a:txBody>
                    <a:bodyPr/>
                    <a:lstStyle/>
                    <a:p>
                      <a:r>
                        <a:rPr lang="en-US" sz="1400" b="0" i="0" u="none" strike="noStrike" baseline="0" dirty="0" err="1" smtClean="0">
                          <a:solidFill>
                            <a:srgbClr val="000000"/>
                          </a:solidFill>
                          <a:latin typeface="Power Geez Unicode1" pitchFamily="2" charset="0"/>
                        </a:rPr>
                        <a:t>አሁን</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በተሸሻለው</a:t>
                      </a:r>
                      <a:r>
                        <a:rPr lang="en-US" sz="1400" b="0" i="0" u="none" strike="noStrike" baseline="0" dirty="0" smtClean="0">
                          <a:solidFill>
                            <a:srgbClr val="000000"/>
                          </a:solidFill>
                          <a:latin typeface="Power Geez Unicode1" pitchFamily="2" charset="0"/>
                        </a:rPr>
                        <a:t> 167/16 </a:t>
                      </a:r>
                      <a:r>
                        <a:rPr lang="en-US" sz="1400" b="0" i="0" u="none" strike="noStrike" baseline="0" dirty="0" err="1" smtClean="0">
                          <a:solidFill>
                            <a:srgbClr val="000000"/>
                          </a:solidFill>
                          <a:latin typeface="Power Geez Unicode1" pitchFamily="2" charset="0"/>
                        </a:rPr>
                        <a:t>የተቀመጠ</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ቅጣት</a:t>
                      </a:r>
                      <a:endParaRPr lang="am-ET" sz="1400" b="0" i="0" u="none" strike="noStrike" baseline="0" dirty="0" smtClean="0">
                        <a:solidFill>
                          <a:srgbClr val="000000"/>
                        </a:solidFill>
                        <a:latin typeface="Visual Geez Unicode"/>
                      </a:endParaRPr>
                    </a:p>
                  </a:txBody>
                  <a:tcPr/>
                </a:tc>
                <a:tc>
                  <a:txBody>
                    <a:bodyPr/>
                    <a:lstStyle/>
                    <a:p>
                      <a:r>
                        <a:rPr lang="en-US" sz="1600" dirty="0" err="1" smtClean="0">
                          <a:solidFill>
                            <a:schemeClr val="tx1"/>
                          </a:solidFill>
                          <a:latin typeface="Power Geez Unicode1" pitchFamily="2" charset="0"/>
                        </a:rPr>
                        <a:t>ከህገ</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ወጥ</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ፈፃሚው</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የሚጠበቅ</a:t>
                      </a:r>
                      <a:endParaRPr lang="en-US" sz="1600" dirty="0">
                        <a:solidFill>
                          <a:schemeClr val="tx1"/>
                        </a:solidFill>
                        <a:latin typeface="Power Geez Unicode1" pitchFamily="2" charset="0"/>
                      </a:endParaRPr>
                    </a:p>
                  </a:txBody>
                  <a:tcPr/>
                </a:tc>
              </a:tr>
              <a:tr h="4303552">
                <a:tc>
                  <a:txBody>
                    <a:bodyPr/>
                    <a:lstStyle/>
                    <a:p>
                      <a:endParaRPr lang="en-US" sz="2000" dirty="0" smtClean="0">
                        <a:latin typeface="Power Geez Unicode1" pitchFamily="2" charset="0"/>
                      </a:endParaRPr>
                    </a:p>
                    <a:p>
                      <a:endParaRPr lang="en-US" sz="2000" dirty="0" smtClean="0">
                        <a:latin typeface="Power Geez Unicode1" pitchFamily="2" charset="0"/>
                      </a:endParaRPr>
                    </a:p>
                    <a:p>
                      <a:endParaRPr lang="en-US" sz="2000" dirty="0" smtClean="0">
                        <a:latin typeface="Power Geez Unicode1" pitchFamily="2" charset="0"/>
                      </a:endParaRPr>
                    </a:p>
                    <a:p>
                      <a:endParaRPr lang="en-US" sz="2000" dirty="0" smtClean="0">
                        <a:latin typeface="Power Geez Unicode1" pitchFamily="2" charset="0"/>
                      </a:endParaRPr>
                    </a:p>
                    <a:p>
                      <a:endParaRPr lang="en-US" sz="2000" dirty="0" smtClean="0">
                        <a:latin typeface="Power Geez Unicode1" pitchFamily="2" charset="0"/>
                      </a:endParaRPr>
                    </a:p>
                    <a:p>
                      <a:endParaRPr lang="en-US" sz="2000" dirty="0" smtClean="0">
                        <a:latin typeface="Power Geez Unicode1" pitchFamily="2" charset="0"/>
                      </a:endParaRPr>
                    </a:p>
                    <a:p>
                      <a:r>
                        <a:rPr lang="en-US" sz="2000" dirty="0" smtClean="0">
                          <a:latin typeface="Power Geez Unicode1" pitchFamily="2" charset="0"/>
                        </a:rPr>
                        <a:t>3</a:t>
                      </a:r>
                    </a:p>
                    <a:p>
                      <a:endParaRPr lang="en-US" sz="2000" dirty="0" smtClean="0">
                        <a:latin typeface="Power Geez Unicode1" pitchFamily="2" charset="0"/>
                      </a:endParaRPr>
                    </a:p>
                    <a:p>
                      <a:endParaRPr lang="en-US" sz="2000" dirty="0">
                        <a:latin typeface="Power Geez Unicode1" pitchFamily="2" charset="0"/>
                      </a:endParaRPr>
                    </a:p>
                  </a:txBody>
                  <a:tcPr/>
                </a:tc>
                <a:tc>
                  <a:txBody>
                    <a:bodyPr/>
                    <a:lstStyle/>
                    <a:p>
                      <a:r>
                        <a:rPr lang="am-ET" sz="1800" b="0" i="0" u="none" strike="noStrike" kern="1200" baseline="0" dirty="0" smtClean="0">
                          <a:solidFill>
                            <a:schemeClr val="dk1"/>
                          </a:solidFill>
                          <a:latin typeface="+mn-lt"/>
                          <a:ea typeface="+mn-ea"/>
                          <a:cs typeface="+mn-cs"/>
                        </a:rPr>
                        <a:t>	</a:t>
                      </a:r>
                    </a:p>
                    <a:p>
                      <a:r>
                        <a:rPr lang="en-US" sz="1100" b="1" dirty="0" smtClean="0">
                          <a:effectLst/>
                          <a:latin typeface="Power Geez Unicode1" pitchFamily="2" charset="0"/>
                          <a:ea typeface="Times New Roman"/>
                          <a:cs typeface="Visual Geez Unicode"/>
                        </a:rPr>
                        <a:t>        </a:t>
                      </a:r>
                      <a:endParaRPr lang="en-US" sz="2400" dirty="0" smtClean="0">
                        <a:latin typeface="Power Geez Unicode1" pitchFamily="2" charset="0"/>
                      </a:endParaRPr>
                    </a:p>
                    <a:p>
                      <a:endParaRPr lang="en-US" sz="2000" dirty="0" smtClean="0">
                        <a:latin typeface="Power Geez Unicode1" pitchFamily="2" charset="0"/>
                      </a:endParaRPr>
                    </a:p>
                    <a:p>
                      <a:endParaRPr lang="en-US" sz="2000" dirty="0" smtClean="0">
                        <a:latin typeface="Power Geez Unicode1" pitchFamily="2" charset="0"/>
                      </a:endParaRPr>
                    </a:p>
                    <a:p>
                      <a:pPr algn="just"/>
                      <a:r>
                        <a:rPr lang="en-US" sz="2000" b="1" dirty="0" err="1" smtClean="0">
                          <a:latin typeface="Power Geez Unicode1" pitchFamily="2" charset="0"/>
                        </a:rPr>
                        <a:t>ለመልሶ</a:t>
                      </a:r>
                      <a:r>
                        <a:rPr lang="en-US" sz="2000" b="1" baseline="0" dirty="0" smtClean="0">
                          <a:latin typeface="Power Geez Unicode1" pitchFamily="2" charset="0"/>
                        </a:rPr>
                        <a:t> </a:t>
                      </a:r>
                      <a:r>
                        <a:rPr lang="en-US" sz="2000" b="1" baseline="0" dirty="0" err="1" smtClean="0">
                          <a:latin typeface="Power Geez Unicode1" pitchFamily="2" charset="0"/>
                        </a:rPr>
                        <a:t>መጠቀምና</a:t>
                      </a:r>
                      <a:r>
                        <a:rPr lang="en-US" sz="2000" b="1" baseline="0" dirty="0" smtClean="0">
                          <a:latin typeface="Power Geez Unicode1" pitchFamily="2" charset="0"/>
                        </a:rPr>
                        <a:t> </a:t>
                      </a:r>
                      <a:r>
                        <a:rPr lang="en-US" sz="2000" b="1" baseline="0" dirty="0" err="1" smtClean="0">
                          <a:latin typeface="Power Geez Unicode1" pitchFamily="2" charset="0"/>
                        </a:rPr>
                        <a:t>ኡደት</a:t>
                      </a:r>
                      <a:r>
                        <a:rPr lang="en-US" sz="2000" b="1" baseline="0" dirty="0" smtClean="0">
                          <a:latin typeface="Power Geez Unicode1" pitchFamily="2" charset="0"/>
                        </a:rPr>
                        <a:t> </a:t>
                      </a:r>
                      <a:r>
                        <a:rPr lang="en-US" sz="2000" b="1" baseline="0" dirty="0" err="1" smtClean="0">
                          <a:latin typeface="Power Geez Unicode1" pitchFamily="2" charset="0"/>
                        </a:rPr>
                        <a:t>አገልግሎት</a:t>
                      </a:r>
                      <a:r>
                        <a:rPr lang="en-US" sz="2000" b="1" baseline="0" dirty="0" smtClean="0">
                          <a:latin typeface="Power Geez Unicode1" pitchFamily="2" charset="0"/>
                        </a:rPr>
                        <a:t> </a:t>
                      </a:r>
                      <a:r>
                        <a:rPr lang="en-US" sz="2000" b="1" baseline="0" dirty="0" err="1" smtClean="0">
                          <a:latin typeface="Power Geez Unicode1" pitchFamily="2" charset="0"/>
                        </a:rPr>
                        <a:t>የሚውል</a:t>
                      </a:r>
                      <a:r>
                        <a:rPr lang="en-US" sz="2000" b="1" baseline="0" dirty="0" smtClean="0">
                          <a:latin typeface="Power Geez Unicode1" pitchFamily="2" charset="0"/>
                        </a:rPr>
                        <a:t> </a:t>
                      </a:r>
                      <a:r>
                        <a:rPr lang="en-US" sz="2000" b="1" baseline="0" dirty="0" err="1" smtClean="0">
                          <a:latin typeface="Power Geez Unicode1" pitchFamily="2" charset="0"/>
                        </a:rPr>
                        <a:t>ደረቅ</a:t>
                      </a:r>
                      <a:r>
                        <a:rPr lang="en-US" sz="2000" b="1" baseline="0" dirty="0" smtClean="0">
                          <a:latin typeface="Power Geez Unicode1" pitchFamily="2" charset="0"/>
                        </a:rPr>
                        <a:t> </a:t>
                      </a:r>
                      <a:r>
                        <a:rPr lang="en-US" sz="2000" b="1" baseline="0" dirty="0" err="1" smtClean="0">
                          <a:latin typeface="Power Geez Unicode1" pitchFamily="2" charset="0"/>
                        </a:rPr>
                        <a:t>ቆሻሻ</a:t>
                      </a:r>
                      <a:r>
                        <a:rPr lang="en-US" sz="2000" b="1" baseline="0" dirty="0" smtClean="0">
                          <a:latin typeface="Power Geez Unicode1" pitchFamily="2" charset="0"/>
                        </a:rPr>
                        <a:t> </a:t>
                      </a:r>
                      <a:r>
                        <a:rPr lang="en-US" sz="2000" b="1" baseline="0" dirty="0" err="1" smtClean="0">
                          <a:latin typeface="Power Geez Unicode1" pitchFamily="2" charset="0"/>
                        </a:rPr>
                        <a:t>ከጽዳት</a:t>
                      </a:r>
                      <a:r>
                        <a:rPr lang="en-US" sz="2000" b="1" baseline="0" dirty="0" smtClean="0">
                          <a:latin typeface="Power Geez Unicode1" pitchFamily="2" charset="0"/>
                        </a:rPr>
                        <a:t> </a:t>
                      </a:r>
                      <a:r>
                        <a:rPr lang="en-US" sz="2000" b="1" baseline="0" dirty="0" err="1" smtClean="0">
                          <a:latin typeface="Power Geez Unicode1" pitchFamily="2" charset="0"/>
                        </a:rPr>
                        <a:t>አስተዳደር</a:t>
                      </a:r>
                      <a:r>
                        <a:rPr lang="en-US" sz="2000" b="1" baseline="0" dirty="0" smtClean="0">
                          <a:latin typeface="Power Geez Unicode1" pitchFamily="2" charset="0"/>
                        </a:rPr>
                        <a:t> </a:t>
                      </a:r>
                      <a:r>
                        <a:rPr lang="en-US" sz="2000" b="1" baseline="0" dirty="0" err="1" smtClean="0">
                          <a:latin typeface="Power Geez Unicode1" pitchFamily="2" charset="0"/>
                        </a:rPr>
                        <a:t>ኤጀንሲ</a:t>
                      </a:r>
                      <a:r>
                        <a:rPr lang="en-US" sz="2000" b="1" baseline="0" dirty="0" smtClean="0">
                          <a:latin typeface="Power Geez Unicode1" pitchFamily="2" charset="0"/>
                        </a:rPr>
                        <a:t> </a:t>
                      </a:r>
                      <a:r>
                        <a:rPr lang="en-US" sz="2000" b="1" baseline="0" dirty="0" err="1" smtClean="0">
                          <a:latin typeface="Power Geez Unicode1" pitchFamily="2" charset="0"/>
                        </a:rPr>
                        <a:t>ህጋዊ</a:t>
                      </a:r>
                      <a:r>
                        <a:rPr lang="en-US" sz="2000" b="1" baseline="0" dirty="0" smtClean="0">
                          <a:latin typeface="Power Geez Unicode1" pitchFamily="2" charset="0"/>
                        </a:rPr>
                        <a:t> </a:t>
                      </a:r>
                      <a:r>
                        <a:rPr lang="en-US" sz="2000" b="1" baseline="0" dirty="0" err="1" smtClean="0">
                          <a:latin typeface="Power Geez Unicode1" pitchFamily="2" charset="0"/>
                        </a:rPr>
                        <a:t>እውቅና</a:t>
                      </a:r>
                      <a:r>
                        <a:rPr lang="en-US" sz="2000" b="1" baseline="0" dirty="0" smtClean="0">
                          <a:latin typeface="Power Geez Unicode1" pitchFamily="2" charset="0"/>
                        </a:rPr>
                        <a:t> </a:t>
                      </a:r>
                      <a:r>
                        <a:rPr lang="en-US" sz="2000" b="1" baseline="0" dirty="0" err="1" smtClean="0">
                          <a:latin typeface="Power Geez Unicode1" pitchFamily="2" charset="0"/>
                        </a:rPr>
                        <a:t>ሳይኖረው</a:t>
                      </a:r>
                      <a:r>
                        <a:rPr lang="en-US" sz="2000" b="1" baseline="0" dirty="0" smtClean="0">
                          <a:latin typeface="Power Geez Unicode1" pitchFamily="2" charset="0"/>
                        </a:rPr>
                        <a:t> </a:t>
                      </a:r>
                      <a:r>
                        <a:rPr lang="en-US" sz="2000" b="1" baseline="0" dirty="0" err="1" smtClean="0">
                          <a:latin typeface="Power Geez Unicode1" pitchFamily="2" charset="0"/>
                        </a:rPr>
                        <a:t>በግል፤በማህበር</a:t>
                      </a:r>
                      <a:r>
                        <a:rPr lang="en-US" sz="2000" b="1" baseline="0" dirty="0" smtClean="0">
                          <a:latin typeface="Power Geez Unicode1" pitchFamily="2" charset="0"/>
                        </a:rPr>
                        <a:t> </a:t>
                      </a:r>
                      <a:r>
                        <a:rPr lang="en-US" sz="2000" b="1" baseline="0" dirty="0" err="1" smtClean="0">
                          <a:latin typeface="Power Geez Unicode1" pitchFamily="2" charset="0"/>
                        </a:rPr>
                        <a:t>ይሁን</a:t>
                      </a:r>
                      <a:r>
                        <a:rPr lang="en-US" sz="2000" b="1" baseline="0" dirty="0" smtClean="0">
                          <a:latin typeface="Power Geez Unicode1" pitchFamily="2" charset="0"/>
                        </a:rPr>
                        <a:t> </a:t>
                      </a:r>
                      <a:r>
                        <a:rPr lang="en-US" sz="2000" b="1" baseline="0" dirty="0" err="1" smtClean="0">
                          <a:latin typeface="Power Geez Unicode1" pitchFamily="2" charset="0"/>
                        </a:rPr>
                        <a:t>በድርጅት</a:t>
                      </a:r>
                      <a:r>
                        <a:rPr lang="en-US" sz="2000" b="1" baseline="0" dirty="0" smtClean="0">
                          <a:latin typeface="Power Geez Unicode1" pitchFamily="2" charset="0"/>
                        </a:rPr>
                        <a:t> </a:t>
                      </a:r>
                      <a:r>
                        <a:rPr lang="en-US" sz="2000" b="1" baseline="0" dirty="0" err="1" smtClean="0">
                          <a:latin typeface="Power Geez Unicode1" pitchFamily="2" charset="0"/>
                        </a:rPr>
                        <a:t>ስም</a:t>
                      </a:r>
                      <a:r>
                        <a:rPr lang="en-US" sz="2000" b="1" baseline="0" dirty="0" smtClean="0">
                          <a:latin typeface="Power Geez Unicode1" pitchFamily="2" charset="0"/>
                        </a:rPr>
                        <a:t> </a:t>
                      </a:r>
                      <a:r>
                        <a:rPr lang="en-US" sz="2000" b="1" baseline="0" dirty="0" err="1" smtClean="0">
                          <a:latin typeface="Power Geez Unicode1" pitchFamily="2" charset="0"/>
                        </a:rPr>
                        <a:t>በግቢ</a:t>
                      </a:r>
                      <a:r>
                        <a:rPr lang="en-US" sz="2000" b="1" baseline="0" dirty="0" smtClean="0">
                          <a:latin typeface="Power Geez Unicode1" pitchFamily="2" charset="0"/>
                        </a:rPr>
                        <a:t> </a:t>
                      </a:r>
                      <a:r>
                        <a:rPr lang="en-US" sz="2000" b="1" baseline="0" dirty="0" err="1" smtClean="0">
                          <a:latin typeface="Power Geez Unicode1" pitchFamily="2" charset="0"/>
                        </a:rPr>
                        <a:t>ውስጥ</a:t>
                      </a:r>
                      <a:r>
                        <a:rPr lang="en-US" sz="2000" b="1" baseline="0" dirty="0" smtClean="0">
                          <a:latin typeface="Power Geez Unicode1" pitchFamily="2" charset="0"/>
                        </a:rPr>
                        <a:t> </a:t>
                      </a:r>
                      <a:r>
                        <a:rPr lang="en-US" sz="2000" b="1" baseline="0" dirty="0" err="1" smtClean="0">
                          <a:latin typeface="Power Geez Unicode1" pitchFamily="2" charset="0"/>
                        </a:rPr>
                        <a:t>ወይም</a:t>
                      </a:r>
                      <a:r>
                        <a:rPr lang="en-US" sz="2000" b="1" baseline="0" dirty="0" smtClean="0">
                          <a:latin typeface="Power Geez Unicode1" pitchFamily="2" charset="0"/>
                        </a:rPr>
                        <a:t> </a:t>
                      </a:r>
                      <a:r>
                        <a:rPr lang="en-US" sz="2000" b="1" baseline="0" dirty="0" err="1" smtClean="0">
                          <a:latin typeface="Power Geez Unicode1" pitchFamily="2" charset="0"/>
                        </a:rPr>
                        <a:t>በክፍት</a:t>
                      </a:r>
                      <a:r>
                        <a:rPr lang="en-US" sz="2000" b="1" baseline="0" dirty="0" smtClean="0">
                          <a:latin typeface="Power Geez Unicode1" pitchFamily="2" charset="0"/>
                        </a:rPr>
                        <a:t> </a:t>
                      </a:r>
                      <a:r>
                        <a:rPr lang="en-US" sz="2000" b="1" baseline="0" dirty="0" err="1" smtClean="0">
                          <a:latin typeface="Power Geez Unicode1" pitchFamily="2" charset="0"/>
                        </a:rPr>
                        <a:t>ቦታ</a:t>
                      </a:r>
                      <a:r>
                        <a:rPr lang="en-US" sz="2000" b="1" baseline="0" dirty="0" smtClean="0">
                          <a:latin typeface="Power Geez Unicode1" pitchFamily="2" charset="0"/>
                        </a:rPr>
                        <a:t> </a:t>
                      </a:r>
                      <a:r>
                        <a:rPr lang="en-US" sz="2000" b="1" baseline="0" dirty="0" err="1" smtClean="0">
                          <a:latin typeface="Power Geez Unicode1" pitchFamily="2" charset="0"/>
                        </a:rPr>
                        <a:t>ያከማቸ</a:t>
                      </a:r>
                      <a:r>
                        <a:rPr lang="en-US" sz="2000" b="1" baseline="0" dirty="0" smtClean="0">
                          <a:latin typeface="Power Geez Unicode1" pitchFamily="2" charset="0"/>
                        </a:rPr>
                        <a:t> </a:t>
                      </a:r>
                      <a:r>
                        <a:rPr lang="en-US" sz="2000" b="1" baseline="0" dirty="0" err="1" smtClean="0">
                          <a:latin typeface="Power Geez Unicode1" pitchFamily="2" charset="0"/>
                        </a:rPr>
                        <a:t>ማንኛውም</a:t>
                      </a:r>
                      <a:r>
                        <a:rPr lang="en-US" sz="2000" b="1" baseline="0" dirty="0" smtClean="0">
                          <a:latin typeface="Power Geez Unicode1" pitchFamily="2" charset="0"/>
                        </a:rPr>
                        <a:t> </a:t>
                      </a:r>
                      <a:r>
                        <a:rPr lang="en-US" sz="2000" b="1" baseline="0" dirty="0" err="1" smtClean="0">
                          <a:latin typeface="Power Geez Unicode1" pitchFamily="2" charset="0"/>
                        </a:rPr>
                        <a:t>ሰው</a:t>
                      </a:r>
                      <a:r>
                        <a:rPr lang="en-US" sz="2000" b="1" baseline="0" dirty="0" smtClean="0">
                          <a:latin typeface="Power Geez Unicode1" pitchFamily="2" charset="0"/>
                        </a:rPr>
                        <a:t> </a:t>
                      </a:r>
                      <a:endParaRPr lang="en-US" sz="2000" b="1" dirty="0">
                        <a:latin typeface="Power Geez Unicode1" pitchFamily="2" charset="0"/>
                      </a:endParaRPr>
                    </a:p>
                  </a:txBody>
                  <a:tcPr/>
                </a:tc>
                <a:tc>
                  <a:txBody>
                    <a:bodyPr/>
                    <a:lstStyle/>
                    <a:p>
                      <a:r>
                        <a:rPr lang="en-US" sz="2000" dirty="0" smtClean="0">
                          <a:latin typeface="Power Geez Unicode1" pitchFamily="2" charset="0"/>
                        </a:rPr>
                        <a:t> </a:t>
                      </a:r>
                    </a:p>
                    <a:p>
                      <a:endParaRPr lang="en-US" sz="2000" b="1" dirty="0" smtClean="0">
                        <a:latin typeface="Power Geez Unicode1" pitchFamily="2" charset="0"/>
                      </a:endParaRPr>
                    </a:p>
                    <a:p>
                      <a:endParaRPr lang="en-US" sz="2000" b="1" baseline="0" dirty="0" smtClean="0">
                        <a:solidFill>
                          <a:schemeClr val="tx1"/>
                        </a:solidFill>
                        <a:latin typeface="Power Geez Unicode1" pitchFamily="2" charset="0"/>
                      </a:endParaRPr>
                    </a:p>
                    <a:p>
                      <a:endParaRPr lang="en-US" sz="2000" b="1" baseline="0" dirty="0" smtClean="0">
                        <a:solidFill>
                          <a:schemeClr val="tx1"/>
                        </a:solidFill>
                        <a:latin typeface="Power Geez Unicode1" pitchFamily="2" charset="0"/>
                      </a:endParaRPr>
                    </a:p>
                    <a:p>
                      <a:r>
                        <a:rPr lang="en-US" sz="2000" b="1" baseline="0" dirty="0" err="1" smtClean="0">
                          <a:solidFill>
                            <a:srgbClr val="FF0000"/>
                          </a:solidFill>
                          <a:latin typeface="Power Geez Unicode1" pitchFamily="2" charset="0"/>
                        </a:rPr>
                        <a:t>ብር</a:t>
                      </a:r>
                      <a:endParaRPr lang="en-US" sz="2000" b="1" baseline="0" dirty="0" smtClean="0">
                        <a:solidFill>
                          <a:srgbClr val="FF0000"/>
                        </a:solidFill>
                        <a:latin typeface="Power Geez Unicode1" pitchFamily="2" charset="0"/>
                      </a:endParaRPr>
                    </a:p>
                    <a:p>
                      <a:r>
                        <a:rPr lang="en-US" sz="2000" b="1" baseline="0" dirty="0" smtClean="0">
                          <a:solidFill>
                            <a:srgbClr val="FF0000"/>
                          </a:solidFill>
                          <a:latin typeface="Power Geez Unicode1" pitchFamily="2" charset="0"/>
                        </a:rPr>
                        <a:t>2.000</a:t>
                      </a:r>
                    </a:p>
                    <a:p>
                      <a:endParaRPr lang="en-US" sz="2000" b="1" baseline="0" dirty="0" smtClean="0">
                        <a:solidFill>
                          <a:schemeClr val="tx1"/>
                        </a:solidFill>
                        <a:latin typeface="Power Geez Unicode1" pitchFamily="2" charset="0"/>
                      </a:endParaRPr>
                    </a:p>
                    <a:p>
                      <a:endParaRPr lang="en-US" sz="2000" b="1" baseline="0" dirty="0" smtClean="0">
                        <a:solidFill>
                          <a:schemeClr val="tx1"/>
                        </a:solidFill>
                        <a:latin typeface="Power Geez Unicode1" pitchFamily="2" charset="0"/>
                      </a:endParaRPr>
                    </a:p>
                    <a:p>
                      <a:endParaRPr lang="en-US" sz="2000" b="1" baseline="0" dirty="0" smtClean="0">
                        <a:solidFill>
                          <a:schemeClr val="tx1"/>
                        </a:solidFill>
                        <a:latin typeface="Power Geez Unicode1" pitchFamily="2" charset="0"/>
                      </a:endParaRPr>
                    </a:p>
                    <a:p>
                      <a:endParaRPr lang="en-US" sz="1400" b="1" baseline="0" dirty="0" smtClean="0">
                        <a:solidFill>
                          <a:schemeClr val="tx1"/>
                        </a:solidFill>
                        <a:latin typeface="Power Geez Unicode1" pitchFamily="2" charset="0"/>
                      </a:endParaRPr>
                    </a:p>
                    <a:p>
                      <a:endParaRPr lang="en-US" sz="2000" b="1" dirty="0" smtClean="0">
                        <a:latin typeface="Power Geez Unicode1" pitchFamily="2" charset="0"/>
                      </a:endParaRPr>
                    </a:p>
                    <a:p>
                      <a:endParaRPr lang="en-US" sz="2000" b="1" dirty="0" smtClean="0">
                        <a:latin typeface="Power Geez Unicode1" pitchFamily="2" charset="0"/>
                      </a:endParaRPr>
                    </a:p>
                  </a:txBody>
                  <a:tcPr/>
                </a:tc>
                <a:tc>
                  <a:txBody>
                    <a:bodyPr/>
                    <a:lstStyle/>
                    <a:p>
                      <a:endParaRPr lang="en-US" sz="1600" b="1" dirty="0" smtClean="0">
                        <a:latin typeface="Power Geez Unicode1" pitchFamily="2" charset="0"/>
                      </a:endParaRPr>
                    </a:p>
                    <a:p>
                      <a:pPr marL="0" marR="0" indent="0" algn="ctr" defTabSz="914400" rtl="0" eaLnBrk="1" fontAlgn="auto" latinLnBrk="0" hangingPunct="1">
                        <a:lnSpc>
                          <a:spcPct val="100000"/>
                        </a:lnSpc>
                        <a:spcBef>
                          <a:spcPts val="100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	</a:t>
                      </a:r>
                      <a:endParaRPr lang="en-US" sz="2000" b="1" dirty="0" smtClean="0">
                        <a:solidFill>
                          <a:srgbClr val="002060"/>
                        </a:solidFill>
                        <a:effectLst/>
                        <a:latin typeface="Power Geez Unicode1" pitchFamily="2" charset="0"/>
                        <a:ea typeface="Times New Roman"/>
                        <a:cs typeface="Visual Geez Unicode"/>
                      </a:endParaRPr>
                    </a:p>
                    <a:p>
                      <a:pPr marL="0" marR="0" algn="ctr">
                        <a:spcBef>
                          <a:spcPts val="1000"/>
                        </a:spcBef>
                        <a:spcAft>
                          <a:spcPts val="0"/>
                        </a:spcAft>
                      </a:pPr>
                      <a:endParaRPr lang="en-US" sz="1800" b="1" dirty="0" smtClean="0">
                        <a:solidFill>
                          <a:srgbClr val="002060"/>
                        </a:solidFill>
                        <a:effectLst/>
                        <a:latin typeface="Power Geez Unicode1" pitchFamily="2" charset="0"/>
                        <a:ea typeface="Times New Roman"/>
                        <a:cs typeface="Visual Geez Unicode"/>
                      </a:endParaRPr>
                    </a:p>
                    <a:p>
                      <a:pPr marL="0" marR="0" algn="ctr">
                        <a:spcBef>
                          <a:spcPts val="1000"/>
                        </a:spcBef>
                        <a:spcAft>
                          <a:spcPts val="0"/>
                        </a:spcAft>
                      </a:pPr>
                      <a:r>
                        <a:rPr lang="en-US" sz="2000" b="1" baseline="0" dirty="0" smtClean="0">
                          <a:solidFill>
                            <a:srgbClr val="002060"/>
                          </a:solidFill>
                          <a:effectLst/>
                          <a:latin typeface="Power Geez Unicode1" pitchFamily="2" charset="0"/>
                          <a:ea typeface="Times New Roman"/>
                          <a:cs typeface="Visual Geez Unicode"/>
                        </a:rPr>
                        <a:t> </a:t>
                      </a:r>
                      <a:r>
                        <a:rPr lang="en-US" sz="2000" b="1" dirty="0" err="1" smtClean="0">
                          <a:solidFill>
                            <a:srgbClr val="002060"/>
                          </a:solidFill>
                          <a:effectLst/>
                          <a:latin typeface="Power Geez Unicode1" pitchFamily="2" charset="0"/>
                          <a:ea typeface="Times New Roman"/>
                          <a:cs typeface="Visual Geez Unicode"/>
                        </a:rPr>
                        <a:t>ብር</a:t>
                      </a:r>
                      <a:r>
                        <a:rPr lang="en-US" sz="2000" b="1" dirty="0" smtClean="0">
                          <a:solidFill>
                            <a:srgbClr val="002060"/>
                          </a:solidFill>
                          <a:effectLst/>
                          <a:latin typeface="Power Geez Unicode1" pitchFamily="2" charset="0"/>
                          <a:ea typeface="Times New Roman"/>
                          <a:cs typeface="Visual Geez Unicode"/>
                        </a:rPr>
                        <a:t> 20,000.00 </a:t>
                      </a:r>
                    </a:p>
                    <a:p>
                      <a:pPr marL="0" marR="0" algn="ctr">
                        <a:spcBef>
                          <a:spcPts val="1000"/>
                        </a:spcBef>
                        <a:spcAft>
                          <a:spcPts val="0"/>
                        </a:spcAft>
                      </a:pPr>
                      <a:endParaRPr lang="en-US" sz="3200" b="1" dirty="0" smtClean="0">
                        <a:solidFill>
                          <a:srgbClr val="002060"/>
                        </a:solidFill>
                        <a:effectLst/>
                        <a:latin typeface="Power Geez Unicode1" pitchFamily="2" charset="0"/>
                        <a:ea typeface="Times New Roman"/>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በሰንጠረዡ የተቀመጠውን የቅጣት ክፍያ መጠን መክፈልና ያከማቸውን ቆሻሻ ማስወገድ 	</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txBody>
                  <a:tcPr/>
                </a:tc>
              </a:tr>
              <a:tr h="828832">
                <a:tc>
                  <a:txBody>
                    <a:bodyPr/>
                    <a:lstStyle/>
                    <a:p>
                      <a:endParaRPr lang="en-US" sz="2000" dirty="0" smtClean="0">
                        <a:latin typeface="Power Geez Unicode1" pitchFamily="2" charset="0"/>
                      </a:endParaRPr>
                    </a:p>
                    <a:p>
                      <a:endParaRPr lang="en-US" sz="2000" dirty="0" smtClean="0">
                        <a:latin typeface="Power Geez Unicode1" pitchFamily="2" charset="0"/>
                      </a:endParaRPr>
                    </a:p>
                  </a:txBody>
                  <a:tcPr/>
                </a:tc>
                <a:tc>
                  <a:txBody>
                    <a:bodyPr/>
                    <a:lstStyle/>
                    <a:p>
                      <a:pPr marL="0" marR="0" algn="ctr">
                        <a:spcBef>
                          <a:spcPts val="1000"/>
                        </a:spcBef>
                        <a:spcAft>
                          <a:spcPts val="0"/>
                        </a:spcAft>
                      </a:pPr>
                      <a:endParaRPr lang="en-US" sz="2400" dirty="0">
                        <a:latin typeface="Power Geez Unicode1" pitchFamily="2" charset="0"/>
                      </a:endParaRPr>
                    </a:p>
                  </a:txBody>
                  <a:tcPr>
                    <a:solidFill>
                      <a:schemeClr val="bg1"/>
                    </a:solidFill>
                  </a:tcPr>
                </a:tc>
                <a:tc>
                  <a:txBody>
                    <a:bodyPr/>
                    <a:lstStyle/>
                    <a:p>
                      <a:endParaRPr lang="en-US" sz="2400" dirty="0" smtClean="0">
                        <a:latin typeface="Power Geez Unicode1" pitchFamily="2" charset="0"/>
                      </a:endParaRPr>
                    </a:p>
                    <a:p>
                      <a:endParaRPr lang="en-US" sz="1800" b="1" dirty="0" smtClean="0">
                        <a:solidFill>
                          <a:schemeClr val="tx1"/>
                        </a:solidFill>
                        <a:latin typeface="Power Geez Unicode1" pitchFamily="2" charset="0"/>
                      </a:endParaRPr>
                    </a:p>
                  </a:txBody>
                  <a:tcPr/>
                </a:tc>
                <a:tc>
                  <a:txBody>
                    <a:bodyPr/>
                    <a:lstStyle/>
                    <a:p>
                      <a:pPr marL="0" marR="0" algn="ctr">
                        <a:spcBef>
                          <a:spcPts val="1000"/>
                        </a:spcBef>
                        <a:spcAft>
                          <a:spcPts val="0"/>
                        </a:spcAft>
                      </a:pPr>
                      <a:endParaRPr lang="en-US" sz="2400" b="0" dirty="0" smtClean="0">
                        <a:solidFill>
                          <a:srgbClr val="4F81BD"/>
                        </a:solidFill>
                        <a:effectLst/>
                        <a:latin typeface="Power Geez Unicode1" pitchFamily="2" charset="0"/>
                        <a:ea typeface="Times New Roman"/>
                        <a:cs typeface="Visual Geez Unicode"/>
                      </a:endParaRPr>
                    </a:p>
                    <a:p>
                      <a:endParaRPr lang="en-US" sz="2400" dirty="0" smtClean="0">
                        <a:latin typeface="Power Geez Unicode1" pitchFamily="2" charset="0"/>
                      </a:endParaRPr>
                    </a:p>
                    <a:p>
                      <a:endParaRPr lang="en-US" sz="2400" dirty="0">
                        <a:latin typeface="Power Geez Unicode1" pitchFamily="2"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kern="1200" dirty="0" smtClean="0">
                        <a:solidFill>
                          <a:schemeClr val="dk1"/>
                        </a:solidFill>
                        <a:effectLst/>
                        <a:latin typeface="Power Geez Unicode1" pitchFamily="2" charset="0"/>
                        <a:ea typeface="+mn-ea"/>
                        <a:cs typeface="+mn-cs"/>
                      </a:endParaRPr>
                    </a:p>
                    <a:p>
                      <a:endParaRPr lang="en-US" sz="2400" dirty="0">
                        <a:latin typeface="Power Geez Unicode1" pitchFamily="2" charset="0"/>
                      </a:endParaRPr>
                    </a:p>
                  </a:txBody>
                  <a:tcPr/>
                </a:tc>
              </a:tr>
            </a:tbl>
          </a:graphicData>
        </a:graphic>
      </p:graphicFrame>
    </p:spTree>
    <p:extLst>
      <p:ext uri="{BB962C8B-B14F-4D97-AF65-F5344CB8AC3E}">
        <p14:creationId xmlns:p14="http://schemas.microsoft.com/office/powerpoint/2010/main" val="1959846311"/>
      </p:ext>
    </p:extLst>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893750692"/>
              </p:ext>
            </p:extLst>
          </p:nvPr>
        </p:nvGraphicFramePr>
        <p:xfrm>
          <a:off x="76200" y="-33167"/>
          <a:ext cx="8940800" cy="7074047"/>
        </p:xfrm>
        <a:graphic>
          <a:graphicData uri="http://schemas.openxmlformats.org/drawingml/2006/table">
            <a:tbl>
              <a:tblPr firstRow="1" bandRow="1">
                <a:tableStyleId>{5C22544A-7EE6-4342-B048-85BDC9FD1C3A}</a:tableStyleId>
              </a:tblPr>
              <a:tblGrid>
                <a:gridCol w="711199"/>
                <a:gridCol w="3612697"/>
                <a:gridCol w="1340303"/>
                <a:gridCol w="1493521"/>
                <a:gridCol w="1783080"/>
              </a:tblGrid>
              <a:tr h="872307">
                <a:tc>
                  <a:txBody>
                    <a:bodyPr/>
                    <a:lstStyle/>
                    <a:p>
                      <a:r>
                        <a:rPr lang="am-ET" sz="1800" b="0" i="0" u="none" strike="noStrike" baseline="0" dirty="0" smtClean="0">
                          <a:solidFill>
                            <a:srgbClr val="000000"/>
                          </a:solidFill>
                          <a:latin typeface="Visual Geez Unicode"/>
                        </a:rPr>
                        <a:t>ተ.ቁ</a:t>
                      </a:r>
                      <a:r>
                        <a:rPr lang="am-ET" sz="1400" b="0" i="0" u="none" strike="noStrike" baseline="0" dirty="0" smtClean="0">
                          <a:solidFill>
                            <a:srgbClr val="000000"/>
                          </a:solidFill>
                          <a:latin typeface="Visual Geez Unicode"/>
                        </a:rPr>
                        <a:t> 	</a:t>
                      </a:r>
                      <a:r>
                        <a:rPr lang="en-US" sz="1400" b="0" i="0" u="none" strike="noStrike" baseline="0" dirty="0" smtClean="0">
                          <a:solidFill>
                            <a:srgbClr val="000000"/>
                          </a:solidFill>
                          <a:latin typeface="Power Geez Unicode1" pitchFamily="2" charset="0"/>
                        </a:rPr>
                        <a:t> </a:t>
                      </a:r>
                      <a:endParaRPr lang="am-ET" sz="1400" b="0" i="0" u="none" strike="noStrike" baseline="0" dirty="0" smtClean="0">
                        <a:solidFill>
                          <a:srgbClr val="000000"/>
                        </a:solidFill>
                        <a:latin typeface="Visual Geez Unicode"/>
                      </a:endParaRPr>
                    </a:p>
                  </a:txBody>
                  <a:tcPr/>
                </a:tc>
                <a:tc>
                  <a:txBody>
                    <a:bodyPr/>
                    <a:lstStyle/>
                    <a:p>
                      <a:r>
                        <a:rPr lang="en-US" sz="1800" b="1" i="0" u="none" strike="noStrike" baseline="0" dirty="0" err="1" smtClean="0">
                          <a:solidFill>
                            <a:srgbClr val="FF0000"/>
                          </a:solidFill>
                          <a:latin typeface="Power Geez Unicode1" pitchFamily="2" charset="0"/>
                        </a:rPr>
                        <a:t>የጥፋት</a:t>
                      </a:r>
                      <a:r>
                        <a:rPr lang="en-US" sz="1800" b="1" i="0" u="none" strike="noStrike" baseline="0" dirty="0" smtClean="0">
                          <a:solidFill>
                            <a:srgbClr val="FF0000"/>
                          </a:solidFill>
                          <a:latin typeface="Power Geez Unicode1" pitchFamily="2" charset="0"/>
                        </a:rPr>
                        <a:t> </a:t>
                      </a:r>
                      <a:r>
                        <a:rPr lang="en-US" sz="1800" b="1" i="0" u="none" strike="noStrike" baseline="0" dirty="0" err="1" smtClean="0">
                          <a:solidFill>
                            <a:srgbClr val="FF0000"/>
                          </a:solidFill>
                          <a:latin typeface="Power Geez Unicode1" pitchFamily="2" charset="0"/>
                        </a:rPr>
                        <a:t>አይነቶች</a:t>
                      </a:r>
                      <a:endParaRPr lang="am-ET" sz="1800" b="1" i="0" u="none" strike="noStrike" baseline="0" dirty="0" smtClean="0">
                        <a:solidFill>
                          <a:srgbClr val="FF0000"/>
                        </a:solidFill>
                        <a:latin typeface="Visual Geez Unicode"/>
                      </a:endParaRPr>
                    </a:p>
                  </a:txBody>
                  <a:tcPr/>
                </a:tc>
                <a:tc>
                  <a:txBody>
                    <a:bodyPr/>
                    <a:lstStyle/>
                    <a:p>
                      <a:r>
                        <a:rPr lang="en-US" sz="1400" b="0" i="0" u="none" strike="noStrike" baseline="0" dirty="0" err="1" smtClean="0">
                          <a:solidFill>
                            <a:srgbClr val="000000"/>
                          </a:solidFill>
                          <a:latin typeface="Power Geez Unicode1" pitchFamily="2" charset="0"/>
                        </a:rPr>
                        <a:t>ቀድሞ</a:t>
                      </a:r>
                      <a:r>
                        <a:rPr lang="en-US" sz="1400" b="0" i="0" u="none" strike="noStrike" baseline="0" dirty="0" smtClean="0">
                          <a:solidFill>
                            <a:srgbClr val="000000"/>
                          </a:solidFill>
                          <a:latin typeface="Power Geez Unicode1" pitchFamily="2" charset="0"/>
                        </a:rPr>
                        <a:t> በነበረው150/2015 </a:t>
                      </a:r>
                      <a:r>
                        <a:rPr lang="en-US" sz="1400" b="0" i="0" u="none" strike="noStrike" baseline="0" dirty="0" err="1" smtClean="0">
                          <a:solidFill>
                            <a:srgbClr val="000000"/>
                          </a:solidFill>
                          <a:latin typeface="Power Geez Unicode1" pitchFamily="2" charset="0"/>
                        </a:rPr>
                        <a:t>የተቀመጠ</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ቅጣት</a:t>
                      </a:r>
                      <a:endParaRPr lang="am-ET" sz="1400" b="0" i="0" u="none" strike="noStrike" baseline="0" dirty="0" smtClean="0">
                        <a:solidFill>
                          <a:srgbClr val="000000"/>
                        </a:solidFill>
                        <a:latin typeface="Visual Geez Unicode"/>
                      </a:endParaRPr>
                    </a:p>
                  </a:txBody>
                  <a:tcPr/>
                </a:tc>
                <a:tc>
                  <a:txBody>
                    <a:bodyPr/>
                    <a:lstStyle/>
                    <a:p>
                      <a:r>
                        <a:rPr lang="en-US" sz="1400" b="0" i="0" u="none" strike="noStrike" baseline="0" dirty="0" err="1" smtClean="0">
                          <a:solidFill>
                            <a:srgbClr val="000000"/>
                          </a:solidFill>
                          <a:latin typeface="Power Geez Unicode1" pitchFamily="2" charset="0"/>
                        </a:rPr>
                        <a:t>አሁን</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በተሸሻለው</a:t>
                      </a:r>
                      <a:r>
                        <a:rPr lang="en-US" sz="1400" b="0" i="0" u="none" strike="noStrike" baseline="0" dirty="0" smtClean="0">
                          <a:solidFill>
                            <a:srgbClr val="000000"/>
                          </a:solidFill>
                          <a:latin typeface="Power Geez Unicode1" pitchFamily="2" charset="0"/>
                        </a:rPr>
                        <a:t> 167/16 </a:t>
                      </a:r>
                      <a:r>
                        <a:rPr lang="en-US" sz="1400" b="0" i="0" u="none" strike="noStrike" baseline="0" dirty="0" err="1" smtClean="0">
                          <a:solidFill>
                            <a:srgbClr val="000000"/>
                          </a:solidFill>
                          <a:latin typeface="Power Geez Unicode1" pitchFamily="2" charset="0"/>
                        </a:rPr>
                        <a:t>የተቀመጠ</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ቅጣት</a:t>
                      </a:r>
                      <a:endParaRPr lang="am-ET" sz="1400" b="0" i="0" u="none" strike="noStrike" baseline="0" dirty="0" smtClean="0">
                        <a:solidFill>
                          <a:srgbClr val="000000"/>
                        </a:solidFill>
                        <a:latin typeface="Visual Geez Unicode"/>
                      </a:endParaRPr>
                    </a:p>
                  </a:txBody>
                  <a:tcPr/>
                </a:tc>
                <a:tc>
                  <a:txBody>
                    <a:bodyPr/>
                    <a:lstStyle/>
                    <a:p>
                      <a:r>
                        <a:rPr lang="en-US" sz="1600" dirty="0" err="1" smtClean="0">
                          <a:solidFill>
                            <a:schemeClr val="tx1"/>
                          </a:solidFill>
                          <a:latin typeface="Power Geez Unicode1" pitchFamily="2" charset="0"/>
                        </a:rPr>
                        <a:t>ከህገ</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ወጥ</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ፈፃሚው</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የሚጠበቅ</a:t>
                      </a:r>
                      <a:endParaRPr lang="en-US" sz="1600" dirty="0">
                        <a:solidFill>
                          <a:schemeClr val="tx1"/>
                        </a:solidFill>
                        <a:latin typeface="Power Geez Unicode1" pitchFamily="2" charset="0"/>
                      </a:endParaRPr>
                    </a:p>
                  </a:txBody>
                  <a:tcPr/>
                </a:tc>
              </a:tr>
              <a:tr h="2898287">
                <a:tc>
                  <a:txBody>
                    <a:bodyPr/>
                    <a:lstStyle/>
                    <a:p>
                      <a:endParaRPr lang="en-US" sz="2400" dirty="0" smtClean="0">
                        <a:latin typeface="Power Geez Unicode1" pitchFamily="2" charset="0"/>
                      </a:endParaRPr>
                    </a:p>
                    <a:p>
                      <a:r>
                        <a:rPr lang="en-US" sz="2400" dirty="0" smtClean="0">
                          <a:latin typeface="Power Geez Unicode1" pitchFamily="2" charset="0"/>
                        </a:rPr>
                        <a:t>4</a:t>
                      </a:r>
                    </a:p>
                    <a:p>
                      <a:endParaRPr lang="en-US" sz="2400" dirty="0" smtClean="0">
                        <a:latin typeface="Power Geez Unicode1" pitchFamily="2" charset="0"/>
                      </a:endParaRPr>
                    </a:p>
                    <a:p>
                      <a:endParaRPr lang="en-US" sz="2400" dirty="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pPr marL="0" marR="0" lvl="1" indent="0" algn="just">
                        <a:spcBef>
                          <a:spcPts val="1000"/>
                        </a:spcBef>
                        <a:spcAft>
                          <a:spcPts val="0"/>
                        </a:spcAft>
                        <a:buFont typeface="+mj-lt"/>
                        <a:buNone/>
                      </a:pPr>
                      <a:endParaRPr lang="en-US" sz="1400" b="1" dirty="0" smtClean="0">
                        <a:solidFill>
                          <a:srgbClr val="002060"/>
                        </a:solidFill>
                        <a:effectLst/>
                        <a:latin typeface="Power Geez Unicode1" pitchFamily="2" charset="0"/>
                        <a:ea typeface="Times New Roman"/>
                        <a:cs typeface="Times New Roman"/>
                      </a:endParaRPr>
                    </a:p>
                    <a:p>
                      <a:pPr marL="0" marR="0" lvl="1" indent="0" algn="just" defTabSz="914400" rtl="0" eaLnBrk="1" fontAlgn="auto" latinLnBrk="0" hangingPunct="1">
                        <a:lnSpc>
                          <a:spcPct val="100000"/>
                        </a:lnSpc>
                        <a:spcBef>
                          <a:spcPts val="1000"/>
                        </a:spcBef>
                        <a:spcAft>
                          <a:spcPts val="0"/>
                        </a:spcAft>
                        <a:buClrTx/>
                        <a:buSzTx/>
                        <a:buFont typeface="+mj-lt"/>
                        <a:buNone/>
                        <a:tabLst/>
                        <a:defRPr/>
                      </a:pPr>
                      <a:r>
                        <a:rPr lang="am-ET" sz="2000" b="1" i="0" u="none" strike="noStrike" kern="1200" baseline="0" dirty="0" smtClean="0">
                          <a:solidFill>
                            <a:schemeClr val="dk1"/>
                          </a:solidFill>
                          <a:latin typeface="+mn-lt"/>
                          <a:ea typeface="+mn-ea"/>
                          <a:cs typeface="+mn-cs"/>
                        </a:rPr>
                        <a:t>በመልሶ መጠቀምና ኡደት ማድረግ ዘርፍ የተሰማራ ግለሰብ፤ ማህበር ወይም ድርጅት ለመልሶ መጠቀምና ኡደት የዋለ ደረቅ ቆሻሻ መረጃ ለሚጠይቀው ህጋዊ አካል ካልሰጠ፤</a:t>
                      </a:r>
                      <a:r>
                        <a:rPr lang="am-ET" sz="2000" b="0" i="0" u="none" strike="noStrike" kern="1200" baseline="0" dirty="0" smtClean="0">
                          <a:solidFill>
                            <a:schemeClr val="dk1"/>
                          </a:solidFill>
                          <a:latin typeface="+mn-lt"/>
                          <a:ea typeface="+mn-ea"/>
                          <a:cs typeface="+mn-cs"/>
                        </a:rPr>
                        <a:t> 	</a:t>
                      </a:r>
                      <a:r>
                        <a:rPr lang="en-US" sz="1200" b="1" dirty="0" smtClean="0">
                          <a:effectLst/>
                          <a:latin typeface="Power Geez Unicode1" pitchFamily="2" charset="0"/>
                          <a:ea typeface="Times New Roman"/>
                          <a:cs typeface="Visual Geez Unicode"/>
                        </a:rPr>
                        <a:t> </a:t>
                      </a:r>
                      <a:endParaRPr lang="en-US" sz="2400" dirty="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r>
                        <a:rPr lang="en-US" sz="2400" dirty="0" smtClean="0">
                          <a:latin typeface="Power Geez Unicode1" pitchFamily="2" charset="0"/>
                        </a:rPr>
                        <a:t> </a:t>
                      </a:r>
                    </a:p>
                    <a:p>
                      <a:endParaRPr lang="en-US" sz="2400" b="1" dirty="0" smtClean="0">
                        <a:latin typeface="Power Geez Unicode1" pitchFamily="2" charset="0"/>
                      </a:endParaRPr>
                    </a:p>
                    <a:p>
                      <a:endParaRPr lang="en-US" sz="2400" b="1" dirty="0" smtClean="0">
                        <a:latin typeface="Power Geez Unicode1" pitchFamily="2" charset="0"/>
                      </a:endParaRPr>
                    </a:p>
                    <a:p>
                      <a:pPr algn="just"/>
                      <a:r>
                        <a:rPr lang="en-US" sz="1800" b="1" dirty="0" err="1" smtClean="0">
                          <a:solidFill>
                            <a:srgbClr val="FF0000"/>
                          </a:solidFill>
                          <a:latin typeface="Power Geez Unicode1" pitchFamily="2" charset="0"/>
                        </a:rPr>
                        <a:t>ብር</a:t>
                      </a:r>
                      <a:endParaRPr lang="en-US" sz="1800" b="1" dirty="0" smtClean="0">
                        <a:solidFill>
                          <a:srgbClr val="FF0000"/>
                        </a:solidFill>
                        <a:latin typeface="Power Geez Unicode1" pitchFamily="2" charset="0"/>
                      </a:endParaRPr>
                    </a:p>
                    <a:p>
                      <a:pPr algn="just"/>
                      <a:r>
                        <a:rPr lang="en-US" sz="1800" b="1" dirty="0" smtClean="0">
                          <a:solidFill>
                            <a:srgbClr val="FF0000"/>
                          </a:solidFill>
                          <a:latin typeface="Power Geez Unicode1" pitchFamily="2" charset="0"/>
                        </a:rPr>
                        <a:t>1.000</a:t>
                      </a:r>
                    </a:p>
                  </a:txBody>
                  <a:tcPr>
                    <a:lnB w="12700" cap="flat" cmpd="sng" algn="ctr">
                      <a:solidFill>
                        <a:schemeClr val="tx1"/>
                      </a:solidFill>
                      <a:prstDash val="solid"/>
                      <a:round/>
                      <a:headEnd type="none" w="med" len="med"/>
                      <a:tailEnd type="none" w="med" len="med"/>
                    </a:lnB>
                  </a:tcPr>
                </a:tc>
                <a:tc>
                  <a:txBody>
                    <a:bodyPr/>
                    <a:lstStyle/>
                    <a:p>
                      <a:endParaRPr lang="en-US" sz="1800" b="1" dirty="0" smtClean="0">
                        <a:latin typeface="Power Geez Unicode1" pitchFamily="2" charset="0"/>
                      </a:endParaRPr>
                    </a:p>
                    <a:p>
                      <a:pPr algn="just"/>
                      <a:endParaRPr lang="en-US" sz="1800" b="1" dirty="0" smtClean="0">
                        <a:latin typeface="Power Geez Unicode1" pitchFamily="2" charset="0"/>
                      </a:endParaRPr>
                    </a:p>
                    <a:p>
                      <a:pPr algn="just"/>
                      <a:endParaRPr lang="en-US" sz="1800" b="1" dirty="0" smtClean="0">
                        <a:latin typeface="Power Geez Unicode1" pitchFamily="2" charset="0"/>
                      </a:endParaRPr>
                    </a:p>
                    <a:p>
                      <a:pPr algn="just"/>
                      <a:r>
                        <a:rPr lang="en-US" sz="1800" b="1" dirty="0" err="1" smtClean="0">
                          <a:latin typeface="Power Geez Unicode1" pitchFamily="2" charset="0"/>
                        </a:rPr>
                        <a:t>ብር</a:t>
                      </a:r>
                      <a:r>
                        <a:rPr lang="en-US" sz="1800" b="1" baseline="0" dirty="0" smtClean="0">
                          <a:latin typeface="Power Geez Unicode1" pitchFamily="2" charset="0"/>
                        </a:rPr>
                        <a:t> </a:t>
                      </a:r>
                    </a:p>
                    <a:p>
                      <a:pPr algn="just"/>
                      <a:r>
                        <a:rPr lang="en-US" sz="1800" b="1" baseline="0" dirty="0" smtClean="0">
                          <a:latin typeface="Power Geez Unicode1" pitchFamily="2" charset="0"/>
                        </a:rPr>
                        <a:t>2000</a:t>
                      </a:r>
                      <a:endParaRPr lang="en-US" sz="1800" b="1" dirty="0" smtClean="0">
                        <a:latin typeface="Power Geez Unicode1" pitchFamily="2" charset="0"/>
                      </a:endParaRPr>
                    </a:p>
                    <a:p>
                      <a:endParaRPr lang="en-US" sz="1800" b="1" dirty="0" smtClean="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800" b="1" kern="1200" dirty="0" smtClean="0">
                        <a:solidFill>
                          <a:schemeClr val="dk1"/>
                        </a:solidFill>
                        <a:effectLst/>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በሰንጠረዡ የተቀመጠውን የቅጣት ክፍያ መጠን መክፈልና መረጃ መስጠት </a:t>
                      </a:r>
                      <a:r>
                        <a:rPr lang="am-ET" sz="1800" b="0" i="0" u="none" strike="noStrike" kern="1200" baseline="0" dirty="0" smtClean="0">
                          <a:solidFill>
                            <a:schemeClr val="dk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txBody>
                  <a:tcPr>
                    <a:lnB w="12700" cap="flat" cmpd="sng" algn="ctr">
                      <a:solidFill>
                        <a:schemeClr val="tx1"/>
                      </a:solidFill>
                      <a:prstDash val="solid"/>
                      <a:round/>
                      <a:headEnd type="none" w="med" len="med"/>
                      <a:tailEnd type="none" w="med" len="med"/>
                    </a:lnB>
                  </a:tcPr>
                </a:tc>
              </a:tr>
              <a:tr h="3045312">
                <a:tc>
                  <a:txBody>
                    <a:bodyPr/>
                    <a:lstStyle/>
                    <a:p>
                      <a:endParaRPr lang="en-US" sz="2400" dirty="0" smtClean="0">
                        <a:latin typeface="Power Geez Unicode1" pitchFamily="2" charset="0"/>
                      </a:endParaRPr>
                    </a:p>
                    <a:p>
                      <a:r>
                        <a:rPr lang="en-US" sz="2400" dirty="0" smtClean="0">
                          <a:latin typeface="Power Geez Unicode1" pitchFamily="2" charset="0"/>
                        </a:rPr>
                        <a:t>5</a:t>
                      </a:r>
                      <a:endParaRPr lang="en-US" sz="2400" dirty="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am-ET" sz="2400" b="1" i="0" u="none" strike="noStrike" kern="1200" baseline="0" dirty="0" smtClean="0">
                          <a:solidFill>
                            <a:schemeClr val="dk1"/>
                          </a:solidFill>
                          <a:latin typeface="+mn-lt"/>
                          <a:ea typeface="+mn-ea"/>
                          <a:cs typeface="+mn-cs"/>
                        </a:rPr>
                        <a:t>በደረቅ ቆሻሻ ማስወገጃ ቦታ ውስጥ ህጋዊ ፈቃድ ሳይኖረው ለመልሶ መጠቀምና ኡደት አገልግሎት የሚውል ደረቅ ቆሻሻ የለቀመ ወይም ያከማቸ ማንኛውም ሰው፤ 	</a:t>
                      </a:r>
                    </a:p>
                    <a:p>
                      <a:pPr algn="just"/>
                      <a:r>
                        <a:rPr lang="en-US" sz="1400" b="1" dirty="0" smtClean="0">
                          <a:effectLst/>
                          <a:latin typeface="Power Geez Unicode1" pitchFamily="2" charset="0"/>
                          <a:ea typeface="Times New Roman"/>
                          <a:cs typeface="Visual Geez Unicode"/>
                        </a:rPr>
                        <a:t>     </a:t>
                      </a:r>
                      <a:endParaRPr lang="en-US" sz="3200" b="1"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2800" dirty="0" smtClean="0">
                        <a:latin typeface="Power Geez Unicode1" pitchFamily="2" charset="0"/>
                      </a:endParaRPr>
                    </a:p>
                    <a:p>
                      <a:pPr algn="just"/>
                      <a:r>
                        <a:rPr lang="en-US" sz="2000" b="1" dirty="0" err="1" smtClean="0">
                          <a:solidFill>
                            <a:srgbClr val="FF0000"/>
                          </a:solidFill>
                          <a:latin typeface="Power Geez Unicode1" pitchFamily="2" charset="0"/>
                        </a:rPr>
                        <a:t>ብር</a:t>
                      </a:r>
                      <a:r>
                        <a:rPr lang="en-US" sz="2000" b="1" baseline="0" dirty="0" smtClean="0">
                          <a:solidFill>
                            <a:srgbClr val="FF0000"/>
                          </a:solidFill>
                          <a:latin typeface="Power Geez Unicode1" pitchFamily="2" charset="0"/>
                        </a:rPr>
                        <a:t> </a:t>
                      </a:r>
                    </a:p>
                    <a:p>
                      <a:pPr algn="just"/>
                      <a:r>
                        <a:rPr lang="en-US" sz="2000" b="1" baseline="0" dirty="0" smtClean="0">
                          <a:solidFill>
                            <a:srgbClr val="FF0000"/>
                          </a:solidFill>
                          <a:latin typeface="Power Geez Unicode1" pitchFamily="2" charset="0"/>
                        </a:rPr>
                        <a:t>2.000</a:t>
                      </a:r>
                      <a:endParaRPr lang="en-US" sz="2000" b="1" dirty="0" smtClean="0">
                        <a:solidFill>
                          <a:srgbClr val="FF0000"/>
                        </a:solidFill>
                        <a:latin typeface="Power Geez Unicode1" pitchFamily="2" charset="0"/>
                      </a:endParaRPr>
                    </a:p>
                    <a:p>
                      <a:endParaRPr lang="en-US" sz="2000" b="1" dirty="0" smtClean="0">
                        <a:solidFill>
                          <a:schemeClr val="tx1"/>
                        </a:solidFill>
                        <a:latin typeface="Power Geez Unicode1" pitchFamily="2" charset="0"/>
                      </a:endParaRPr>
                    </a:p>
                    <a:p>
                      <a:endParaRPr lang="en-US" sz="2000" b="1" dirty="0" smtClean="0">
                        <a:solidFill>
                          <a:schemeClr val="tx1"/>
                        </a:solidFill>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1800" b="1" dirty="0" smtClean="0">
                        <a:latin typeface="Power Geez Unicode1" pitchFamily="2" charset="0"/>
                      </a:endParaRPr>
                    </a:p>
                    <a:p>
                      <a:endParaRPr lang="en-US" sz="1800" b="1" dirty="0" smtClean="0">
                        <a:latin typeface="Power Geez Unicode1" pitchFamily="2" charset="0"/>
                      </a:endParaRPr>
                    </a:p>
                    <a:p>
                      <a:pPr algn="just"/>
                      <a:r>
                        <a:rPr lang="en-US" sz="2000" b="1" dirty="0" err="1" smtClean="0">
                          <a:latin typeface="Power Geez Unicode1" pitchFamily="2" charset="0"/>
                        </a:rPr>
                        <a:t>ብር</a:t>
                      </a:r>
                      <a:r>
                        <a:rPr lang="en-US" sz="2000" b="1" baseline="0" dirty="0" smtClean="0">
                          <a:latin typeface="Power Geez Unicode1" pitchFamily="2" charset="0"/>
                        </a:rPr>
                        <a:t> </a:t>
                      </a:r>
                    </a:p>
                    <a:p>
                      <a:pPr algn="just"/>
                      <a:r>
                        <a:rPr lang="en-US" sz="2000" b="1" baseline="0" dirty="0" smtClean="0">
                          <a:latin typeface="Power Geez Unicode1" pitchFamily="2" charset="0"/>
                        </a:rPr>
                        <a:t>2.000</a:t>
                      </a:r>
                      <a:endParaRPr lang="en-US" sz="2000" b="1" dirty="0" smtClean="0">
                        <a:latin typeface="Power Geez Unicode1" pitchFamily="2" charset="0"/>
                      </a:endParaRPr>
                    </a:p>
                    <a:p>
                      <a:pPr marL="0" marR="0" algn="ctr">
                        <a:spcBef>
                          <a:spcPts val="1000"/>
                        </a:spcBef>
                        <a:spcAft>
                          <a:spcPts val="0"/>
                        </a:spcAft>
                      </a:pPr>
                      <a:endParaRPr lang="en-US" sz="2800" b="0" dirty="0" smtClean="0">
                        <a:solidFill>
                          <a:srgbClr val="4F81BD"/>
                        </a:solidFill>
                        <a:effectLst/>
                        <a:latin typeface="Power Geez Unicode1" pitchFamily="2" charset="0"/>
                        <a:ea typeface="Times New Roman"/>
                        <a:cs typeface="Visual Geez Unicode"/>
                      </a:endParaRPr>
                    </a:p>
                    <a:p>
                      <a:endParaRPr lang="en-US" sz="2800" dirty="0" smtClean="0">
                        <a:latin typeface="Power Geez Unicode1" pitchFamily="2" charset="0"/>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በሰንጠረዡ የተቀመጠውን የቅጣት ክፍያ መጠን መክፈልና ያከማቸውን ቆሻሻ ማንሳት 	</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4026576826"/>
      </p:ext>
    </p:extLst>
  </p:cSld>
  <p:clrMapOvr>
    <a:masterClrMapping/>
  </p:clrMapOvr>
  <p:transition spd="slow">
    <p:cove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688172744"/>
              </p:ext>
            </p:extLst>
          </p:nvPr>
        </p:nvGraphicFramePr>
        <p:xfrm>
          <a:off x="76200" y="152400"/>
          <a:ext cx="8940800" cy="9598512"/>
        </p:xfrm>
        <a:graphic>
          <a:graphicData uri="http://schemas.openxmlformats.org/drawingml/2006/table">
            <a:tbl>
              <a:tblPr firstRow="1" bandRow="1">
                <a:tableStyleId>{5C22544A-7EE6-4342-B048-85BDC9FD1C3A}</a:tableStyleId>
              </a:tblPr>
              <a:tblGrid>
                <a:gridCol w="711199"/>
                <a:gridCol w="3612697"/>
                <a:gridCol w="1340303"/>
                <a:gridCol w="1493521"/>
                <a:gridCol w="1783080"/>
              </a:tblGrid>
              <a:tr h="872307">
                <a:tc>
                  <a:txBody>
                    <a:bodyPr/>
                    <a:lstStyle/>
                    <a:p>
                      <a:r>
                        <a:rPr lang="am-ET" sz="1800" b="0" i="0" u="none" strike="noStrike" baseline="0" dirty="0" smtClean="0">
                          <a:solidFill>
                            <a:srgbClr val="000000"/>
                          </a:solidFill>
                          <a:latin typeface="Visual Geez Unicode"/>
                        </a:rPr>
                        <a:t>ተ.ቁ</a:t>
                      </a:r>
                      <a:r>
                        <a:rPr lang="am-ET" sz="1400" b="0" i="0" u="none" strike="noStrike" baseline="0" dirty="0" smtClean="0">
                          <a:solidFill>
                            <a:srgbClr val="000000"/>
                          </a:solidFill>
                          <a:latin typeface="Visual Geez Unicode"/>
                        </a:rPr>
                        <a:t> 	</a:t>
                      </a:r>
                      <a:r>
                        <a:rPr lang="en-US" sz="1400" b="0" i="0" u="none" strike="noStrike" baseline="0" dirty="0" smtClean="0">
                          <a:solidFill>
                            <a:srgbClr val="000000"/>
                          </a:solidFill>
                          <a:latin typeface="Power Geez Unicode1" pitchFamily="2" charset="0"/>
                        </a:rPr>
                        <a:t> </a:t>
                      </a:r>
                      <a:endParaRPr lang="am-ET" sz="1400" b="0" i="0" u="none" strike="noStrike" baseline="0" dirty="0" smtClean="0">
                        <a:solidFill>
                          <a:srgbClr val="000000"/>
                        </a:solidFill>
                        <a:latin typeface="Visual Geez Unicode"/>
                      </a:endParaRPr>
                    </a:p>
                  </a:txBody>
                  <a:tcPr/>
                </a:tc>
                <a:tc>
                  <a:txBody>
                    <a:bodyPr/>
                    <a:lstStyle/>
                    <a:p>
                      <a:r>
                        <a:rPr lang="en-US" sz="1800" b="1" i="0" u="none" strike="noStrike" baseline="0" dirty="0" err="1" smtClean="0">
                          <a:solidFill>
                            <a:srgbClr val="FF0000"/>
                          </a:solidFill>
                          <a:latin typeface="Power Geez Unicode1" pitchFamily="2" charset="0"/>
                        </a:rPr>
                        <a:t>የጥፋት</a:t>
                      </a:r>
                      <a:r>
                        <a:rPr lang="en-US" sz="1800" b="1" i="0" u="none" strike="noStrike" baseline="0" dirty="0" smtClean="0">
                          <a:solidFill>
                            <a:srgbClr val="FF0000"/>
                          </a:solidFill>
                          <a:latin typeface="Power Geez Unicode1" pitchFamily="2" charset="0"/>
                        </a:rPr>
                        <a:t> </a:t>
                      </a:r>
                      <a:r>
                        <a:rPr lang="en-US" sz="1800" b="1" i="0" u="none" strike="noStrike" baseline="0" dirty="0" err="1" smtClean="0">
                          <a:solidFill>
                            <a:srgbClr val="FF0000"/>
                          </a:solidFill>
                          <a:latin typeface="Power Geez Unicode1" pitchFamily="2" charset="0"/>
                        </a:rPr>
                        <a:t>አይነቶች</a:t>
                      </a:r>
                      <a:endParaRPr lang="am-ET" sz="1800" b="1" i="0" u="none" strike="noStrike" baseline="0" dirty="0" smtClean="0">
                        <a:solidFill>
                          <a:srgbClr val="FF0000"/>
                        </a:solidFill>
                        <a:latin typeface="Visual Geez Unicode"/>
                      </a:endParaRPr>
                    </a:p>
                  </a:txBody>
                  <a:tcPr/>
                </a:tc>
                <a:tc>
                  <a:txBody>
                    <a:bodyPr/>
                    <a:lstStyle/>
                    <a:p>
                      <a:r>
                        <a:rPr lang="en-US" sz="1400" b="0" i="0" u="none" strike="noStrike" baseline="0" dirty="0" err="1" smtClean="0">
                          <a:solidFill>
                            <a:srgbClr val="000000"/>
                          </a:solidFill>
                          <a:latin typeface="Power Geez Unicode1" pitchFamily="2" charset="0"/>
                        </a:rPr>
                        <a:t>ቀድሞ</a:t>
                      </a:r>
                      <a:r>
                        <a:rPr lang="en-US" sz="1400" b="0" i="0" u="none" strike="noStrike" baseline="0" dirty="0" smtClean="0">
                          <a:solidFill>
                            <a:srgbClr val="000000"/>
                          </a:solidFill>
                          <a:latin typeface="Power Geez Unicode1" pitchFamily="2" charset="0"/>
                        </a:rPr>
                        <a:t> በነበረው150/2015 </a:t>
                      </a:r>
                      <a:r>
                        <a:rPr lang="en-US" sz="1400" b="0" i="0" u="none" strike="noStrike" baseline="0" dirty="0" err="1" smtClean="0">
                          <a:solidFill>
                            <a:srgbClr val="000000"/>
                          </a:solidFill>
                          <a:latin typeface="Power Geez Unicode1" pitchFamily="2" charset="0"/>
                        </a:rPr>
                        <a:t>የተቀመጠ</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ቅጣት</a:t>
                      </a:r>
                      <a:endParaRPr lang="am-ET" sz="1400" b="0" i="0" u="none" strike="noStrike" baseline="0" dirty="0" smtClean="0">
                        <a:solidFill>
                          <a:srgbClr val="000000"/>
                        </a:solidFill>
                        <a:latin typeface="Visual Geez Unicode"/>
                      </a:endParaRPr>
                    </a:p>
                  </a:txBody>
                  <a:tcPr/>
                </a:tc>
                <a:tc>
                  <a:txBody>
                    <a:bodyPr/>
                    <a:lstStyle/>
                    <a:p>
                      <a:r>
                        <a:rPr lang="en-US" sz="1400" b="0" i="0" u="none" strike="noStrike" baseline="0" dirty="0" err="1" smtClean="0">
                          <a:solidFill>
                            <a:srgbClr val="000000"/>
                          </a:solidFill>
                          <a:latin typeface="Power Geez Unicode1" pitchFamily="2" charset="0"/>
                        </a:rPr>
                        <a:t>አሁን</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በተሸሻለው</a:t>
                      </a:r>
                      <a:r>
                        <a:rPr lang="en-US" sz="1400" b="0" i="0" u="none" strike="noStrike" baseline="0" dirty="0" smtClean="0">
                          <a:solidFill>
                            <a:srgbClr val="000000"/>
                          </a:solidFill>
                          <a:latin typeface="Power Geez Unicode1" pitchFamily="2" charset="0"/>
                        </a:rPr>
                        <a:t> 167/16 </a:t>
                      </a:r>
                      <a:r>
                        <a:rPr lang="en-US" sz="1400" b="0" i="0" u="none" strike="noStrike" baseline="0" dirty="0" err="1" smtClean="0">
                          <a:solidFill>
                            <a:srgbClr val="000000"/>
                          </a:solidFill>
                          <a:latin typeface="Power Geez Unicode1" pitchFamily="2" charset="0"/>
                        </a:rPr>
                        <a:t>የተቀመጠ</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ቅጣት</a:t>
                      </a:r>
                      <a:endParaRPr lang="am-ET" sz="1400" b="0" i="0" u="none" strike="noStrike" baseline="0" dirty="0" smtClean="0">
                        <a:solidFill>
                          <a:srgbClr val="000000"/>
                        </a:solidFill>
                        <a:latin typeface="Visual Geez Unicode"/>
                      </a:endParaRPr>
                    </a:p>
                  </a:txBody>
                  <a:tcPr/>
                </a:tc>
                <a:tc>
                  <a:txBody>
                    <a:bodyPr/>
                    <a:lstStyle/>
                    <a:p>
                      <a:r>
                        <a:rPr lang="en-US" sz="1600" dirty="0" err="1" smtClean="0">
                          <a:solidFill>
                            <a:schemeClr val="tx1"/>
                          </a:solidFill>
                          <a:latin typeface="Power Geez Unicode1" pitchFamily="2" charset="0"/>
                        </a:rPr>
                        <a:t>ከህገ</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ወጥ</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ፈፃሚው</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የሚጠበቅ</a:t>
                      </a:r>
                      <a:endParaRPr lang="en-US" sz="1600" dirty="0">
                        <a:solidFill>
                          <a:schemeClr val="tx1"/>
                        </a:solidFill>
                        <a:latin typeface="Power Geez Unicode1" pitchFamily="2" charset="0"/>
                      </a:endParaRPr>
                    </a:p>
                  </a:txBody>
                  <a:tcPr/>
                </a:tc>
              </a:tr>
              <a:tr h="5608320">
                <a:tc>
                  <a:txBody>
                    <a:bodyPr/>
                    <a:lstStyle/>
                    <a:p>
                      <a:endParaRPr lang="en-US" sz="2400" dirty="0" smtClean="0">
                        <a:latin typeface="Power Geez Unicode1" pitchFamily="2" charset="0"/>
                      </a:endParaRPr>
                    </a:p>
                    <a:p>
                      <a:endParaRPr lang="en-US" sz="2400" dirty="0" smtClean="0">
                        <a:latin typeface="Power Geez Unicode1" pitchFamily="2" charset="0"/>
                      </a:endParaRPr>
                    </a:p>
                    <a:p>
                      <a:r>
                        <a:rPr lang="en-US" sz="2400" dirty="0" smtClean="0">
                          <a:latin typeface="Power Geez Unicode1" pitchFamily="2" charset="0"/>
                        </a:rPr>
                        <a:t>6</a:t>
                      </a:r>
                    </a:p>
                    <a:p>
                      <a:endParaRPr lang="en-US" sz="2400" dirty="0" smtClean="0">
                        <a:latin typeface="Power Geez Unicode1" pitchFamily="2" charset="0"/>
                      </a:endParaRPr>
                    </a:p>
                    <a:p>
                      <a:endParaRPr lang="en-US" sz="2400" dirty="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pPr marL="0" marR="0" lvl="1" indent="0" algn="just">
                        <a:spcBef>
                          <a:spcPts val="1000"/>
                        </a:spcBef>
                        <a:spcAft>
                          <a:spcPts val="0"/>
                        </a:spcAft>
                        <a:buFont typeface="+mj-lt"/>
                        <a:buNone/>
                      </a:pPr>
                      <a:endParaRPr lang="en-US" sz="2800" b="1" dirty="0" smtClean="0">
                        <a:solidFill>
                          <a:srgbClr val="002060"/>
                        </a:solidFill>
                        <a:effectLst/>
                        <a:latin typeface="Power Geez Unicode1" pitchFamily="2" charset="0"/>
                        <a:ea typeface="Times New Roman"/>
                        <a:cs typeface="Times New Roman"/>
                      </a:endParaRPr>
                    </a:p>
                    <a:p>
                      <a:pPr algn="just"/>
                      <a:r>
                        <a:rPr lang="am-ET" sz="1800" b="1" i="0" u="none" strike="noStrike" kern="1200" baseline="0" dirty="0" smtClean="0">
                          <a:solidFill>
                            <a:schemeClr val="dk1"/>
                          </a:solidFill>
                          <a:latin typeface="+mn-lt"/>
                          <a:ea typeface="+mn-ea"/>
                          <a:cs typeface="+mn-cs"/>
                        </a:rPr>
                        <a:t>ደረቅ ቆሻሻን ከግቢው አውጥቶ ባልተፈቀደ ቦታ የጣለ ወይም ያስቀመጠ ማንኛውም ሰው፤ </a:t>
                      </a:r>
                    </a:p>
                    <a:p>
                      <a:pPr algn="just"/>
                      <a:r>
                        <a:rPr lang="am-ET" sz="1800" b="1" i="0" u="none" strike="noStrike" kern="1200" baseline="0" dirty="0" smtClean="0">
                          <a:solidFill>
                            <a:schemeClr val="dk1"/>
                          </a:solidFill>
                          <a:latin typeface="+mn-lt"/>
                          <a:ea typeface="+mn-ea"/>
                          <a:cs typeface="+mn-cs"/>
                        </a:rPr>
                        <a:t>6.1 የመኖሪያ ቤት ቆሻሻ ከሆነ </a:t>
                      </a:r>
                      <a:endParaRPr lang="en-US" sz="1800" b="1" i="0" u="none" strike="noStrike" kern="1200" baseline="0" dirty="0" smtClean="0">
                        <a:solidFill>
                          <a:schemeClr val="dk1"/>
                        </a:solidFill>
                        <a:latin typeface="+mn-lt"/>
                        <a:ea typeface="+mn-ea"/>
                        <a:cs typeface="+mn-cs"/>
                      </a:endParaRPr>
                    </a:p>
                    <a:p>
                      <a:pPr algn="just"/>
                      <a:endParaRPr lang="am-ET"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6.2 የኢንዱስትሪ ቆሻሻ ከሆነ </a:t>
                      </a:r>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am-ET"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6.3 የጤና ተቋም ቆሻሻ ከሆነ </a:t>
                      </a:r>
                      <a:endParaRPr lang="en-US" sz="1800" b="1" i="0" u="none" strike="noStrike" kern="1200" baseline="0" dirty="0" smtClean="0">
                        <a:solidFill>
                          <a:schemeClr val="dk1"/>
                        </a:solidFill>
                        <a:latin typeface="+mn-lt"/>
                        <a:ea typeface="+mn-ea"/>
                        <a:cs typeface="+mn-cs"/>
                      </a:endParaRPr>
                    </a:p>
                    <a:p>
                      <a:pPr algn="just"/>
                      <a:endParaRPr lang="am-ET"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6.4 ከሌሎች ድርጅቶች የመነጨ ቆሻሻ ከሆነ </a:t>
                      </a:r>
                      <a:r>
                        <a:rPr lang="am-ET" sz="2000" b="0" i="0" u="none" strike="noStrike" kern="1200" baseline="0" dirty="0" smtClean="0">
                          <a:solidFill>
                            <a:schemeClr val="dk1"/>
                          </a:solidFill>
                          <a:latin typeface="+mn-lt"/>
                          <a:ea typeface="+mn-ea"/>
                          <a:cs typeface="+mn-cs"/>
                        </a:rPr>
                        <a:t>	</a:t>
                      </a:r>
                      <a:r>
                        <a:rPr lang="en-US" sz="1200" b="1" dirty="0" smtClean="0">
                          <a:effectLst/>
                          <a:latin typeface="Power Geez Unicode1" pitchFamily="2" charset="0"/>
                          <a:ea typeface="Times New Roman"/>
                          <a:cs typeface="Visual Geez Unicode"/>
                        </a:rPr>
                        <a:t> </a:t>
                      </a:r>
                      <a:endParaRPr lang="en-US" sz="2400" dirty="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r>
                        <a:rPr lang="en-US" sz="2400" dirty="0" smtClean="0">
                          <a:latin typeface="Power Geez Unicode1" pitchFamily="2" charset="0"/>
                        </a:rPr>
                        <a:t> </a:t>
                      </a:r>
                    </a:p>
                    <a:p>
                      <a:endParaRPr lang="en-US" sz="1800" b="1" dirty="0" smtClean="0">
                        <a:solidFill>
                          <a:srgbClr val="FF0000"/>
                        </a:solidFill>
                        <a:latin typeface="Power Geez Unicode1" pitchFamily="2" charset="0"/>
                      </a:endParaRPr>
                    </a:p>
                    <a:p>
                      <a:endParaRPr lang="en-US" sz="1800" b="1" dirty="0" smtClean="0">
                        <a:solidFill>
                          <a:srgbClr val="FF0000"/>
                        </a:solidFill>
                        <a:latin typeface="Power Geez Unicode1" pitchFamily="2" charset="0"/>
                      </a:endParaRPr>
                    </a:p>
                    <a:p>
                      <a:r>
                        <a:rPr lang="en-US" sz="1800" b="1" dirty="0" err="1" smtClean="0">
                          <a:solidFill>
                            <a:srgbClr val="FF0000"/>
                          </a:solidFill>
                          <a:latin typeface="Power Geez Unicode1" pitchFamily="2" charset="0"/>
                        </a:rPr>
                        <a:t>ብር</a:t>
                      </a:r>
                      <a:endParaRPr lang="en-US" sz="1800" b="1" dirty="0" smtClean="0">
                        <a:solidFill>
                          <a:srgbClr val="FF0000"/>
                        </a:solidFill>
                        <a:latin typeface="Power Geez Unicode1" pitchFamily="2" charset="0"/>
                      </a:endParaRPr>
                    </a:p>
                    <a:p>
                      <a:r>
                        <a:rPr lang="en-US" sz="1800" b="1" dirty="0" smtClean="0">
                          <a:solidFill>
                            <a:srgbClr val="FF0000"/>
                          </a:solidFill>
                          <a:latin typeface="Power Geez Unicode1" pitchFamily="2" charset="0"/>
                        </a:rPr>
                        <a:t>500.00</a:t>
                      </a:r>
                    </a:p>
                    <a:p>
                      <a:endParaRPr lang="en-US" sz="1800" b="1" dirty="0" smtClean="0">
                        <a:solidFill>
                          <a:srgbClr val="FF0000"/>
                        </a:solidFill>
                        <a:latin typeface="Power Geez Unicode1" pitchFamily="2" charset="0"/>
                      </a:endParaRPr>
                    </a:p>
                    <a:p>
                      <a:r>
                        <a:rPr lang="en-US" sz="1800" b="1" dirty="0" err="1" smtClean="0">
                          <a:solidFill>
                            <a:srgbClr val="FF0000"/>
                          </a:solidFill>
                          <a:latin typeface="Power Geez Unicode1" pitchFamily="2" charset="0"/>
                        </a:rPr>
                        <a:t>ብር</a:t>
                      </a:r>
                      <a:r>
                        <a:rPr lang="en-US" sz="1800" b="1" baseline="0" dirty="0" smtClean="0">
                          <a:solidFill>
                            <a:srgbClr val="FF0000"/>
                          </a:solidFill>
                          <a:latin typeface="Power Geez Unicode1" pitchFamily="2" charset="0"/>
                        </a:rPr>
                        <a:t> </a:t>
                      </a:r>
                    </a:p>
                    <a:p>
                      <a:r>
                        <a:rPr lang="en-US" sz="1800" b="1" baseline="0" dirty="0" smtClean="0">
                          <a:solidFill>
                            <a:srgbClr val="FF0000"/>
                          </a:solidFill>
                          <a:latin typeface="Power Geez Unicode1" pitchFamily="2" charset="0"/>
                        </a:rPr>
                        <a:t>10.000.00</a:t>
                      </a:r>
                    </a:p>
                    <a:p>
                      <a:endParaRPr lang="en-US" sz="1800" b="1" baseline="0" dirty="0" smtClean="0">
                        <a:solidFill>
                          <a:srgbClr val="FF0000"/>
                        </a:solidFill>
                        <a:latin typeface="Power Geez Unicode1" pitchFamily="2" charset="0"/>
                      </a:endParaRPr>
                    </a:p>
                    <a:p>
                      <a:r>
                        <a:rPr lang="en-US" sz="1800" b="1" baseline="0" dirty="0" err="1" smtClean="0">
                          <a:solidFill>
                            <a:srgbClr val="FF0000"/>
                          </a:solidFill>
                          <a:latin typeface="Power Geez Unicode1" pitchFamily="2" charset="0"/>
                        </a:rPr>
                        <a:t>ብር</a:t>
                      </a:r>
                      <a:endParaRPr lang="en-US" sz="1800" b="1" baseline="0" dirty="0" smtClean="0">
                        <a:solidFill>
                          <a:srgbClr val="FF0000"/>
                        </a:solidFill>
                        <a:latin typeface="Power Geez Unicode1" pitchFamily="2" charset="0"/>
                      </a:endParaRPr>
                    </a:p>
                    <a:p>
                      <a:r>
                        <a:rPr lang="en-US" sz="1800" b="1" baseline="0" dirty="0" smtClean="0">
                          <a:solidFill>
                            <a:srgbClr val="FF0000"/>
                          </a:solidFill>
                          <a:latin typeface="Power Geez Unicode1" pitchFamily="2" charset="0"/>
                        </a:rPr>
                        <a:t>15.000.00</a:t>
                      </a:r>
                    </a:p>
                    <a:p>
                      <a:endParaRPr lang="en-US" sz="1800" b="1" baseline="0" dirty="0" smtClean="0">
                        <a:solidFill>
                          <a:srgbClr val="FF0000"/>
                        </a:solidFill>
                        <a:latin typeface="Power Geez Unicode1" pitchFamily="2" charset="0"/>
                      </a:endParaRPr>
                    </a:p>
                    <a:p>
                      <a:r>
                        <a:rPr lang="en-US" sz="1800" b="1" baseline="0" dirty="0" err="1" smtClean="0">
                          <a:solidFill>
                            <a:srgbClr val="FF0000"/>
                          </a:solidFill>
                          <a:latin typeface="Power Geez Unicode1" pitchFamily="2" charset="0"/>
                        </a:rPr>
                        <a:t>ብር</a:t>
                      </a:r>
                      <a:endParaRPr lang="en-US" sz="1800" b="1" baseline="0" dirty="0" smtClean="0">
                        <a:solidFill>
                          <a:srgbClr val="FF0000"/>
                        </a:solidFill>
                        <a:latin typeface="Power Geez Unicode1" pitchFamily="2" charset="0"/>
                      </a:endParaRPr>
                    </a:p>
                    <a:p>
                      <a:r>
                        <a:rPr lang="en-US" sz="1800" b="1" baseline="0" dirty="0" smtClean="0">
                          <a:solidFill>
                            <a:srgbClr val="FF0000"/>
                          </a:solidFill>
                          <a:latin typeface="Power Geez Unicode1" pitchFamily="2" charset="0"/>
                        </a:rPr>
                        <a:t>2.000.00</a:t>
                      </a:r>
                    </a:p>
                    <a:p>
                      <a:endParaRPr lang="en-US" sz="1800" b="1" baseline="0" dirty="0" smtClean="0">
                        <a:solidFill>
                          <a:srgbClr val="FF0000"/>
                        </a:solidFill>
                        <a:latin typeface="Power Geez Unicode1" pitchFamily="2" charset="0"/>
                      </a:endParaRPr>
                    </a:p>
                    <a:p>
                      <a:endParaRPr lang="en-US" sz="1800" b="1" dirty="0" smtClean="0">
                        <a:solidFill>
                          <a:srgbClr val="FF0000"/>
                        </a:solidFill>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endParaRPr lang="en-US" sz="1800" b="1" dirty="0" smtClean="0">
                        <a:latin typeface="Power Geez Unicode1" pitchFamily="2" charset="0"/>
                      </a:endParaRPr>
                    </a:p>
                    <a:p>
                      <a:pPr algn="just"/>
                      <a:endParaRPr lang="en-US" sz="1800" b="1" dirty="0" smtClean="0">
                        <a:latin typeface="Power Geez Unicode1" pitchFamily="2" charset="0"/>
                      </a:endParaRPr>
                    </a:p>
                    <a:p>
                      <a:pPr algn="just"/>
                      <a:endParaRPr lang="en-US" sz="1800" b="1" dirty="0" smtClean="0">
                        <a:latin typeface="Power Geez Unicode1" pitchFamily="2" charset="0"/>
                      </a:endParaRPr>
                    </a:p>
                    <a:p>
                      <a:r>
                        <a:rPr lang="am-ET" sz="1800" b="1" i="0" u="none" strike="noStrike" kern="1200" baseline="0" dirty="0" smtClean="0">
                          <a:solidFill>
                            <a:schemeClr val="dk1"/>
                          </a:solidFill>
                          <a:latin typeface="+mn-lt"/>
                          <a:ea typeface="+mn-ea"/>
                          <a:cs typeface="+mn-cs"/>
                        </a:rPr>
                        <a:t>ብር </a:t>
                      </a:r>
                      <a:endParaRPr lang="en-US" sz="1800" b="1" i="0" u="none" strike="noStrike" kern="1200" baseline="0" dirty="0" smtClean="0">
                        <a:solidFill>
                          <a:schemeClr val="dk1"/>
                        </a:solidFill>
                        <a:latin typeface="+mn-lt"/>
                        <a:ea typeface="+mn-ea"/>
                        <a:cs typeface="+mn-cs"/>
                      </a:endParaRPr>
                    </a:p>
                    <a:p>
                      <a:r>
                        <a:rPr lang="am-ET" sz="1800" b="1" i="0" u="none" strike="noStrike" kern="1200" baseline="0" dirty="0" smtClean="0">
                          <a:solidFill>
                            <a:schemeClr val="dk1"/>
                          </a:solidFill>
                          <a:latin typeface="+mn-lt"/>
                          <a:ea typeface="+mn-ea"/>
                          <a:cs typeface="+mn-cs"/>
                        </a:rPr>
                        <a:t>2000.00 </a:t>
                      </a:r>
                      <a:endParaRPr lang="en-US" sz="1800" b="1" i="0" u="none" strike="noStrike" kern="1200" baseline="0" dirty="0" smtClean="0">
                        <a:solidFill>
                          <a:schemeClr val="dk1"/>
                        </a:solidFill>
                        <a:latin typeface="+mn-lt"/>
                        <a:ea typeface="+mn-ea"/>
                        <a:cs typeface="+mn-cs"/>
                      </a:endParaRPr>
                    </a:p>
                    <a:p>
                      <a:endParaRPr lang="am-ET" sz="1800" b="1" i="0" u="none" strike="noStrike" kern="1200" baseline="0" dirty="0" smtClean="0">
                        <a:solidFill>
                          <a:schemeClr val="dk1"/>
                        </a:solidFill>
                        <a:latin typeface="+mn-lt"/>
                        <a:ea typeface="+mn-ea"/>
                        <a:cs typeface="+mn-cs"/>
                      </a:endParaRPr>
                    </a:p>
                    <a:p>
                      <a:r>
                        <a:rPr lang="am-ET" sz="1800" b="1" i="0" u="none" strike="noStrike" kern="1200" baseline="0" dirty="0" smtClean="0">
                          <a:solidFill>
                            <a:schemeClr val="dk1"/>
                          </a:solidFill>
                          <a:latin typeface="+mn-lt"/>
                          <a:ea typeface="+mn-ea"/>
                          <a:cs typeface="+mn-cs"/>
                        </a:rPr>
                        <a:t>ብር </a:t>
                      </a:r>
                      <a:endParaRPr lang="en-US" sz="1800" b="1" i="0" u="none" strike="noStrike" kern="1200" baseline="0" dirty="0" smtClean="0">
                        <a:solidFill>
                          <a:schemeClr val="dk1"/>
                        </a:solidFill>
                        <a:latin typeface="+mn-lt"/>
                        <a:ea typeface="+mn-ea"/>
                        <a:cs typeface="+mn-cs"/>
                      </a:endParaRPr>
                    </a:p>
                    <a:p>
                      <a:r>
                        <a:rPr lang="am-ET" sz="1800" b="1" i="0" u="none" strike="noStrike" kern="1200" baseline="0" dirty="0" smtClean="0">
                          <a:solidFill>
                            <a:schemeClr val="dk1"/>
                          </a:solidFill>
                          <a:latin typeface="+mn-lt"/>
                          <a:ea typeface="+mn-ea"/>
                          <a:cs typeface="+mn-cs"/>
                        </a:rPr>
                        <a:t>50,000.00</a:t>
                      </a:r>
                      <a:endParaRPr lang="en-US" sz="1800" b="1" i="0" u="none" strike="noStrike" kern="1200" baseline="0" dirty="0" smtClean="0">
                        <a:solidFill>
                          <a:schemeClr val="dk1"/>
                        </a:solidFill>
                        <a:latin typeface="+mn-lt"/>
                        <a:ea typeface="+mn-ea"/>
                        <a:cs typeface="+mn-cs"/>
                      </a:endParaRPr>
                    </a:p>
                    <a:p>
                      <a:r>
                        <a:rPr lang="am-ET" sz="1800" b="1" i="0" u="none" strike="noStrike" kern="1200" baseline="0" dirty="0" smtClean="0">
                          <a:solidFill>
                            <a:schemeClr val="dk1"/>
                          </a:solidFill>
                          <a:latin typeface="+mn-lt"/>
                          <a:ea typeface="+mn-ea"/>
                          <a:cs typeface="+mn-cs"/>
                        </a:rPr>
                        <a:t> </a:t>
                      </a:r>
                    </a:p>
                    <a:p>
                      <a:r>
                        <a:rPr lang="am-ET" sz="1800" b="1" i="0" u="none" strike="noStrike" kern="1200" baseline="0" dirty="0" smtClean="0">
                          <a:solidFill>
                            <a:schemeClr val="dk1"/>
                          </a:solidFill>
                          <a:latin typeface="+mn-lt"/>
                          <a:ea typeface="+mn-ea"/>
                          <a:cs typeface="+mn-cs"/>
                        </a:rPr>
                        <a:t>ብር </a:t>
                      </a:r>
                      <a:endParaRPr lang="en-US" sz="1800" b="1" i="0" u="none" strike="noStrike" kern="1200" baseline="0" dirty="0" smtClean="0">
                        <a:solidFill>
                          <a:schemeClr val="dk1"/>
                        </a:solidFill>
                        <a:latin typeface="+mn-lt"/>
                        <a:ea typeface="+mn-ea"/>
                        <a:cs typeface="+mn-cs"/>
                      </a:endParaRPr>
                    </a:p>
                    <a:p>
                      <a:r>
                        <a:rPr lang="am-ET" sz="1800" b="1" i="0" u="none" strike="noStrike" kern="1200" baseline="0" dirty="0" smtClean="0">
                          <a:solidFill>
                            <a:schemeClr val="dk1"/>
                          </a:solidFill>
                          <a:latin typeface="+mn-lt"/>
                          <a:ea typeface="+mn-ea"/>
                          <a:cs typeface="+mn-cs"/>
                        </a:rPr>
                        <a:t>30,000.00 </a:t>
                      </a:r>
                      <a:endParaRPr lang="en-US" sz="1800" b="1" i="0" u="none" strike="noStrike" kern="1200" baseline="0" dirty="0" smtClean="0">
                        <a:solidFill>
                          <a:schemeClr val="dk1"/>
                        </a:solidFill>
                        <a:latin typeface="+mn-lt"/>
                        <a:ea typeface="+mn-ea"/>
                        <a:cs typeface="+mn-cs"/>
                      </a:endParaRPr>
                    </a:p>
                    <a:p>
                      <a:endParaRPr lang="am-ET" sz="1800" b="1" i="0" u="none" strike="noStrike" kern="1200" baseline="0" dirty="0" smtClean="0">
                        <a:solidFill>
                          <a:schemeClr val="dk1"/>
                        </a:solidFill>
                        <a:latin typeface="+mn-lt"/>
                        <a:ea typeface="+mn-ea"/>
                        <a:cs typeface="+mn-cs"/>
                      </a:endParaRPr>
                    </a:p>
                    <a:p>
                      <a:r>
                        <a:rPr lang="am-ET" sz="1800" b="1" i="0" u="none" strike="noStrike" kern="1200" baseline="0" dirty="0" smtClean="0">
                          <a:solidFill>
                            <a:schemeClr val="dk1"/>
                          </a:solidFill>
                          <a:latin typeface="+mn-lt"/>
                          <a:ea typeface="+mn-ea"/>
                          <a:cs typeface="+mn-cs"/>
                        </a:rPr>
                        <a:t>ብር 10,000.00 </a:t>
                      </a:r>
                      <a:r>
                        <a:rPr lang="am-ET" sz="1800" b="0" i="0" u="none" strike="noStrike" kern="1200" baseline="0" dirty="0" smtClean="0">
                          <a:solidFill>
                            <a:schemeClr val="dk1"/>
                          </a:solidFill>
                          <a:latin typeface="+mn-lt"/>
                          <a:ea typeface="+mn-ea"/>
                          <a:cs typeface="+mn-cs"/>
                        </a:rPr>
                        <a:t>	</a:t>
                      </a:r>
                    </a:p>
                  </a:txBody>
                  <a:tcPr>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txBody>
                  <a:tcPr>
                    <a:lnB w="12700" cap="flat" cmpd="sng" algn="ctr">
                      <a:solidFill>
                        <a:schemeClr val="tx1"/>
                      </a:solidFill>
                      <a:prstDash val="solid"/>
                      <a:round/>
                      <a:headEnd type="none" w="med" len="med"/>
                      <a:tailEnd type="none" w="med" len="med"/>
                    </a:lnB>
                  </a:tcPr>
                </a:tc>
              </a:tr>
              <a:tr h="3045312">
                <a:tc>
                  <a:txBody>
                    <a:bodyPr/>
                    <a:lstStyle/>
                    <a:p>
                      <a:endParaRPr lang="en-US" sz="2400" dirty="0" smtClean="0">
                        <a:latin typeface="Power Geez Unicode1" pitchFamily="2" charset="0"/>
                      </a:endParaRPr>
                    </a:p>
                    <a:p>
                      <a:endParaRPr lang="en-US" sz="2400" dirty="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am-ET" sz="2400" b="1" i="0" u="none" strike="noStrike" kern="1200" baseline="0" dirty="0" smtClean="0">
                          <a:solidFill>
                            <a:schemeClr val="dk1"/>
                          </a:solidFill>
                          <a:latin typeface="+mn-lt"/>
                          <a:ea typeface="+mn-ea"/>
                          <a:cs typeface="+mn-cs"/>
                        </a:rPr>
                        <a:t>	</a:t>
                      </a:r>
                    </a:p>
                    <a:p>
                      <a:pPr algn="just"/>
                      <a:r>
                        <a:rPr lang="en-US" sz="1400" b="1" dirty="0" smtClean="0">
                          <a:effectLst/>
                          <a:latin typeface="Power Geez Unicode1" pitchFamily="2" charset="0"/>
                          <a:ea typeface="Times New Roman"/>
                          <a:cs typeface="Visual Geez Unicode"/>
                        </a:rPr>
                        <a:t>     </a:t>
                      </a:r>
                      <a:endParaRPr lang="en-US" sz="3200" b="1"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2800" dirty="0" smtClean="0">
                        <a:latin typeface="Power Geez Unicode1" pitchFamily="2" charset="0"/>
                      </a:endParaRPr>
                    </a:p>
                    <a:p>
                      <a:endParaRPr lang="en-US" sz="2000" b="1" dirty="0" smtClean="0">
                        <a:solidFill>
                          <a:schemeClr val="tx1"/>
                        </a:solidFill>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1800" b="1" dirty="0" smtClean="0">
                        <a:latin typeface="Power Geez Unicode1" pitchFamily="2" charset="0"/>
                      </a:endParaRPr>
                    </a:p>
                    <a:p>
                      <a:pPr marL="0" marR="0" algn="ctr">
                        <a:spcBef>
                          <a:spcPts val="1000"/>
                        </a:spcBef>
                        <a:spcAft>
                          <a:spcPts val="0"/>
                        </a:spcAft>
                      </a:pPr>
                      <a:endParaRPr lang="en-US" sz="2800" b="0" dirty="0" smtClean="0">
                        <a:solidFill>
                          <a:srgbClr val="4F81BD"/>
                        </a:solidFill>
                        <a:effectLst/>
                        <a:latin typeface="Power Geez Unicode1" pitchFamily="2" charset="0"/>
                        <a:ea typeface="Times New Roman"/>
                        <a:cs typeface="Visual Geez Unicode"/>
                      </a:endParaRPr>
                    </a:p>
                    <a:p>
                      <a:endParaRPr lang="en-US" sz="2800" dirty="0" smtClean="0">
                        <a:latin typeface="Power Geez Unicode1" pitchFamily="2" charset="0"/>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111670803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591500365"/>
              </p:ext>
            </p:extLst>
          </p:nvPr>
        </p:nvGraphicFramePr>
        <p:xfrm>
          <a:off x="76200" y="152400"/>
          <a:ext cx="8940800" cy="9598512"/>
        </p:xfrm>
        <a:graphic>
          <a:graphicData uri="http://schemas.openxmlformats.org/drawingml/2006/table">
            <a:tbl>
              <a:tblPr firstRow="1" bandRow="1">
                <a:tableStyleId>{5C22544A-7EE6-4342-B048-85BDC9FD1C3A}</a:tableStyleId>
              </a:tblPr>
              <a:tblGrid>
                <a:gridCol w="711199"/>
                <a:gridCol w="3612697"/>
                <a:gridCol w="1340303"/>
                <a:gridCol w="1493521"/>
                <a:gridCol w="1783080"/>
              </a:tblGrid>
              <a:tr h="872307">
                <a:tc>
                  <a:txBody>
                    <a:bodyPr/>
                    <a:lstStyle/>
                    <a:p>
                      <a:r>
                        <a:rPr lang="am-ET" sz="1800" b="0" i="0" u="none" strike="noStrike" baseline="0" dirty="0" smtClean="0">
                          <a:solidFill>
                            <a:srgbClr val="000000"/>
                          </a:solidFill>
                          <a:latin typeface="Visual Geez Unicode"/>
                        </a:rPr>
                        <a:t>ተ.ቁ</a:t>
                      </a:r>
                      <a:r>
                        <a:rPr lang="am-ET" sz="1400" b="0" i="0" u="none" strike="noStrike" baseline="0" dirty="0" smtClean="0">
                          <a:solidFill>
                            <a:srgbClr val="000000"/>
                          </a:solidFill>
                          <a:latin typeface="Visual Geez Unicode"/>
                        </a:rPr>
                        <a:t> 	</a:t>
                      </a:r>
                      <a:r>
                        <a:rPr lang="en-US" sz="1400" b="0" i="0" u="none" strike="noStrike" baseline="0" dirty="0" smtClean="0">
                          <a:solidFill>
                            <a:srgbClr val="000000"/>
                          </a:solidFill>
                          <a:latin typeface="Power Geez Unicode1" pitchFamily="2" charset="0"/>
                        </a:rPr>
                        <a:t> </a:t>
                      </a:r>
                      <a:endParaRPr lang="am-ET" sz="1400" b="0" i="0" u="none" strike="noStrike" baseline="0" dirty="0" smtClean="0">
                        <a:solidFill>
                          <a:srgbClr val="000000"/>
                        </a:solidFill>
                        <a:latin typeface="Visual Geez Unicode"/>
                      </a:endParaRPr>
                    </a:p>
                  </a:txBody>
                  <a:tcPr/>
                </a:tc>
                <a:tc>
                  <a:txBody>
                    <a:bodyPr/>
                    <a:lstStyle/>
                    <a:p>
                      <a:r>
                        <a:rPr lang="en-US" sz="1800" b="1" i="0" u="none" strike="noStrike" baseline="0" dirty="0" err="1" smtClean="0">
                          <a:solidFill>
                            <a:srgbClr val="FF0000"/>
                          </a:solidFill>
                          <a:latin typeface="Power Geez Unicode1" pitchFamily="2" charset="0"/>
                        </a:rPr>
                        <a:t>የጥፋት</a:t>
                      </a:r>
                      <a:r>
                        <a:rPr lang="en-US" sz="1800" b="1" i="0" u="none" strike="noStrike" baseline="0" dirty="0" smtClean="0">
                          <a:solidFill>
                            <a:srgbClr val="FF0000"/>
                          </a:solidFill>
                          <a:latin typeface="Power Geez Unicode1" pitchFamily="2" charset="0"/>
                        </a:rPr>
                        <a:t> </a:t>
                      </a:r>
                      <a:r>
                        <a:rPr lang="en-US" sz="1800" b="1" i="0" u="none" strike="noStrike" baseline="0" dirty="0" err="1" smtClean="0">
                          <a:solidFill>
                            <a:srgbClr val="FF0000"/>
                          </a:solidFill>
                          <a:latin typeface="Power Geez Unicode1" pitchFamily="2" charset="0"/>
                        </a:rPr>
                        <a:t>አይነቶች</a:t>
                      </a:r>
                      <a:endParaRPr lang="am-ET" sz="1800" b="1" i="0" u="none" strike="noStrike" baseline="0" dirty="0" smtClean="0">
                        <a:solidFill>
                          <a:srgbClr val="FF0000"/>
                        </a:solidFill>
                        <a:latin typeface="Visual Geez Unicode"/>
                      </a:endParaRPr>
                    </a:p>
                  </a:txBody>
                  <a:tcPr/>
                </a:tc>
                <a:tc>
                  <a:txBody>
                    <a:bodyPr/>
                    <a:lstStyle/>
                    <a:p>
                      <a:r>
                        <a:rPr lang="en-US" sz="1400" b="0" i="0" u="none" strike="noStrike" baseline="0" dirty="0" err="1" smtClean="0">
                          <a:solidFill>
                            <a:srgbClr val="000000"/>
                          </a:solidFill>
                          <a:latin typeface="Power Geez Unicode1" pitchFamily="2" charset="0"/>
                        </a:rPr>
                        <a:t>ቀድሞ</a:t>
                      </a:r>
                      <a:r>
                        <a:rPr lang="en-US" sz="1400" b="0" i="0" u="none" strike="noStrike" baseline="0" dirty="0" smtClean="0">
                          <a:solidFill>
                            <a:srgbClr val="000000"/>
                          </a:solidFill>
                          <a:latin typeface="Power Geez Unicode1" pitchFamily="2" charset="0"/>
                        </a:rPr>
                        <a:t> በነበረው150/2015 </a:t>
                      </a:r>
                      <a:r>
                        <a:rPr lang="en-US" sz="1400" b="0" i="0" u="none" strike="noStrike" baseline="0" dirty="0" err="1" smtClean="0">
                          <a:solidFill>
                            <a:srgbClr val="000000"/>
                          </a:solidFill>
                          <a:latin typeface="Power Geez Unicode1" pitchFamily="2" charset="0"/>
                        </a:rPr>
                        <a:t>የተቀመጠ</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ቅጣት</a:t>
                      </a:r>
                      <a:endParaRPr lang="am-ET" sz="1400" b="0" i="0" u="none" strike="noStrike" baseline="0" dirty="0" smtClean="0">
                        <a:solidFill>
                          <a:srgbClr val="000000"/>
                        </a:solidFill>
                        <a:latin typeface="Visual Geez Unicode"/>
                      </a:endParaRPr>
                    </a:p>
                  </a:txBody>
                  <a:tcPr/>
                </a:tc>
                <a:tc>
                  <a:txBody>
                    <a:bodyPr/>
                    <a:lstStyle/>
                    <a:p>
                      <a:r>
                        <a:rPr lang="en-US" sz="1400" b="0" i="0" u="none" strike="noStrike" baseline="0" dirty="0" err="1" smtClean="0">
                          <a:solidFill>
                            <a:srgbClr val="000000"/>
                          </a:solidFill>
                          <a:latin typeface="Power Geez Unicode1" pitchFamily="2" charset="0"/>
                        </a:rPr>
                        <a:t>አሁን</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በተሸሻለው</a:t>
                      </a:r>
                      <a:r>
                        <a:rPr lang="en-US" sz="1400" b="0" i="0" u="none" strike="noStrike" baseline="0" dirty="0" smtClean="0">
                          <a:solidFill>
                            <a:srgbClr val="000000"/>
                          </a:solidFill>
                          <a:latin typeface="Power Geez Unicode1" pitchFamily="2" charset="0"/>
                        </a:rPr>
                        <a:t> 167/16 </a:t>
                      </a:r>
                      <a:r>
                        <a:rPr lang="en-US" sz="1400" b="0" i="0" u="none" strike="noStrike" baseline="0" dirty="0" err="1" smtClean="0">
                          <a:solidFill>
                            <a:srgbClr val="000000"/>
                          </a:solidFill>
                          <a:latin typeface="Power Geez Unicode1" pitchFamily="2" charset="0"/>
                        </a:rPr>
                        <a:t>የተቀመጠ</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ቅጣት</a:t>
                      </a:r>
                      <a:endParaRPr lang="am-ET" sz="1400" b="0" i="0" u="none" strike="noStrike" baseline="0" dirty="0" smtClean="0">
                        <a:solidFill>
                          <a:srgbClr val="000000"/>
                        </a:solidFill>
                        <a:latin typeface="Visual Geez Unicode"/>
                      </a:endParaRPr>
                    </a:p>
                  </a:txBody>
                  <a:tcPr/>
                </a:tc>
                <a:tc>
                  <a:txBody>
                    <a:bodyPr/>
                    <a:lstStyle/>
                    <a:p>
                      <a:r>
                        <a:rPr lang="en-US" sz="1600" dirty="0" err="1" smtClean="0">
                          <a:solidFill>
                            <a:schemeClr val="tx1"/>
                          </a:solidFill>
                          <a:latin typeface="Power Geez Unicode1" pitchFamily="2" charset="0"/>
                        </a:rPr>
                        <a:t>ከህገ</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ወጥ</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ፈፃሚው</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የሚጠበቅ</a:t>
                      </a:r>
                      <a:endParaRPr lang="en-US" sz="1600" dirty="0">
                        <a:solidFill>
                          <a:schemeClr val="tx1"/>
                        </a:solidFill>
                        <a:latin typeface="Power Geez Unicode1" pitchFamily="2" charset="0"/>
                      </a:endParaRPr>
                    </a:p>
                  </a:txBody>
                  <a:tcPr/>
                </a:tc>
              </a:tr>
              <a:tr h="5608320">
                <a:tc>
                  <a:txBody>
                    <a:bodyPr/>
                    <a:lstStyle/>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r>
                        <a:rPr lang="en-US" sz="2400" dirty="0" smtClean="0">
                          <a:latin typeface="Power Geez Unicode1" pitchFamily="2" charset="0"/>
                        </a:rPr>
                        <a:t>7</a:t>
                      </a:r>
                    </a:p>
                    <a:p>
                      <a:endParaRPr lang="en-US" sz="2400" dirty="0" smtClean="0">
                        <a:latin typeface="Power Geez Unicode1" pitchFamily="2" charset="0"/>
                      </a:endParaRPr>
                    </a:p>
                    <a:p>
                      <a:endParaRPr lang="en-US" sz="2400" dirty="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pPr marL="0" marR="0" lvl="1" indent="0" algn="just">
                        <a:spcBef>
                          <a:spcPts val="1000"/>
                        </a:spcBef>
                        <a:spcAft>
                          <a:spcPts val="0"/>
                        </a:spcAft>
                        <a:buFont typeface="+mj-lt"/>
                        <a:buNone/>
                      </a:pPr>
                      <a:endParaRPr lang="en-US" sz="2800" b="1" dirty="0" smtClean="0">
                        <a:solidFill>
                          <a:srgbClr val="002060"/>
                        </a:solidFill>
                        <a:effectLst/>
                        <a:latin typeface="Power Geez Unicode1" pitchFamily="2" charset="0"/>
                        <a:ea typeface="Times New Roman"/>
                        <a:cs typeface="Times New Roman"/>
                      </a:endParaRPr>
                    </a:p>
                    <a:p>
                      <a:endParaRPr lang="en-US" sz="1800" b="0"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7.1. ከመኪና ውስጥ የመነጨን ደረቅ ቆሻሻ በማንኛውም ባልተፈቀደ ቦታ ጠርጎ የጣለ ማንኛውም ሰው፤</a:t>
                      </a:r>
                      <a:endParaRPr lang="en-US"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 </a:t>
                      </a:r>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am-ET"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7.2. አሽከርካሪ ወይም ተሳፋሪ ከመኪና ውስጥ ሆኖ በመስኮትም ይሁን በበር በኩል ማንኛውንም ዓይነት ደረቅ ቆሻሻ ወደ ውጭ የወረወረ ወይም የጣለ ማንኛውም ሰው፤ </a:t>
                      </a:r>
                    </a:p>
                    <a:p>
                      <a:pPr algn="just"/>
                      <a:r>
                        <a:rPr lang="en-US" sz="1800" b="1" i="0" u="none" strike="noStrike" kern="1200" baseline="0" dirty="0" smtClean="0">
                          <a:solidFill>
                            <a:schemeClr val="dk1"/>
                          </a:solidFill>
                          <a:latin typeface="Power Geez Unicode1" pitchFamily="2" charset="0"/>
                          <a:ea typeface="+mn-ea"/>
                          <a:cs typeface="+mn-cs"/>
                        </a:rPr>
                        <a:t>	</a:t>
                      </a:r>
                    </a:p>
                    <a:p>
                      <a:pPr algn="just"/>
                      <a:r>
                        <a:rPr lang="am-ET" sz="2000" b="0" i="0" u="none" strike="noStrike" kern="1200" baseline="0" dirty="0" smtClean="0">
                          <a:solidFill>
                            <a:schemeClr val="dk1"/>
                          </a:solidFill>
                          <a:latin typeface="+mn-lt"/>
                          <a:ea typeface="+mn-ea"/>
                          <a:cs typeface="+mn-cs"/>
                        </a:rPr>
                        <a:t>	</a:t>
                      </a:r>
                      <a:r>
                        <a:rPr lang="en-US" sz="1200" b="1" dirty="0" smtClean="0">
                          <a:effectLst/>
                          <a:latin typeface="Power Geez Unicode1" pitchFamily="2" charset="0"/>
                          <a:ea typeface="Times New Roman"/>
                          <a:cs typeface="Visual Geez Unicode"/>
                        </a:rPr>
                        <a:t> </a:t>
                      </a:r>
                      <a:endParaRPr lang="en-US" sz="2400" dirty="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r>
                        <a:rPr lang="en-US" sz="2400" dirty="0" smtClean="0">
                          <a:latin typeface="Power Geez Unicode1" pitchFamily="2" charset="0"/>
                        </a:rPr>
                        <a:t> </a:t>
                      </a:r>
                    </a:p>
                    <a:p>
                      <a:endParaRPr lang="en-US" sz="2400" b="1" dirty="0" smtClean="0">
                        <a:latin typeface="Power Geez Unicode1" pitchFamily="2" charset="0"/>
                      </a:endParaRPr>
                    </a:p>
                    <a:p>
                      <a:r>
                        <a:rPr lang="en-US" sz="2000" b="1" dirty="0" err="1" smtClean="0">
                          <a:solidFill>
                            <a:srgbClr val="FF0000"/>
                          </a:solidFill>
                          <a:latin typeface="Power Geez Unicode1" pitchFamily="2" charset="0"/>
                        </a:rPr>
                        <a:t>ብር</a:t>
                      </a:r>
                      <a:endParaRPr lang="en-US" sz="2000" b="1" dirty="0" smtClean="0">
                        <a:solidFill>
                          <a:srgbClr val="FF0000"/>
                        </a:solidFill>
                        <a:latin typeface="Power Geez Unicode1" pitchFamily="2" charset="0"/>
                      </a:endParaRPr>
                    </a:p>
                    <a:p>
                      <a:r>
                        <a:rPr lang="en-US" sz="2000" b="1" dirty="0" smtClean="0">
                          <a:solidFill>
                            <a:srgbClr val="FF0000"/>
                          </a:solidFill>
                          <a:latin typeface="Power Geez Unicode1" pitchFamily="2" charset="0"/>
                        </a:rPr>
                        <a:t>1.000.00</a:t>
                      </a:r>
                    </a:p>
                    <a:p>
                      <a:endParaRPr lang="en-US" sz="2000" b="1" dirty="0" smtClean="0">
                        <a:solidFill>
                          <a:srgbClr val="FF0000"/>
                        </a:solidFill>
                        <a:latin typeface="Power Geez Unicode1" pitchFamily="2" charset="0"/>
                      </a:endParaRPr>
                    </a:p>
                    <a:p>
                      <a:endParaRPr lang="en-US" sz="2000" b="1" dirty="0" smtClean="0">
                        <a:solidFill>
                          <a:srgbClr val="FF0000"/>
                        </a:solidFill>
                        <a:latin typeface="Power Geez Unicode1" pitchFamily="2" charset="0"/>
                      </a:endParaRPr>
                    </a:p>
                    <a:p>
                      <a:endParaRPr lang="en-US" sz="2000" b="1" dirty="0" smtClean="0">
                        <a:solidFill>
                          <a:srgbClr val="FF0000"/>
                        </a:solidFill>
                        <a:latin typeface="Power Geez Unicode1" pitchFamily="2" charset="0"/>
                      </a:endParaRPr>
                    </a:p>
                    <a:p>
                      <a:endParaRPr lang="en-US" sz="2000" b="1" dirty="0" smtClean="0">
                        <a:solidFill>
                          <a:srgbClr val="FF0000"/>
                        </a:solidFill>
                        <a:latin typeface="Power Geez Unicode1" pitchFamily="2" charset="0"/>
                      </a:endParaRPr>
                    </a:p>
                    <a:p>
                      <a:endParaRPr lang="en-US" sz="2000" b="1" dirty="0" smtClean="0">
                        <a:solidFill>
                          <a:srgbClr val="FF0000"/>
                        </a:solidFill>
                        <a:latin typeface="Power Geez Unicode1" pitchFamily="2" charset="0"/>
                      </a:endParaRPr>
                    </a:p>
                    <a:p>
                      <a:r>
                        <a:rPr lang="en-US" sz="2000" b="1" dirty="0" err="1" smtClean="0">
                          <a:solidFill>
                            <a:srgbClr val="FF0000"/>
                          </a:solidFill>
                          <a:latin typeface="Power Geez Unicode1" pitchFamily="2" charset="0"/>
                        </a:rPr>
                        <a:t>ብር</a:t>
                      </a:r>
                      <a:endParaRPr lang="en-US" sz="2000" b="1" dirty="0" smtClean="0">
                        <a:solidFill>
                          <a:srgbClr val="FF0000"/>
                        </a:solidFill>
                        <a:latin typeface="Power Geez Unicode1" pitchFamily="2" charset="0"/>
                      </a:endParaRPr>
                    </a:p>
                    <a:p>
                      <a:r>
                        <a:rPr lang="en-US" sz="2000" b="1" dirty="0" smtClean="0">
                          <a:solidFill>
                            <a:srgbClr val="FF0000"/>
                          </a:solidFill>
                          <a:latin typeface="Power Geez Unicode1" pitchFamily="2" charset="0"/>
                        </a:rPr>
                        <a:t>200</a:t>
                      </a:r>
                    </a:p>
                  </a:txBody>
                  <a:tcPr>
                    <a:lnB w="12700" cap="flat" cmpd="sng" algn="ctr">
                      <a:solidFill>
                        <a:schemeClr val="tx1"/>
                      </a:solidFill>
                      <a:prstDash val="solid"/>
                      <a:round/>
                      <a:headEnd type="none" w="med" len="med"/>
                      <a:tailEnd type="none" w="med" len="med"/>
                    </a:lnB>
                  </a:tcPr>
                </a:tc>
                <a:tc>
                  <a:txBody>
                    <a:bodyPr/>
                    <a:lstStyle/>
                    <a:p>
                      <a:endParaRPr lang="en-US" sz="1800" b="1" dirty="0" smtClean="0">
                        <a:latin typeface="Power Geez Unicode1" pitchFamily="2" charset="0"/>
                      </a:endParaRPr>
                    </a:p>
                    <a:p>
                      <a:pPr algn="just"/>
                      <a:endParaRPr lang="en-US" sz="1800" b="1" dirty="0" smtClean="0">
                        <a:latin typeface="Power Geez Unicode1" pitchFamily="2" charset="0"/>
                      </a:endParaRPr>
                    </a:p>
                    <a:p>
                      <a:pPr algn="just"/>
                      <a:endParaRPr lang="en-US" sz="1800" b="1" dirty="0" smtClean="0">
                        <a:latin typeface="Power Geez Unicode1" pitchFamily="2" charset="0"/>
                      </a:endParaRPr>
                    </a:p>
                    <a:p>
                      <a:r>
                        <a:rPr lang="am-ET" sz="2000" b="1" i="0" u="none" strike="noStrike" kern="1200" baseline="0" dirty="0" smtClean="0">
                          <a:solidFill>
                            <a:schemeClr val="dk1"/>
                          </a:solidFill>
                          <a:latin typeface="+mn-lt"/>
                          <a:ea typeface="+mn-ea"/>
                          <a:cs typeface="+mn-cs"/>
                        </a:rPr>
                        <a:t>ብር 5,000.00</a:t>
                      </a:r>
                      <a:endParaRPr lang="en-US" sz="2000" b="1" i="0" u="none" strike="noStrike" kern="1200" baseline="0" dirty="0" smtClean="0">
                        <a:solidFill>
                          <a:schemeClr val="dk1"/>
                        </a:solidFill>
                        <a:latin typeface="Power Geez Unicode1" pitchFamily="2" charset="0"/>
                        <a:ea typeface="+mn-ea"/>
                        <a:cs typeface="+mn-cs"/>
                      </a:endParaRPr>
                    </a:p>
                    <a:p>
                      <a:endParaRPr lang="en-US" sz="2000" b="1" i="0" u="none" strike="noStrike" kern="1200" baseline="0" dirty="0" smtClean="0">
                        <a:solidFill>
                          <a:schemeClr val="dk1"/>
                        </a:solidFill>
                        <a:latin typeface="Power Geez Unicode1" pitchFamily="2" charset="0"/>
                        <a:ea typeface="+mn-ea"/>
                        <a:cs typeface="+mn-cs"/>
                      </a:endParaRPr>
                    </a:p>
                    <a:p>
                      <a:endParaRPr lang="en-US" sz="2000" b="1" i="0" u="none" strike="noStrike" kern="1200" baseline="0" dirty="0" smtClean="0">
                        <a:solidFill>
                          <a:schemeClr val="dk1"/>
                        </a:solidFill>
                        <a:latin typeface="Power Geez Unicode1" pitchFamily="2" charset="0"/>
                        <a:ea typeface="+mn-ea"/>
                        <a:cs typeface="+mn-cs"/>
                      </a:endParaRPr>
                    </a:p>
                    <a:p>
                      <a:endParaRPr lang="en-US" sz="2000" b="1" i="0" u="none" strike="noStrike" kern="1200" baseline="0" dirty="0" smtClean="0">
                        <a:solidFill>
                          <a:schemeClr val="dk1"/>
                        </a:solidFill>
                        <a:latin typeface="+mn-lt"/>
                        <a:ea typeface="+mn-ea"/>
                        <a:cs typeface="+mn-cs"/>
                      </a:endParaRPr>
                    </a:p>
                    <a:p>
                      <a:endParaRPr lang="en-US" sz="2000" b="1" i="0" u="none" strike="noStrike" kern="1200" baseline="0" dirty="0" smtClean="0">
                        <a:solidFill>
                          <a:schemeClr val="dk1"/>
                        </a:solidFill>
                        <a:latin typeface="+mn-lt"/>
                        <a:ea typeface="+mn-ea"/>
                        <a:cs typeface="+mn-cs"/>
                      </a:endParaRPr>
                    </a:p>
                    <a:p>
                      <a:endParaRPr lang="am-ET" sz="2000" b="1" i="0" u="none" strike="noStrike" kern="1200" baseline="0" dirty="0" smtClean="0">
                        <a:solidFill>
                          <a:schemeClr val="dk1"/>
                        </a:solidFill>
                        <a:latin typeface="+mn-lt"/>
                        <a:ea typeface="+mn-ea"/>
                        <a:cs typeface="+mn-cs"/>
                      </a:endParaRPr>
                    </a:p>
                    <a:p>
                      <a:r>
                        <a:rPr lang="am-ET" sz="2000" b="1" i="0" u="none" strike="noStrike" kern="1200" baseline="0" dirty="0" smtClean="0">
                          <a:solidFill>
                            <a:schemeClr val="dk1"/>
                          </a:solidFill>
                          <a:latin typeface="+mn-lt"/>
                          <a:ea typeface="+mn-ea"/>
                          <a:cs typeface="+mn-cs"/>
                        </a:rPr>
                        <a:t>ብር 2000.00 	</a:t>
                      </a:r>
                    </a:p>
                    <a:p>
                      <a:r>
                        <a:rPr lang="am-ET" sz="1800" b="0" i="0" u="none" strike="noStrike" kern="1200" baseline="0" dirty="0" smtClean="0">
                          <a:solidFill>
                            <a:schemeClr val="dk1"/>
                          </a:solidFill>
                          <a:latin typeface="+mn-lt"/>
                          <a:ea typeface="+mn-ea"/>
                          <a:cs typeface="+mn-cs"/>
                        </a:rPr>
                        <a:t>	</a:t>
                      </a:r>
                    </a:p>
                  </a:txBody>
                  <a:tcPr>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በሰንጠረዡ የተቀመጠውን የቅጣት ክፍያ መጠን መክፈልና የጣለውን ቆሻሻ ማንሳት 	</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txBody>
                  <a:tcPr>
                    <a:lnB w="12700" cap="flat" cmpd="sng" algn="ctr">
                      <a:solidFill>
                        <a:schemeClr val="tx1"/>
                      </a:solidFill>
                      <a:prstDash val="solid"/>
                      <a:round/>
                      <a:headEnd type="none" w="med" len="med"/>
                      <a:tailEnd type="none" w="med" len="med"/>
                    </a:lnB>
                  </a:tcPr>
                </a:tc>
              </a:tr>
              <a:tr h="3045312">
                <a:tc>
                  <a:txBody>
                    <a:bodyPr/>
                    <a:lstStyle/>
                    <a:p>
                      <a:endParaRPr lang="en-US" sz="2400" dirty="0" smtClean="0">
                        <a:latin typeface="Power Geez Unicode1" pitchFamily="2" charset="0"/>
                      </a:endParaRPr>
                    </a:p>
                    <a:p>
                      <a:endParaRPr lang="en-US" sz="2400" dirty="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am-ET" sz="2400" b="1" i="0" u="none" strike="noStrike" kern="1200" baseline="0" dirty="0" smtClean="0">
                          <a:solidFill>
                            <a:schemeClr val="dk1"/>
                          </a:solidFill>
                          <a:latin typeface="+mn-lt"/>
                          <a:ea typeface="+mn-ea"/>
                          <a:cs typeface="+mn-cs"/>
                        </a:rPr>
                        <a:t>	</a:t>
                      </a:r>
                    </a:p>
                    <a:p>
                      <a:pPr algn="just"/>
                      <a:r>
                        <a:rPr lang="en-US" sz="1400" b="1" dirty="0" smtClean="0">
                          <a:effectLst/>
                          <a:latin typeface="Power Geez Unicode1" pitchFamily="2" charset="0"/>
                          <a:ea typeface="Times New Roman"/>
                          <a:cs typeface="Visual Geez Unicode"/>
                        </a:rPr>
                        <a:t>     </a:t>
                      </a:r>
                      <a:endParaRPr lang="en-US" sz="3200" b="1"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2800" dirty="0" smtClean="0">
                        <a:latin typeface="Power Geez Unicode1" pitchFamily="2" charset="0"/>
                      </a:endParaRPr>
                    </a:p>
                    <a:p>
                      <a:endParaRPr lang="en-US" sz="2000" b="1" dirty="0" smtClean="0">
                        <a:solidFill>
                          <a:schemeClr val="tx1"/>
                        </a:solidFill>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1800" b="1" dirty="0" smtClean="0">
                        <a:latin typeface="Power Geez Unicode1" pitchFamily="2" charset="0"/>
                      </a:endParaRPr>
                    </a:p>
                    <a:p>
                      <a:pPr marL="0" marR="0" algn="ctr">
                        <a:spcBef>
                          <a:spcPts val="1000"/>
                        </a:spcBef>
                        <a:spcAft>
                          <a:spcPts val="0"/>
                        </a:spcAft>
                      </a:pPr>
                      <a:endParaRPr lang="en-US" sz="2800" b="0" dirty="0" smtClean="0">
                        <a:solidFill>
                          <a:srgbClr val="4F81BD"/>
                        </a:solidFill>
                        <a:effectLst/>
                        <a:latin typeface="Power Geez Unicode1" pitchFamily="2" charset="0"/>
                        <a:ea typeface="Times New Roman"/>
                        <a:cs typeface="Visual Geez Unicode"/>
                      </a:endParaRPr>
                    </a:p>
                    <a:p>
                      <a:endParaRPr lang="en-US" sz="2800" dirty="0" smtClean="0">
                        <a:latin typeface="Power Geez Unicode1" pitchFamily="2" charset="0"/>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370600873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26350988"/>
              </p:ext>
            </p:extLst>
          </p:nvPr>
        </p:nvGraphicFramePr>
        <p:xfrm>
          <a:off x="76200" y="228600"/>
          <a:ext cx="8788400" cy="9783090"/>
        </p:xfrm>
        <a:graphic>
          <a:graphicData uri="http://schemas.openxmlformats.org/drawingml/2006/table">
            <a:tbl>
              <a:tblPr firstRow="1" bandRow="1">
                <a:tableStyleId>{5C22544A-7EE6-4342-B048-85BDC9FD1C3A}</a:tableStyleId>
              </a:tblPr>
              <a:tblGrid>
                <a:gridCol w="699076"/>
                <a:gridCol w="3551117"/>
                <a:gridCol w="1317457"/>
                <a:gridCol w="1468063"/>
                <a:gridCol w="1752687"/>
              </a:tblGrid>
              <a:tr h="926473">
                <a:tc>
                  <a:txBody>
                    <a:bodyPr/>
                    <a:lstStyle/>
                    <a:p>
                      <a:r>
                        <a:rPr lang="am-ET" sz="1800" b="0" i="0" u="none" strike="noStrike" baseline="0" dirty="0" smtClean="0">
                          <a:solidFill>
                            <a:srgbClr val="000000"/>
                          </a:solidFill>
                          <a:latin typeface="Visual Geez Unicode"/>
                        </a:rPr>
                        <a:t>ተ.ቁ</a:t>
                      </a:r>
                      <a:r>
                        <a:rPr lang="am-ET" sz="1400" b="0" i="0" u="none" strike="noStrike" baseline="0" dirty="0" smtClean="0">
                          <a:solidFill>
                            <a:srgbClr val="000000"/>
                          </a:solidFill>
                          <a:latin typeface="Visual Geez Unicode"/>
                        </a:rPr>
                        <a:t> 	</a:t>
                      </a:r>
                      <a:r>
                        <a:rPr lang="en-US" sz="1400" b="0" i="0" u="none" strike="noStrike" baseline="0" dirty="0" smtClean="0">
                          <a:solidFill>
                            <a:srgbClr val="000000"/>
                          </a:solidFill>
                          <a:latin typeface="Power Geez Unicode1" pitchFamily="2" charset="0"/>
                        </a:rPr>
                        <a:t> </a:t>
                      </a:r>
                      <a:endParaRPr lang="am-ET" sz="1400" b="0" i="0" u="none" strike="noStrike" baseline="0" dirty="0" smtClean="0">
                        <a:solidFill>
                          <a:srgbClr val="000000"/>
                        </a:solidFill>
                        <a:latin typeface="Visual Geez Unicode"/>
                      </a:endParaRPr>
                    </a:p>
                  </a:txBody>
                  <a:tcPr/>
                </a:tc>
                <a:tc>
                  <a:txBody>
                    <a:bodyPr/>
                    <a:lstStyle/>
                    <a:p>
                      <a:r>
                        <a:rPr lang="en-US" sz="1800" b="1" i="0" u="none" strike="noStrike" baseline="0" dirty="0" err="1" smtClean="0">
                          <a:solidFill>
                            <a:srgbClr val="FF0000"/>
                          </a:solidFill>
                          <a:latin typeface="Power Geez Unicode1" pitchFamily="2" charset="0"/>
                        </a:rPr>
                        <a:t>የጥፋት</a:t>
                      </a:r>
                      <a:r>
                        <a:rPr lang="en-US" sz="1800" b="1" i="0" u="none" strike="noStrike" baseline="0" dirty="0" smtClean="0">
                          <a:solidFill>
                            <a:srgbClr val="FF0000"/>
                          </a:solidFill>
                          <a:latin typeface="Power Geez Unicode1" pitchFamily="2" charset="0"/>
                        </a:rPr>
                        <a:t> </a:t>
                      </a:r>
                      <a:r>
                        <a:rPr lang="en-US" sz="1800" b="1" i="0" u="none" strike="noStrike" baseline="0" dirty="0" err="1" smtClean="0">
                          <a:solidFill>
                            <a:srgbClr val="FF0000"/>
                          </a:solidFill>
                          <a:latin typeface="Power Geez Unicode1" pitchFamily="2" charset="0"/>
                        </a:rPr>
                        <a:t>አይነቶች</a:t>
                      </a:r>
                      <a:endParaRPr lang="am-ET" sz="1800" b="1" i="0" u="none" strike="noStrike" baseline="0" dirty="0" smtClean="0">
                        <a:solidFill>
                          <a:srgbClr val="FF0000"/>
                        </a:solidFill>
                        <a:latin typeface="Visual Geez Unicode"/>
                      </a:endParaRPr>
                    </a:p>
                  </a:txBody>
                  <a:tcPr/>
                </a:tc>
                <a:tc>
                  <a:txBody>
                    <a:bodyPr/>
                    <a:lstStyle/>
                    <a:p>
                      <a:r>
                        <a:rPr lang="en-US" sz="1400" b="0" i="0" u="none" strike="noStrike" baseline="0" dirty="0" err="1" smtClean="0">
                          <a:solidFill>
                            <a:srgbClr val="000000"/>
                          </a:solidFill>
                          <a:latin typeface="Power Geez Unicode1" pitchFamily="2" charset="0"/>
                        </a:rPr>
                        <a:t>ቀድሞ</a:t>
                      </a:r>
                      <a:r>
                        <a:rPr lang="en-US" sz="1400" b="0" i="0" u="none" strike="noStrike" baseline="0" dirty="0" smtClean="0">
                          <a:solidFill>
                            <a:srgbClr val="000000"/>
                          </a:solidFill>
                          <a:latin typeface="Power Geez Unicode1" pitchFamily="2" charset="0"/>
                        </a:rPr>
                        <a:t> በነበረው150/2015 </a:t>
                      </a:r>
                      <a:r>
                        <a:rPr lang="en-US" sz="1400" b="0" i="0" u="none" strike="noStrike" baseline="0" dirty="0" err="1" smtClean="0">
                          <a:solidFill>
                            <a:srgbClr val="000000"/>
                          </a:solidFill>
                          <a:latin typeface="Power Geez Unicode1" pitchFamily="2" charset="0"/>
                        </a:rPr>
                        <a:t>የተቀመጠ</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ቅጣት</a:t>
                      </a:r>
                      <a:endParaRPr lang="am-ET" sz="1400" b="0" i="0" u="none" strike="noStrike" baseline="0" dirty="0" smtClean="0">
                        <a:solidFill>
                          <a:srgbClr val="000000"/>
                        </a:solidFill>
                        <a:latin typeface="Visual Geez Unicode"/>
                      </a:endParaRPr>
                    </a:p>
                  </a:txBody>
                  <a:tcPr/>
                </a:tc>
                <a:tc>
                  <a:txBody>
                    <a:bodyPr/>
                    <a:lstStyle/>
                    <a:p>
                      <a:r>
                        <a:rPr lang="en-US" sz="1400" b="0" i="0" u="none" strike="noStrike" baseline="0" dirty="0" err="1" smtClean="0">
                          <a:solidFill>
                            <a:srgbClr val="000000"/>
                          </a:solidFill>
                          <a:latin typeface="Power Geez Unicode1" pitchFamily="2" charset="0"/>
                        </a:rPr>
                        <a:t>አሁን</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በተሸሻለው</a:t>
                      </a:r>
                      <a:r>
                        <a:rPr lang="en-US" sz="1400" b="0" i="0" u="none" strike="noStrike" baseline="0" dirty="0" smtClean="0">
                          <a:solidFill>
                            <a:srgbClr val="000000"/>
                          </a:solidFill>
                          <a:latin typeface="Power Geez Unicode1" pitchFamily="2" charset="0"/>
                        </a:rPr>
                        <a:t> 167/16 </a:t>
                      </a:r>
                      <a:r>
                        <a:rPr lang="en-US" sz="1400" b="0" i="0" u="none" strike="noStrike" baseline="0" dirty="0" err="1" smtClean="0">
                          <a:solidFill>
                            <a:srgbClr val="000000"/>
                          </a:solidFill>
                          <a:latin typeface="Power Geez Unicode1" pitchFamily="2" charset="0"/>
                        </a:rPr>
                        <a:t>የተቀመጠ</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ቅጣት</a:t>
                      </a:r>
                      <a:endParaRPr lang="am-ET" sz="1400" b="0" i="0" u="none" strike="noStrike" baseline="0" dirty="0" smtClean="0">
                        <a:solidFill>
                          <a:srgbClr val="000000"/>
                        </a:solidFill>
                        <a:latin typeface="Visual Geez Unicode"/>
                      </a:endParaRPr>
                    </a:p>
                  </a:txBody>
                  <a:tcPr/>
                </a:tc>
                <a:tc>
                  <a:txBody>
                    <a:bodyPr/>
                    <a:lstStyle/>
                    <a:p>
                      <a:r>
                        <a:rPr lang="en-US" sz="1600" dirty="0" err="1" smtClean="0">
                          <a:solidFill>
                            <a:schemeClr val="tx1"/>
                          </a:solidFill>
                          <a:latin typeface="Power Geez Unicode1" pitchFamily="2" charset="0"/>
                        </a:rPr>
                        <a:t>ከህገ</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ወጥ</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ፈፃሚው</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የሚጠበቅ</a:t>
                      </a:r>
                      <a:endParaRPr lang="en-US" sz="1600" dirty="0">
                        <a:solidFill>
                          <a:schemeClr val="tx1"/>
                        </a:solidFill>
                        <a:latin typeface="Power Geez Unicode1" pitchFamily="2" charset="0"/>
                      </a:endParaRPr>
                    </a:p>
                  </a:txBody>
                  <a:tcPr/>
                </a:tc>
              </a:tr>
              <a:tr h="6694517">
                <a:tc>
                  <a:txBody>
                    <a:bodyPr/>
                    <a:lstStyle/>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r>
                        <a:rPr lang="en-US" sz="2400" dirty="0" smtClean="0">
                          <a:latin typeface="Power Geez Unicode1" pitchFamily="2" charset="0"/>
                        </a:rPr>
                        <a:t>8</a:t>
                      </a:r>
                    </a:p>
                    <a:p>
                      <a:endParaRPr lang="en-US" sz="2400" dirty="0" smtClean="0">
                        <a:latin typeface="Power Geez Unicode1" pitchFamily="2" charset="0"/>
                      </a:endParaRPr>
                    </a:p>
                    <a:p>
                      <a:endParaRPr lang="en-US" sz="2400" dirty="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endParaRPr lang="en-US" sz="1800" b="0"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ማንኛውም በመንገድ የሚንቀሳቀስ ሰው </a:t>
                      </a:r>
                      <a:r>
                        <a:rPr lang="am-ET" sz="1800" b="1" i="0" u="none" strike="noStrike" kern="1200" baseline="0" dirty="0" smtClean="0">
                          <a:solidFill>
                            <a:srgbClr val="FF0000"/>
                          </a:solidFill>
                          <a:latin typeface="+mn-lt"/>
                          <a:ea typeface="+mn-ea"/>
                          <a:cs typeface="+mn-cs"/>
                        </a:rPr>
                        <a:t>የሲጋራ ቁርጥራጭ</a:t>
                      </a:r>
                      <a:r>
                        <a:rPr lang="am-ET" sz="1800" b="1" i="0" u="none" strike="noStrike" kern="1200" baseline="0" dirty="0" smtClean="0">
                          <a:solidFill>
                            <a:schemeClr val="dk1"/>
                          </a:solidFill>
                          <a:latin typeface="+mn-lt"/>
                          <a:ea typeface="+mn-ea"/>
                          <a:cs typeface="+mn-cs"/>
                        </a:rPr>
                        <a:t>፣ </a:t>
                      </a:r>
                      <a:r>
                        <a:rPr lang="am-ET" sz="1800" b="1" i="0" u="none" strike="noStrike" kern="1200" baseline="0" dirty="0" smtClean="0">
                          <a:solidFill>
                            <a:srgbClr val="FF0000"/>
                          </a:solidFill>
                          <a:latin typeface="+mn-lt"/>
                          <a:ea typeface="+mn-ea"/>
                          <a:cs typeface="+mn-cs"/>
                        </a:rPr>
                        <a:t>የሶፍት ወረቀት</a:t>
                      </a:r>
                      <a:r>
                        <a:rPr lang="am-ET" sz="1800" b="1" i="0" u="none" strike="noStrike" kern="1200" baseline="0" dirty="0" smtClean="0">
                          <a:solidFill>
                            <a:schemeClr val="dk1"/>
                          </a:solidFill>
                          <a:latin typeface="+mn-lt"/>
                          <a:ea typeface="+mn-ea"/>
                          <a:cs typeface="+mn-cs"/>
                        </a:rPr>
                        <a:t>፣ </a:t>
                      </a:r>
                      <a:r>
                        <a:rPr lang="am-ET" sz="1800" b="1" i="0" u="none" strike="noStrike" kern="1200" baseline="0" dirty="0" smtClean="0">
                          <a:solidFill>
                            <a:srgbClr val="FF0000"/>
                          </a:solidFill>
                          <a:latin typeface="+mn-lt"/>
                          <a:ea typeface="+mn-ea"/>
                          <a:cs typeface="+mn-cs"/>
                        </a:rPr>
                        <a:t>ፌስታል</a:t>
                      </a:r>
                      <a:r>
                        <a:rPr lang="am-ET" sz="1800" b="1" i="0" u="none" strike="noStrike" kern="1200" baseline="0" dirty="0" smtClean="0">
                          <a:solidFill>
                            <a:schemeClr val="dk1"/>
                          </a:solidFill>
                          <a:latin typeface="+mn-lt"/>
                          <a:ea typeface="+mn-ea"/>
                          <a:cs typeface="+mn-cs"/>
                        </a:rPr>
                        <a:t>፣ </a:t>
                      </a:r>
                      <a:r>
                        <a:rPr lang="am-ET" sz="1800" b="1" i="0" u="none" strike="noStrike" kern="1200" baseline="0" dirty="0" smtClean="0">
                          <a:solidFill>
                            <a:srgbClr val="FF0000"/>
                          </a:solidFill>
                          <a:latin typeface="+mn-lt"/>
                          <a:ea typeface="+mn-ea"/>
                          <a:cs typeface="+mn-cs"/>
                        </a:rPr>
                        <a:t>የጫት ገለባ</a:t>
                      </a:r>
                      <a:r>
                        <a:rPr lang="am-ET" sz="1800" b="1" i="0" u="none" strike="noStrike" kern="1200" baseline="0" dirty="0" smtClean="0">
                          <a:solidFill>
                            <a:schemeClr val="dk1"/>
                          </a:solidFill>
                          <a:latin typeface="+mn-lt"/>
                          <a:ea typeface="+mn-ea"/>
                          <a:cs typeface="+mn-cs"/>
                        </a:rPr>
                        <a:t>፣ </a:t>
                      </a:r>
                      <a:r>
                        <a:rPr lang="am-ET" sz="1800" b="1" i="0" u="none" strike="noStrike" kern="1200" baseline="0" dirty="0" smtClean="0">
                          <a:solidFill>
                            <a:srgbClr val="C00000"/>
                          </a:solidFill>
                          <a:latin typeface="+mn-lt"/>
                          <a:ea typeface="+mn-ea"/>
                          <a:cs typeface="+mn-cs"/>
                        </a:rPr>
                        <a:t>የፍራፍሬ ተረፈ-ምርቶች</a:t>
                      </a:r>
                      <a:r>
                        <a:rPr lang="am-ET" sz="1800" b="1" i="0" u="none" strike="noStrike" kern="1200" baseline="0" dirty="0" smtClean="0">
                          <a:solidFill>
                            <a:schemeClr val="dk1"/>
                          </a:solidFill>
                          <a:latin typeface="+mn-lt"/>
                          <a:ea typeface="+mn-ea"/>
                          <a:cs typeface="+mn-cs"/>
                        </a:rPr>
                        <a:t>፣ የትራንስፖርት ቲኬት፣ </a:t>
                      </a:r>
                      <a:r>
                        <a:rPr lang="am-ET" sz="1800" b="1" i="0" u="none" strike="noStrike" kern="1200" baseline="0" dirty="0" smtClean="0">
                          <a:solidFill>
                            <a:srgbClr val="C00000"/>
                          </a:solidFill>
                          <a:latin typeface="+mn-lt"/>
                          <a:ea typeface="+mn-ea"/>
                          <a:cs typeface="+mn-cs"/>
                        </a:rPr>
                        <a:t>የሞባይል ካርዶችን</a:t>
                      </a:r>
                      <a:r>
                        <a:rPr lang="am-ET" sz="1800" b="1" i="0" u="none" strike="noStrike" kern="1200" baseline="0" dirty="0" smtClean="0">
                          <a:solidFill>
                            <a:schemeClr val="dk1"/>
                          </a:solidFill>
                          <a:latin typeface="+mn-lt"/>
                          <a:ea typeface="+mn-ea"/>
                          <a:cs typeface="+mn-cs"/>
                        </a:rPr>
                        <a:t>፣ </a:t>
                      </a:r>
                      <a:r>
                        <a:rPr lang="am-ET" sz="1800" b="1" i="0" u="none" strike="noStrike" kern="1200" baseline="0" dirty="0" smtClean="0">
                          <a:solidFill>
                            <a:srgbClr val="C00000"/>
                          </a:solidFill>
                          <a:latin typeface="+mn-lt"/>
                          <a:ea typeface="+mn-ea"/>
                          <a:cs typeface="+mn-cs"/>
                        </a:rPr>
                        <a:t>የማስቲካና</a:t>
                      </a:r>
                      <a:r>
                        <a:rPr lang="am-ET" sz="1800" b="1" i="0" u="none" strike="noStrike" kern="1200" baseline="0" dirty="0" smtClean="0">
                          <a:solidFill>
                            <a:schemeClr val="dk1"/>
                          </a:solidFill>
                          <a:latin typeface="+mn-lt"/>
                          <a:ea typeface="+mn-ea"/>
                          <a:cs typeface="+mn-cs"/>
                        </a:rPr>
                        <a:t> </a:t>
                      </a:r>
                      <a:r>
                        <a:rPr lang="am-ET" sz="1800" b="1" i="0" u="none" strike="noStrike" kern="1200" baseline="0" dirty="0" smtClean="0">
                          <a:solidFill>
                            <a:srgbClr val="C00000"/>
                          </a:solidFill>
                          <a:latin typeface="+mn-lt"/>
                          <a:ea typeface="+mn-ea"/>
                          <a:cs typeface="+mn-cs"/>
                        </a:rPr>
                        <a:t>ከረሜላ ሽፋኖች</a:t>
                      </a:r>
                      <a:r>
                        <a:rPr lang="am-ET" sz="1800" b="1" i="0" u="none" strike="noStrike" kern="1200" baseline="0" dirty="0" smtClean="0">
                          <a:solidFill>
                            <a:schemeClr val="dk1"/>
                          </a:solidFill>
                          <a:latin typeface="+mn-lt"/>
                          <a:ea typeface="+mn-ea"/>
                          <a:cs typeface="+mn-cs"/>
                        </a:rPr>
                        <a:t>፣ የመሳሰሉት ጥቃቅን ደረቅ </a:t>
                      </a:r>
                      <a:r>
                        <a:rPr lang="am-ET" sz="1800" b="1" i="0" u="none" strike="noStrike" kern="1200" baseline="0" dirty="0" smtClean="0">
                          <a:solidFill>
                            <a:srgbClr val="C00000"/>
                          </a:solidFill>
                          <a:latin typeface="+mn-lt"/>
                          <a:ea typeface="+mn-ea"/>
                          <a:cs typeface="+mn-cs"/>
                        </a:rPr>
                        <a:t>ቆሻሻን ባልተፈቀደ ቦታ </a:t>
                      </a:r>
                      <a:r>
                        <a:rPr lang="am-ET" sz="1800" b="1" i="0" u="none" strike="noStrike" kern="1200" baseline="0" dirty="0" smtClean="0">
                          <a:solidFill>
                            <a:schemeClr val="dk1"/>
                          </a:solidFill>
                          <a:latin typeface="+mn-lt"/>
                          <a:ea typeface="+mn-ea"/>
                          <a:cs typeface="+mn-cs"/>
                        </a:rPr>
                        <a:t>ወይም በፓርኮች፣ በአረንጓዴ ቦታ፣ </a:t>
                      </a:r>
                      <a:r>
                        <a:rPr lang="am-ET" sz="1800" b="1" i="0" u="none" strike="noStrike" kern="1200" baseline="0" dirty="0" smtClean="0">
                          <a:solidFill>
                            <a:srgbClr val="FF0000"/>
                          </a:solidFill>
                          <a:latin typeface="+mn-lt"/>
                          <a:ea typeface="+mn-ea"/>
                          <a:cs typeface="+mn-cs"/>
                        </a:rPr>
                        <a:t>በኮሪደር </a:t>
                      </a:r>
                      <a:r>
                        <a:rPr lang="am-ET" sz="1800" b="0" i="0" u="none" strike="noStrike" kern="1200" baseline="0" dirty="0" smtClean="0">
                          <a:solidFill>
                            <a:srgbClr val="FF0000"/>
                          </a:solidFill>
                          <a:latin typeface="+mn-lt"/>
                          <a:ea typeface="+mn-ea"/>
                          <a:cs typeface="+mn-cs"/>
                        </a:rPr>
                        <a:t>	</a:t>
                      </a:r>
                      <a:r>
                        <a:rPr lang="am-ET" sz="1800" b="1" i="0" u="none" strike="noStrike" kern="1200" baseline="0" dirty="0" smtClean="0">
                          <a:solidFill>
                            <a:srgbClr val="FF0000"/>
                          </a:solidFill>
                          <a:latin typeface="+mn-lt"/>
                          <a:ea typeface="+mn-ea"/>
                          <a:cs typeface="+mn-cs"/>
                        </a:rPr>
                        <a:t>መሰረተ ልማቶች</a:t>
                      </a:r>
                      <a:r>
                        <a:rPr lang="am-ET" sz="1800" b="1" i="0" u="none" strike="noStrike" kern="1200" baseline="0" dirty="0" smtClean="0">
                          <a:solidFill>
                            <a:schemeClr val="dk1"/>
                          </a:solidFill>
                          <a:latin typeface="+mn-lt"/>
                          <a:ea typeface="+mn-ea"/>
                          <a:cs typeface="+mn-cs"/>
                        </a:rPr>
                        <a:t>፣ በመናፈሻ ቦታ፣ </a:t>
                      </a:r>
                      <a:r>
                        <a:rPr lang="am-ET" sz="1800" b="1" i="0" u="none" strike="noStrike" kern="1200" baseline="0" dirty="0" smtClean="0">
                          <a:solidFill>
                            <a:srgbClr val="FF0000"/>
                          </a:solidFill>
                          <a:latin typeface="+mn-lt"/>
                          <a:ea typeface="+mn-ea"/>
                          <a:cs typeface="+mn-cs"/>
                        </a:rPr>
                        <a:t>በክፍት የሕዝብ መናፈሻ</a:t>
                      </a:r>
                      <a:r>
                        <a:rPr lang="am-ET" sz="1800" b="1" i="0" u="none" strike="noStrike" kern="1200" baseline="0" dirty="0" smtClean="0">
                          <a:solidFill>
                            <a:schemeClr val="dk1"/>
                          </a:solidFill>
                          <a:latin typeface="+mn-lt"/>
                          <a:ea typeface="+mn-ea"/>
                          <a:cs typeface="+mn-cs"/>
                        </a:rPr>
                        <a:t>፣ በመንገድ መናፈሻ፣ በመንገድ፣ </a:t>
                      </a:r>
                      <a:r>
                        <a:rPr lang="am-ET" sz="1800" b="1" i="0" u="none" strike="noStrike" kern="1200" baseline="0" dirty="0" smtClean="0">
                          <a:solidFill>
                            <a:srgbClr val="FF0000"/>
                          </a:solidFill>
                          <a:latin typeface="+mn-lt"/>
                          <a:ea typeface="+mn-ea"/>
                          <a:cs typeface="+mn-cs"/>
                        </a:rPr>
                        <a:t>በመንገድ አካፋይ</a:t>
                      </a:r>
                      <a:r>
                        <a:rPr lang="am-ET" sz="1800" b="1" i="0" u="none" strike="noStrike" kern="1200" baseline="0" dirty="0" smtClean="0">
                          <a:solidFill>
                            <a:schemeClr val="dk1"/>
                          </a:solidFill>
                          <a:latin typeface="+mn-lt"/>
                          <a:ea typeface="+mn-ea"/>
                          <a:cs typeface="+mn-cs"/>
                        </a:rPr>
                        <a:t>፣ በመንገድ ዳርቻ፣ </a:t>
                      </a:r>
                      <a:r>
                        <a:rPr lang="am-ET" sz="1800" b="1" i="0" u="none" strike="noStrike" kern="1200" baseline="0" dirty="0" smtClean="0">
                          <a:solidFill>
                            <a:srgbClr val="FF0000"/>
                          </a:solidFill>
                          <a:latin typeface="+mn-lt"/>
                          <a:ea typeface="+mn-ea"/>
                          <a:cs typeface="+mn-cs"/>
                        </a:rPr>
                        <a:t>በአደባባይ፣ በፕላዛ ቦታ የመንገድ ቱቦ</a:t>
                      </a:r>
                      <a:r>
                        <a:rPr lang="am-ET" sz="1800" b="1" i="0" u="none" strike="noStrike" kern="1200" baseline="0" dirty="0" smtClean="0">
                          <a:solidFill>
                            <a:schemeClr val="dk1"/>
                          </a:solidFill>
                          <a:latin typeface="+mn-lt"/>
                          <a:ea typeface="+mn-ea"/>
                          <a:cs typeface="+mn-cs"/>
                        </a:rPr>
                        <a:t>፤ ድልድይ ውስጥ፤ በክፍት ቦታ </a:t>
                      </a:r>
                      <a:r>
                        <a:rPr lang="am-ET" sz="1800" b="1" i="0" u="none" strike="noStrike" kern="1200" baseline="0" dirty="0" smtClean="0">
                          <a:solidFill>
                            <a:srgbClr val="FF0000"/>
                          </a:solidFill>
                          <a:latin typeface="+mn-lt"/>
                          <a:ea typeface="+mn-ea"/>
                          <a:cs typeface="+mn-cs"/>
                        </a:rPr>
                        <a:t>በመሳሰሉት</a:t>
                      </a:r>
                      <a:r>
                        <a:rPr lang="am-ET" sz="1800" b="1" i="0" u="none" strike="noStrike" kern="1200" baseline="0" dirty="0" smtClean="0">
                          <a:solidFill>
                            <a:schemeClr val="dk1"/>
                          </a:solidFill>
                          <a:latin typeface="+mn-lt"/>
                          <a:ea typeface="+mn-ea"/>
                          <a:cs typeface="+mn-cs"/>
                        </a:rPr>
                        <a:t> ላይ </a:t>
                      </a:r>
                      <a:r>
                        <a:rPr lang="am-ET" sz="1800" b="1" i="0" u="none" strike="noStrike" kern="1200" baseline="0" dirty="0" smtClean="0">
                          <a:solidFill>
                            <a:srgbClr val="FF0000"/>
                          </a:solidFill>
                          <a:latin typeface="+mn-lt"/>
                          <a:ea typeface="+mn-ea"/>
                          <a:cs typeface="+mn-cs"/>
                        </a:rPr>
                        <a:t>ከጣለ</a:t>
                      </a:r>
                      <a:r>
                        <a:rPr lang="am-ET" sz="1800" b="1" i="0" u="none" strike="noStrike" kern="1200" baseline="0" dirty="0" smtClean="0">
                          <a:solidFill>
                            <a:schemeClr val="dk1"/>
                          </a:solidFill>
                          <a:latin typeface="+mn-lt"/>
                          <a:ea typeface="+mn-ea"/>
                          <a:cs typeface="+mn-cs"/>
                        </a:rPr>
                        <a:t> ወይም </a:t>
                      </a:r>
                      <a:r>
                        <a:rPr lang="am-ET" sz="1800" b="1" i="0" u="none" strike="noStrike" kern="1200" baseline="0" dirty="0" smtClean="0">
                          <a:solidFill>
                            <a:srgbClr val="FF0000"/>
                          </a:solidFill>
                          <a:latin typeface="+mn-lt"/>
                          <a:ea typeface="+mn-ea"/>
                          <a:cs typeface="+mn-cs"/>
                        </a:rPr>
                        <a:t>ከወረወረ</a:t>
                      </a:r>
                      <a:r>
                        <a:rPr lang="am-ET" sz="1800" b="1" i="0" u="none" strike="noStrike" kern="1200" baseline="0" dirty="0" smtClean="0">
                          <a:solidFill>
                            <a:schemeClr val="dk1"/>
                          </a:solidFill>
                          <a:latin typeface="+mn-lt"/>
                          <a:ea typeface="+mn-ea"/>
                          <a:cs typeface="+mn-cs"/>
                        </a:rPr>
                        <a:t>፤ 	</a:t>
                      </a:r>
                    </a:p>
                    <a:p>
                      <a:pPr algn="just"/>
                      <a:endParaRPr lang="am-ET"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Power Geez Unicode1" pitchFamily="2" charset="0"/>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am-ET" sz="1800" b="1" i="0" u="none" strike="noStrike" kern="1200" baseline="0" dirty="0" smtClean="0">
                        <a:solidFill>
                          <a:schemeClr val="dk1"/>
                        </a:solidFill>
                        <a:latin typeface="+mn-lt"/>
                        <a:ea typeface="+mn-ea"/>
                        <a:cs typeface="+mn-cs"/>
                      </a:endParaRPr>
                    </a:p>
                    <a:p>
                      <a:pPr algn="just"/>
                      <a:r>
                        <a:rPr lang="am-ET" sz="2000" b="0" i="0" u="none" strike="noStrike" kern="1200" baseline="0" dirty="0" smtClean="0">
                          <a:solidFill>
                            <a:schemeClr val="dk1"/>
                          </a:solidFill>
                          <a:latin typeface="+mn-lt"/>
                          <a:ea typeface="+mn-ea"/>
                          <a:cs typeface="+mn-cs"/>
                        </a:rPr>
                        <a:t>	</a:t>
                      </a:r>
                      <a:r>
                        <a:rPr lang="en-US" sz="1200" b="1" dirty="0" smtClean="0">
                          <a:effectLst/>
                          <a:latin typeface="Power Geez Unicode1" pitchFamily="2" charset="0"/>
                          <a:ea typeface="Times New Roman"/>
                          <a:cs typeface="Visual Geez Unicode"/>
                        </a:rPr>
                        <a:t> </a:t>
                      </a:r>
                      <a:endParaRPr lang="en-US" sz="2400" dirty="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r>
                        <a:rPr lang="en-US" sz="2400" dirty="0" smtClean="0">
                          <a:latin typeface="Power Geez Unicode1" pitchFamily="2" charset="0"/>
                        </a:rPr>
                        <a:t> </a:t>
                      </a:r>
                    </a:p>
                    <a:p>
                      <a:endParaRPr lang="en-US" sz="2400" b="1" dirty="0" smtClean="0">
                        <a:latin typeface="Power Geez Unicode1" pitchFamily="2" charset="0"/>
                      </a:endParaRPr>
                    </a:p>
                    <a:p>
                      <a:endParaRPr lang="en-US" sz="2400" b="1" dirty="0" smtClean="0">
                        <a:latin typeface="Power Geez Unicode1" pitchFamily="2" charset="0"/>
                      </a:endParaRPr>
                    </a:p>
                    <a:p>
                      <a:endParaRPr lang="en-US" sz="2400" b="1" dirty="0" smtClean="0">
                        <a:latin typeface="Power Geez Unicode1" pitchFamily="2" charset="0"/>
                      </a:endParaRPr>
                    </a:p>
                    <a:p>
                      <a:endParaRPr lang="en-US" sz="2400" b="1" dirty="0" smtClean="0">
                        <a:latin typeface="Power Geez Unicode1" pitchFamily="2" charset="0"/>
                      </a:endParaRPr>
                    </a:p>
                    <a:p>
                      <a:endParaRPr lang="en-US" sz="2400" b="1" dirty="0" smtClean="0">
                        <a:latin typeface="Power Geez Unicode1" pitchFamily="2" charset="0"/>
                      </a:endParaRPr>
                    </a:p>
                    <a:p>
                      <a:endParaRPr lang="en-US" sz="2400" b="1" dirty="0" smtClean="0">
                        <a:latin typeface="Power Geez Unicode1" pitchFamily="2" charset="0"/>
                      </a:endParaRPr>
                    </a:p>
                    <a:p>
                      <a:r>
                        <a:rPr lang="en-US" sz="2000" b="1" dirty="0" err="1" smtClean="0">
                          <a:solidFill>
                            <a:srgbClr val="FF0000"/>
                          </a:solidFill>
                          <a:latin typeface="Power Geez Unicode1" pitchFamily="2" charset="0"/>
                        </a:rPr>
                        <a:t>ብር</a:t>
                      </a:r>
                      <a:endParaRPr lang="en-US" sz="2000" b="1" dirty="0" smtClean="0">
                        <a:solidFill>
                          <a:srgbClr val="FF0000"/>
                        </a:solidFill>
                        <a:latin typeface="Power Geez Unicode1" pitchFamily="2" charset="0"/>
                      </a:endParaRPr>
                    </a:p>
                    <a:p>
                      <a:r>
                        <a:rPr lang="en-US" sz="2000" b="1" dirty="0" smtClean="0">
                          <a:solidFill>
                            <a:srgbClr val="FF0000"/>
                          </a:solidFill>
                          <a:latin typeface="Power Geez Unicode1" pitchFamily="2" charset="0"/>
                        </a:rPr>
                        <a:t>200.00</a:t>
                      </a:r>
                    </a:p>
                  </a:txBody>
                  <a:tcPr>
                    <a:lnB w="12700" cap="flat" cmpd="sng" algn="ctr">
                      <a:solidFill>
                        <a:schemeClr val="tx1"/>
                      </a:solidFill>
                      <a:prstDash val="solid"/>
                      <a:round/>
                      <a:headEnd type="none" w="med" len="med"/>
                      <a:tailEnd type="none" w="med" len="med"/>
                    </a:lnB>
                  </a:tcPr>
                </a:tc>
                <a:tc>
                  <a:txBody>
                    <a:bodyPr/>
                    <a:lstStyle/>
                    <a:p>
                      <a:endParaRPr lang="en-US" sz="1800" b="1" dirty="0" smtClean="0">
                        <a:latin typeface="Power Geez Unicode1" pitchFamily="2" charset="0"/>
                      </a:endParaRPr>
                    </a:p>
                    <a:p>
                      <a:pPr algn="just"/>
                      <a:endParaRPr lang="en-US" sz="1800" b="1" dirty="0" smtClean="0">
                        <a:latin typeface="Power Geez Unicode1" pitchFamily="2" charset="0"/>
                      </a:endParaRPr>
                    </a:p>
                    <a:p>
                      <a:endParaRPr lang="en-US" sz="2000" b="1" i="0" u="none" strike="noStrike" kern="1200" baseline="0" dirty="0" smtClean="0">
                        <a:solidFill>
                          <a:schemeClr val="dk1"/>
                        </a:solidFill>
                        <a:latin typeface="+mn-lt"/>
                        <a:ea typeface="+mn-ea"/>
                        <a:cs typeface="+mn-cs"/>
                      </a:endParaRPr>
                    </a:p>
                    <a:p>
                      <a:endParaRPr lang="en-US" sz="2000" b="1" i="0" u="none" strike="noStrike" kern="1200" baseline="0" dirty="0" smtClean="0">
                        <a:solidFill>
                          <a:schemeClr val="dk1"/>
                        </a:solidFill>
                        <a:latin typeface="+mn-lt"/>
                        <a:ea typeface="+mn-ea"/>
                        <a:cs typeface="+mn-cs"/>
                      </a:endParaRPr>
                    </a:p>
                    <a:p>
                      <a:endParaRPr lang="en-US" sz="2000" b="1" i="0" u="none" strike="noStrike" kern="1200" baseline="0" dirty="0" smtClean="0">
                        <a:solidFill>
                          <a:schemeClr val="dk1"/>
                        </a:solidFill>
                        <a:latin typeface="+mn-lt"/>
                        <a:ea typeface="+mn-ea"/>
                        <a:cs typeface="+mn-cs"/>
                      </a:endParaRPr>
                    </a:p>
                    <a:p>
                      <a:endParaRPr lang="en-US" sz="2000" b="1" i="0" u="none" strike="noStrike" kern="1200" baseline="0" dirty="0" smtClean="0">
                        <a:solidFill>
                          <a:schemeClr val="dk1"/>
                        </a:solidFill>
                        <a:latin typeface="+mn-lt"/>
                        <a:ea typeface="+mn-ea"/>
                        <a:cs typeface="+mn-cs"/>
                      </a:endParaRPr>
                    </a:p>
                    <a:p>
                      <a:endParaRPr lang="en-US" sz="2000" b="1" i="0" u="none" strike="noStrike" kern="1200" baseline="0" dirty="0" smtClean="0">
                        <a:solidFill>
                          <a:schemeClr val="dk1"/>
                        </a:solidFill>
                        <a:latin typeface="+mn-lt"/>
                        <a:ea typeface="+mn-ea"/>
                        <a:cs typeface="+mn-cs"/>
                      </a:endParaRPr>
                    </a:p>
                    <a:p>
                      <a:endParaRPr lang="en-US" sz="2000" b="1" i="0" u="none" strike="noStrike" kern="1200" baseline="0" dirty="0" smtClean="0">
                        <a:solidFill>
                          <a:schemeClr val="dk1"/>
                        </a:solidFill>
                        <a:latin typeface="+mn-lt"/>
                        <a:ea typeface="+mn-ea"/>
                        <a:cs typeface="+mn-cs"/>
                      </a:endParaRPr>
                    </a:p>
                    <a:p>
                      <a:endParaRPr lang="en-US" sz="2000" b="1" i="0" u="none" strike="noStrike" kern="1200" baseline="0" dirty="0" smtClean="0">
                        <a:solidFill>
                          <a:schemeClr val="dk1"/>
                        </a:solidFill>
                        <a:latin typeface="+mn-lt"/>
                        <a:ea typeface="+mn-ea"/>
                        <a:cs typeface="+mn-cs"/>
                      </a:endParaRPr>
                    </a:p>
                    <a:p>
                      <a:r>
                        <a:rPr lang="am-ET" sz="2000" b="1" i="0" u="none" strike="noStrike" kern="1200" baseline="0" dirty="0" smtClean="0">
                          <a:solidFill>
                            <a:schemeClr val="dk1"/>
                          </a:solidFill>
                          <a:latin typeface="+mn-lt"/>
                          <a:ea typeface="+mn-ea"/>
                          <a:cs typeface="+mn-cs"/>
                        </a:rPr>
                        <a:t>ብር </a:t>
                      </a:r>
                      <a:r>
                        <a:rPr lang="en-US" sz="2000" b="1" i="0" u="none" strike="noStrike" kern="1200" baseline="0" dirty="0" smtClean="0">
                          <a:solidFill>
                            <a:schemeClr val="dk1"/>
                          </a:solidFill>
                          <a:latin typeface="+mn-lt"/>
                          <a:ea typeface="+mn-ea"/>
                          <a:cs typeface="+mn-cs"/>
                        </a:rPr>
                        <a:t>2</a:t>
                      </a:r>
                      <a:r>
                        <a:rPr lang="am-ET" sz="2000" b="1" i="0" u="none" strike="noStrike" kern="1200" baseline="0" dirty="0" smtClean="0">
                          <a:solidFill>
                            <a:schemeClr val="dk1"/>
                          </a:solidFill>
                          <a:latin typeface="+mn-lt"/>
                          <a:ea typeface="+mn-ea"/>
                          <a:cs typeface="+mn-cs"/>
                        </a:rPr>
                        <a:t>,000.00</a:t>
                      </a:r>
                      <a:endParaRPr lang="en-US" sz="2000" b="1" i="0" u="none" strike="noStrike" kern="1200" baseline="0" dirty="0" smtClean="0">
                        <a:solidFill>
                          <a:schemeClr val="dk1"/>
                        </a:solidFill>
                        <a:latin typeface="Power Geez Unicode1" pitchFamily="2" charset="0"/>
                        <a:ea typeface="+mn-ea"/>
                        <a:cs typeface="+mn-cs"/>
                      </a:endParaRPr>
                    </a:p>
                    <a:p>
                      <a:endParaRPr lang="en-US" sz="2000" b="1" i="0" u="none" strike="noStrike" kern="1200" baseline="0" dirty="0" smtClean="0">
                        <a:solidFill>
                          <a:schemeClr val="dk1"/>
                        </a:solidFill>
                        <a:latin typeface="Power Geez Unicode1" pitchFamily="2" charset="0"/>
                        <a:ea typeface="+mn-ea"/>
                        <a:cs typeface="+mn-cs"/>
                      </a:endParaRPr>
                    </a:p>
                    <a:p>
                      <a:endParaRPr lang="en-US" sz="2000" b="1" i="0" u="none" strike="noStrike" kern="1200" baseline="0" dirty="0" smtClean="0">
                        <a:solidFill>
                          <a:schemeClr val="dk1"/>
                        </a:solidFill>
                        <a:latin typeface="Power Geez Unicode1" pitchFamily="2" charset="0"/>
                        <a:ea typeface="+mn-ea"/>
                        <a:cs typeface="+mn-cs"/>
                      </a:endParaRPr>
                    </a:p>
                    <a:p>
                      <a:endParaRPr lang="en-US" sz="2000" b="1" i="0" u="none" strike="noStrike" kern="1200" baseline="0" dirty="0" smtClean="0">
                        <a:solidFill>
                          <a:schemeClr val="dk1"/>
                        </a:solidFill>
                        <a:latin typeface="+mn-lt"/>
                        <a:ea typeface="+mn-ea"/>
                        <a:cs typeface="+mn-cs"/>
                      </a:endParaRPr>
                    </a:p>
                    <a:p>
                      <a:endParaRPr lang="en-US" sz="2000" b="1" i="0" u="none" strike="noStrike" kern="1200" baseline="0" dirty="0" smtClean="0">
                        <a:solidFill>
                          <a:schemeClr val="dk1"/>
                        </a:solidFill>
                        <a:latin typeface="+mn-lt"/>
                        <a:ea typeface="+mn-ea"/>
                        <a:cs typeface="+mn-cs"/>
                      </a:endParaRPr>
                    </a:p>
                    <a:p>
                      <a:endParaRPr lang="am-ET" sz="2000" b="1" i="0" u="none" strike="noStrike" kern="1200" baseline="0" dirty="0" smtClean="0">
                        <a:solidFill>
                          <a:schemeClr val="dk1"/>
                        </a:solidFill>
                        <a:latin typeface="+mn-lt"/>
                        <a:ea typeface="+mn-ea"/>
                        <a:cs typeface="+mn-cs"/>
                      </a:endParaRPr>
                    </a:p>
                    <a:p>
                      <a:r>
                        <a:rPr lang="am-ET" sz="1800" b="0" i="0" u="none" strike="noStrike" kern="1200" baseline="0" dirty="0" smtClean="0">
                          <a:solidFill>
                            <a:schemeClr val="dk1"/>
                          </a:solidFill>
                          <a:latin typeface="+mn-lt"/>
                          <a:ea typeface="+mn-ea"/>
                          <a:cs typeface="+mn-cs"/>
                        </a:rPr>
                        <a:t>	</a:t>
                      </a:r>
                    </a:p>
                  </a:txBody>
                  <a:tcPr>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algn="just"/>
                      <a:r>
                        <a:rPr lang="am-ET" sz="1800" b="1" i="0" u="none" strike="noStrike" kern="1200" baseline="0" dirty="0" smtClean="0">
                          <a:solidFill>
                            <a:schemeClr val="dk1"/>
                          </a:solidFill>
                          <a:latin typeface="+mn-lt"/>
                          <a:ea typeface="+mn-ea"/>
                          <a:cs typeface="+mn-cs"/>
                        </a:rPr>
                        <a:t>በሰንጠረዡ የተቀመጠውን የቅጣት ክፍያ መጠን መክፈልና ያቆሸሸውን አካባቢ ማጽዳት 	</a:t>
                      </a:r>
                    </a:p>
                  </a:txBody>
                  <a:tcPr>
                    <a:lnB w="12700" cap="flat" cmpd="sng" algn="ctr">
                      <a:solidFill>
                        <a:schemeClr val="tx1"/>
                      </a:solidFill>
                      <a:prstDash val="solid"/>
                      <a:round/>
                      <a:headEnd type="none" w="med" len="med"/>
                      <a:tailEnd type="none" w="med" len="med"/>
                    </a:lnB>
                  </a:tcPr>
                </a:tc>
              </a:tr>
              <a:tr h="2132610">
                <a:tc>
                  <a:txBody>
                    <a:bodyPr/>
                    <a:lstStyle/>
                    <a:p>
                      <a:endParaRPr lang="en-US" sz="2400" dirty="0" smtClean="0">
                        <a:latin typeface="Power Geez Unicode1" pitchFamily="2" charset="0"/>
                      </a:endParaRPr>
                    </a:p>
                    <a:p>
                      <a:endParaRPr lang="en-US" sz="2400" dirty="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am-ET" sz="2400" b="1" i="0" u="none" strike="noStrike" kern="1200" baseline="0" dirty="0" smtClean="0">
                          <a:solidFill>
                            <a:schemeClr val="dk1"/>
                          </a:solidFill>
                          <a:latin typeface="+mn-lt"/>
                          <a:ea typeface="+mn-ea"/>
                          <a:cs typeface="+mn-cs"/>
                        </a:rPr>
                        <a:t>	</a:t>
                      </a:r>
                    </a:p>
                    <a:p>
                      <a:pPr algn="just"/>
                      <a:r>
                        <a:rPr lang="en-US" sz="1400" b="1" dirty="0" smtClean="0">
                          <a:effectLst/>
                          <a:latin typeface="Power Geez Unicode1" pitchFamily="2" charset="0"/>
                          <a:ea typeface="Times New Roman"/>
                          <a:cs typeface="Visual Geez Unicode"/>
                        </a:rPr>
                        <a:t>     </a:t>
                      </a:r>
                      <a:endParaRPr lang="en-US" sz="3200" b="1"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28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1800" b="1" dirty="0" smtClean="0">
                        <a:latin typeface="Power Geez Unicode1" pitchFamily="2" charset="0"/>
                      </a:endParaRPr>
                    </a:p>
                    <a:p>
                      <a:pPr marL="0" marR="0" algn="ctr">
                        <a:spcBef>
                          <a:spcPts val="1000"/>
                        </a:spcBef>
                        <a:spcAft>
                          <a:spcPts val="0"/>
                        </a:spcAft>
                      </a:pPr>
                      <a:endParaRPr lang="en-US" sz="2800" b="0" dirty="0" smtClean="0">
                        <a:solidFill>
                          <a:srgbClr val="4F81BD"/>
                        </a:solidFill>
                        <a:effectLst/>
                        <a:latin typeface="Power Geez Unicode1" pitchFamily="2" charset="0"/>
                        <a:ea typeface="Times New Roman"/>
                        <a:cs typeface="Visual Geez Unicode"/>
                      </a:endParaRPr>
                    </a:p>
                    <a:p>
                      <a:endParaRPr lang="en-US" sz="2800" dirty="0" smtClean="0">
                        <a:latin typeface="Power Geez Unicode1" pitchFamily="2" charset="0"/>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623886989"/>
      </p:ext>
    </p:extLst>
  </p:cSld>
  <p:clrMapOvr>
    <a:masterClrMapping/>
  </p:clrMapOvr>
  <p:transition spd="slow">
    <p:cove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242424180"/>
              </p:ext>
            </p:extLst>
          </p:nvPr>
        </p:nvGraphicFramePr>
        <p:xfrm>
          <a:off x="76200" y="152400"/>
          <a:ext cx="8940800" cy="9461976"/>
        </p:xfrm>
        <a:graphic>
          <a:graphicData uri="http://schemas.openxmlformats.org/drawingml/2006/table">
            <a:tbl>
              <a:tblPr firstRow="1" bandRow="1">
                <a:tableStyleId>{5C22544A-7EE6-4342-B048-85BDC9FD1C3A}</a:tableStyleId>
              </a:tblPr>
              <a:tblGrid>
                <a:gridCol w="711199"/>
                <a:gridCol w="4089401"/>
                <a:gridCol w="1295400"/>
                <a:gridCol w="1371600"/>
                <a:gridCol w="1473200"/>
              </a:tblGrid>
              <a:tr h="628260">
                <a:tc>
                  <a:txBody>
                    <a:bodyPr/>
                    <a:lstStyle/>
                    <a:p>
                      <a:r>
                        <a:rPr lang="am-ET" sz="1800" b="0" i="0" u="none" strike="noStrike" baseline="0" dirty="0" smtClean="0">
                          <a:solidFill>
                            <a:srgbClr val="000000"/>
                          </a:solidFill>
                          <a:latin typeface="Visual Geez Unicode"/>
                        </a:rPr>
                        <a:t>ተ.ቁ</a:t>
                      </a:r>
                      <a:r>
                        <a:rPr lang="am-ET" sz="1400" b="0" i="0" u="none" strike="noStrike" baseline="0" dirty="0" smtClean="0">
                          <a:solidFill>
                            <a:srgbClr val="000000"/>
                          </a:solidFill>
                          <a:latin typeface="Visual Geez Unicode"/>
                        </a:rPr>
                        <a:t> 	</a:t>
                      </a:r>
                      <a:r>
                        <a:rPr lang="en-US" sz="1400" b="0" i="0" u="none" strike="noStrike" baseline="0" dirty="0" smtClean="0">
                          <a:solidFill>
                            <a:srgbClr val="000000"/>
                          </a:solidFill>
                          <a:latin typeface="Power Geez Unicode1" pitchFamily="2" charset="0"/>
                        </a:rPr>
                        <a:t> </a:t>
                      </a:r>
                      <a:endParaRPr lang="am-ET" sz="1400" b="0" i="0" u="none" strike="noStrike" baseline="0" dirty="0" smtClean="0">
                        <a:solidFill>
                          <a:srgbClr val="000000"/>
                        </a:solidFill>
                        <a:latin typeface="Visual Geez Unicode"/>
                      </a:endParaRPr>
                    </a:p>
                  </a:txBody>
                  <a:tcPr/>
                </a:tc>
                <a:tc>
                  <a:txBody>
                    <a:bodyPr/>
                    <a:lstStyle/>
                    <a:p>
                      <a:r>
                        <a:rPr lang="en-US" sz="1800" b="1" i="0" u="none" strike="noStrike" baseline="0" dirty="0" err="1" smtClean="0">
                          <a:solidFill>
                            <a:srgbClr val="FF0000"/>
                          </a:solidFill>
                          <a:latin typeface="Power Geez Unicode1" pitchFamily="2" charset="0"/>
                        </a:rPr>
                        <a:t>የጥፋት</a:t>
                      </a:r>
                      <a:r>
                        <a:rPr lang="en-US" sz="1800" b="1" i="0" u="none" strike="noStrike" baseline="0" dirty="0" smtClean="0">
                          <a:solidFill>
                            <a:srgbClr val="FF0000"/>
                          </a:solidFill>
                          <a:latin typeface="Power Geez Unicode1" pitchFamily="2" charset="0"/>
                        </a:rPr>
                        <a:t> </a:t>
                      </a:r>
                      <a:r>
                        <a:rPr lang="en-US" sz="1800" b="1" i="0" u="none" strike="noStrike" baseline="0" dirty="0" err="1" smtClean="0">
                          <a:solidFill>
                            <a:srgbClr val="FF0000"/>
                          </a:solidFill>
                          <a:latin typeface="Power Geez Unicode1" pitchFamily="2" charset="0"/>
                        </a:rPr>
                        <a:t>አይነቶች</a:t>
                      </a:r>
                      <a:endParaRPr lang="am-ET" sz="1800" b="1" i="0" u="none" strike="noStrike" baseline="0" dirty="0" smtClean="0">
                        <a:solidFill>
                          <a:srgbClr val="FF0000"/>
                        </a:solidFill>
                        <a:latin typeface="Visual Geez Unicode"/>
                      </a:endParaRPr>
                    </a:p>
                  </a:txBody>
                  <a:tcPr/>
                </a:tc>
                <a:tc>
                  <a:txBody>
                    <a:bodyPr/>
                    <a:lstStyle/>
                    <a:p>
                      <a:r>
                        <a:rPr lang="en-US" sz="1600" b="1" i="0" u="none" strike="noStrike" baseline="0" dirty="0" err="1" smtClean="0">
                          <a:solidFill>
                            <a:srgbClr val="000000"/>
                          </a:solidFill>
                          <a:latin typeface="Power Geez Unicode1" pitchFamily="2" charset="0"/>
                        </a:rPr>
                        <a:t>ቀድሞ</a:t>
                      </a:r>
                      <a:r>
                        <a:rPr lang="en-US" sz="1600" b="1" i="0" u="none" strike="noStrike" baseline="0" dirty="0" smtClean="0">
                          <a:solidFill>
                            <a:srgbClr val="000000"/>
                          </a:solidFill>
                          <a:latin typeface="Power Geez Unicode1" pitchFamily="2" charset="0"/>
                        </a:rPr>
                        <a:t> በነበረው150/2015 </a:t>
                      </a:r>
                      <a:r>
                        <a:rPr lang="en-US" sz="1600" b="1" i="0" u="none" strike="noStrike" baseline="0" dirty="0" err="1" smtClean="0">
                          <a:solidFill>
                            <a:srgbClr val="000000"/>
                          </a:solidFill>
                          <a:latin typeface="Power Geez Unicode1" pitchFamily="2" charset="0"/>
                        </a:rPr>
                        <a:t>የተቀመጠ</a:t>
                      </a:r>
                      <a:r>
                        <a:rPr lang="en-US" sz="1600" b="1" i="0" u="none" strike="noStrike" baseline="0" dirty="0" smtClean="0">
                          <a:solidFill>
                            <a:srgbClr val="000000"/>
                          </a:solidFill>
                          <a:latin typeface="Power Geez Unicode1" pitchFamily="2" charset="0"/>
                        </a:rPr>
                        <a:t> </a:t>
                      </a:r>
                      <a:r>
                        <a:rPr lang="en-US" sz="1600" b="1" i="0" u="none" strike="noStrike" baseline="0" dirty="0" err="1" smtClean="0">
                          <a:solidFill>
                            <a:srgbClr val="000000"/>
                          </a:solidFill>
                          <a:latin typeface="Power Geez Unicode1" pitchFamily="2" charset="0"/>
                        </a:rPr>
                        <a:t>ቅጣት</a:t>
                      </a:r>
                      <a:endParaRPr lang="am-ET" sz="1600" b="1" i="0" u="none" strike="noStrike" baseline="0" dirty="0" smtClean="0">
                        <a:solidFill>
                          <a:srgbClr val="000000"/>
                        </a:solidFill>
                        <a:latin typeface="Visual Geez Unicode"/>
                      </a:endParaRPr>
                    </a:p>
                  </a:txBody>
                  <a:tcPr/>
                </a:tc>
                <a:tc>
                  <a:txBody>
                    <a:bodyPr/>
                    <a:lstStyle/>
                    <a:p>
                      <a:r>
                        <a:rPr lang="en-US" sz="1600" b="1" i="0" u="none" strike="noStrike" baseline="0" dirty="0" err="1" smtClean="0">
                          <a:solidFill>
                            <a:srgbClr val="000000"/>
                          </a:solidFill>
                          <a:latin typeface="Power Geez Unicode1" pitchFamily="2" charset="0"/>
                        </a:rPr>
                        <a:t>አሁን</a:t>
                      </a:r>
                      <a:r>
                        <a:rPr lang="en-US" sz="1600" b="1" i="0" u="none" strike="noStrike" baseline="0" dirty="0" smtClean="0">
                          <a:solidFill>
                            <a:srgbClr val="000000"/>
                          </a:solidFill>
                          <a:latin typeface="Power Geez Unicode1" pitchFamily="2" charset="0"/>
                        </a:rPr>
                        <a:t> </a:t>
                      </a:r>
                      <a:r>
                        <a:rPr lang="en-US" sz="1600" b="1" i="0" u="none" strike="noStrike" baseline="0" dirty="0" err="1" smtClean="0">
                          <a:solidFill>
                            <a:srgbClr val="000000"/>
                          </a:solidFill>
                          <a:latin typeface="Power Geez Unicode1" pitchFamily="2" charset="0"/>
                        </a:rPr>
                        <a:t>በተሸሻለው</a:t>
                      </a:r>
                      <a:r>
                        <a:rPr lang="en-US" sz="1600" b="1" i="0" u="none" strike="noStrike" baseline="0" dirty="0" smtClean="0">
                          <a:solidFill>
                            <a:srgbClr val="000000"/>
                          </a:solidFill>
                          <a:latin typeface="Power Geez Unicode1" pitchFamily="2" charset="0"/>
                        </a:rPr>
                        <a:t> 167/16 </a:t>
                      </a:r>
                      <a:r>
                        <a:rPr lang="en-US" sz="1600" b="1" i="0" u="none" strike="noStrike" baseline="0" dirty="0" err="1" smtClean="0">
                          <a:solidFill>
                            <a:srgbClr val="000000"/>
                          </a:solidFill>
                          <a:latin typeface="Power Geez Unicode1" pitchFamily="2" charset="0"/>
                        </a:rPr>
                        <a:t>የተቀመጠ</a:t>
                      </a:r>
                      <a:r>
                        <a:rPr lang="en-US" sz="1600" b="1" i="0" u="none" strike="noStrike" baseline="0" dirty="0" smtClean="0">
                          <a:solidFill>
                            <a:srgbClr val="000000"/>
                          </a:solidFill>
                          <a:latin typeface="Power Geez Unicode1" pitchFamily="2" charset="0"/>
                        </a:rPr>
                        <a:t> </a:t>
                      </a:r>
                      <a:r>
                        <a:rPr lang="en-US" sz="1600" b="1" i="0" u="none" strike="noStrike" baseline="0" dirty="0" err="1" smtClean="0">
                          <a:solidFill>
                            <a:srgbClr val="000000"/>
                          </a:solidFill>
                          <a:latin typeface="Power Geez Unicode1" pitchFamily="2" charset="0"/>
                        </a:rPr>
                        <a:t>ቅጣት</a:t>
                      </a:r>
                      <a:endParaRPr lang="am-ET" sz="1600" b="1" i="0" u="none" strike="noStrike" baseline="0" dirty="0" smtClean="0">
                        <a:solidFill>
                          <a:srgbClr val="000000"/>
                        </a:solidFill>
                        <a:latin typeface="Visual Geez Unicode"/>
                      </a:endParaRPr>
                    </a:p>
                  </a:txBody>
                  <a:tcPr/>
                </a:tc>
                <a:tc>
                  <a:txBody>
                    <a:bodyPr/>
                    <a:lstStyle/>
                    <a:p>
                      <a:r>
                        <a:rPr lang="en-US" sz="1600" dirty="0" err="1" smtClean="0">
                          <a:solidFill>
                            <a:schemeClr val="tx1"/>
                          </a:solidFill>
                          <a:latin typeface="Power Geez Unicode1" pitchFamily="2" charset="0"/>
                        </a:rPr>
                        <a:t>ከህገ</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ወጥ</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ፈፃሚው</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የሚጠበቅ</a:t>
                      </a:r>
                      <a:endParaRPr lang="en-US" sz="1600" dirty="0">
                        <a:solidFill>
                          <a:schemeClr val="tx1"/>
                        </a:solidFill>
                        <a:latin typeface="Power Geez Unicode1" pitchFamily="2" charset="0"/>
                      </a:endParaRPr>
                    </a:p>
                  </a:txBody>
                  <a:tcPr/>
                </a:tc>
              </a:tr>
              <a:tr h="5913120">
                <a:tc>
                  <a:txBody>
                    <a:bodyPr/>
                    <a:lstStyle/>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r>
                        <a:rPr lang="en-US" sz="2400" dirty="0" smtClean="0">
                          <a:latin typeface="Power Geez Unicode1" pitchFamily="2" charset="0"/>
                        </a:rPr>
                        <a:t>9</a:t>
                      </a:r>
                    </a:p>
                    <a:p>
                      <a:endParaRPr lang="en-US" sz="2400" dirty="0" smtClean="0">
                        <a:latin typeface="Power Geez Unicode1" pitchFamily="2" charset="0"/>
                      </a:endParaRPr>
                    </a:p>
                    <a:p>
                      <a:endParaRPr lang="en-US" sz="2400" dirty="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endParaRPr lang="en-US" sz="1800" b="0"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rgbClr val="FF0000"/>
                          </a:solidFill>
                          <a:latin typeface="+mn-lt"/>
                          <a:ea typeface="+mn-ea"/>
                          <a:cs typeface="+mn-cs"/>
                        </a:rPr>
                        <a:t>9.1</a:t>
                      </a:r>
                      <a:r>
                        <a:rPr lang="am-ET" sz="1800" b="1" i="0" u="none" strike="noStrike" kern="1200" baseline="0" dirty="0" smtClean="0">
                          <a:solidFill>
                            <a:schemeClr val="dk1"/>
                          </a:solidFill>
                          <a:latin typeface="+mn-lt"/>
                          <a:ea typeface="+mn-ea"/>
                          <a:cs typeface="+mn-cs"/>
                        </a:rPr>
                        <a:t> </a:t>
                      </a:r>
                      <a:r>
                        <a:rPr lang="am-ET" sz="1800" b="1" i="0" u="none" strike="noStrike" kern="1200" baseline="0" dirty="0" smtClean="0">
                          <a:solidFill>
                            <a:schemeClr val="tx1"/>
                          </a:solidFill>
                          <a:latin typeface="+mn-lt"/>
                          <a:ea typeface="+mn-ea"/>
                          <a:cs typeface="+mn-cs"/>
                        </a:rPr>
                        <a:t>ማንኛውም ሰው </a:t>
                      </a:r>
                      <a:r>
                        <a:rPr lang="am-ET" sz="1800" b="1" i="0" u="none" strike="noStrike" kern="1200" baseline="0" dirty="0" smtClean="0">
                          <a:solidFill>
                            <a:schemeClr val="dk1"/>
                          </a:solidFill>
                          <a:latin typeface="+mn-lt"/>
                          <a:ea typeface="+mn-ea"/>
                          <a:cs typeface="+mn-cs"/>
                        </a:rPr>
                        <a:t>ከሚመለከተው አካል </a:t>
                      </a:r>
                      <a:r>
                        <a:rPr lang="am-ET" sz="1800" b="1" i="0" u="none" strike="noStrike" kern="1200" baseline="0" dirty="0" smtClean="0">
                          <a:solidFill>
                            <a:srgbClr val="FF0000"/>
                          </a:solidFill>
                          <a:latin typeface="+mn-lt"/>
                          <a:ea typeface="+mn-ea"/>
                          <a:cs typeface="+mn-cs"/>
                        </a:rPr>
                        <a:t>ህጋዊ ፈቃድ ሳይኖረው </a:t>
                      </a:r>
                      <a:r>
                        <a:rPr lang="am-ET" sz="1800" b="1" i="0" u="none" strike="noStrike" kern="1200" baseline="0" dirty="0" smtClean="0">
                          <a:solidFill>
                            <a:schemeClr val="dk1"/>
                          </a:solidFill>
                          <a:latin typeface="+mn-lt"/>
                          <a:ea typeface="+mn-ea"/>
                          <a:cs typeface="+mn-cs"/>
                        </a:rPr>
                        <a:t>አሸዋ፣ አፈር፣ ሳር፤ ቅጠላ ቅጠል፤ የግንባታ ፍርስራሽ ባልተፈቀደ ቦታ ላይ በማስቀመጥ አካባቢን ካቆሸሸ፤ </a:t>
                      </a:r>
                      <a:endParaRPr lang="en-US" sz="1800" b="1" i="0" u="none" strike="noStrike" kern="1200" baseline="0" dirty="0" smtClean="0">
                        <a:solidFill>
                          <a:schemeClr val="dk1"/>
                        </a:solidFill>
                        <a:latin typeface="+mn-lt"/>
                        <a:ea typeface="+mn-ea"/>
                        <a:cs typeface="+mn-cs"/>
                      </a:endParaRPr>
                    </a:p>
                    <a:p>
                      <a:pPr algn="just"/>
                      <a:endParaRPr lang="am-ET"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rgbClr val="FF0000"/>
                          </a:solidFill>
                          <a:latin typeface="+mn-lt"/>
                          <a:ea typeface="+mn-ea"/>
                          <a:cs typeface="+mn-cs"/>
                        </a:rPr>
                        <a:t>9.2</a:t>
                      </a:r>
                      <a:r>
                        <a:rPr lang="am-ET" sz="1800" b="1" i="0" u="none" strike="noStrike" kern="1200" baseline="0" dirty="0" smtClean="0">
                          <a:solidFill>
                            <a:schemeClr val="dk1"/>
                          </a:solidFill>
                          <a:latin typeface="+mn-lt"/>
                          <a:ea typeface="+mn-ea"/>
                          <a:cs typeface="+mn-cs"/>
                        </a:rPr>
                        <a:t> በመንገድ ወይም </a:t>
                      </a:r>
                      <a:r>
                        <a:rPr lang="am-ET" sz="1800" b="1" i="0" u="none" strike="noStrike" kern="1200" baseline="0" dirty="0" smtClean="0">
                          <a:solidFill>
                            <a:srgbClr val="FF0000"/>
                          </a:solidFill>
                          <a:latin typeface="+mn-lt"/>
                          <a:ea typeface="+mn-ea"/>
                          <a:cs typeface="+mn-cs"/>
                        </a:rPr>
                        <a:t>በሌላ ባልተፈቀደ ቦታ በፓርኮች</a:t>
                      </a:r>
                      <a:r>
                        <a:rPr lang="am-ET" sz="1800" b="1" i="0" u="none" strike="noStrike" kern="1200" baseline="0" dirty="0" smtClean="0">
                          <a:solidFill>
                            <a:schemeClr val="dk1"/>
                          </a:solidFill>
                          <a:latin typeface="+mn-lt"/>
                          <a:ea typeface="+mn-ea"/>
                          <a:cs typeface="+mn-cs"/>
                        </a:rPr>
                        <a:t>፣ በአረንጓዴ ቦታ፣ በኮሪደር መሰረተ ልማቶች፣ በመናፈሻ ቦታ፣ በክፍት የሕዝብ መናፈሻ፣ በመንገድ መናፈሻ፣ በመንገድ፣ በመንገድ አካፋይ፣ በመንገድ ዳርቻ፣ በአደባባይ፣ በፕላዛ ቦታ እና በመሳሰሉት ቄጠማ፤ ሳር፤ የበቆሎ ሽፋን ወይም ቆረቆንዳ፤ ጭድ፤ ሸንኮራ አገዳ፤ የሽንብራና የባቄላ እሸት ገለባ፤ የፍራፍሬ ልጣጭ እና የመሳሰሉት ሲሸጥ አካባቢውን ያቆሸሸ ወይም ግብዓቱን ተጠቅሞ ተረፈ ምርቱን የጣለ ማንኛውም ሰው፤ </a:t>
                      </a:r>
                    </a:p>
                    <a:p>
                      <a:r>
                        <a:rPr lang="en-US" sz="1800" b="0" i="0" u="none" strike="noStrike" kern="1200" baseline="0" dirty="0" smtClean="0">
                          <a:solidFill>
                            <a:schemeClr val="dk1"/>
                          </a:solidFill>
                          <a:latin typeface="+mn-lt"/>
                          <a:ea typeface="+mn-ea"/>
                          <a:cs typeface="+mn-cs"/>
                        </a:rPr>
                        <a:t>	</a:t>
                      </a:r>
                    </a:p>
                    <a:p>
                      <a:endParaRPr lang="en-US" sz="1800" b="0" i="0" u="none" strike="noStrike" kern="1200" baseline="0" dirty="0" smtClean="0">
                        <a:solidFill>
                          <a:schemeClr val="dk1"/>
                        </a:solidFill>
                        <a:latin typeface="+mn-lt"/>
                        <a:ea typeface="+mn-ea"/>
                        <a:cs typeface="+mn-cs"/>
                      </a:endParaRPr>
                    </a:p>
                  </a:txBody>
                  <a:tcPr>
                    <a:lnB w="12700" cap="flat" cmpd="sng" algn="ctr">
                      <a:solidFill>
                        <a:schemeClr val="tx1"/>
                      </a:solidFill>
                      <a:prstDash val="solid"/>
                      <a:round/>
                      <a:headEnd type="none" w="med" len="med"/>
                      <a:tailEnd type="none" w="med" len="med"/>
                    </a:lnB>
                  </a:tcPr>
                </a:tc>
                <a:tc>
                  <a:txBody>
                    <a:bodyPr/>
                    <a:lstStyle/>
                    <a:p>
                      <a:r>
                        <a:rPr lang="en-US" sz="2400" dirty="0" smtClean="0">
                          <a:latin typeface="Power Geez Unicode1" pitchFamily="2" charset="0"/>
                        </a:rPr>
                        <a:t> </a:t>
                      </a:r>
                    </a:p>
                    <a:p>
                      <a:endParaRPr lang="en-US" sz="2400" b="1" dirty="0" smtClean="0">
                        <a:latin typeface="Power Geez Unicode1" pitchFamily="2" charset="0"/>
                      </a:endParaRPr>
                    </a:p>
                    <a:p>
                      <a:pPr algn="just"/>
                      <a:r>
                        <a:rPr lang="en-US" sz="1800" b="1" dirty="0" err="1" smtClean="0">
                          <a:solidFill>
                            <a:srgbClr val="FF0000"/>
                          </a:solidFill>
                          <a:latin typeface="Power Geez Unicode1" pitchFamily="2" charset="0"/>
                        </a:rPr>
                        <a:t>ብር</a:t>
                      </a:r>
                      <a:endParaRPr lang="en-US" sz="1800" b="1" dirty="0" smtClean="0">
                        <a:solidFill>
                          <a:srgbClr val="FF0000"/>
                        </a:solidFill>
                        <a:latin typeface="Power Geez Unicode1" pitchFamily="2" charset="0"/>
                      </a:endParaRPr>
                    </a:p>
                    <a:p>
                      <a:pPr algn="just"/>
                      <a:r>
                        <a:rPr lang="en-US" sz="1800" b="1" dirty="0" smtClean="0">
                          <a:solidFill>
                            <a:srgbClr val="FF0000"/>
                          </a:solidFill>
                          <a:latin typeface="Power Geez Unicode1" pitchFamily="2" charset="0"/>
                        </a:rPr>
                        <a:t>1.000.00</a:t>
                      </a:r>
                    </a:p>
                    <a:p>
                      <a:pPr algn="just"/>
                      <a:endParaRPr lang="en-US" sz="1800" b="1" dirty="0" smtClean="0">
                        <a:solidFill>
                          <a:srgbClr val="FF0000"/>
                        </a:solidFill>
                        <a:latin typeface="Power Geez Unicode1" pitchFamily="2" charset="0"/>
                      </a:endParaRPr>
                    </a:p>
                    <a:p>
                      <a:pPr algn="just"/>
                      <a:endParaRPr lang="en-US" sz="1800" b="1" dirty="0" smtClean="0">
                        <a:solidFill>
                          <a:srgbClr val="FF0000"/>
                        </a:solidFill>
                        <a:latin typeface="Power Geez Unicode1" pitchFamily="2" charset="0"/>
                      </a:endParaRPr>
                    </a:p>
                    <a:p>
                      <a:pPr algn="just"/>
                      <a:endParaRPr lang="en-US" sz="1800" b="1" dirty="0" smtClean="0">
                        <a:solidFill>
                          <a:srgbClr val="FF0000"/>
                        </a:solidFill>
                        <a:latin typeface="Power Geez Unicode1" pitchFamily="2" charset="0"/>
                      </a:endParaRPr>
                    </a:p>
                    <a:p>
                      <a:pPr algn="just"/>
                      <a:endParaRPr lang="en-US" sz="1800" b="1" dirty="0" smtClean="0">
                        <a:solidFill>
                          <a:srgbClr val="FF0000"/>
                        </a:solidFill>
                        <a:latin typeface="Power Geez Unicode1" pitchFamily="2" charset="0"/>
                      </a:endParaRPr>
                    </a:p>
                    <a:p>
                      <a:pPr algn="just"/>
                      <a:endParaRPr lang="en-US" sz="1800" b="1" dirty="0" smtClean="0">
                        <a:solidFill>
                          <a:srgbClr val="FF0000"/>
                        </a:solidFill>
                        <a:latin typeface="Power Geez Unicode1" pitchFamily="2" charset="0"/>
                      </a:endParaRPr>
                    </a:p>
                    <a:p>
                      <a:pPr algn="just"/>
                      <a:r>
                        <a:rPr lang="en-US" sz="1800" b="1" dirty="0" err="1" smtClean="0">
                          <a:solidFill>
                            <a:srgbClr val="FF0000"/>
                          </a:solidFill>
                          <a:latin typeface="Power Geez Unicode1" pitchFamily="2" charset="0"/>
                        </a:rPr>
                        <a:t>ብር</a:t>
                      </a:r>
                      <a:endParaRPr lang="en-US" sz="1800" b="1" dirty="0" smtClean="0">
                        <a:solidFill>
                          <a:srgbClr val="FF0000"/>
                        </a:solidFill>
                        <a:latin typeface="Power Geez Unicode1" pitchFamily="2" charset="0"/>
                      </a:endParaRPr>
                    </a:p>
                    <a:p>
                      <a:pPr algn="just"/>
                      <a:endParaRPr lang="en-US" sz="1800" b="1" dirty="0" smtClean="0">
                        <a:solidFill>
                          <a:srgbClr val="FF0000"/>
                        </a:solidFill>
                        <a:latin typeface="Power Geez Unicode1" pitchFamily="2" charset="0"/>
                      </a:endParaRPr>
                    </a:p>
                    <a:p>
                      <a:pPr algn="just"/>
                      <a:r>
                        <a:rPr lang="en-US" sz="1800" b="1" dirty="0" smtClean="0">
                          <a:solidFill>
                            <a:srgbClr val="FF0000"/>
                          </a:solidFill>
                          <a:latin typeface="Power Geez Unicode1" pitchFamily="2" charset="0"/>
                        </a:rPr>
                        <a:t>200.00</a:t>
                      </a:r>
                    </a:p>
                  </a:txBody>
                  <a:tcPr>
                    <a:lnB w="12700" cap="flat" cmpd="sng" algn="ctr">
                      <a:solidFill>
                        <a:schemeClr val="tx1"/>
                      </a:solidFill>
                      <a:prstDash val="solid"/>
                      <a:round/>
                      <a:headEnd type="none" w="med" len="med"/>
                      <a:tailEnd type="none" w="med" len="med"/>
                    </a:lnB>
                  </a:tcPr>
                </a:tc>
                <a:tc>
                  <a:txBody>
                    <a:bodyPr/>
                    <a:lstStyle/>
                    <a:p>
                      <a:endParaRPr lang="en-US" sz="1800" b="1" dirty="0" smtClean="0">
                        <a:latin typeface="Power Geez Unicode1" pitchFamily="2" charset="0"/>
                      </a:endParaRPr>
                    </a:p>
                    <a:p>
                      <a:pPr algn="just"/>
                      <a:endParaRPr lang="en-US" sz="1800" b="1" dirty="0" smtClean="0">
                        <a:latin typeface="Power Geez Unicode1" pitchFamily="2" charset="0"/>
                      </a:endParaRPr>
                    </a:p>
                    <a:p>
                      <a:r>
                        <a:rPr lang="am-ET" sz="1800" b="1" i="0" u="none" strike="noStrike" kern="1200" baseline="0" dirty="0" smtClean="0">
                          <a:solidFill>
                            <a:schemeClr val="dk1"/>
                          </a:solidFill>
                          <a:latin typeface="+mn-lt"/>
                          <a:ea typeface="+mn-ea"/>
                          <a:cs typeface="+mn-cs"/>
                        </a:rPr>
                        <a:t>ብር 25,000.00 </a:t>
                      </a:r>
                      <a:endParaRPr lang="en-US" sz="1800" b="1" i="0" u="none" strike="noStrike" kern="1200" baseline="0" dirty="0" smtClean="0">
                        <a:solidFill>
                          <a:schemeClr val="dk1"/>
                        </a:solidFill>
                        <a:latin typeface="Power Geez Unicode1" pitchFamily="2" charset="0"/>
                        <a:ea typeface="+mn-ea"/>
                        <a:cs typeface="+mn-cs"/>
                      </a:endParaRPr>
                    </a:p>
                    <a:p>
                      <a:endParaRPr lang="en-US" sz="1800" b="1" i="0" u="none" strike="noStrike" kern="1200" baseline="0" dirty="0" smtClean="0">
                        <a:solidFill>
                          <a:schemeClr val="dk1"/>
                        </a:solidFill>
                        <a:latin typeface="Power Geez Unicode1" pitchFamily="2" charset="0"/>
                        <a:ea typeface="+mn-ea"/>
                        <a:cs typeface="+mn-cs"/>
                      </a:endParaRPr>
                    </a:p>
                    <a:p>
                      <a:endParaRPr lang="en-US" sz="1800" b="1" i="0" u="none" strike="noStrike" kern="1200" baseline="0" dirty="0" smtClean="0">
                        <a:solidFill>
                          <a:schemeClr val="dk1"/>
                        </a:solidFill>
                        <a:latin typeface="Power Geez Unicode1" pitchFamily="2" charset="0"/>
                        <a:ea typeface="+mn-ea"/>
                        <a:cs typeface="+mn-cs"/>
                      </a:endParaRPr>
                    </a:p>
                    <a:p>
                      <a:endParaRPr lang="en-US" sz="1800" b="1" i="0" u="none" strike="noStrike" kern="1200" baseline="0" dirty="0" smtClean="0">
                        <a:solidFill>
                          <a:schemeClr val="dk1"/>
                        </a:solidFill>
                        <a:latin typeface="Power Geez Unicode1" pitchFamily="2" charset="0"/>
                        <a:ea typeface="+mn-ea"/>
                        <a:cs typeface="+mn-cs"/>
                      </a:endParaRPr>
                    </a:p>
                    <a:p>
                      <a:endParaRPr lang="en-US" sz="1800" b="1" i="0" u="none" strike="noStrike" kern="1200" baseline="0" dirty="0" smtClean="0">
                        <a:solidFill>
                          <a:schemeClr val="dk1"/>
                        </a:solidFill>
                        <a:latin typeface="Power Geez Unicode1" pitchFamily="2" charset="0"/>
                        <a:ea typeface="+mn-ea"/>
                        <a:cs typeface="+mn-cs"/>
                      </a:endParaRPr>
                    </a:p>
                    <a:p>
                      <a:endParaRPr lang="en-US" sz="1800" b="1" i="0" u="none" strike="noStrike" kern="1200" baseline="0" dirty="0" smtClean="0">
                        <a:solidFill>
                          <a:schemeClr val="dk1"/>
                        </a:solidFill>
                        <a:latin typeface="Power Geez Unicode1" pitchFamily="2" charset="0"/>
                        <a:ea typeface="+mn-ea"/>
                        <a:cs typeface="+mn-cs"/>
                      </a:endParaRPr>
                    </a:p>
                    <a:p>
                      <a:endParaRPr lang="am-ET" sz="1800" b="1" i="0" u="none" strike="noStrike" kern="1200" baseline="0" dirty="0" smtClean="0">
                        <a:solidFill>
                          <a:schemeClr val="dk1"/>
                        </a:solidFill>
                        <a:latin typeface="+mn-lt"/>
                        <a:ea typeface="+mn-ea"/>
                        <a:cs typeface="+mn-cs"/>
                      </a:endParaRPr>
                    </a:p>
                    <a:p>
                      <a:r>
                        <a:rPr lang="am-ET" sz="1800" b="1" i="0" u="none" strike="noStrike" kern="1200" baseline="0" dirty="0" smtClean="0">
                          <a:solidFill>
                            <a:schemeClr val="dk1"/>
                          </a:solidFill>
                          <a:latin typeface="+mn-lt"/>
                          <a:ea typeface="+mn-ea"/>
                          <a:cs typeface="+mn-cs"/>
                        </a:rPr>
                        <a:t>ብር </a:t>
                      </a:r>
                      <a:endParaRPr lang="en-US" sz="1800" b="1" i="0" u="none" strike="noStrike" kern="1200" baseline="0" dirty="0" smtClean="0">
                        <a:solidFill>
                          <a:schemeClr val="dk1"/>
                        </a:solidFill>
                        <a:latin typeface="+mn-lt"/>
                        <a:ea typeface="+mn-ea"/>
                        <a:cs typeface="+mn-cs"/>
                      </a:endParaRPr>
                    </a:p>
                    <a:p>
                      <a:endParaRPr lang="en-US" sz="1800" b="1" i="0" u="none" strike="noStrike" kern="1200" baseline="0" dirty="0" smtClean="0">
                        <a:solidFill>
                          <a:schemeClr val="dk1"/>
                        </a:solidFill>
                        <a:latin typeface="+mn-lt"/>
                        <a:ea typeface="+mn-ea"/>
                        <a:cs typeface="+mn-cs"/>
                      </a:endParaRPr>
                    </a:p>
                    <a:p>
                      <a:r>
                        <a:rPr lang="en-US" sz="1800" b="1" i="0" u="none" strike="noStrike" kern="1200" baseline="0" dirty="0" smtClean="0">
                          <a:solidFill>
                            <a:schemeClr val="dk1"/>
                          </a:solidFill>
                          <a:latin typeface="+mn-lt"/>
                          <a:ea typeface="+mn-ea"/>
                          <a:cs typeface="+mn-cs"/>
                        </a:rPr>
                        <a:t> </a:t>
                      </a:r>
                      <a:r>
                        <a:rPr lang="am-ET" sz="1800" b="1" i="0" u="none" strike="noStrike" kern="1200" baseline="0" dirty="0" smtClean="0">
                          <a:solidFill>
                            <a:schemeClr val="dk1"/>
                          </a:solidFill>
                          <a:latin typeface="+mn-lt"/>
                          <a:ea typeface="+mn-ea"/>
                          <a:cs typeface="+mn-cs"/>
                        </a:rPr>
                        <a:t>5000.00 </a:t>
                      </a:r>
                      <a:r>
                        <a:rPr lang="am-ET" sz="1800" b="0" i="0" u="none" strike="noStrike" kern="1200" baseline="0" dirty="0" smtClean="0">
                          <a:solidFill>
                            <a:schemeClr val="dk1"/>
                          </a:solidFill>
                          <a:latin typeface="+mn-lt"/>
                          <a:ea typeface="+mn-ea"/>
                          <a:cs typeface="+mn-cs"/>
                        </a:rPr>
                        <a:t>	</a:t>
                      </a:r>
                    </a:p>
                    <a:p>
                      <a:pPr algn="just"/>
                      <a:endParaRPr lang="en-US" sz="1800" b="1" dirty="0" smtClean="0">
                        <a:latin typeface="Power Geez Unicode1" pitchFamily="2" charset="0"/>
                      </a:endParaRPr>
                    </a:p>
                    <a:p>
                      <a:r>
                        <a:rPr lang="am-ET" sz="1800" b="0" i="0" u="none" strike="noStrike" kern="1200" baseline="0" dirty="0" smtClean="0">
                          <a:solidFill>
                            <a:schemeClr val="dk1"/>
                          </a:solidFill>
                          <a:latin typeface="+mn-lt"/>
                          <a:ea typeface="+mn-ea"/>
                          <a:cs typeface="+mn-cs"/>
                        </a:rPr>
                        <a:t>	</a:t>
                      </a:r>
                    </a:p>
                  </a:txBody>
                  <a:tcPr>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በሰንጠረዡ የተቀመጠውን የቅጣት ክፍያ መጠን መክፈልና ያቆሸሸውን አካባቢ ማጽዳት 	</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txBody>
                  <a:tcPr>
                    <a:lnB w="12700" cap="flat" cmpd="sng" algn="ctr">
                      <a:solidFill>
                        <a:schemeClr val="tx1"/>
                      </a:solidFill>
                      <a:prstDash val="solid"/>
                      <a:round/>
                      <a:headEnd type="none" w="med" len="med"/>
                      <a:tailEnd type="none" w="med" len="med"/>
                    </a:lnB>
                  </a:tcPr>
                </a:tc>
              </a:tr>
              <a:tr h="2024856">
                <a:tc>
                  <a:txBody>
                    <a:bodyPr/>
                    <a:lstStyle/>
                    <a:p>
                      <a:endParaRPr lang="en-US" sz="2400" dirty="0" smtClean="0">
                        <a:latin typeface="Power Geez Unicode1" pitchFamily="2" charset="0"/>
                      </a:endParaRPr>
                    </a:p>
                    <a:p>
                      <a:endParaRPr lang="en-US" sz="2400" dirty="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am-ET" sz="2400" b="1" i="0" u="none" strike="noStrike" kern="1200" baseline="0" dirty="0" smtClean="0">
                          <a:solidFill>
                            <a:schemeClr val="dk1"/>
                          </a:solidFill>
                          <a:latin typeface="+mn-lt"/>
                          <a:ea typeface="+mn-ea"/>
                          <a:cs typeface="+mn-cs"/>
                        </a:rPr>
                        <a:t>	</a:t>
                      </a:r>
                    </a:p>
                    <a:p>
                      <a:pPr algn="just"/>
                      <a:r>
                        <a:rPr lang="en-US" sz="1400" b="1" dirty="0" smtClean="0">
                          <a:effectLst/>
                          <a:latin typeface="Power Geez Unicode1" pitchFamily="2" charset="0"/>
                          <a:ea typeface="Times New Roman"/>
                          <a:cs typeface="Visual Geez Unicode"/>
                        </a:rPr>
                        <a:t>     </a:t>
                      </a:r>
                      <a:endParaRPr lang="en-US" sz="3200" b="1"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28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1800" b="1" dirty="0" smtClean="0">
                        <a:latin typeface="Power Geez Unicode1" pitchFamily="2" charset="0"/>
                      </a:endParaRPr>
                    </a:p>
                    <a:p>
                      <a:pPr marL="0" marR="0" algn="ctr">
                        <a:spcBef>
                          <a:spcPts val="1000"/>
                        </a:spcBef>
                        <a:spcAft>
                          <a:spcPts val="0"/>
                        </a:spcAft>
                      </a:pPr>
                      <a:endParaRPr lang="en-US" sz="2800" b="0" dirty="0" smtClean="0">
                        <a:solidFill>
                          <a:srgbClr val="4F81BD"/>
                        </a:solidFill>
                        <a:effectLst/>
                        <a:latin typeface="Power Geez Unicode1" pitchFamily="2" charset="0"/>
                        <a:ea typeface="Times New Roman"/>
                        <a:cs typeface="Visual Geez Unicode"/>
                      </a:endParaRPr>
                    </a:p>
                    <a:p>
                      <a:endParaRPr lang="en-US" sz="2800" dirty="0" smtClean="0">
                        <a:latin typeface="Power Geez Unicode1" pitchFamily="2" charset="0"/>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3148053182"/>
      </p:ext>
    </p:extLst>
  </p:cSld>
  <p:clrMapOvr>
    <a:masterClrMapping/>
  </p:clrMapOvr>
  <p:transition spd="slow">
    <p:pull/>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240378997"/>
              </p:ext>
            </p:extLst>
          </p:nvPr>
        </p:nvGraphicFramePr>
        <p:xfrm>
          <a:off x="0" y="304800"/>
          <a:ext cx="9067800" cy="8730456"/>
        </p:xfrm>
        <a:graphic>
          <a:graphicData uri="http://schemas.openxmlformats.org/drawingml/2006/table">
            <a:tbl>
              <a:tblPr firstRow="1" bandRow="1">
                <a:tableStyleId>{5C22544A-7EE6-4342-B048-85BDC9FD1C3A}</a:tableStyleId>
              </a:tblPr>
              <a:tblGrid>
                <a:gridCol w="711199"/>
                <a:gridCol w="4089401"/>
                <a:gridCol w="1295400"/>
                <a:gridCol w="1371600"/>
                <a:gridCol w="1600200"/>
              </a:tblGrid>
              <a:tr h="628260">
                <a:tc>
                  <a:txBody>
                    <a:bodyPr/>
                    <a:lstStyle/>
                    <a:p>
                      <a:r>
                        <a:rPr lang="am-ET" sz="1800" b="0" i="0" u="none" strike="noStrike" baseline="0" dirty="0" smtClean="0">
                          <a:solidFill>
                            <a:srgbClr val="000000"/>
                          </a:solidFill>
                          <a:latin typeface="Visual Geez Unicode"/>
                        </a:rPr>
                        <a:t>ተ.ቁ</a:t>
                      </a:r>
                      <a:r>
                        <a:rPr lang="am-ET" sz="1400" b="0" i="0" u="none" strike="noStrike" baseline="0" dirty="0" smtClean="0">
                          <a:solidFill>
                            <a:srgbClr val="000000"/>
                          </a:solidFill>
                          <a:latin typeface="Visual Geez Unicode"/>
                        </a:rPr>
                        <a:t> 	</a:t>
                      </a:r>
                      <a:r>
                        <a:rPr lang="en-US" sz="1400" b="0" i="0" u="none" strike="noStrike" baseline="0" dirty="0" smtClean="0">
                          <a:solidFill>
                            <a:srgbClr val="000000"/>
                          </a:solidFill>
                          <a:latin typeface="Power Geez Unicode1" pitchFamily="2" charset="0"/>
                        </a:rPr>
                        <a:t> </a:t>
                      </a:r>
                      <a:endParaRPr lang="am-ET" sz="1400" b="0" i="0" u="none" strike="noStrike" baseline="0" dirty="0" smtClean="0">
                        <a:solidFill>
                          <a:srgbClr val="000000"/>
                        </a:solidFill>
                        <a:latin typeface="Visual Geez Unicode"/>
                      </a:endParaRPr>
                    </a:p>
                  </a:txBody>
                  <a:tcPr/>
                </a:tc>
                <a:tc>
                  <a:txBody>
                    <a:bodyPr/>
                    <a:lstStyle/>
                    <a:p>
                      <a:r>
                        <a:rPr lang="en-US" sz="1800" b="1" i="0" u="none" strike="noStrike" baseline="0" dirty="0" err="1" smtClean="0">
                          <a:solidFill>
                            <a:srgbClr val="FF0000"/>
                          </a:solidFill>
                          <a:latin typeface="Power Geez Unicode1" pitchFamily="2" charset="0"/>
                        </a:rPr>
                        <a:t>የጥፋት</a:t>
                      </a:r>
                      <a:r>
                        <a:rPr lang="en-US" sz="1800" b="1" i="0" u="none" strike="noStrike" baseline="0" dirty="0" smtClean="0">
                          <a:solidFill>
                            <a:srgbClr val="FF0000"/>
                          </a:solidFill>
                          <a:latin typeface="Power Geez Unicode1" pitchFamily="2" charset="0"/>
                        </a:rPr>
                        <a:t> </a:t>
                      </a:r>
                      <a:r>
                        <a:rPr lang="en-US" sz="1800" b="1" i="0" u="none" strike="noStrike" baseline="0" dirty="0" err="1" smtClean="0">
                          <a:solidFill>
                            <a:srgbClr val="FF0000"/>
                          </a:solidFill>
                          <a:latin typeface="Power Geez Unicode1" pitchFamily="2" charset="0"/>
                        </a:rPr>
                        <a:t>አይነቶች</a:t>
                      </a:r>
                      <a:endParaRPr lang="am-ET" sz="1800" b="1" i="0" u="none" strike="noStrike" baseline="0" dirty="0" smtClean="0">
                        <a:solidFill>
                          <a:srgbClr val="FF0000"/>
                        </a:solidFill>
                        <a:latin typeface="Visual Geez Unicode"/>
                      </a:endParaRPr>
                    </a:p>
                  </a:txBody>
                  <a:tcPr/>
                </a:tc>
                <a:tc>
                  <a:txBody>
                    <a:bodyPr/>
                    <a:lstStyle/>
                    <a:p>
                      <a:r>
                        <a:rPr lang="en-US" sz="1600" b="1" i="0" u="none" strike="noStrike" baseline="0" dirty="0" err="1" smtClean="0">
                          <a:solidFill>
                            <a:srgbClr val="FF0000"/>
                          </a:solidFill>
                          <a:latin typeface="Power Geez Unicode1" pitchFamily="2" charset="0"/>
                        </a:rPr>
                        <a:t>ቀድሞ</a:t>
                      </a:r>
                      <a:r>
                        <a:rPr lang="en-US" sz="1600" b="1" i="0" u="none" strike="noStrike" baseline="0" dirty="0" smtClean="0">
                          <a:solidFill>
                            <a:srgbClr val="FF0000"/>
                          </a:solidFill>
                          <a:latin typeface="Power Geez Unicode1" pitchFamily="2" charset="0"/>
                        </a:rPr>
                        <a:t> በነበረው150/2015 </a:t>
                      </a:r>
                      <a:r>
                        <a:rPr lang="en-US" sz="1600" b="1" i="0" u="none" strike="noStrike" baseline="0" dirty="0" err="1" smtClean="0">
                          <a:solidFill>
                            <a:srgbClr val="FF0000"/>
                          </a:solidFill>
                          <a:latin typeface="Power Geez Unicode1" pitchFamily="2" charset="0"/>
                        </a:rPr>
                        <a:t>የተቀመጠ</a:t>
                      </a:r>
                      <a:r>
                        <a:rPr lang="en-US" sz="1600" b="1" i="0" u="none" strike="noStrike" baseline="0" dirty="0" smtClean="0">
                          <a:solidFill>
                            <a:srgbClr val="FF0000"/>
                          </a:solidFill>
                          <a:latin typeface="Power Geez Unicode1" pitchFamily="2" charset="0"/>
                        </a:rPr>
                        <a:t> </a:t>
                      </a:r>
                      <a:r>
                        <a:rPr lang="en-US" sz="1600" b="1" i="0" u="none" strike="noStrike" baseline="0" dirty="0" err="1" smtClean="0">
                          <a:solidFill>
                            <a:srgbClr val="FF0000"/>
                          </a:solidFill>
                          <a:latin typeface="Power Geez Unicode1" pitchFamily="2" charset="0"/>
                        </a:rPr>
                        <a:t>ቅጣት</a:t>
                      </a:r>
                      <a:endParaRPr lang="am-ET" sz="1600" b="1" i="0" u="none" strike="noStrike" baseline="0" dirty="0" smtClean="0">
                        <a:solidFill>
                          <a:srgbClr val="FF0000"/>
                        </a:solidFill>
                        <a:latin typeface="Visual Geez Unicode"/>
                      </a:endParaRPr>
                    </a:p>
                  </a:txBody>
                  <a:tcPr/>
                </a:tc>
                <a:tc>
                  <a:txBody>
                    <a:bodyPr/>
                    <a:lstStyle/>
                    <a:p>
                      <a:r>
                        <a:rPr lang="en-US" sz="1600" b="1" i="0" u="none" strike="noStrike" baseline="0" dirty="0" err="1" smtClean="0">
                          <a:solidFill>
                            <a:srgbClr val="FF0000"/>
                          </a:solidFill>
                          <a:latin typeface="Power Geez Unicode1" pitchFamily="2" charset="0"/>
                        </a:rPr>
                        <a:t>አሁን</a:t>
                      </a:r>
                      <a:r>
                        <a:rPr lang="en-US" sz="1600" b="1" i="0" u="none" strike="noStrike" baseline="0" dirty="0" smtClean="0">
                          <a:solidFill>
                            <a:srgbClr val="FF0000"/>
                          </a:solidFill>
                          <a:latin typeface="Power Geez Unicode1" pitchFamily="2" charset="0"/>
                        </a:rPr>
                        <a:t> </a:t>
                      </a:r>
                      <a:r>
                        <a:rPr lang="en-US" sz="1600" b="1" i="0" u="none" strike="noStrike" baseline="0" dirty="0" err="1" smtClean="0">
                          <a:solidFill>
                            <a:srgbClr val="FF0000"/>
                          </a:solidFill>
                          <a:latin typeface="Power Geez Unicode1" pitchFamily="2" charset="0"/>
                        </a:rPr>
                        <a:t>በተሸሻለው</a:t>
                      </a:r>
                      <a:r>
                        <a:rPr lang="en-US" sz="1600" b="1" i="0" u="none" strike="noStrike" baseline="0" dirty="0" smtClean="0">
                          <a:solidFill>
                            <a:srgbClr val="FF0000"/>
                          </a:solidFill>
                          <a:latin typeface="Power Geez Unicode1" pitchFamily="2" charset="0"/>
                        </a:rPr>
                        <a:t> 167/16 </a:t>
                      </a:r>
                      <a:r>
                        <a:rPr lang="en-US" sz="1600" b="1" i="0" u="none" strike="noStrike" baseline="0" dirty="0" err="1" smtClean="0">
                          <a:solidFill>
                            <a:srgbClr val="FF0000"/>
                          </a:solidFill>
                          <a:latin typeface="Power Geez Unicode1" pitchFamily="2" charset="0"/>
                        </a:rPr>
                        <a:t>የተቀመጠ</a:t>
                      </a:r>
                      <a:r>
                        <a:rPr lang="en-US" sz="1600" b="1" i="0" u="none" strike="noStrike" baseline="0" dirty="0" smtClean="0">
                          <a:solidFill>
                            <a:srgbClr val="FF0000"/>
                          </a:solidFill>
                          <a:latin typeface="Power Geez Unicode1" pitchFamily="2" charset="0"/>
                        </a:rPr>
                        <a:t> </a:t>
                      </a:r>
                      <a:r>
                        <a:rPr lang="en-US" sz="1600" b="1" i="0" u="none" strike="noStrike" baseline="0" dirty="0" err="1" smtClean="0">
                          <a:solidFill>
                            <a:srgbClr val="FF0000"/>
                          </a:solidFill>
                          <a:latin typeface="Power Geez Unicode1" pitchFamily="2" charset="0"/>
                        </a:rPr>
                        <a:t>ቅጣት</a:t>
                      </a:r>
                      <a:endParaRPr lang="am-ET" sz="1600" b="1" i="0" u="none" strike="noStrike" baseline="0" dirty="0" smtClean="0">
                        <a:solidFill>
                          <a:srgbClr val="FF0000"/>
                        </a:solidFill>
                        <a:latin typeface="Visual Geez Unicode"/>
                      </a:endParaRPr>
                    </a:p>
                  </a:txBody>
                  <a:tcPr/>
                </a:tc>
                <a:tc>
                  <a:txBody>
                    <a:bodyPr/>
                    <a:lstStyle/>
                    <a:p>
                      <a:r>
                        <a:rPr lang="en-US" sz="1600" dirty="0" err="1" smtClean="0">
                          <a:solidFill>
                            <a:schemeClr val="tx1"/>
                          </a:solidFill>
                          <a:latin typeface="Power Geez Unicode1" pitchFamily="2" charset="0"/>
                        </a:rPr>
                        <a:t>ከህገ</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ወጥ</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ፈፃሚው</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የሚጠበቅ</a:t>
                      </a:r>
                      <a:endParaRPr lang="en-US" sz="1600" dirty="0">
                        <a:solidFill>
                          <a:schemeClr val="tx1"/>
                        </a:solidFill>
                        <a:latin typeface="Power Geez Unicode1" pitchFamily="2" charset="0"/>
                      </a:endParaRPr>
                    </a:p>
                  </a:txBody>
                  <a:tcPr/>
                </a:tc>
              </a:tr>
              <a:tr h="5394960">
                <a:tc>
                  <a:txBody>
                    <a:bodyPr/>
                    <a:lstStyle/>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r>
                        <a:rPr lang="en-US" sz="2400" dirty="0" smtClean="0">
                          <a:latin typeface="Power Geez Unicode1" pitchFamily="2" charset="0"/>
                        </a:rPr>
                        <a:t>10</a:t>
                      </a: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r>
                        <a:rPr lang="en-US" sz="2400" dirty="0" smtClean="0">
                          <a:latin typeface="Power Geez Unicode1" pitchFamily="2" charset="0"/>
                        </a:rPr>
                        <a:t>11</a:t>
                      </a:r>
                      <a:endParaRPr lang="en-US" sz="2400" dirty="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endParaRPr lang="en-US" sz="1800" b="0"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አፈር፤ አሸዋ፤ ጠጠር፤ ሳርና ሌሎች ተረፈ ምርቶች በተሽከርካሪ ሲጓጓዝ በሸራ ወይም በመረብ ሳይሸፍን ወይም በአግባቡ ባለመሸፈኑ ምክንያት አካባቢውን ያቆሸሸ ማንኛውም ሰው፤ </a:t>
                      </a:r>
                      <a:r>
                        <a:rPr lang="am-ET" sz="1800" b="0" i="0" u="none" strike="noStrike" kern="1200" baseline="0" dirty="0" smtClean="0">
                          <a:solidFill>
                            <a:schemeClr val="dk1"/>
                          </a:solidFill>
                          <a:latin typeface="+mn-lt"/>
                          <a:ea typeface="+mn-ea"/>
                          <a:cs typeface="+mn-cs"/>
                        </a:rPr>
                        <a:t>	</a:t>
                      </a:r>
                      <a:endParaRPr lang="en-US" sz="1800" b="0" i="0" u="none" strike="noStrike" kern="1200" baseline="0" dirty="0" smtClean="0">
                        <a:solidFill>
                          <a:schemeClr val="dk1"/>
                        </a:solidFill>
                        <a:latin typeface="+mn-lt"/>
                        <a:ea typeface="+mn-ea"/>
                        <a:cs typeface="+mn-cs"/>
                      </a:endParaRPr>
                    </a:p>
                    <a:p>
                      <a:pPr algn="just"/>
                      <a:endParaRPr lang="en-US" sz="1800" b="0"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1800" b="1" i="0" u="none" strike="noStrike" kern="1200" baseline="0" dirty="0" smtClean="0">
                          <a:solidFill>
                            <a:schemeClr val="dk1"/>
                          </a:solidFill>
                          <a:latin typeface="Power Geez Unicode1" pitchFamily="2" charset="0"/>
                          <a:ea typeface="+mn-ea"/>
                          <a:cs typeface="+mn-cs"/>
                        </a:rPr>
                        <a:t> </a:t>
                      </a:r>
                      <a:r>
                        <a:rPr lang="am-ET" sz="1800" b="1" i="0" u="none" strike="noStrike" kern="1200" baseline="0" dirty="0" smtClean="0">
                          <a:solidFill>
                            <a:schemeClr val="dk1"/>
                          </a:solidFill>
                          <a:latin typeface="+mn-lt"/>
                          <a:ea typeface="+mn-ea"/>
                          <a:cs typeface="+mn-cs"/>
                        </a:rPr>
                        <a:t>የጽዳት አገልግሎት ሰጪ ድርጅት/ማህበር ኤጀንሲው ለደረቅ ቆሻሻ ጊዚያ ማቆያ ወይም ማስወገጃነት ከፈቀደው ቦታ ውጭ ማንኛውንም ደረቅ ቆሻሻ ካስቀመጠ፤ ከጣለ፤ ካቃጠለ ወይም ከቀበረ </a:t>
                      </a:r>
                      <a:r>
                        <a:rPr lang="am-ET" sz="1800" b="0" i="0" u="none" strike="noStrike" kern="1200" baseline="0" dirty="0" smtClean="0">
                          <a:solidFill>
                            <a:schemeClr val="dk1"/>
                          </a:solidFill>
                          <a:latin typeface="+mn-lt"/>
                          <a:ea typeface="+mn-ea"/>
                          <a:cs typeface="+mn-cs"/>
                        </a:rPr>
                        <a:t>	</a:t>
                      </a:r>
                    </a:p>
                    <a:p>
                      <a:pPr algn="just"/>
                      <a:endParaRPr lang="am-ET" sz="1800" b="1" i="0" u="none" strike="noStrike" kern="1200" baseline="0" dirty="0" smtClean="0">
                        <a:solidFill>
                          <a:schemeClr val="dk1"/>
                        </a:solidFill>
                        <a:latin typeface="+mn-lt"/>
                        <a:ea typeface="+mn-ea"/>
                        <a:cs typeface="+mn-cs"/>
                      </a:endParaRPr>
                    </a:p>
                    <a:p>
                      <a:r>
                        <a:rPr lang="en-US" sz="1800" b="0" i="0" u="none" strike="noStrike" kern="1200" baseline="0" dirty="0" smtClean="0">
                          <a:solidFill>
                            <a:schemeClr val="dk1"/>
                          </a:solidFill>
                          <a:latin typeface="+mn-lt"/>
                          <a:ea typeface="+mn-ea"/>
                          <a:cs typeface="+mn-cs"/>
                        </a:rPr>
                        <a:t>	</a:t>
                      </a:r>
                    </a:p>
                    <a:p>
                      <a:endParaRPr lang="en-US" sz="1800" b="0" i="0" u="none" strike="noStrike" kern="1200" baseline="0" dirty="0" smtClean="0">
                        <a:solidFill>
                          <a:schemeClr val="dk1"/>
                        </a:solidFill>
                        <a:latin typeface="+mn-lt"/>
                        <a:ea typeface="+mn-ea"/>
                        <a:cs typeface="+mn-cs"/>
                      </a:endParaRPr>
                    </a:p>
                  </a:txBody>
                  <a:tcPr>
                    <a:lnB w="12700" cap="flat" cmpd="sng" algn="ctr">
                      <a:solidFill>
                        <a:schemeClr val="tx1"/>
                      </a:solidFill>
                      <a:prstDash val="solid"/>
                      <a:round/>
                      <a:headEnd type="none" w="med" len="med"/>
                      <a:tailEnd type="none" w="med" len="med"/>
                    </a:lnB>
                  </a:tcPr>
                </a:tc>
                <a:tc>
                  <a:txBody>
                    <a:bodyPr/>
                    <a:lstStyle/>
                    <a:p>
                      <a:r>
                        <a:rPr lang="en-US" sz="2400" dirty="0" smtClean="0">
                          <a:latin typeface="Power Geez Unicode1" pitchFamily="2" charset="0"/>
                        </a:rPr>
                        <a:t> </a:t>
                      </a:r>
                    </a:p>
                    <a:p>
                      <a:r>
                        <a:rPr lang="en-US" sz="1800" b="1" dirty="0" err="1" smtClean="0">
                          <a:solidFill>
                            <a:srgbClr val="FF0000"/>
                          </a:solidFill>
                          <a:latin typeface="Power Geez Unicode1" pitchFamily="2" charset="0"/>
                        </a:rPr>
                        <a:t>ብር</a:t>
                      </a:r>
                      <a:endParaRPr lang="en-US" sz="1800" b="1" dirty="0" smtClean="0">
                        <a:solidFill>
                          <a:srgbClr val="FF0000"/>
                        </a:solidFill>
                        <a:latin typeface="Power Geez Unicode1" pitchFamily="2" charset="0"/>
                      </a:endParaRPr>
                    </a:p>
                    <a:p>
                      <a:r>
                        <a:rPr lang="en-US" sz="1800" b="1" dirty="0" smtClean="0">
                          <a:solidFill>
                            <a:srgbClr val="FF0000"/>
                          </a:solidFill>
                          <a:latin typeface="Power Geez Unicode1" pitchFamily="2" charset="0"/>
                        </a:rPr>
                        <a:t>1.000. 00</a:t>
                      </a:r>
                    </a:p>
                    <a:p>
                      <a:endParaRPr lang="en-US" sz="1800" b="1" dirty="0" smtClean="0">
                        <a:solidFill>
                          <a:srgbClr val="FF0000"/>
                        </a:solidFill>
                        <a:latin typeface="Power Geez Unicode1" pitchFamily="2" charset="0"/>
                      </a:endParaRPr>
                    </a:p>
                    <a:p>
                      <a:endParaRPr lang="en-US" sz="1800" b="1" dirty="0" smtClean="0">
                        <a:solidFill>
                          <a:srgbClr val="FF0000"/>
                        </a:solidFill>
                        <a:latin typeface="Power Geez Unicode1" pitchFamily="2" charset="0"/>
                      </a:endParaRPr>
                    </a:p>
                    <a:p>
                      <a:endParaRPr lang="en-US" sz="1800" b="1" dirty="0" smtClean="0">
                        <a:solidFill>
                          <a:srgbClr val="FF0000"/>
                        </a:solidFill>
                        <a:latin typeface="Power Geez Unicode1" pitchFamily="2" charset="0"/>
                      </a:endParaRPr>
                    </a:p>
                    <a:p>
                      <a:endParaRPr lang="en-US" sz="1800" b="1" dirty="0" smtClean="0">
                        <a:solidFill>
                          <a:srgbClr val="FF0000"/>
                        </a:solidFill>
                        <a:latin typeface="Power Geez Unicode1" pitchFamily="2" charset="0"/>
                      </a:endParaRPr>
                    </a:p>
                    <a:p>
                      <a:endParaRPr lang="en-US" sz="1800" b="1" dirty="0" smtClean="0">
                        <a:solidFill>
                          <a:srgbClr val="FF0000"/>
                        </a:solidFill>
                        <a:latin typeface="Power Geez Unicode1" pitchFamily="2" charset="0"/>
                      </a:endParaRPr>
                    </a:p>
                    <a:p>
                      <a:endParaRPr lang="en-US" sz="1800" b="1" dirty="0" smtClean="0">
                        <a:solidFill>
                          <a:srgbClr val="FF0000"/>
                        </a:solidFill>
                        <a:latin typeface="Power Geez Unicode1" pitchFamily="2" charset="0"/>
                      </a:endParaRPr>
                    </a:p>
                    <a:p>
                      <a:endParaRPr lang="en-US" sz="1800" b="1" dirty="0" smtClean="0">
                        <a:solidFill>
                          <a:srgbClr val="FF0000"/>
                        </a:solidFill>
                        <a:latin typeface="Power Geez Unicode1" pitchFamily="2" charset="0"/>
                      </a:endParaRPr>
                    </a:p>
                    <a:p>
                      <a:r>
                        <a:rPr lang="en-US" sz="1800" b="1" dirty="0" smtClean="0">
                          <a:solidFill>
                            <a:srgbClr val="FF0000"/>
                          </a:solidFill>
                          <a:latin typeface="Power Geez Unicode1" pitchFamily="2" charset="0"/>
                        </a:rPr>
                        <a:t>2.000.00</a:t>
                      </a:r>
                    </a:p>
                  </a:txBody>
                  <a:tcPr>
                    <a:lnB w="12700" cap="flat" cmpd="sng" algn="ctr">
                      <a:solidFill>
                        <a:schemeClr val="tx1"/>
                      </a:solidFill>
                      <a:prstDash val="solid"/>
                      <a:round/>
                      <a:headEnd type="none" w="med" len="med"/>
                      <a:tailEnd type="none" w="med" len="med"/>
                    </a:lnB>
                  </a:tcPr>
                </a:tc>
                <a:tc>
                  <a:txBody>
                    <a:bodyPr/>
                    <a:lstStyle/>
                    <a:p>
                      <a:endParaRPr lang="en-US" sz="1800" b="1" dirty="0" smtClean="0">
                        <a:latin typeface="Power Geez Unicode1" pitchFamily="2" charset="0"/>
                      </a:endParaRPr>
                    </a:p>
                    <a:p>
                      <a:pPr algn="just"/>
                      <a:endParaRPr lang="en-US" sz="1800" b="1" dirty="0" smtClean="0">
                        <a:latin typeface="Power Geez Unicode1" pitchFamily="2" charset="0"/>
                      </a:endParaRPr>
                    </a:p>
                    <a:p>
                      <a:r>
                        <a:rPr lang="am-ET" sz="1800" b="1" i="0" u="none" strike="noStrike" kern="1200" baseline="0" dirty="0" smtClean="0">
                          <a:solidFill>
                            <a:schemeClr val="dk1"/>
                          </a:solidFill>
                          <a:latin typeface="+mn-lt"/>
                          <a:ea typeface="+mn-ea"/>
                          <a:cs typeface="+mn-cs"/>
                        </a:rPr>
                        <a:t>ብር 10,000.00 ለግለሰብ </a:t>
                      </a:r>
                    </a:p>
                    <a:p>
                      <a:r>
                        <a:rPr lang="am-ET" sz="1800" b="1" i="0" u="none" strike="noStrike" kern="1200" baseline="0" dirty="0" smtClean="0">
                          <a:solidFill>
                            <a:schemeClr val="dk1"/>
                          </a:solidFill>
                          <a:latin typeface="+mn-lt"/>
                          <a:ea typeface="+mn-ea"/>
                          <a:cs typeface="+mn-cs"/>
                        </a:rPr>
                        <a:t>ብር 25,000.00 ለድርጅት </a:t>
                      </a:r>
                      <a:r>
                        <a:rPr lang="am-ET" sz="1800" b="0" i="0" u="none" strike="noStrike" kern="1200" baseline="0" dirty="0" smtClean="0">
                          <a:solidFill>
                            <a:schemeClr val="dk1"/>
                          </a:solidFill>
                          <a:latin typeface="+mn-lt"/>
                          <a:ea typeface="+mn-ea"/>
                          <a:cs typeface="+mn-cs"/>
                        </a:rPr>
                        <a:t>	</a:t>
                      </a:r>
                    </a:p>
                    <a:p>
                      <a:r>
                        <a:rPr lang="am-ET" sz="1800" b="0" i="0" u="none" strike="noStrike" kern="1200" baseline="0" dirty="0" smtClean="0">
                          <a:solidFill>
                            <a:schemeClr val="dk1"/>
                          </a:solidFill>
                          <a:latin typeface="+mn-lt"/>
                          <a:ea typeface="+mn-ea"/>
                          <a:cs typeface="+mn-cs"/>
                        </a:rPr>
                        <a:t>	</a:t>
                      </a:r>
                      <a:endParaRPr lang="en-US" sz="1800" b="0"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2000" b="1" i="0" u="none" strike="noStrike" kern="1200" baseline="0" dirty="0" smtClean="0">
                          <a:solidFill>
                            <a:schemeClr val="dk1"/>
                          </a:solidFill>
                          <a:latin typeface="+mn-lt"/>
                          <a:ea typeface="+mn-ea"/>
                          <a:cs typeface="+mn-cs"/>
                        </a:rPr>
                        <a:t>ብር 20,000.00 </a:t>
                      </a:r>
                      <a:r>
                        <a:rPr lang="am-ET" sz="1800" b="0" i="0" u="none" strike="noStrike" kern="1200" baseline="0" dirty="0" smtClean="0">
                          <a:solidFill>
                            <a:schemeClr val="dk1"/>
                          </a:solidFill>
                          <a:latin typeface="+mn-lt"/>
                          <a:ea typeface="+mn-ea"/>
                          <a:cs typeface="+mn-cs"/>
                        </a:rPr>
                        <a:t>	</a:t>
                      </a:r>
                    </a:p>
                    <a:p>
                      <a:r>
                        <a:rPr lang="am-ET" sz="1800" b="0" i="0" u="none" strike="noStrike" kern="1200" baseline="0" dirty="0" smtClean="0">
                          <a:solidFill>
                            <a:schemeClr val="dk1"/>
                          </a:solidFill>
                          <a:latin typeface="+mn-lt"/>
                          <a:ea typeface="+mn-ea"/>
                          <a:cs typeface="+mn-cs"/>
                        </a:rPr>
                        <a:t>	</a:t>
                      </a:r>
                    </a:p>
                  </a:txBody>
                  <a:tcPr>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በሰንጠረዡ የተቀመጠውን የቅጣት ያቆሸሸውን አካባቢ ማጽዳት </a:t>
                      </a:r>
                      <a:r>
                        <a:rPr lang="am-ET" sz="1800" b="0" i="0" u="none" strike="noStrike" kern="1200" baseline="0" dirty="0" smtClean="0">
                          <a:solidFill>
                            <a:schemeClr val="dk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rgbClr val="FF0000"/>
                          </a:solidFill>
                          <a:latin typeface="+mn-lt"/>
                          <a:ea typeface="+mn-ea"/>
                          <a:cs typeface="+mn-cs"/>
                        </a:rPr>
                        <a:t>በሰንጠረዡ የተቀመጠውን የቅጣት ክፍያ መጠን መክፈልና ያቆሸሸውን አካባቢ ማጽዳት </a:t>
                      </a:r>
                      <a:r>
                        <a:rPr lang="am-ET" sz="1800" b="1" i="0" u="none" strike="noStrike" kern="1200" baseline="0" dirty="0" smtClean="0">
                          <a:solidFill>
                            <a:schemeClr val="dk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txBody>
                  <a:tcPr>
                    <a:lnB w="12700" cap="flat" cmpd="sng" algn="ctr">
                      <a:solidFill>
                        <a:schemeClr val="tx1"/>
                      </a:solidFill>
                      <a:prstDash val="solid"/>
                      <a:round/>
                      <a:headEnd type="none" w="med" len="med"/>
                      <a:tailEnd type="none" w="med" len="med"/>
                    </a:lnB>
                  </a:tcPr>
                </a:tc>
              </a:tr>
              <a:tr h="2024856">
                <a:tc>
                  <a:txBody>
                    <a:bodyPr/>
                    <a:lstStyle/>
                    <a:p>
                      <a:endParaRPr lang="en-US" sz="2400" dirty="0" smtClean="0">
                        <a:latin typeface="Power Geez Unicode1" pitchFamily="2" charset="0"/>
                      </a:endParaRPr>
                    </a:p>
                    <a:p>
                      <a:endParaRPr lang="en-US" sz="2400" dirty="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am-ET" sz="2400" b="1" i="0" u="none" strike="noStrike" kern="1200" baseline="0" dirty="0" smtClean="0">
                          <a:solidFill>
                            <a:schemeClr val="dk1"/>
                          </a:solidFill>
                          <a:latin typeface="+mn-lt"/>
                          <a:ea typeface="+mn-ea"/>
                          <a:cs typeface="+mn-cs"/>
                        </a:rPr>
                        <a:t>	</a:t>
                      </a:r>
                    </a:p>
                    <a:p>
                      <a:pPr algn="just"/>
                      <a:r>
                        <a:rPr lang="en-US" sz="1400" b="1" dirty="0" smtClean="0">
                          <a:effectLst/>
                          <a:latin typeface="Power Geez Unicode1" pitchFamily="2" charset="0"/>
                          <a:ea typeface="Times New Roman"/>
                          <a:cs typeface="Visual Geez Unicode"/>
                        </a:rPr>
                        <a:t>     </a:t>
                      </a:r>
                      <a:endParaRPr lang="en-US" sz="3200" b="1"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28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1800" b="1" dirty="0" smtClean="0">
                        <a:latin typeface="Power Geez Unicode1" pitchFamily="2" charset="0"/>
                      </a:endParaRPr>
                    </a:p>
                    <a:p>
                      <a:pPr marL="0" marR="0" algn="ctr">
                        <a:spcBef>
                          <a:spcPts val="1000"/>
                        </a:spcBef>
                        <a:spcAft>
                          <a:spcPts val="0"/>
                        </a:spcAft>
                      </a:pPr>
                      <a:endParaRPr lang="en-US" sz="2800" b="0" dirty="0" smtClean="0">
                        <a:solidFill>
                          <a:srgbClr val="4F81BD"/>
                        </a:solidFill>
                        <a:effectLst/>
                        <a:latin typeface="Power Geez Unicode1" pitchFamily="2" charset="0"/>
                        <a:ea typeface="Times New Roman"/>
                        <a:cs typeface="Visual Geez Unicode"/>
                      </a:endParaRPr>
                    </a:p>
                    <a:p>
                      <a:endParaRPr lang="en-US" sz="2800" dirty="0" smtClean="0">
                        <a:latin typeface="Power Geez Unicode1" pitchFamily="2" charset="0"/>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76982491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552152001"/>
              </p:ext>
            </p:extLst>
          </p:nvPr>
        </p:nvGraphicFramePr>
        <p:xfrm>
          <a:off x="0" y="304800"/>
          <a:ext cx="9067800" cy="8852376"/>
        </p:xfrm>
        <a:graphic>
          <a:graphicData uri="http://schemas.openxmlformats.org/drawingml/2006/table">
            <a:tbl>
              <a:tblPr firstRow="1" bandRow="1">
                <a:tableStyleId>{5C22544A-7EE6-4342-B048-85BDC9FD1C3A}</a:tableStyleId>
              </a:tblPr>
              <a:tblGrid>
                <a:gridCol w="711199"/>
                <a:gridCol w="4089401"/>
                <a:gridCol w="1295400"/>
                <a:gridCol w="1219200"/>
                <a:gridCol w="1752600"/>
              </a:tblGrid>
              <a:tr h="628260">
                <a:tc>
                  <a:txBody>
                    <a:bodyPr/>
                    <a:lstStyle/>
                    <a:p>
                      <a:r>
                        <a:rPr lang="am-ET" sz="1800" b="0" i="0" u="none" strike="noStrike" baseline="0" dirty="0" smtClean="0">
                          <a:solidFill>
                            <a:srgbClr val="000000"/>
                          </a:solidFill>
                          <a:latin typeface="Visual Geez Unicode"/>
                        </a:rPr>
                        <a:t>ተ.ቁ</a:t>
                      </a:r>
                      <a:r>
                        <a:rPr lang="am-ET" sz="1400" b="0" i="0" u="none" strike="noStrike" baseline="0" dirty="0" smtClean="0">
                          <a:solidFill>
                            <a:srgbClr val="000000"/>
                          </a:solidFill>
                          <a:latin typeface="Visual Geez Unicode"/>
                        </a:rPr>
                        <a:t> 	</a:t>
                      </a:r>
                      <a:r>
                        <a:rPr lang="en-US" sz="1400" b="0" i="0" u="none" strike="noStrike" baseline="0" dirty="0" smtClean="0">
                          <a:solidFill>
                            <a:srgbClr val="000000"/>
                          </a:solidFill>
                          <a:latin typeface="Power Geez Unicode1" pitchFamily="2" charset="0"/>
                        </a:rPr>
                        <a:t> </a:t>
                      </a:r>
                      <a:endParaRPr lang="am-ET" sz="1400" b="0" i="0" u="none" strike="noStrike" baseline="0" dirty="0" smtClean="0">
                        <a:solidFill>
                          <a:srgbClr val="000000"/>
                        </a:solidFill>
                        <a:latin typeface="Visual Geez Unicode"/>
                      </a:endParaRPr>
                    </a:p>
                  </a:txBody>
                  <a:tcPr/>
                </a:tc>
                <a:tc>
                  <a:txBody>
                    <a:bodyPr/>
                    <a:lstStyle/>
                    <a:p>
                      <a:r>
                        <a:rPr lang="en-US" sz="1800" b="1" i="0" u="none" strike="noStrike" baseline="0" dirty="0" err="1" smtClean="0">
                          <a:solidFill>
                            <a:srgbClr val="FF0000"/>
                          </a:solidFill>
                          <a:latin typeface="Power Geez Unicode1" pitchFamily="2" charset="0"/>
                        </a:rPr>
                        <a:t>የጥፋት</a:t>
                      </a:r>
                      <a:r>
                        <a:rPr lang="en-US" sz="1800" b="1" i="0" u="none" strike="noStrike" baseline="0" dirty="0" smtClean="0">
                          <a:solidFill>
                            <a:srgbClr val="FF0000"/>
                          </a:solidFill>
                          <a:latin typeface="Power Geez Unicode1" pitchFamily="2" charset="0"/>
                        </a:rPr>
                        <a:t> </a:t>
                      </a:r>
                      <a:r>
                        <a:rPr lang="en-US" sz="1800" b="1" i="0" u="none" strike="noStrike" baseline="0" dirty="0" err="1" smtClean="0">
                          <a:solidFill>
                            <a:srgbClr val="FF0000"/>
                          </a:solidFill>
                          <a:latin typeface="Power Geez Unicode1" pitchFamily="2" charset="0"/>
                        </a:rPr>
                        <a:t>አይነቶች</a:t>
                      </a:r>
                      <a:endParaRPr lang="am-ET" sz="1800" b="1" i="0" u="none" strike="noStrike" baseline="0" dirty="0" smtClean="0">
                        <a:solidFill>
                          <a:srgbClr val="FF0000"/>
                        </a:solidFill>
                        <a:latin typeface="Visual Geez Unicode"/>
                      </a:endParaRPr>
                    </a:p>
                  </a:txBody>
                  <a:tcPr/>
                </a:tc>
                <a:tc>
                  <a:txBody>
                    <a:bodyPr/>
                    <a:lstStyle/>
                    <a:p>
                      <a:r>
                        <a:rPr lang="en-US" sz="1400" b="0" i="0" u="none" strike="noStrike" baseline="0" dirty="0" err="1" smtClean="0">
                          <a:solidFill>
                            <a:srgbClr val="000000"/>
                          </a:solidFill>
                          <a:latin typeface="Power Geez Unicode1" pitchFamily="2" charset="0"/>
                        </a:rPr>
                        <a:t>ቀድሞ</a:t>
                      </a:r>
                      <a:r>
                        <a:rPr lang="en-US" sz="1400" b="0" i="0" u="none" strike="noStrike" baseline="0" dirty="0" smtClean="0">
                          <a:solidFill>
                            <a:srgbClr val="000000"/>
                          </a:solidFill>
                          <a:latin typeface="Power Geez Unicode1" pitchFamily="2" charset="0"/>
                        </a:rPr>
                        <a:t> በነበረው150/2015 </a:t>
                      </a:r>
                      <a:r>
                        <a:rPr lang="en-US" sz="1400" b="0" i="0" u="none" strike="noStrike" baseline="0" dirty="0" err="1" smtClean="0">
                          <a:solidFill>
                            <a:srgbClr val="000000"/>
                          </a:solidFill>
                          <a:latin typeface="Power Geez Unicode1" pitchFamily="2" charset="0"/>
                        </a:rPr>
                        <a:t>የተቀመጠ</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ቅጣት</a:t>
                      </a:r>
                      <a:endParaRPr lang="am-ET" sz="1400" b="0" i="0" u="none" strike="noStrike" baseline="0" dirty="0" smtClean="0">
                        <a:solidFill>
                          <a:srgbClr val="000000"/>
                        </a:solidFill>
                        <a:latin typeface="Visual Geez Unicode"/>
                      </a:endParaRPr>
                    </a:p>
                  </a:txBody>
                  <a:tcPr/>
                </a:tc>
                <a:tc>
                  <a:txBody>
                    <a:bodyPr/>
                    <a:lstStyle/>
                    <a:p>
                      <a:r>
                        <a:rPr lang="en-US" sz="1400" b="0" i="0" u="none" strike="noStrike" baseline="0" dirty="0" err="1" smtClean="0">
                          <a:solidFill>
                            <a:srgbClr val="000000"/>
                          </a:solidFill>
                          <a:latin typeface="Power Geez Unicode1" pitchFamily="2" charset="0"/>
                        </a:rPr>
                        <a:t>አሁን</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በተሸሻለው</a:t>
                      </a:r>
                      <a:r>
                        <a:rPr lang="en-US" sz="1400" b="0" i="0" u="none" strike="noStrike" baseline="0" dirty="0" smtClean="0">
                          <a:solidFill>
                            <a:srgbClr val="000000"/>
                          </a:solidFill>
                          <a:latin typeface="Power Geez Unicode1" pitchFamily="2" charset="0"/>
                        </a:rPr>
                        <a:t> 167/16 </a:t>
                      </a:r>
                      <a:r>
                        <a:rPr lang="en-US" sz="1400" b="0" i="0" u="none" strike="noStrike" baseline="0" dirty="0" err="1" smtClean="0">
                          <a:solidFill>
                            <a:srgbClr val="000000"/>
                          </a:solidFill>
                          <a:latin typeface="Power Geez Unicode1" pitchFamily="2" charset="0"/>
                        </a:rPr>
                        <a:t>የተቀመጠ</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ቅጣት</a:t>
                      </a:r>
                      <a:endParaRPr lang="am-ET" sz="1400" b="0" i="0" u="none" strike="noStrike" baseline="0" dirty="0" smtClean="0">
                        <a:solidFill>
                          <a:srgbClr val="000000"/>
                        </a:solidFill>
                        <a:latin typeface="Visual Geez Unicode"/>
                      </a:endParaRPr>
                    </a:p>
                  </a:txBody>
                  <a:tcPr/>
                </a:tc>
                <a:tc>
                  <a:txBody>
                    <a:bodyPr/>
                    <a:lstStyle/>
                    <a:p>
                      <a:r>
                        <a:rPr lang="en-US" sz="1600" dirty="0" err="1" smtClean="0">
                          <a:solidFill>
                            <a:schemeClr val="tx1"/>
                          </a:solidFill>
                          <a:latin typeface="Power Geez Unicode1" pitchFamily="2" charset="0"/>
                        </a:rPr>
                        <a:t>ከህገ</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ወጥ</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ፈፃሚው</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የሚጠበቅ</a:t>
                      </a:r>
                      <a:endParaRPr lang="en-US" sz="1600" dirty="0">
                        <a:solidFill>
                          <a:schemeClr val="tx1"/>
                        </a:solidFill>
                        <a:latin typeface="Power Geez Unicode1" pitchFamily="2" charset="0"/>
                      </a:endParaRPr>
                    </a:p>
                  </a:txBody>
                  <a:tcPr/>
                </a:tc>
              </a:tr>
              <a:tr h="5394960">
                <a:tc>
                  <a:txBody>
                    <a:bodyPr/>
                    <a:lstStyle/>
                    <a:p>
                      <a:endParaRPr lang="en-US" sz="2400" dirty="0" smtClean="0">
                        <a:latin typeface="Power Geez Unicode1" pitchFamily="2" charset="0"/>
                      </a:endParaRPr>
                    </a:p>
                    <a:p>
                      <a:r>
                        <a:rPr lang="en-US" sz="2400" dirty="0" smtClean="0">
                          <a:latin typeface="Power Geez Unicode1" pitchFamily="2" charset="0"/>
                        </a:rPr>
                        <a:t>12</a:t>
                      </a: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r>
                        <a:rPr lang="en-US" sz="2400" dirty="0" smtClean="0">
                          <a:latin typeface="Power Geez Unicode1" pitchFamily="2" charset="0"/>
                        </a:rPr>
                        <a:t>13</a:t>
                      </a:r>
                      <a:endParaRPr lang="en-US" sz="2400" dirty="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endParaRPr lang="en-US" sz="1800" b="0" i="0" u="none" strike="noStrike" kern="1200" baseline="0" dirty="0" smtClean="0">
                        <a:solidFill>
                          <a:schemeClr val="dk1"/>
                        </a:solidFill>
                        <a:latin typeface="+mn-lt"/>
                        <a:ea typeface="+mn-ea"/>
                        <a:cs typeface="+mn-cs"/>
                      </a:endParaRPr>
                    </a:p>
                    <a:p>
                      <a:pPr algn="just"/>
                      <a:r>
                        <a:rPr lang="am-ET" sz="2000" b="1" i="0" u="none" strike="noStrike" kern="1200" baseline="0" dirty="0" smtClean="0">
                          <a:solidFill>
                            <a:schemeClr val="dk1"/>
                          </a:solidFill>
                          <a:latin typeface="+mn-lt"/>
                          <a:ea typeface="+mn-ea"/>
                          <a:cs typeface="+mn-cs"/>
                        </a:rPr>
                        <a:t>ከመፀዳጃ ቤት ውጭ በማንኛውም ቦታ ሽንት መሽናት ወይም መጸዳዳት፤ </a:t>
                      </a:r>
                      <a:r>
                        <a:rPr lang="am-ET" sz="1800" b="0" i="0" u="none" strike="noStrike" kern="1200" baseline="0" dirty="0" smtClean="0">
                          <a:solidFill>
                            <a:schemeClr val="dk1"/>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algn="just"/>
                      <a:r>
                        <a:rPr lang="en-US" sz="1800" b="1" i="0" u="none" strike="noStrike" kern="1200" baseline="0" dirty="0" smtClean="0">
                          <a:solidFill>
                            <a:schemeClr val="dk1"/>
                          </a:solidFill>
                          <a:latin typeface="Power Geez Unicode1" pitchFamily="2" charset="0"/>
                          <a:ea typeface="+mn-ea"/>
                          <a:cs typeface="+mn-cs"/>
                        </a:rPr>
                        <a:t> </a:t>
                      </a:r>
                      <a:r>
                        <a:rPr lang="am-ET" sz="1800" b="1" i="0" u="none" strike="noStrike" kern="1200" baseline="0" dirty="0" smtClean="0">
                          <a:solidFill>
                            <a:schemeClr val="dk1"/>
                          </a:solidFill>
                          <a:latin typeface="+mn-lt"/>
                          <a:ea typeface="+mn-ea"/>
                          <a:cs typeface="+mn-cs"/>
                        </a:rPr>
                        <a:t>በመንገድ ዳር በሚቀመጡ የጥቃቅን ደረቅ ቆሻሻ ማስቀመጫ እቃዎችን </a:t>
                      </a:r>
                      <a:endParaRPr lang="en-US" sz="1800" b="1" i="0" u="none" strike="noStrike" kern="1200" baseline="0" dirty="0" smtClean="0">
                        <a:solidFill>
                          <a:schemeClr val="dk1"/>
                        </a:solidFill>
                        <a:latin typeface="+mn-lt"/>
                        <a:ea typeface="+mn-ea"/>
                        <a:cs typeface="+mn-cs"/>
                      </a:endParaRPr>
                    </a:p>
                    <a:p>
                      <a:pPr marL="342900" indent="-342900" algn="just">
                        <a:buAutoNum type="arabicPeriod"/>
                      </a:pPr>
                      <a:r>
                        <a:rPr lang="am-ET" sz="1800" b="1" i="0" u="none" strike="noStrike" kern="1200" baseline="0" dirty="0" smtClean="0">
                          <a:solidFill>
                            <a:schemeClr val="dk1"/>
                          </a:solidFill>
                          <a:latin typeface="+mn-lt"/>
                          <a:ea typeface="+mn-ea"/>
                          <a:cs typeface="+mn-cs"/>
                        </a:rPr>
                        <a:t>ያለ ህጋዊ ፈቃድ ከአካባቢው ያስወገደ፤ ነቅሎ የጣለ፤ ያበላሸ፤ የሰበረ፤ የወሰደ፤ ለሌላ አገልግሎት ያዋለ ማንኛውም ሰው፤ </a:t>
                      </a:r>
                      <a:endParaRPr lang="en-US" sz="1800" b="1" i="0" u="none" strike="noStrike" kern="1200" baseline="0" dirty="0" smtClean="0">
                        <a:solidFill>
                          <a:schemeClr val="dk1"/>
                        </a:solidFill>
                        <a:latin typeface="+mn-lt"/>
                        <a:ea typeface="+mn-ea"/>
                        <a:cs typeface="+mn-cs"/>
                      </a:endParaRPr>
                    </a:p>
                    <a:p>
                      <a:pPr marL="0" indent="0" algn="just">
                        <a:buNone/>
                      </a:pPr>
                      <a:endParaRPr lang="am-ET"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rgbClr val="FF0000"/>
                          </a:solidFill>
                          <a:latin typeface="+mn-lt"/>
                          <a:ea typeface="+mn-ea"/>
                          <a:cs typeface="+mn-cs"/>
                        </a:rPr>
                        <a:t>2. </a:t>
                      </a:r>
                      <a:r>
                        <a:rPr lang="am-ET" sz="1800" b="1" i="0" u="none" strike="noStrike" kern="1200" baseline="0" dirty="0" smtClean="0">
                          <a:solidFill>
                            <a:schemeClr val="dk1"/>
                          </a:solidFill>
                          <a:latin typeface="+mn-lt"/>
                          <a:ea typeface="+mn-ea"/>
                          <a:cs typeface="+mn-cs"/>
                        </a:rPr>
                        <a:t>ማስታወቂያ የለጠፈ ወይም በላያቸው ላይ እቃ ያስቀመጠ ማንኛውም ሰው፤ </a:t>
                      </a:r>
                    </a:p>
                    <a:p>
                      <a:pPr algn="just"/>
                      <a:r>
                        <a:rPr lang="en-US" sz="1800" b="1" i="0" u="none" strike="noStrike" kern="1200" baseline="0" dirty="0" smtClean="0">
                          <a:solidFill>
                            <a:schemeClr val="dk1"/>
                          </a:solidFill>
                          <a:latin typeface="Power Geez Unicode1" pitchFamily="2" charset="0"/>
                          <a:ea typeface="+mn-ea"/>
                          <a:cs typeface="+mn-cs"/>
                        </a:rPr>
                        <a:t>	</a:t>
                      </a:r>
                    </a:p>
                    <a:p>
                      <a:r>
                        <a:rPr lang="en-US" sz="1800" b="0" i="0" u="none" strike="noStrike" kern="1200" baseline="0" dirty="0" smtClean="0">
                          <a:solidFill>
                            <a:schemeClr val="dk1"/>
                          </a:solidFill>
                          <a:latin typeface="+mn-lt"/>
                          <a:ea typeface="+mn-ea"/>
                          <a:cs typeface="+mn-cs"/>
                        </a:rPr>
                        <a:t>	</a:t>
                      </a:r>
                    </a:p>
                    <a:p>
                      <a:endParaRPr lang="en-US" sz="1800" b="0" i="0" u="none" strike="noStrike" kern="1200" baseline="0" dirty="0" smtClean="0">
                        <a:solidFill>
                          <a:schemeClr val="dk1"/>
                        </a:solidFill>
                        <a:latin typeface="+mn-lt"/>
                        <a:ea typeface="+mn-ea"/>
                        <a:cs typeface="+mn-cs"/>
                      </a:endParaRPr>
                    </a:p>
                  </a:txBody>
                  <a:tcPr>
                    <a:lnB w="12700" cap="flat" cmpd="sng" algn="ctr">
                      <a:solidFill>
                        <a:schemeClr val="tx1"/>
                      </a:solidFill>
                      <a:prstDash val="solid"/>
                      <a:round/>
                      <a:headEnd type="none" w="med" len="med"/>
                      <a:tailEnd type="none" w="med" len="med"/>
                    </a:lnB>
                  </a:tcPr>
                </a:tc>
                <a:tc>
                  <a:txBody>
                    <a:bodyPr/>
                    <a:lstStyle/>
                    <a:p>
                      <a:pPr algn="just"/>
                      <a:r>
                        <a:rPr lang="en-US" sz="2400" dirty="0" smtClean="0">
                          <a:latin typeface="Power Geez Unicode1" pitchFamily="2" charset="0"/>
                        </a:rPr>
                        <a:t> </a:t>
                      </a:r>
                      <a:r>
                        <a:rPr lang="en-US" sz="1800" b="1" dirty="0" err="1" smtClean="0">
                          <a:solidFill>
                            <a:srgbClr val="FF0000"/>
                          </a:solidFill>
                          <a:latin typeface="Power Geez Unicode1" pitchFamily="2" charset="0"/>
                        </a:rPr>
                        <a:t>ብር</a:t>
                      </a:r>
                      <a:endParaRPr lang="en-US" sz="1800" b="1" dirty="0" smtClean="0">
                        <a:solidFill>
                          <a:srgbClr val="FF0000"/>
                        </a:solidFill>
                        <a:latin typeface="Power Geez Unicode1" pitchFamily="2" charset="0"/>
                      </a:endParaRPr>
                    </a:p>
                    <a:p>
                      <a:pPr algn="just"/>
                      <a:r>
                        <a:rPr lang="en-US" sz="1800" b="1" dirty="0" smtClean="0">
                          <a:solidFill>
                            <a:srgbClr val="FF0000"/>
                          </a:solidFill>
                          <a:latin typeface="Power Geez Unicode1" pitchFamily="2" charset="0"/>
                        </a:rPr>
                        <a:t>200.00</a:t>
                      </a:r>
                    </a:p>
                    <a:p>
                      <a:endParaRPr lang="en-US" sz="2400" b="1" dirty="0" smtClean="0">
                        <a:latin typeface="Power Geez Unicode1" pitchFamily="2" charset="0"/>
                      </a:endParaRPr>
                    </a:p>
                    <a:p>
                      <a:endParaRPr lang="en-US" sz="2400" b="1" dirty="0" smtClean="0">
                        <a:latin typeface="Power Geez Unicode1" pitchFamily="2" charset="0"/>
                      </a:endParaRPr>
                    </a:p>
                    <a:p>
                      <a:endParaRPr lang="en-US" sz="2400" b="1" dirty="0" smtClean="0">
                        <a:latin typeface="Power Geez Unicode1" pitchFamily="2" charset="0"/>
                      </a:endParaRPr>
                    </a:p>
                    <a:p>
                      <a:endParaRPr lang="en-US" sz="2400" b="1" dirty="0" smtClean="0">
                        <a:latin typeface="Power Geez Unicode1" pitchFamily="2" charset="0"/>
                      </a:endParaRPr>
                    </a:p>
                    <a:p>
                      <a:endParaRPr lang="en-US" sz="2400" b="1" dirty="0" smtClean="0">
                        <a:latin typeface="Power Geez Unicode1" pitchFamily="2" charset="0"/>
                      </a:endParaRPr>
                    </a:p>
                    <a:p>
                      <a:endParaRPr lang="en-US" sz="2400" b="1" dirty="0" smtClean="0">
                        <a:latin typeface="Power Geez Unicode1" pitchFamily="2" charset="0"/>
                      </a:endParaRPr>
                    </a:p>
                    <a:p>
                      <a:r>
                        <a:rPr lang="en-US" sz="2400" b="1" dirty="0" err="1" smtClean="0">
                          <a:solidFill>
                            <a:srgbClr val="FF0000"/>
                          </a:solidFill>
                          <a:latin typeface="Power Geez Unicode1" pitchFamily="2" charset="0"/>
                        </a:rPr>
                        <a:t>ብር</a:t>
                      </a:r>
                      <a:endParaRPr lang="en-US" sz="2400" b="1" dirty="0" smtClean="0">
                        <a:solidFill>
                          <a:srgbClr val="FF0000"/>
                        </a:solidFill>
                        <a:latin typeface="Power Geez Unicode1" pitchFamily="2" charset="0"/>
                      </a:endParaRPr>
                    </a:p>
                    <a:p>
                      <a:r>
                        <a:rPr lang="en-US" sz="1800" b="1" dirty="0" smtClean="0">
                          <a:solidFill>
                            <a:srgbClr val="FF0000"/>
                          </a:solidFill>
                          <a:latin typeface="Power Geez Unicode1" pitchFamily="2" charset="0"/>
                        </a:rPr>
                        <a:t>20.000.00</a:t>
                      </a:r>
                    </a:p>
                    <a:p>
                      <a:endParaRPr lang="en-US" sz="1800" b="1" dirty="0" smtClean="0">
                        <a:solidFill>
                          <a:srgbClr val="FF0000"/>
                        </a:solidFill>
                        <a:latin typeface="Power Geez Unicode1" pitchFamily="2" charset="0"/>
                      </a:endParaRPr>
                    </a:p>
                    <a:p>
                      <a:endParaRPr lang="en-US" sz="1800" b="1" dirty="0" smtClean="0">
                        <a:solidFill>
                          <a:srgbClr val="FF0000"/>
                        </a:solidFill>
                        <a:latin typeface="Power Geez Unicode1" pitchFamily="2" charset="0"/>
                      </a:endParaRPr>
                    </a:p>
                    <a:p>
                      <a:r>
                        <a:rPr lang="en-US" sz="1800" b="1" dirty="0" err="1" smtClean="0">
                          <a:solidFill>
                            <a:srgbClr val="FF0000"/>
                          </a:solidFill>
                          <a:latin typeface="Power Geez Unicode1" pitchFamily="2" charset="0"/>
                        </a:rPr>
                        <a:t>ብር</a:t>
                      </a:r>
                      <a:endParaRPr lang="en-US" sz="1800" b="1" dirty="0" smtClean="0">
                        <a:solidFill>
                          <a:srgbClr val="FF0000"/>
                        </a:solidFill>
                        <a:latin typeface="Power Geez Unicode1" pitchFamily="2" charset="0"/>
                      </a:endParaRPr>
                    </a:p>
                    <a:p>
                      <a:r>
                        <a:rPr lang="en-US" sz="1800" b="1" dirty="0" smtClean="0">
                          <a:solidFill>
                            <a:srgbClr val="FF0000"/>
                          </a:solidFill>
                          <a:latin typeface="Power Geez Unicode1" pitchFamily="2" charset="0"/>
                        </a:rPr>
                        <a:t>500.00</a:t>
                      </a:r>
                    </a:p>
                  </a:txBody>
                  <a:tcPr>
                    <a:lnB w="12700" cap="flat" cmpd="sng" algn="ctr">
                      <a:solidFill>
                        <a:schemeClr val="tx1"/>
                      </a:solidFill>
                      <a:prstDash val="solid"/>
                      <a:round/>
                      <a:headEnd type="none" w="med" len="med"/>
                      <a:tailEnd type="none" w="med" len="med"/>
                    </a:lnB>
                  </a:tcPr>
                </a:tc>
                <a:tc>
                  <a:txBody>
                    <a:bodyPr/>
                    <a:lstStyle/>
                    <a:p>
                      <a:endParaRPr lang="en-US" sz="1800" b="1" dirty="0" smtClean="0">
                        <a:latin typeface="Power Geez Unicode1" pitchFamily="2"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ብር 2,000.00 	</a:t>
                      </a:r>
                    </a:p>
                    <a:p>
                      <a:pPr algn="just"/>
                      <a:endParaRPr lang="en-US" sz="1800" b="1" dirty="0" smtClean="0">
                        <a:latin typeface="Power Geez Unicode1" pitchFamily="2" charset="0"/>
                      </a:endParaRPr>
                    </a:p>
                    <a:p>
                      <a:endParaRPr lang="en-US" sz="1800" b="1" i="0" u="none" strike="noStrike" kern="1200" baseline="0" dirty="0" smtClean="0">
                        <a:solidFill>
                          <a:schemeClr val="dk1"/>
                        </a:solidFill>
                        <a:latin typeface="Power Geez Unicode1" pitchFamily="2" charset="0"/>
                        <a:ea typeface="+mn-ea"/>
                        <a:cs typeface="+mn-cs"/>
                      </a:endParaRPr>
                    </a:p>
                    <a:p>
                      <a:endParaRPr lang="en-US" sz="1800" b="1" i="0" u="none" strike="noStrike" kern="1200" baseline="0" dirty="0" smtClean="0">
                        <a:solidFill>
                          <a:schemeClr val="dk1"/>
                        </a:solidFill>
                        <a:latin typeface="Power Geez Unicode1" pitchFamily="2" charset="0"/>
                        <a:ea typeface="+mn-ea"/>
                        <a:cs typeface="+mn-cs"/>
                      </a:endParaRPr>
                    </a:p>
                    <a:p>
                      <a:endParaRPr lang="en-US" sz="1800" b="1" i="0" u="none" strike="noStrike" kern="1200" baseline="0" dirty="0" smtClean="0">
                        <a:solidFill>
                          <a:schemeClr val="dk1"/>
                        </a:solidFill>
                        <a:latin typeface="Power Geez Unicode1" pitchFamily="2" charset="0"/>
                        <a:ea typeface="+mn-ea"/>
                        <a:cs typeface="+mn-cs"/>
                      </a:endParaRPr>
                    </a:p>
                    <a:p>
                      <a:endParaRPr lang="en-US" sz="1800" b="1" i="0" u="none" strike="noStrike" kern="1200" baseline="0" dirty="0" smtClean="0">
                        <a:solidFill>
                          <a:schemeClr val="dk1"/>
                        </a:solidFill>
                        <a:latin typeface="Power Geez Unicode1" pitchFamily="2" charset="0"/>
                        <a:ea typeface="+mn-ea"/>
                        <a:cs typeface="+mn-cs"/>
                      </a:endParaRPr>
                    </a:p>
                    <a:p>
                      <a:endParaRPr lang="en-US" sz="1800" b="1" i="0" u="none" strike="noStrike" kern="1200" baseline="0" dirty="0" smtClean="0">
                        <a:solidFill>
                          <a:schemeClr val="dk1"/>
                        </a:solidFill>
                        <a:latin typeface="Power Geez Unicode1" pitchFamily="2" charset="0"/>
                        <a:ea typeface="+mn-ea"/>
                        <a:cs typeface="+mn-cs"/>
                      </a:endParaRPr>
                    </a:p>
                    <a:p>
                      <a:endParaRPr lang="en-US" sz="1800" b="1" i="0" u="none" strike="noStrike" kern="1200" baseline="0" dirty="0" smtClean="0">
                        <a:solidFill>
                          <a:schemeClr val="dk1"/>
                        </a:solidFill>
                        <a:latin typeface="+mn-lt"/>
                        <a:ea typeface="+mn-ea"/>
                        <a:cs typeface="+mn-cs"/>
                      </a:endParaRPr>
                    </a:p>
                    <a:p>
                      <a:r>
                        <a:rPr lang="am-ET" sz="1800" b="1" i="0" u="none" strike="noStrike" kern="1200" baseline="0" dirty="0" smtClean="0">
                          <a:solidFill>
                            <a:schemeClr val="dk1"/>
                          </a:solidFill>
                          <a:latin typeface="+mn-lt"/>
                          <a:ea typeface="+mn-ea"/>
                          <a:cs typeface="+mn-cs"/>
                        </a:rPr>
                        <a:t>ብር 50,000.00</a:t>
                      </a:r>
                      <a:endParaRPr lang="en-US" sz="1800" b="1" i="0" u="none" strike="noStrike" kern="1200" baseline="0" dirty="0" smtClean="0">
                        <a:solidFill>
                          <a:schemeClr val="dk1"/>
                        </a:solidFill>
                        <a:latin typeface="Power Geez Unicode1" pitchFamily="2" charset="0"/>
                        <a:ea typeface="+mn-ea"/>
                        <a:cs typeface="+mn-cs"/>
                      </a:endParaRPr>
                    </a:p>
                    <a:p>
                      <a:endParaRPr lang="en-US" sz="1800" b="1" i="0" u="none" strike="noStrike" kern="1200" baseline="0" dirty="0" smtClean="0">
                        <a:solidFill>
                          <a:schemeClr val="dk1"/>
                        </a:solidFill>
                        <a:latin typeface="Power Geez Unicode1" pitchFamily="2" charset="0"/>
                        <a:ea typeface="+mn-ea"/>
                        <a:cs typeface="+mn-cs"/>
                      </a:endParaRPr>
                    </a:p>
                    <a:p>
                      <a:endParaRPr lang="am-ET" sz="1800" b="1" i="0" u="none" strike="noStrike" kern="1200" baseline="0" dirty="0" smtClean="0">
                        <a:solidFill>
                          <a:schemeClr val="dk1"/>
                        </a:solidFill>
                        <a:latin typeface="+mn-lt"/>
                        <a:ea typeface="+mn-ea"/>
                        <a:cs typeface="+mn-cs"/>
                      </a:endParaRPr>
                    </a:p>
                    <a:p>
                      <a:r>
                        <a:rPr lang="am-ET" sz="1800" b="1" i="0" u="none" strike="noStrike" kern="1200" baseline="0" dirty="0" smtClean="0">
                          <a:solidFill>
                            <a:schemeClr val="dk1"/>
                          </a:solidFill>
                          <a:latin typeface="+mn-lt"/>
                          <a:ea typeface="+mn-ea"/>
                          <a:cs typeface="+mn-cs"/>
                        </a:rPr>
                        <a:t>ብር 5000.00 	</a:t>
                      </a:r>
                    </a:p>
                    <a:p>
                      <a:r>
                        <a:rPr lang="am-ET" sz="1800" b="1" i="0" u="none" strike="noStrike" kern="1200" baseline="0" dirty="0" smtClean="0">
                          <a:solidFill>
                            <a:schemeClr val="dk1"/>
                          </a:solidFill>
                          <a:latin typeface="+mn-lt"/>
                          <a:ea typeface="+mn-ea"/>
                          <a:cs typeface="+mn-cs"/>
                        </a:rPr>
                        <a:t>	</a:t>
                      </a:r>
                    </a:p>
                  </a:txBody>
                  <a:tcPr>
                    <a:lnB w="12700" cap="flat" cmpd="sng" algn="ctr">
                      <a:solidFill>
                        <a:schemeClr val="tx1"/>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በሰንጠረዡ የተቀመጠውን የቅጣት ክፍያ መጠን መክፈልና ያቆሸሸውን አካባቢ ማጽዳት </a:t>
                      </a:r>
                      <a:r>
                        <a:rPr lang="am-ET" sz="1800" b="0" i="0" u="none" strike="noStrike" kern="1200" baseline="0" dirty="0" smtClean="0">
                          <a:solidFill>
                            <a:schemeClr val="dk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በሰንጠረዡ የተቀመጠውን የቅጣት ክፍያ መጠን መክፈልና ንብረቱን መመለስ ወይም ማስታወቂያውን ማንሳት 	</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txBody>
                  <a:tcPr>
                    <a:lnB w="12700" cap="flat" cmpd="sng" algn="ctr">
                      <a:solidFill>
                        <a:schemeClr val="tx1"/>
                      </a:solidFill>
                      <a:prstDash val="solid"/>
                      <a:round/>
                      <a:headEnd type="none" w="med" len="med"/>
                      <a:tailEnd type="none" w="med" len="med"/>
                    </a:lnB>
                  </a:tcPr>
                </a:tc>
              </a:tr>
              <a:tr h="2024856">
                <a:tc>
                  <a:txBody>
                    <a:bodyPr/>
                    <a:lstStyle/>
                    <a:p>
                      <a:endParaRPr lang="en-US" sz="2400" dirty="0" smtClean="0">
                        <a:latin typeface="Power Geez Unicode1" pitchFamily="2" charset="0"/>
                      </a:endParaRPr>
                    </a:p>
                    <a:p>
                      <a:endParaRPr lang="en-US" sz="2400" dirty="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am-ET" sz="2400" b="1" i="0" u="none" strike="noStrike" kern="1200" baseline="0" dirty="0" smtClean="0">
                          <a:solidFill>
                            <a:schemeClr val="dk1"/>
                          </a:solidFill>
                          <a:latin typeface="+mn-lt"/>
                          <a:ea typeface="+mn-ea"/>
                          <a:cs typeface="+mn-cs"/>
                        </a:rPr>
                        <a:t>	</a:t>
                      </a:r>
                    </a:p>
                    <a:p>
                      <a:pPr algn="just"/>
                      <a:r>
                        <a:rPr lang="en-US" sz="1400" b="1" dirty="0" smtClean="0">
                          <a:effectLst/>
                          <a:latin typeface="Power Geez Unicode1" pitchFamily="2" charset="0"/>
                          <a:ea typeface="Times New Roman"/>
                          <a:cs typeface="Visual Geez Unicode"/>
                        </a:rPr>
                        <a:t>     </a:t>
                      </a:r>
                      <a:endParaRPr lang="en-US" sz="3200" b="1"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28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1800" b="1" dirty="0" smtClean="0">
                        <a:latin typeface="Power Geez Unicode1" pitchFamily="2" charset="0"/>
                      </a:endParaRPr>
                    </a:p>
                    <a:p>
                      <a:pPr marL="0" marR="0" algn="ctr">
                        <a:spcBef>
                          <a:spcPts val="1000"/>
                        </a:spcBef>
                        <a:spcAft>
                          <a:spcPts val="0"/>
                        </a:spcAft>
                      </a:pPr>
                      <a:endParaRPr lang="en-US" sz="2800" b="0" dirty="0" smtClean="0">
                        <a:solidFill>
                          <a:srgbClr val="4F81BD"/>
                        </a:solidFill>
                        <a:effectLst/>
                        <a:latin typeface="Power Geez Unicode1" pitchFamily="2" charset="0"/>
                        <a:ea typeface="Times New Roman"/>
                        <a:cs typeface="Visual Geez Unicode"/>
                      </a:endParaRPr>
                    </a:p>
                    <a:p>
                      <a:endParaRPr lang="en-US" sz="2800" dirty="0" smtClean="0">
                        <a:latin typeface="Power Geez Unicode1" pitchFamily="2" charset="0"/>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1351062731"/>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775036789"/>
              </p:ext>
            </p:extLst>
          </p:nvPr>
        </p:nvGraphicFramePr>
        <p:xfrm>
          <a:off x="0" y="304800"/>
          <a:ext cx="9067800" cy="9583896"/>
        </p:xfrm>
        <a:graphic>
          <a:graphicData uri="http://schemas.openxmlformats.org/drawingml/2006/table">
            <a:tbl>
              <a:tblPr firstRow="1" bandRow="1">
                <a:tableStyleId>{5C22544A-7EE6-4342-B048-85BDC9FD1C3A}</a:tableStyleId>
              </a:tblPr>
              <a:tblGrid>
                <a:gridCol w="711199"/>
                <a:gridCol w="4089401"/>
                <a:gridCol w="1295400"/>
                <a:gridCol w="1295400"/>
                <a:gridCol w="1676400"/>
              </a:tblGrid>
              <a:tr h="628260">
                <a:tc>
                  <a:txBody>
                    <a:bodyPr/>
                    <a:lstStyle/>
                    <a:p>
                      <a:r>
                        <a:rPr lang="am-ET" sz="1800" b="0" i="0" u="none" strike="noStrike" baseline="0" dirty="0" smtClean="0">
                          <a:solidFill>
                            <a:srgbClr val="000000"/>
                          </a:solidFill>
                          <a:latin typeface="Visual Geez Unicode"/>
                        </a:rPr>
                        <a:t>ተ.ቁ</a:t>
                      </a:r>
                      <a:r>
                        <a:rPr lang="am-ET" sz="1400" b="0" i="0" u="none" strike="noStrike" baseline="0" dirty="0" smtClean="0">
                          <a:solidFill>
                            <a:srgbClr val="000000"/>
                          </a:solidFill>
                          <a:latin typeface="Visual Geez Unicode"/>
                        </a:rPr>
                        <a:t> 	</a:t>
                      </a:r>
                      <a:r>
                        <a:rPr lang="en-US" sz="1400" b="0" i="0" u="none" strike="noStrike" baseline="0" dirty="0" smtClean="0">
                          <a:solidFill>
                            <a:srgbClr val="000000"/>
                          </a:solidFill>
                          <a:latin typeface="Power Geez Unicode1" pitchFamily="2" charset="0"/>
                        </a:rPr>
                        <a:t> </a:t>
                      </a:r>
                      <a:endParaRPr lang="am-ET" sz="1400" b="0" i="0" u="none" strike="noStrike" baseline="0" dirty="0" smtClean="0">
                        <a:solidFill>
                          <a:srgbClr val="000000"/>
                        </a:solidFill>
                        <a:latin typeface="Visual Geez Unicode"/>
                      </a:endParaRPr>
                    </a:p>
                  </a:txBody>
                  <a:tcPr/>
                </a:tc>
                <a:tc>
                  <a:txBody>
                    <a:bodyPr/>
                    <a:lstStyle/>
                    <a:p>
                      <a:r>
                        <a:rPr lang="en-US" sz="1800" b="1" i="0" u="none" strike="noStrike" baseline="0" dirty="0" err="1" smtClean="0">
                          <a:solidFill>
                            <a:srgbClr val="FF0000"/>
                          </a:solidFill>
                          <a:latin typeface="Power Geez Unicode1" pitchFamily="2" charset="0"/>
                        </a:rPr>
                        <a:t>የጥፋት</a:t>
                      </a:r>
                      <a:r>
                        <a:rPr lang="en-US" sz="1800" b="1" i="0" u="none" strike="noStrike" baseline="0" dirty="0" smtClean="0">
                          <a:solidFill>
                            <a:srgbClr val="FF0000"/>
                          </a:solidFill>
                          <a:latin typeface="Power Geez Unicode1" pitchFamily="2" charset="0"/>
                        </a:rPr>
                        <a:t> </a:t>
                      </a:r>
                      <a:r>
                        <a:rPr lang="en-US" sz="1800" b="1" i="0" u="none" strike="noStrike" baseline="0" dirty="0" err="1" smtClean="0">
                          <a:solidFill>
                            <a:srgbClr val="FF0000"/>
                          </a:solidFill>
                          <a:latin typeface="Power Geez Unicode1" pitchFamily="2" charset="0"/>
                        </a:rPr>
                        <a:t>አይነቶች</a:t>
                      </a:r>
                      <a:endParaRPr lang="am-ET" sz="1800" b="1" i="0" u="none" strike="noStrike" baseline="0" dirty="0" smtClean="0">
                        <a:solidFill>
                          <a:srgbClr val="FF0000"/>
                        </a:solidFill>
                        <a:latin typeface="Visual Geez Unicode"/>
                      </a:endParaRPr>
                    </a:p>
                  </a:txBody>
                  <a:tcPr/>
                </a:tc>
                <a:tc>
                  <a:txBody>
                    <a:bodyPr/>
                    <a:lstStyle/>
                    <a:p>
                      <a:r>
                        <a:rPr lang="en-US" sz="1400" b="1" i="0" u="none" strike="noStrike" baseline="0" dirty="0" err="1" smtClean="0">
                          <a:solidFill>
                            <a:srgbClr val="000000"/>
                          </a:solidFill>
                          <a:latin typeface="Power Geez Unicode1" pitchFamily="2" charset="0"/>
                        </a:rPr>
                        <a:t>ቀድሞ</a:t>
                      </a:r>
                      <a:r>
                        <a:rPr lang="en-US" sz="1400" b="1" i="0" u="none" strike="noStrike" baseline="0" dirty="0" smtClean="0">
                          <a:solidFill>
                            <a:srgbClr val="000000"/>
                          </a:solidFill>
                          <a:latin typeface="Power Geez Unicode1" pitchFamily="2" charset="0"/>
                        </a:rPr>
                        <a:t> በነበረው150/2015 </a:t>
                      </a:r>
                      <a:r>
                        <a:rPr lang="en-US" sz="1400" b="1" i="0" u="none" strike="noStrike" baseline="0" dirty="0" err="1" smtClean="0">
                          <a:solidFill>
                            <a:srgbClr val="000000"/>
                          </a:solidFill>
                          <a:latin typeface="Power Geez Unicode1" pitchFamily="2" charset="0"/>
                        </a:rPr>
                        <a:t>የተቀመጠ</a:t>
                      </a:r>
                      <a:r>
                        <a:rPr lang="en-US" sz="1400" b="1" i="0" u="none" strike="noStrike" baseline="0" dirty="0" smtClean="0">
                          <a:solidFill>
                            <a:srgbClr val="000000"/>
                          </a:solidFill>
                          <a:latin typeface="Power Geez Unicode1" pitchFamily="2" charset="0"/>
                        </a:rPr>
                        <a:t> </a:t>
                      </a:r>
                      <a:r>
                        <a:rPr lang="en-US" sz="1400" b="1" i="0" u="none" strike="noStrike" baseline="0" dirty="0" err="1" smtClean="0">
                          <a:solidFill>
                            <a:srgbClr val="000000"/>
                          </a:solidFill>
                          <a:latin typeface="Power Geez Unicode1" pitchFamily="2" charset="0"/>
                        </a:rPr>
                        <a:t>ቅጣት</a:t>
                      </a:r>
                      <a:endParaRPr lang="am-ET" sz="1400" b="1" i="0" u="none" strike="noStrike" baseline="0" dirty="0" smtClean="0">
                        <a:solidFill>
                          <a:srgbClr val="000000"/>
                        </a:solidFill>
                        <a:latin typeface="Visual Geez Unicode"/>
                      </a:endParaRPr>
                    </a:p>
                  </a:txBody>
                  <a:tcPr/>
                </a:tc>
                <a:tc>
                  <a:txBody>
                    <a:bodyPr/>
                    <a:lstStyle/>
                    <a:p>
                      <a:r>
                        <a:rPr lang="en-US" sz="1400" b="1" i="0" u="none" strike="noStrike" baseline="0" dirty="0" err="1" smtClean="0">
                          <a:solidFill>
                            <a:srgbClr val="000000"/>
                          </a:solidFill>
                          <a:latin typeface="Power Geez Unicode1" pitchFamily="2" charset="0"/>
                        </a:rPr>
                        <a:t>አሁን</a:t>
                      </a:r>
                      <a:r>
                        <a:rPr lang="en-US" sz="1400" b="1" i="0" u="none" strike="noStrike" baseline="0" dirty="0" smtClean="0">
                          <a:solidFill>
                            <a:srgbClr val="000000"/>
                          </a:solidFill>
                          <a:latin typeface="Power Geez Unicode1" pitchFamily="2" charset="0"/>
                        </a:rPr>
                        <a:t> </a:t>
                      </a:r>
                      <a:r>
                        <a:rPr lang="en-US" sz="1400" b="1" i="0" u="none" strike="noStrike" baseline="0" dirty="0" err="1" smtClean="0">
                          <a:solidFill>
                            <a:srgbClr val="000000"/>
                          </a:solidFill>
                          <a:latin typeface="Power Geez Unicode1" pitchFamily="2" charset="0"/>
                        </a:rPr>
                        <a:t>በተሸሻለው</a:t>
                      </a:r>
                      <a:r>
                        <a:rPr lang="en-US" sz="1400" b="1" i="0" u="none" strike="noStrike" baseline="0" dirty="0" smtClean="0">
                          <a:solidFill>
                            <a:srgbClr val="000000"/>
                          </a:solidFill>
                          <a:latin typeface="Power Geez Unicode1" pitchFamily="2" charset="0"/>
                        </a:rPr>
                        <a:t> 167/2016 </a:t>
                      </a:r>
                      <a:r>
                        <a:rPr lang="en-US" sz="1400" b="1" i="0" u="none" strike="noStrike" baseline="0" dirty="0" err="1" smtClean="0">
                          <a:solidFill>
                            <a:srgbClr val="000000"/>
                          </a:solidFill>
                          <a:latin typeface="Power Geez Unicode1" pitchFamily="2" charset="0"/>
                        </a:rPr>
                        <a:t>የተቀመጠ</a:t>
                      </a:r>
                      <a:r>
                        <a:rPr lang="en-US" sz="1400" b="1" i="0" u="none" strike="noStrike" baseline="0" dirty="0" smtClean="0">
                          <a:solidFill>
                            <a:srgbClr val="000000"/>
                          </a:solidFill>
                          <a:latin typeface="Power Geez Unicode1" pitchFamily="2" charset="0"/>
                        </a:rPr>
                        <a:t> </a:t>
                      </a:r>
                      <a:r>
                        <a:rPr lang="en-US" sz="1400" b="1" i="0" u="none" strike="noStrike" baseline="0" dirty="0" err="1" smtClean="0">
                          <a:solidFill>
                            <a:srgbClr val="000000"/>
                          </a:solidFill>
                          <a:latin typeface="Power Geez Unicode1" pitchFamily="2" charset="0"/>
                        </a:rPr>
                        <a:t>ቅጣት</a:t>
                      </a:r>
                      <a:endParaRPr lang="am-ET" sz="1400" b="1" i="0" u="none" strike="noStrike" baseline="0" dirty="0" smtClean="0">
                        <a:solidFill>
                          <a:srgbClr val="000000"/>
                        </a:solidFill>
                        <a:latin typeface="Visual Geez Unicode"/>
                      </a:endParaRPr>
                    </a:p>
                  </a:txBody>
                  <a:tcPr/>
                </a:tc>
                <a:tc>
                  <a:txBody>
                    <a:bodyPr/>
                    <a:lstStyle/>
                    <a:p>
                      <a:r>
                        <a:rPr lang="en-US" sz="1600" dirty="0" err="1" smtClean="0">
                          <a:solidFill>
                            <a:schemeClr val="tx1"/>
                          </a:solidFill>
                          <a:latin typeface="Power Geez Unicode1" pitchFamily="2" charset="0"/>
                        </a:rPr>
                        <a:t>ከህገ</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ወጥ</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ፈፃሚው</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የሚጠበቅ</a:t>
                      </a:r>
                      <a:endParaRPr lang="en-US" sz="1600" dirty="0">
                        <a:solidFill>
                          <a:schemeClr val="tx1"/>
                        </a:solidFill>
                        <a:latin typeface="Power Geez Unicode1" pitchFamily="2" charset="0"/>
                      </a:endParaRPr>
                    </a:p>
                  </a:txBody>
                  <a:tcPr/>
                </a:tc>
              </a:tr>
              <a:tr h="5394960">
                <a:tc>
                  <a:txBody>
                    <a:bodyPr/>
                    <a:lstStyle/>
                    <a:p>
                      <a:endParaRPr lang="en-US" sz="2400" dirty="0" smtClean="0">
                        <a:latin typeface="Power Geez Unicode1" pitchFamily="2" charset="0"/>
                      </a:endParaRPr>
                    </a:p>
                    <a:p>
                      <a:r>
                        <a:rPr lang="en-US" sz="2400" dirty="0" smtClean="0">
                          <a:latin typeface="Power Geez Unicode1" pitchFamily="2" charset="0"/>
                        </a:rPr>
                        <a:t>14</a:t>
                      </a: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r>
                        <a:rPr lang="en-US" sz="2400" dirty="0" smtClean="0">
                          <a:latin typeface="Power Geez Unicode1" pitchFamily="2" charset="0"/>
                        </a:rPr>
                        <a:t>15</a:t>
                      </a: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r>
                        <a:rPr lang="en-US" sz="2400" dirty="0" smtClean="0">
                          <a:latin typeface="Power Geez Unicode1" pitchFamily="2" charset="0"/>
                        </a:rPr>
                        <a:t>16</a:t>
                      </a:r>
                      <a:endParaRPr lang="en-US" sz="2400" dirty="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endParaRPr lang="en-US" sz="1800" b="0"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በአገልግሎት ሰጭ ተቋማትና የማምረቻ ድርጅቶች ተገቢ የሆነ የጥቃቅን ቆሻሻ ማጠራቀሚያ ዕቃ በግቢው ውስጥና በአካባቢው አለማስቀመጥ፤ 	</a:t>
                      </a:r>
                    </a:p>
                    <a:p>
                      <a:pPr algn="just"/>
                      <a:r>
                        <a:rPr lang="am-ET" sz="1800" b="1" i="0" u="none" strike="noStrike" kern="1200" baseline="0" dirty="0" smtClean="0">
                          <a:solidFill>
                            <a:schemeClr val="dk1"/>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ከቤት እንስሳት የሚወጡ እዳሪ (ኩስ፤ ፍግ፤ እበት)፤ እና የእንስሳት የምግብ ተረፈ ምርቶችን ባልተፈቀደ ቦታ የጣለ ወይም አካባቢውን ያቆሸሸ ማንኛውም ሰው፤ 	</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የተለያዩ እንስሳትን ባልተፈቀደ ቦታ ላይ በማጸዳዳት አካባቢውን ማቆሸሽ፤ 	</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Power Geez Unicode1" pitchFamily="2" charset="0"/>
                        <a:ea typeface="+mn-ea"/>
                        <a:cs typeface="+mn-cs"/>
                      </a:endParaRPr>
                    </a:p>
                    <a:p>
                      <a:pPr algn="just"/>
                      <a:r>
                        <a:rPr lang="en-US" sz="1800" b="1" i="0" u="none" strike="noStrike" kern="1200" baseline="0" dirty="0" smtClean="0">
                          <a:solidFill>
                            <a:schemeClr val="dk1"/>
                          </a:solidFill>
                          <a:latin typeface="Power Geez Unicode1" pitchFamily="2" charset="0"/>
                          <a:ea typeface="+mn-ea"/>
                          <a:cs typeface="+mn-cs"/>
                        </a:rPr>
                        <a:t>	</a:t>
                      </a:r>
                    </a:p>
                    <a:p>
                      <a:r>
                        <a:rPr lang="en-US" sz="1800" b="0" i="0" u="none" strike="noStrike" kern="1200" baseline="0" dirty="0" smtClean="0">
                          <a:solidFill>
                            <a:schemeClr val="dk1"/>
                          </a:solidFill>
                          <a:latin typeface="+mn-lt"/>
                          <a:ea typeface="+mn-ea"/>
                          <a:cs typeface="+mn-cs"/>
                        </a:rPr>
                        <a:t>	</a:t>
                      </a:r>
                    </a:p>
                    <a:p>
                      <a:endParaRPr lang="en-US" sz="1800" b="0" i="0" u="none" strike="noStrike" kern="1200" baseline="0" dirty="0" smtClean="0">
                        <a:solidFill>
                          <a:schemeClr val="dk1"/>
                        </a:solidFill>
                        <a:latin typeface="+mn-lt"/>
                        <a:ea typeface="+mn-ea"/>
                        <a:cs typeface="+mn-cs"/>
                      </a:endParaRPr>
                    </a:p>
                  </a:txBody>
                  <a:tcPr>
                    <a:lnB w="12700" cap="flat" cmpd="sng" algn="ctr">
                      <a:solidFill>
                        <a:schemeClr val="tx1"/>
                      </a:solidFill>
                      <a:prstDash val="solid"/>
                      <a:round/>
                      <a:headEnd type="none" w="med" len="med"/>
                      <a:tailEnd type="none" w="med" len="med"/>
                    </a:lnB>
                  </a:tcPr>
                </a:tc>
                <a:tc>
                  <a:txBody>
                    <a:bodyPr/>
                    <a:lstStyle/>
                    <a:p>
                      <a:r>
                        <a:rPr lang="en-US" sz="2400" dirty="0" smtClean="0">
                          <a:latin typeface="Power Geez Unicode1" pitchFamily="2" charset="0"/>
                        </a:rPr>
                        <a:t> </a:t>
                      </a:r>
                      <a:endParaRPr lang="en-US" sz="2000" dirty="0" smtClean="0">
                        <a:latin typeface="Power Geez Unicode1" pitchFamily="2" charset="0"/>
                      </a:endParaRPr>
                    </a:p>
                    <a:p>
                      <a:pPr algn="just"/>
                      <a:r>
                        <a:rPr lang="en-US" sz="1800" b="1" dirty="0" err="1" smtClean="0">
                          <a:solidFill>
                            <a:srgbClr val="FF0000"/>
                          </a:solidFill>
                          <a:latin typeface="Power Geez Unicode1" pitchFamily="2" charset="0"/>
                        </a:rPr>
                        <a:t>ብር</a:t>
                      </a:r>
                      <a:endParaRPr lang="en-US" sz="1800" b="1" dirty="0" smtClean="0">
                        <a:solidFill>
                          <a:srgbClr val="FF0000"/>
                        </a:solidFill>
                        <a:latin typeface="Power Geez Unicode1" pitchFamily="2" charset="0"/>
                      </a:endParaRPr>
                    </a:p>
                    <a:p>
                      <a:pPr algn="just"/>
                      <a:r>
                        <a:rPr lang="en-US" sz="1800" b="1" dirty="0" smtClean="0">
                          <a:solidFill>
                            <a:srgbClr val="FF0000"/>
                          </a:solidFill>
                          <a:latin typeface="Power Geez Unicode1" pitchFamily="2" charset="0"/>
                        </a:rPr>
                        <a:t>1.000.00</a:t>
                      </a:r>
                    </a:p>
                    <a:p>
                      <a:endParaRPr lang="en-US" sz="2400" b="1" dirty="0" smtClean="0">
                        <a:latin typeface="Power Geez Unicode1" pitchFamily="2" charset="0"/>
                      </a:endParaRPr>
                    </a:p>
                    <a:p>
                      <a:endParaRPr lang="en-US" sz="2400" b="1" dirty="0" smtClean="0">
                        <a:latin typeface="Power Geez Unicode1" pitchFamily="2" charset="0"/>
                      </a:endParaRPr>
                    </a:p>
                    <a:p>
                      <a:endParaRPr lang="en-US" sz="2400" b="1" dirty="0" smtClean="0">
                        <a:latin typeface="Power Geez Unicode1" pitchFamily="2" charset="0"/>
                      </a:endParaRPr>
                    </a:p>
                    <a:p>
                      <a:endParaRPr lang="en-US" sz="2400" b="1" dirty="0" smtClean="0">
                        <a:latin typeface="Power Geez Unicode1" pitchFamily="2" charset="0"/>
                      </a:endParaRPr>
                    </a:p>
                    <a:p>
                      <a:pPr algn="just"/>
                      <a:r>
                        <a:rPr lang="en-US" sz="2000" b="1" dirty="0" err="1" smtClean="0">
                          <a:solidFill>
                            <a:srgbClr val="FF0000"/>
                          </a:solidFill>
                          <a:latin typeface="Power Geez Unicode1" pitchFamily="2" charset="0"/>
                        </a:rPr>
                        <a:t>ብር</a:t>
                      </a:r>
                      <a:endParaRPr lang="en-US" sz="2000" b="1" dirty="0" smtClean="0">
                        <a:solidFill>
                          <a:srgbClr val="FF0000"/>
                        </a:solidFill>
                        <a:latin typeface="Power Geez Unicode1" pitchFamily="2" charset="0"/>
                      </a:endParaRPr>
                    </a:p>
                    <a:p>
                      <a:pPr algn="just"/>
                      <a:r>
                        <a:rPr lang="en-US" sz="2000" b="1" dirty="0" smtClean="0">
                          <a:solidFill>
                            <a:srgbClr val="FF0000"/>
                          </a:solidFill>
                          <a:latin typeface="Power Geez Unicode1" pitchFamily="2" charset="0"/>
                        </a:rPr>
                        <a:t>2.000.00</a:t>
                      </a:r>
                    </a:p>
                    <a:p>
                      <a:pPr algn="just"/>
                      <a:endParaRPr lang="en-US" sz="2000" b="1" dirty="0" smtClean="0">
                        <a:solidFill>
                          <a:srgbClr val="FF0000"/>
                        </a:solidFill>
                        <a:latin typeface="Power Geez Unicode1" pitchFamily="2" charset="0"/>
                      </a:endParaRPr>
                    </a:p>
                    <a:p>
                      <a:pPr algn="just"/>
                      <a:endParaRPr lang="en-US" sz="2000" b="1" dirty="0" smtClean="0">
                        <a:solidFill>
                          <a:srgbClr val="FF0000"/>
                        </a:solidFill>
                        <a:latin typeface="Power Geez Unicode1" pitchFamily="2" charset="0"/>
                      </a:endParaRPr>
                    </a:p>
                    <a:p>
                      <a:pPr algn="just"/>
                      <a:endParaRPr lang="en-US" sz="2000" b="1" dirty="0" smtClean="0">
                        <a:solidFill>
                          <a:srgbClr val="FF0000"/>
                        </a:solidFill>
                        <a:latin typeface="Power Geez Unicode1" pitchFamily="2" charset="0"/>
                      </a:endParaRPr>
                    </a:p>
                    <a:p>
                      <a:pPr algn="just"/>
                      <a:endParaRPr lang="en-US" sz="2000" b="1" dirty="0" smtClean="0">
                        <a:solidFill>
                          <a:srgbClr val="FF0000"/>
                        </a:solidFill>
                        <a:latin typeface="Power Geez Unicode1" pitchFamily="2" charset="0"/>
                      </a:endParaRPr>
                    </a:p>
                    <a:p>
                      <a:pPr algn="just"/>
                      <a:r>
                        <a:rPr lang="en-US" sz="2000" b="1" dirty="0" err="1" smtClean="0">
                          <a:solidFill>
                            <a:srgbClr val="FF0000"/>
                          </a:solidFill>
                          <a:latin typeface="Power Geez Unicode1" pitchFamily="2" charset="0"/>
                        </a:rPr>
                        <a:t>ብር</a:t>
                      </a:r>
                      <a:r>
                        <a:rPr lang="en-US" sz="2000" b="1" baseline="0" dirty="0" smtClean="0">
                          <a:solidFill>
                            <a:srgbClr val="FF0000"/>
                          </a:solidFill>
                          <a:latin typeface="Power Geez Unicode1" pitchFamily="2" charset="0"/>
                        </a:rPr>
                        <a:t> </a:t>
                      </a:r>
                    </a:p>
                    <a:p>
                      <a:pPr algn="just"/>
                      <a:r>
                        <a:rPr lang="en-US" sz="2000" b="1" baseline="0" dirty="0" smtClean="0">
                          <a:solidFill>
                            <a:srgbClr val="FF0000"/>
                          </a:solidFill>
                          <a:latin typeface="Power Geez Unicode1" pitchFamily="2" charset="0"/>
                        </a:rPr>
                        <a:t>200.00</a:t>
                      </a:r>
                    </a:p>
                    <a:p>
                      <a:pPr algn="just"/>
                      <a:endParaRPr lang="en-US" sz="2000" b="1" dirty="0" smtClean="0">
                        <a:solidFill>
                          <a:srgbClr val="FF0000"/>
                        </a:solidFill>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endParaRPr lang="en-US" sz="1800" b="1" dirty="0" smtClean="0">
                        <a:latin typeface="Power Geez Unicode1" pitchFamily="2"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ብር 50,000.00 	</a:t>
                      </a:r>
                    </a:p>
                    <a:p>
                      <a:pPr algn="just"/>
                      <a:endParaRPr lang="en-US" sz="1800" b="1" dirty="0" smtClean="0">
                        <a:latin typeface="Power Geez Unicode1" pitchFamily="2" charset="0"/>
                      </a:endParaRPr>
                    </a:p>
                    <a:p>
                      <a:endParaRPr lang="en-US" sz="1800" b="1" i="0" u="none" strike="noStrike" kern="1200" baseline="0" dirty="0" smtClean="0">
                        <a:solidFill>
                          <a:schemeClr val="dk1"/>
                        </a:solidFill>
                        <a:latin typeface="Power Geez Unicode1" pitchFamily="2" charset="0"/>
                        <a:ea typeface="+mn-ea"/>
                        <a:cs typeface="+mn-cs"/>
                      </a:endParaRPr>
                    </a:p>
                    <a:p>
                      <a:endParaRPr lang="en-US" sz="1800" b="1" i="0" u="none" strike="noStrike" kern="1200" baseline="0" dirty="0" smtClean="0">
                        <a:solidFill>
                          <a:schemeClr val="dk1"/>
                        </a:solidFill>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ብር 50,000.00</a:t>
                      </a:r>
                      <a:r>
                        <a:rPr lang="am-ET" sz="1800" b="0" i="0" u="none" strike="noStrike" kern="1200" baseline="0" dirty="0" smtClean="0">
                          <a:solidFill>
                            <a:schemeClr val="dk1"/>
                          </a:solidFill>
                          <a:latin typeface="+mn-lt"/>
                          <a:ea typeface="+mn-ea"/>
                          <a:cs typeface="+mn-cs"/>
                        </a:rPr>
                        <a:t> 	</a:t>
                      </a:r>
                    </a:p>
                    <a:p>
                      <a:endParaRPr lang="en-US" sz="1800" b="1" i="0" u="none" strike="noStrike" kern="1200" baseline="0" dirty="0" smtClean="0">
                        <a:solidFill>
                          <a:schemeClr val="dk1"/>
                        </a:solidFill>
                        <a:latin typeface="Power Geez Unicode1" pitchFamily="2" charset="0"/>
                        <a:ea typeface="+mn-ea"/>
                        <a:cs typeface="+mn-cs"/>
                      </a:endParaRPr>
                    </a:p>
                    <a:p>
                      <a:endParaRPr lang="en-US" sz="1800" b="1" i="0" u="none" strike="noStrike" kern="1200" baseline="0" dirty="0" smtClean="0">
                        <a:solidFill>
                          <a:schemeClr val="dk1"/>
                        </a:solidFill>
                        <a:latin typeface="Power Geez Unicode1" pitchFamily="2" charset="0"/>
                        <a:ea typeface="+mn-ea"/>
                        <a:cs typeface="+mn-cs"/>
                      </a:endParaRPr>
                    </a:p>
                    <a:p>
                      <a:endParaRPr lang="en-US" sz="1800" b="1" i="0" u="none" strike="noStrike" kern="1200" baseline="0" dirty="0" smtClean="0">
                        <a:solidFill>
                          <a:schemeClr val="dk1"/>
                        </a:solidFill>
                        <a:latin typeface="Power Geez Unicode1" pitchFamily="2" charset="0"/>
                        <a:ea typeface="+mn-ea"/>
                        <a:cs typeface="+mn-cs"/>
                      </a:endParaRPr>
                    </a:p>
                    <a:p>
                      <a:endParaRPr lang="en-US" sz="1800" b="1" i="0" u="none" strike="noStrike" kern="1200" baseline="0" dirty="0" smtClean="0">
                        <a:solidFill>
                          <a:schemeClr val="dk1"/>
                        </a:solidFill>
                        <a:latin typeface="Power Geez Unicode1" pitchFamily="2" charset="0"/>
                        <a:ea typeface="+mn-ea"/>
                        <a:cs typeface="+mn-cs"/>
                      </a:endParaRPr>
                    </a:p>
                    <a:p>
                      <a:endParaRPr lang="en-US" sz="1800" b="1" i="0" u="none" strike="noStrike" kern="1200" baseline="0" dirty="0" smtClean="0">
                        <a:solidFill>
                          <a:schemeClr val="dk1"/>
                        </a:solidFill>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ብር </a:t>
                      </a:r>
                      <a:endParaRPr lang="en-US" sz="1800" b="1" i="0" u="none" strike="noStrike"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5</a:t>
                      </a:r>
                      <a:r>
                        <a:rPr lang="en-US" sz="1800" b="1" i="0" u="none" strike="noStrike" kern="1200" baseline="0" dirty="0" smtClean="0">
                          <a:solidFill>
                            <a:schemeClr val="dk1"/>
                          </a:solidFill>
                          <a:latin typeface="+mn-lt"/>
                          <a:ea typeface="+mn-ea"/>
                          <a:cs typeface="+mn-cs"/>
                        </a:rPr>
                        <a:t>.</a:t>
                      </a:r>
                      <a:r>
                        <a:rPr lang="am-ET" sz="1800" b="1" i="0" u="none" strike="noStrike" kern="1200" baseline="0" dirty="0" smtClean="0">
                          <a:solidFill>
                            <a:schemeClr val="dk1"/>
                          </a:solidFill>
                          <a:latin typeface="+mn-lt"/>
                          <a:ea typeface="+mn-ea"/>
                          <a:cs typeface="+mn-cs"/>
                        </a:rPr>
                        <a:t>0</a:t>
                      </a:r>
                      <a:r>
                        <a:rPr lang="en-US" sz="1800" b="1" i="0" u="none" strike="noStrike" kern="1200" baseline="0" dirty="0" smtClean="0">
                          <a:solidFill>
                            <a:schemeClr val="dk1"/>
                          </a:solidFill>
                          <a:latin typeface="Power Geez Unicode1" pitchFamily="2" charset="0"/>
                          <a:ea typeface="+mn-ea"/>
                          <a:cs typeface="+mn-cs"/>
                        </a:rPr>
                        <a:t>00</a:t>
                      </a:r>
                      <a:r>
                        <a:rPr lang="am-ET" sz="1800" b="1" i="0" u="none" strike="noStrike" kern="1200" baseline="0" dirty="0" smtClean="0">
                          <a:solidFill>
                            <a:schemeClr val="dk1"/>
                          </a:solidFill>
                          <a:latin typeface="+mn-lt"/>
                          <a:ea typeface="+mn-ea"/>
                          <a:cs typeface="+mn-cs"/>
                        </a:rPr>
                        <a:t> </a:t>
                      </a:r>
                      <a:r>
                        <a:rPr lang="en-US" sz="1800" b="1" i="0" u="none" strike="noStrike" kern="1200" baseline="0" dirty="0" smtClean="0">
                          <a:solidFill>
                            <a:schemeClr val="dk1"/>
                          </a:solidFill>
                          <a:latin typeface="+mn-lt"/>
                          <a:ea typeface="+mn-ea"/>
                          <a:cs typeface="+mn-cs"/>
                        </a:rPr>
                        <a:t>.00</a:t>
                      </a:r>
                      <a:r>
                        <a:rPr lang="am-ET" sz="1800" b="0" i="0" u="none" strike="noStrike" kern="1200" baseline="0" dirty="0" smtClean="0">
                          <a:solidFill>
                            <a:schemeClr val="dk1"/>
                          </a:solidFill>
                          <a:latin typeface="+mn-lt"/>
                          <a:ea typeface="+mn-ea"/>
                          <a:cs typeface="+mn-cs"/>
                        </a:rPr>
                        <a:t>	</a:t>
                      </a:r>
                    </a:p>
                    <a:p>
                      <a:endParaRPr lang="en-US" sz="1800" b="1" i="0" u="none" strike="noStrike" kern="1200" baseline="0" dirty="0" smtClean="0">
                        <a:solidFill>
                          <a:schemeClr val="dk1"/>
                        </a:solidFill>
                        <a:latin typeface="Power Geez Unicode1" pitchFamily="2" charset="0"/>
                        <a:ea typeface="+mn-ea"/>
                        <a:cs typeface="+mn-cs"/>
                      </a:endParaRPr>
                    </a:p>
                    <a:p>
                      <a:r>
                        <a:rPr lang="am-ET" sz="1800" b="1" i="0" u="none" strike="noStrike" kern="1200" baseline="0" dirty="0" smtClean="0">
                          <a:solidFill>
                            <a:schemeClr val="dk1"/>
                          </a:solidFill>
                          <a:latin typeface="+mn-lt"/>
                          <a:ea typeface="+mn-ea"/>
                          <a:cs typeface="+mn-cs"/>
                        </a:rPr>
                        <a:t> </a:t>
                      </a:r>
                    </a:p>
                    <a:p>
                      <a:endParaRPr lang="am-ET" sz="1800" b="1" i="0" u="none" strike="noStrike" kern="1200" baseline="0" dirty="0" smtClean="0">
                        <a:solidFill>
                          <a:schemeClr val="dk1"/>
                        </a:solidFill>
                        <a:latin typeface="+mn-lt"/>
                        <a:ea typeface="+mn-ea"/>
                        <a:cs typeface="+mn-cs"/>
                      </a:endParaRPr>
                    </a:p>
                    <a:p>
                      <a:r>
                        <a:rPr lang="am-ET" sz="1800" b="1" i="0" u="none" strike="noStrike" kern="1200" baseline="0" dirty="0" smtClean="0">
                          <a:solidFill>
                            <a:schemeClr val="dk1"/>
                          </a:solidFill>
                          <a:latin typeface="+mn-lt"/>
                          <a:ea typeface="+mn-ea"/>
                          <a:cs typeface="+mn-cs"/>
                        </a:rPr>
                        <a:t>	</a:t>
                      </a:r>
                    </a:p>
                  </a:txBody>
                  <a:tcPr>
                    <a:lnB w="12700" cap="flat" cmpd="sng" algn="ctr">
                      <a:solidFill>
                        <a:schemeClr val="tx1"/>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am-ET" sz="1600" b="1" i="0" u="none" strike="noStrike" kern="1200" baseline="0" dirty="0" smtClean="0">
                          <a:solidFill>
                            <a:srgbClr val="FF0000"/>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r>
                        <a:rPr lang="am-ET" sz="1600" b="1" i="0" u="none" strike="noStrike" kern="1200" baseline="0" dirty="0" smtClean="0">
                          <a:solidFill>
                            <a:srgbClr val="FF0000"/>
                          </a:solidFill>
                          <a:latin typeface="+mn-lt"/>
                          <a:ea typeface="+mn-ea"/>
                          <a:cs typeface="+mn-cs"/>
                        </a:rPr>
                        <a:t>በሰንጠረዡ የተቀመጠውን የቅጣት ክፍያ መጠን መክፈልና ደስት ቢን ማስቀመጥ </a:t>
                      </a:r>
                      <a:r>
                        <a:rPr lang="am-ET" sz="1800" b="0" i="0" u="none" strike="noStrike" kern="1200" baseline="0" dirty="0" smtClean="0">
                          <a:solidFill>
                            <a:schemeClr val="dk1"/>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r>
                        <a:rPr lang="am-ET" sz="1600" b="1" i="0" u="none" strike="noStrike" kern="1200" baseline="0" dirty="0" smtClean="0">
                          <a:solidFill>
                            <a:srgbClr val="002060"/>
                          </a:solidFill>
                          <a:latin typeface="+mn-lt"/>
                          <a:ea typeface="+mn-ea"/>
                          <a:cs typeface="+mn-cs"/>
                        </a:rPr>
                        <a:t>በሰንጠረዡ የተቀመጠውን የቅጣት ክፍያ መጠን መክፈልና የጣለውን ቆሻሻ ማንሳትና አካባቢውን ማጽዳት </a:t>
                      </a:r>
                      <a:r>
                        <a:rPr lang="am-ET" sz="1800" b="0" i="0" u="none" strike="noStrike" kern="1200" baseline="0" dirty="0" smtClean="0">
                          <a:solidFill>
                            <a:schemeClr val="dk1"/>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r>
                        <a:rPr lang="am-ET" sz="1600" b="1" i="0" u="none" strike="noStrike" kern="1200" baseline="0" dirty="0" smtClean="0">
                          <a:solidFill>
                            <a:srgbClr val="FF0000"/>
                          </a:solidFill>
                          <a:latin typeface="+mn-lt"/>
                          <a:ea typeface="+mn-ea"/>
                          <a:cs typeface="+mn-cs"/>
                        </a:rPr>
                        <a:t>በሰንጠረዡ የተቀመጠውን የቅጣት ክፍያ መጠን መክፈልና ቆሻሻ ማንሳት </a:t>
                      </a:r>
                      <a:r>
                        <a:rPr lang="am-ET" sz="1800" b="0" i="0" u="none" strike="noStrike" kern="1200" baseline="0" dirty="0" smtClean="0">
                          <a:solidFill>
                            <a:schemeClr val="dk1"/>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txBody>
                  <a:tcPr>
                    <a:lnB w="12700" cap="flat" cmpd="sng" algn="ctr">
                      <a:solidFill>
                        <a:schemeClr val="tx1"/>
                      </a:solidFill>
                      <a:prstDash val="solid"/>
                      <a:round/>
                      <a:headEnd type="none" w="med" len="med"/>
                      <a:tailEnd type="none" w="med" len="med"/>
                    </a:lnB>
                  </a:tcPr>
                </a:tc>
              </a:tr>
              <a:tr h="2024856">
                <a:tc>
                  <a:txBody>
                    <a:bodyPr/>
                    <a:lstStyle/>
                    <a:p>
                      <a:endParaRPr lang="en-US" sz="2400" dirty="0" smtClean="0">
                        <a:latin typeface="Power Geez Unicode1" pitchFamily="2" charset="0"/>
                      </a:endParaRPr>
                    </a:p>
                    <a:p>
                      <a:endParaRPr lang="en-US" sz="2400" dirty="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am-ET" sz="2400" b="1" i="0" u="none" strike="noStrike" kern="1200" baseline="0" dirty="0" smtClean="0">
                          <a:solidFill>
                            <a:schemeClr val="dk1"/>
                          </a:solidFill>
                          <a:latin typeface="+mn-lt"/>
                          <a:ea typeface="+mn-ea"/>
                          <a:cs typeface="+mn-cs"/>
                        </a:rPr>
                        <a:t>	</a:t>
                      </a:r>
                    </a:p>
                    <a:p>
                      <a:pPr algn="just"/>
                      <a:r>
                        <a:rPr lang="en-US" sz="1400" b="1" dirty="0" smtClean="0">
                          <a:effectLst/>
                          <a:latin typeface="Power Geez Unicode1" pitchFamily="2" charset="0"/>
                          <a:ea typeface="Times New Roman"/>
                          <a:cs typeface="Visual Geez Unicode"/>
                        </a:rPr>
                        <a:t>     </a:t>
                      </a:r>
                      <a:endParaRPr lang="en-US" sz="3200" b="1"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28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1800" b="1" dirty="0" smtClean="0">
                        <a:latin typeface="Power Geez Unicode1" pitchFamily="2" charset="0"/>
                      </a:endParaRPr>
                    </a:p>
                    <a:p>
                      <a:pPr marL="0" marR="0" algn="ctr">
                        <a:spcBef>
                          <a:spcPts val="1000"/>
                        </a:spcBef>
                        <a:spcAft>
                          <a:spcPts val="0"/>
                        </a:spcAft>
                      </a:pPr>
                      <a:endParaRPr lang="en-US" sz="2800" b="0" dirty="0" smtClean="0">
                        <a:solidFill>
                          <a:srgbClr val="4F81BD"/>
                        </a:solidFill>
                        <a:effectLst/>
                        <a:latin typeface="Power Geez Unicode1" pitchFamily="2" charset="0"/>
                        <a:ea typeface="Times New Roman"/>
                        <a:cs typeface="Visual Geez Unicode"/>
                      </a:endParaRPr>
                    </a:p>
                    <a:p>
                      <a:endParaRPr lang="en-US" sz="2800" dirty="0" smtClean="0">
                        <a:latin typeface="Power Geez Unicode1" pitchFamily="2" charset="0"/>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4210208989"/>
      </p:ext>
    </p:extLst>
  </p:cSld>
  <p:clrMapOvr>
    <a:masterClrMapping/>
  </p:clrMapOvr>
  <p:transition spd="slow">
    <p:cove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727644561"/>
              </p:ext>
            </p:extLst>
          </p:nvPr>
        </p:nvGraphicFramePr>
        <p:xfrm>
          <a:off x="0" y="304800"/>
          <a:ext cx="9067800" cy="9187656"/>
        </p:xfrm>
        <a:graphic>
          <a:graphicData uri="http://schemas.openxmlformats.org/drawingml/2006/table">
            <a:tbl>
              <a:tblPr firstRow="1" bandRow="1">
                <a:tableStyleId>{5C22544A-7EE6-4342-B048-85BDC9FD1C3A}</a:tableStyleId>
              </a:tblPr>
              <a:tblGrid>
                <a:gridCol w="711199"/>
                <a:gridCol w="4089401"/>
                <a:gridCol w="1219200"/>
                <a:gridCol w="1295400"/>
                <a:gridCol w="1752600"/>
              </a:tblGrid>
              <a:tr h="628260">
                <a:tc>
                  <a:txBody>
                    <a:bodyPr/>
                    <a:lstStyle/>
                    <a:p>
                      <a:r>
                        <a:rPr lang="am-ET" sz="1800" b="0" i="0" u="none" strike="noStrike" baseline="0" dirty="0" smtClean="0">
                          <a:solidFill>
                            <a:srgbClr val="000000"/>
                          </a:solidFill>
                          <a:latin typeface="Visual Geez Unicode"/>
                        </a:rPr>
                        <a:t>ተ.ቁ</a:t>
                      </a:r>
                      <a:r>
                        <a:rPr lang="am-ET" sz="1400" b="0" i="0" u="none" strike="noStrike" baseline="0" dirty="0" smtClean="0">
                          <a:solidFill>
                            <a:srgbClr val="000000"/>
                          </a:solidFill>
                          <a:latin typeface="Visual Geez Unicode"/>
                        </a:rPr>
                        <a:t> 	</a:t>
                      </a:r>
                      <a:r>
                        <a:rPr lang="en-US" sz="1400" b="0" i="0" u="none" strike="noStrike" baseline="0" dirty="0" smtClean="0">
                          <a:solidFill>
                            <a:srgbClr val="000000"/>
                          </a:solidFill>
                          <a:latin typeface="Power Geez Unicode1" pitchFamily="2" charset="0"/>
                        </a:rPr>
                        <a:t> </a:t>
                      </a:r>
                      <a:endParaRPr lang="am-ET" sz="1400" b="0" i="0" u="none" strike="noStrike" baseline="0" dirty="0" smtClean="0">
                        <a:solidFill>
                          <a:srgbClr val="000000"/>
                        </a:solidFill>
                        <a:latin typeface="Visual Geez Unicode"/>
                      </a:endParaRPr>
                    </a:p>
                  </a:txBody>
                  <a:tcPr/>
                </a:tc>
                <a:tc>
                  <a:txBody>
                    <a:bodyPr/>
                    <a:lstStyle/>
                    <a:p>
                      <a:r>
                        <a:rPr lang="en-US" sz="1800" b="1" i="0" u="none" strike="noStrike" baseline="0" dirty="0" err="1" smtClean="0">
                          <a:solidFill>
                            <a:srgbClr val="FF0000"/>
                          </a:solidFill>
                          <a:latin typeface="Power Geez Unicode1" pitchFamily="2" charset="0"/>
                        </a:rPr>
                        <a:t>የጥፋት</a:t>
                      </a:r>
                      <a:r>
                        <a:rPr lang="en-US" sz="1800" b="1" i="0" u="none" strike="noStrike" baseline="0" dirty="0" smtClean="0">
                          <a:solidFill>
                            <a:srgbClr val="FF0000"/>
                          </a:solidFill>
                          <a:latin typeface="Power Geez Unicode1" pitchFamily="2" charset="0"/>
                        </a:rPr>
                        <a:t> </a:t>
                      </a:r>
                      <a:r>
                        <a:rPr lang="en-US" sz="1800" b="1" i="0" u="none" strike="noStrike" baseline="0" dirty="0" err="1" smtClean="0">
                          <a:solidFill>
                            <a:srgbClr val="FF0000"/>
                          </a:solidFill>
                          <a:latin typeface="Power Geez Unicode1" pitchFamily="2" charset="0"/>
                        </a:rPr>
                        <a:t>አይነቶች</a:t>
                      </a:r>
                      <a:endParaRPr lang="am-ET" sz="1800" b="1" i="0" u="none" strike="noStrike" baseline="0" dirty="0" smtClean="0">
                        <a:solidFill>
                          <a:srgbClr val="FF0000"/>
                        </a:solidFill>
                        <a:latin typeface="Visual Geez Unicode"/>
                      </a:endParaRPr>
                    </a:p>
                  </a:txBody>
                  <a:tcPr/>
                </a:tc>
                <a:tc>
                  <a:txBody>
                    <a:bodyPr/>
                    <a:lstStyle/>
                    <a:p>
                      <a:r>
                        <a:rPr lang="en-US" sz="1400" b="0" i="0" u="none" strike="noStrike" baseline="0" dirty="0" err="1" smtClean="0">
                          <a:solidFill>
                            <a:srgbClr val="000000"/>
                          </a:solidFill>
                          <a:latin typeface="Power Geez Unicode1" pitchFamily="2" charset="0"/>
                        </a:rPr>
                        <a:t>ቀድሞ</a:t>
                      </a:r>
                      <a:r>
                        <a:rPr lang="en-US" sz="1400" b="0" i="0" u="none" strike="noStrike" baseline="0" dirty="0" smtClean="0">
                          <a:solidFill>
                            <a:srgbClr val="000000"/>
                          </a:solidFill>
                          <a:latin typeface="Power Geez Unicode1" pitchFamily="2" charset="0"/>
                        </a:rPr>
                        <a:t> በነበረው150/2015 </a:t>
                      </a:r>
                      <a:r>
                        <a:rPr lang="en-US" sz="1400" b="0" i="0" u="none" strike="noStrike" baseline="0" dirty="0" err="1" smtClean="0">
                          <a:solidFill>
                            <a:srgbClr val="000000"/>
                          </a:solidFill>
                          <a:latin typeface="Power Geez Unicode1" pitchFamily="2" charset="0"/>
                        </a:rPr>
                        <a:t>የተቀመጠ</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ቅጣት</a:t>
                      </a:r>
                      <a:endParaRPr lang="am-ET" sz="1400" b="0" i="0" u="none" strike="noStrike" baseline="0" dirty="0" smtClean="0">
                        <a:solidFill>
                          <a:srgbClr val="000000"/>
                        </a:solidFill>
                        <a:latin typeface="Visual Geez Unicode"/>
                      </a:endParaRPr>
                    </a:p>
                  </a:txBody>
                  <a:tcPr/>
                </a:tc>
                <a:tc>
                  <a:txBody>
                    <a:bodyPr/>
                    <a:lstStyle/>
                    <a:p>
                      <a:r>
                        <a:rPr lang="en-US" sz="1400" b="0" i="0" u="none" strike="noStrike" baseline="0" dirty="0" err="1" smtClean="0">
                          <a:solidFill>
                            <a:srgbClr val="000000"/>
                          </a:solidFill>
                          <a:latin typeface="Power Geez Unicode1" pitchFamily="2" charset="0"/>
                        </a:rPr>
                        <a:t>አሁን</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በተሸሻለው</a:t>
                      </a:r>
                      <a:r>
                        <a:rPr lang="en-US" sz="1400" b="0" i="0" u="none" strike="noStrike" baseline="0" dirty="0" smtClean="0">
                          <a:solidFill>
                            <a:srgbClr val="000000"/>
                          </a:solidFill>
                          <a:latin typeface="Power Geez Unicode1" pitchFamily="2" charset="0"/>
                        </a:rPr>
                        <a:t> 167/16 </a:t>
                      </a:r>
                      <a:r>
                        <a:rPr lang="en-US" sz="1400" b="0" i="0" u="none" strike="noStrike" baseline="0" dirty="0" err="1" smtClean="0">
                          <a:solidFill>
                            <a:srgbClr val="000000"/>
                          </a:solidFill>
                          <a:latin typeface="Power Geez Unicode1" pitchFamily="2" charset="0"/>
                        </a:rPr>
                        <a:t>የተቀመጠ</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ቅጣት</a:t>
                      </a:r>
                      <a:endParaRPr lang="am-ET" sz="1400" b="0" i="0" u="none" strike="noStrike" baseline="0" dirty="0" smtClean="0">
                        <a:solidFill>
                          <a:srgbClr val="000000"/>
                        </a:solidFill>
                        <a:latin typeface="Visual Geez Unicode"/>
                      </a:endParaRPr>
                    </a:p>
                  </a:txBody>
                  <a:tcPr/>
                </a:tc>
                <a:tc>
                  <a:txBody>
                    <a:bodyPr/>
                    <a:lstStyle/>
                    <a:p>
                      <a:r>
                        <a:rPr lang="en-US" sz="1600" dirty="0" err="1" smtClean="0">
                          <a:solidFill>
                            <a:schemeClr val="tx1"/>
                          </a:solidFill>
                          <a:latin typeface="Power Geez Unicode1" pitchFamily="2" charset="0"/>
                        </a:rPr>
                        <a:t>ከህገ</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ወጥ</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ፈፃሚው</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የሚጠበቅ</a:t>
                      </a:r>
                      <a:endParaRPr lang="en-US" sz="1600" dirty="0">
                        <a:solidFill>
                          <a:schemeClr val="tx1"/>
                        </a:solidFill>
                        <a:latin typeface="Power Geez Unicode1" pitchFamily="2" charset="0"/>
                      </a:endParaRPr>
                    </a:p>
                  </a:txBody>
                  <a:tcPr/>
                </a:tc>
              </a:tr>
              <a:tr h="6004560">
                <a:tc>
                  <a:txBody>
                    <a:bodyPr/>
                    <a:lstStyle/>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r>
                        <a:rPr lang="en-US" sz="2400" dirty="0" smtClean="0">
                          <a:latin typeface="Power Geez Unicode1" pitchFamily="2" charset="0"/>
                        </a:rPr>
                        <a:t>17</a:t>
                      </a: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r>
                        <a:rPr lang="en-US" sz="2400" dirty="0" smtClean="0">
                          <a:latin typeface="Power Geez Unicode1" pitchFamily="2" charset="0"/>
                        </a:rPr>
                        <a:t>18</a:t>
                      </a: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endParaRPr lang="en-US" sz="1800" b="0"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Power Geez Unicode1" pitchFamily="2" charset="0"/>
                        <a:ea typeface="+mn-ea"/>
                        <a:cs typeface="+mn-cs"/>
                      </a:endParaRPr>
                    </a:p>
                    <a:p>
                      <a:pPr algn="just"/>
                      <a:endParaRPr lang="en-US" sz="1800" b="1" i="0" u="none" strike="noStrike" kern="1200" baseline="0" dirty="0" smtClean="0">
                        <a:solidFill>
                          <a:schemeClr val="dk1"/>
                        </a:solidFill>
                        <a:latin typeface="Power Geez Unicode1" pitchFamily="2" charset="0"/>
                        <a:ea typeface="+mn-ea"/>
                        <a:cs typeface="+mn-cs"/>
                      </a:endParaRPr>
                    </a:p>
                    <a:p>
                      <a:pPr algn="just"/>
                      <a:r>
                        <a:rPr lang="am-ET" sz="2000" b="1" i="0" u="none" strike="noStrike" kern="1200" baseline="0" dirty="0" smtClean="0">
                          <a:solidFill>
                            <a:schemeClr val="dk1"/>
                          </a:solidFill>
                          <a:latin typeface="+mn-lt"/>
                          <a:ea typeface="+mn-ea"/>
                          <a:cs typeface="+mn-cs"/>
                        </a:rPr>
                        <a:t>ሳር፤ ቅጠላ ቅጠል፤ አፈር፤ አሸዋና ሌሎች ተረፈ ምርቶችን ሳይሸፍን በጋማ ከብት በማጓጓዝ አካባቢውን ያቆሸሸ ወይም ያዝረከረከ ማንኛውም ሰው፤ </a:t>
                      </a:r>
                      <a:endParaRPr lang="en-US" sz="2000" b="1" i="0" u="none" strike="noStrike" kern="1200" baseline="0" dirty="0" smtClean="0">
                        <a:solidFill>
                          <a:schemeClr val="dk1"/>
                        </a:solidFill>
                        <a:latin typeface="Power Geez Unicode1" pitchFamily="2" charset="0"/>
                        <a:ea typeface="+mn-ea"/>
                        <a:cs typeface="+mn-cs"/>
                      </a:endParaRPr>
                    </a:p>
                    <a:p>
                      <a:pPr algn="just"/>
                      <a:endParaRPr lang="en-US" sz="2400" b="1" i="0" u="none" strike="noStrike" kern="1200" baseline="0" dirty="0" smtClean="0">
                        <a:solidFill>
                          <a:schemeClr val="dk1"/>
                        </a:solidFill>
                        <a:latin typeface="+mn-lt"/>
                        <a:ea typeface="+mn-ea"/>
                        <a:cs typeface="+mn-cs"/>
                      </a:endParaRPr>
                    </a:p>
                    <a:p>
                      <a:pPr algn="just"/>
                      <a:endParaRPr lang="en-US" sz="24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	</a:t>
                      </a:r>
                      <a:endParaRPr lang="en-US" sz="1800" b="0" i="0" u="none" strike="noStrike"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የሞተ እንስሳን ባልተፈቀደ ቦታ የጣለ ማንኛውም ሰው፤ </a:t>
                      </a:r>
                      <a:r>
                        <a:rPr lang="am-ET" sz="1800" b="0" i="0" u="none" strike="noStrike" kern="1200" baseline="0" dirty="0" smtClean="0">
                          <a:solidFill>
                            <a:schemeClr val="dk1"/>
                          </a:solidFill>
                          <a:latin typeface="+mn-lt"/>
                          <a:ea typeface="+mn-ea"/>
                          <a:cs typeface="+mn-cs"/>
                        </a:rPr>
                        <a:t>	</a:t>
                      </a:r>
                    </a:p>
                    <a:p>
                      <a:endParaRPr lang="en-US" sz="1800" b="0" i="0" u="none" strike="noStrike" kern="1200" baseline="0" dirty="0" smtClean="0">
                        <a:solidFill>
                          <a:schemeClr val="dk1"/>
                        </a:solidFill>
                        <a:latin typeface="+mn-lt"/>
                        <a:ea typeface="+mn-ea"/>
                        <a:cs typeface="+mn-cs"/>
                      </a:endParaRPr>
                    </a:p>
                  </a:txBody>
                  <a:tcPr>
                    <a:lnB w="12700" cap="flat" cmpd="sng" algn="ctr">
                      <a:solidFill>
                        <a:schemeClr val="tx1"/>
                      </a:solidFill>
                      <a:prstDash val="solid"/>
                      <a:round/>
                      <a:headEnd type="none" w="med" len="med"/>
                      <a:tailEnd type="none" w="med" len="med"/>
                    </a:lnB>
                  </a:tcPr>
                </a:tc>
                <a:tc>
                  <a:txBody>
                    <a:bodyPr/>
                    <a:lstStyle/>
                    <a:p>
                      <a:r>
                        <a:rPr lang="en-US" sz="2400" dirty="0" smtClean="0">
                          <a:latin typeface="Power Geez Unicode1" pitchFamily="2" charset="0"/>
                        </a:rPr>
                        <a:t> </a:t>
                      </a:r>
                    </a:p>
                    <a:p>
                      <a:endParaRPr lang="en-US" sz="2400" b="1" dirty="0" smtClean="0">
                        <a:latin typeface="Power Geez Unicode1" pitchFamily="2" charset="0"/>
                      </a:endParaRPr>
                    </a:p>
                    <a:p>
                      <a:r>
                        <a:rPr lang="en-US" sz="2400" b="1" dirty="0" err="1" smtClean="0">
                          <a:solidFill>
                            <a:srgbClr val="FF0000"/>
                          </a:solidFill>
                          <a:latin typeface="Power Geez Unicode1" pitchFamily="2" charset="0"/>
                        </a:rPr>
                        <a:t>ብር</a:t>
                      </a:r>
                      <a:endParaRPr lang="en-US" sz="2400" b="1" dirty="0" smtClean="0">
                        <a:solidFill>
                          <a:srgbClr val="FF0000"/>
                        </a:solidFill>
                        <a:latin typeface="Power Geez Unicode1" pitchFamily="2" charset="0"/>
                      </a:endParaRPr>
                    </a:p>
                    <a:p>
                      <a:r>
                        <a:rPr lang="en-US" sz="2400" b="1" dirty="0" smtClean="0">
                          <a:solidFill>
                            <a:srgbClr val="FF0000"/>
                          </a:solidFill>
                          <a:latin typeface="Power Geez Unicode1" pitchFamily="2" charset="0"/>
                        </a:rPr>
                        <a:t>200.00</a:t>
                      </a:r>
                    </a:p>
                    <a:p>
                      <a:endParaRPr lang="en-US" sz="2400" b="1" dirty="0" smtClean="0">
                        <a:solidFill>
                          <a:srgbClr val="FF0000"/>
                        </a:solidFill>
                        <a:latin typeface="Power Geez Unicode1" pitchFamily="2" charset="0"/>
                      </a:endParaRPr>
                    </a:p>
                    <a:p>
                      <a:endParaRPr lang="en-US" sz="2400" b="1" dirty="0" smtClean="0">
                        <a:solidFill>
                          <a:srgbClr val="FF0000"/>
                        </a:solidFill>
                        <a:latin typeface="Power Geez Unicode1" pitchFamily="2" charset="0"/>
                      </a:endParaRPr>
                    </a:p>
                    <a:p>
                      <a:endParaRPr lang="en-US" sz="2400" b="1" dirty="0" smtClean="0">
                        <a:solidFill>
                          <a:srgbClr val="FF0000"/>
                        </a:solidFill>
                        <a:latin typeface="Power Geez Unicode1" pitchFamily="2" charset="0"/>
                      </a:endParaRPr>
                    </a:p>
                    <a:p>
                      <a:endParaRPr lang="en-US" sz="2400" b="1" dirty="0" smtClean="0">
                        <a:solidFill>
                          <a:srgbClr val="FF0000"/>
                        </a:solidFill>
                        <a:latin typeface="Power Geez Unicode1" pitchFamily="2" charset="0"/>
                      </a:endParaRPr>
                    </a:p>
                    <a:p>
                      <a:endParaRPr lang="en-US" sz="2400" b="1" dirty="0" smtClean="0">
                        <a:solidFill>
                          <a:srgbClr val="FF0000"/>
                        </a:solidFill>
                        <a:latin typeface="Power Geez Unicode1" pitchFamily="2" charset="0"/>
                      </a:endParaRPr>
                    </a:p>
                    <a:p>
                      <a:endParaRPr lang="en-US" sz="2400" b="1" dirty="0" smtClean="0">
                        <a:solidFill>
                          <a:srgbClr val="FF0000"/>
                        </a:solidFill>
                        <a:latin typeface="Power Geez Unicode1" pitchFamily="2" charset="0"/>
                      </a:endParaRPr>
                    </a:p>
                    <a:p>
                      <a:r>
                        <a:rPr lang="en-US" sz="2400" b="1" dirty="0" err="1" smtClean="0">
                          <a:solidFill>
                            <a:srgbClr val="FF0000"/>
                          </a:solidFill>
                          <a:latin typeface="Power Geez Unicode1" pitchFamily="2" charset="0"/>
                        </a:rPr>
                        <a:t>ብር</a:t>
                      </a:r>
                      <a:endParaRPr lang="en-US" sz="2400" b="1" dirty="0" smtClean="0">
                        <a:solidFill>
                          <a:srgbClr val="FF0000"/>
                        </a:solidFill>
                        <a:latin typeface="Power Geez Unicode1" pitchFamily="2"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smtClean="0">
                          <a:solidFill>
                            <a:srgbClr val="FF0000"/>
                          </a:solidFill>
                          <a:latin typeface="Power Geez Unicode1" pitchFamily="2" charset="0"/>
                        </a:rPr>
                        <a:t>200.00</a:t>
                      </a:r>
                    </a:p>
                    <a:p>
                      <a:endParaRPr lang="en-US" sz="2400" b="1" dirty="0" smtClean="0">
                        <a:solidFill>
                          <a:srgbClr val="FF0000"/>
                        </a:solidFill>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endParaRPr lang="en-US" sz="1800" b="1" dirty="0" smtClean="0">
                        <a:latin typeface="Power Geez Unicode1" pitchFamily="2"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	</a:t>
                      </a:r>
                    </a:p>
                    <a:p>
                      <a:endParaRPr lang="en-US" sz="1800" b="1" i="0" u="none" strike="noStrike" kern="1200" baseline="0" dirty="0" smtClean="0">
                        <a:solidFill>
                          <a:schemeClr val="dk1"/>
                        </a:solidFill>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 </a:t>
                      </a:r>
                      <a:r>
                        <a:rPr lang="am-ET" sz="2000" b="1" i="0" u="none" strike="noStrike" kern="1200" baseline="0" dirty="0" smtClean="0">
                          <a:solidFill>
                            <a:schemeClr val="dk1"/>
                          </a:solidFill>
                          <a:latin typeface="+mn-lt"/>
                          <a:ea typeface="+mn-ea"/>
                          <a:cs typeface="+mn-cs"/>
                        </a:rPr>
                        <a:t>ብር 2000.00 </a:t>
                      </a:r>
                      <a:r>
                        <a:rPr lang="am-ET" sz="1800" b="0" i="0" u="none" strike="noStrike" kern="1200" baseline="0" dirty="0" smtClean="0">
                          <a:solidFill>
                            <a:schemeClr val="dk1"/>
                          </a:solidFill>
                          <a:latin typeface="+mn-lt"/>
                          <a:ea typeface="+mn-ea"/>
                          <a:cs typeface="+mn-cs"/>
                        </a:rPr>
                        <a:t>	</a:t>
                      </a:r>
                    </a:p>
                    <a:p>
                      <a:endParaRPr lang="am-ET" sz="1800" b="1" i="0" u="none" strike="noStrike" kern="1200" baseline="0" dirty="0" smtClean="0">
                        <a:solidFill>
                          <a:schemeClr val="dk1"/>
                        </a:solidFill>
                        <a:latin typeface="+mn-lt"/>
                        <a:ea typeface="+mn-ea"/>
                        <a:cs typeface="+mn-cs"/>
                      </a:endParaRPr>
                    </a:p>
                    <a:p>
                      <a:endParaRPr lang="am-ET" sz="1800" b="1" i="0" u="none" strike="noStrike" kern="1200" baseline="0" dirty="0" smtClean="0">
                        <a:solidFill>
                          <a:schemeClr val="dk1"/>
                        </a:solidFill>
                        <a:latin typeface="+mn-lt"/>
                        <a:ea typeface="+mn-ea"/>
                        <a:cs typeface="+mn-cs"/>
                      </a:endParaRPr>
                    </a:p>
                    <a:p>
                      <a:r>
                        <a:rPr lang="am-ET" sz="1800" b="1" i="0" u="none" strike="noStrike" kern="1200" baseline="0" dirty="0" smtClean="0">
                          <a:solidFill>
                            <a:schemeClr val="dk1"/>
                          </a:solidFill>
                          <a:latin typeface="+mn-lt"/>
                          <a:ea typeface="+mn-ea"/>
                          <a:cs typeface="+mn-cs"/>
                        </a:rPr>
                        <a:t>	</a:t>
                      </a:r>
                      <a:endParaRPr lang="en-US" sz="1800" b="1" i="0" u="none" strike="noStrike" kern="1200" baseline="0" dirty="0" smtClean="0">
                        <a:solidFill>
                          <a:schemeClr val="dk1"/>
                        </a:solidFill>
                        <a:latin typeface="+mn-lt"/>
                        <a:ea typeface="+mn-ea"/>
                        <a:cs typeface="+mn-cs"/>
                      </a:endParaRPr>
                    </a:p>
                    <a:p>
                      <a:endParaRPr lang="en-US" sz="1800" b="1" i="0" u="none" strike="noStrike" kern="1200" baseline="0" dirty="0" smtClean="0">
                        <a:solidFill>
                          <a:schemeClr val="dk1"/>
                        </a:solidFill>
                        <a:latin typeface="+mn-lt"/>
                        <a:ea typeface="+mn-ea"/>
                        <a:cs typeface="+mn-cs"/>
                      </a:endParaRPr>
                    </a:p>
                    <a:p>
                      <a:endParaRPr lang="en-US" sz="1800" b="1" i="0" u="none" strike="noStrike" kern="1200" baseline="0" dirty="0" smtClean="0">
                        <a:solidFill>
                          <a:schemeClr val="dk1"/>
                        </a:solidFill>
                        <a:latin typeface="+mn-lt"/>
                        <a:ea typeface="+mn-ea"/>
                        <a:cs typeface="+mn-cs"/>
                      </a:endParaRPr>
                    </a:p>
                    <a:p>
                      <a:endParaRPr lang="en-US" sz="1800" b="1" i="0" u="none" strike="noStrike" kern="1200" baseline="0" dirty="0" smtClean="0">
                        <a:solidFill>
                          <a:schemeClr val="dk1"/>
                        </a:solidFill>
                        <a:latin typeface="+mn-lt"/>
                        <a:ea typeface="+mn-ea"/>
                        <a:cs typeface="+mn-cs"/>
                      </a:endParaRPr>
                    </a:p>
                    <a:p>
                      <a:endParaRPr lang="en-US" sz="1800" b="1" i="0" u="none" strike="noStrike" kern="1200" baseline="0" dirty="0" smtClean="0">
                        <a:solidFill>
                          <a:schemeClr val="dk1"/>
                        </a:solidFill>
                        <a:latin typeface="+mn-lt"/>
                        <a:ea typeface="+mn-ea"/>
                        <a:cs typeface="+mn-cs"/>
                      </a:endParaRPr>
                    </a:p>
                    <a:p>
                      <a:r>
                        <a:rPr lang="am-ET" sz="2000" b="1" i="0" u="none" strike="noStrike" kern="1200" baseline="0" dirty="0" smtClean="0">
                          <a:solidFill>
                            <a:schemeClr val="dk1"/>
                          </a:solidFill>
                          <a:latin typeface="+mn-lt"/>
                          <a:ea typeface="+mn-ea"/>
                          <a:cs typeface="+mn-cs"/>
                        </a:rPr>
                        <a:t>ብር 25000.00 </a:t>
                      </a:r>
                    </a:p>
                  </a:txBody>
                  <a:tcPr>
                    <a:lnB w="12700" cap="flat" cmpd="sng" algn="ctr">
                      <a:solidFill>
                        <a:schemeClr val="tx1"/>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በሰንጠረዡ የተቀመጠውን የቅጣት ክፍያ መጠን መክፈልና የጣለውን ቆሻሻ ማንሳት 	</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600" b="1" i="0" u="none" strike="noStrike" kern="1200" baseline="0" dirty="0" smtClean="0">
                          <a:solidFill>
                            <a:srgbClr val="FF0000"/>
                          </a:solidFill>
                          <a:latin typeface="+mn-lt"/>
                          <a:ea typeface="+mn-ea"/>
                          <a:cs typeface="+mn-cs"/>
                        </a:rPr>
                        <a:t>በሰንጠረዡ የተቀመጠውን የቅጣት ክፍያ መጠን መክፈልና የጣለውን ቆሻሻ ማንሳት </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txBody>
                  <a:tcPr>
                    <a:lnB w="12700" cap="flat" cmpd="sng" algn="ctr">
                      <a:solidFill>
                        <a:schemeClr val="tx1"/>
                      </a:solidFill>
                      <a:prstDash val="solid"/>
                      <a:round/>
                      <a:headEnd type="none" w="med" len="med"/>
                      <a:tailEnd type="none" w="med" len="med"/>
                    </a:lnB>
                  </a:tcPr>
                </a:tc>
              </a:tr>
              <a:tr h="2024856">
                <a:tc>
                  <a:txBody>
                    <a:bodyPr/>
                    <a:lstStyle/>
                    <a:p>
                      <a:endParaRPr lang="en-US" sz="2400" dirty="0" smtClean="0">
                        <a:latin typeface="Power Geez Unicode1" pitchFamily="2" charset="0"/>
                      </a:endParaRPr>
                    </a:p>
                    <a:p>
                      <a:endParaRPr lang="en-US" sz="2400" dirty="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am-ET" sz="2400" b="1" i="0" u="none" strike="noStrike" kern="1200" baseline="0" dirty="0" smtClean="0">
                          <a:solidFill>
                            <a:schemeClr val="dk1"/>
                          </a:solidFill>
                          <a:latin typeface="+mn-lt"/>
                          <a:ea typeface="+mn-ea"/>
                          <a:cs typeface="+mn-cs"/>
                        </a:rPr>
                        <a:t>	</a:t>
                      </a:r>
                    </a:p>
                    <a:p>
                      <a:pPr algn="just"/>
                      <a:r>
                        <a:rPr lang="en-US" sz="1400" b="1" dirty="0" smtClean="0">
                          <a:effectLst/>
                          <a:latin typeface="Power Geez Unicode1" pitchFamily="2" charset="0"/>
                          <a:ea typeface="Times New Roman"/>
                          <a:cs typeface="Visual Geez Unicode"/>
                        </a:rPr>
                        <a:t>     </a:t>
                      </a:r>
                      <a:endParaRPr lang="en-US" sz="3200" b="1"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28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1800" b="1" dirty="0" smtClean="0">
                        <a:latin typeface="Power Geez Unicode1" pitchFamily="2" charset="0"/>
                      </a:endParaRPr>
                    </a:p>
                    <a:p>
                      <a:pPr marL="0" marR="0" algn="ctr">
                        <a:spcBef>
                          <a:spcPts val="1000"/>
                        </a:spcBef>
                        <a:spcAft>
                          <a:spcPts val="0"/>
                        </a:spcAft>
                      </a:pPr>
                      <a:endParaRPr lang="en-US" sz="2800" b="0" dirty="0" smtClean="0">
                        <a:solidFill>
                          <a:srgbClr val="4F81BD"/>
                        </a:solidFill>
                        <a:effectLst/>
                        <a:latin typeface="Power Geez Unicode1" pitchFamily="2" charset="0"/>
                        <a:ea typeface="Times New Roman"/>
                        <a:cs typeface="Visual Geez Unicode"/>
                      </a:endParaRPr>
                    </a:p>
                    <a:p>
                      <a:endParaRPr lang="en-US" sz="2800" dirty="0" smtClean="0">
                        <a:latin typeface="Power Geez Unicode1" pitchFamily="2" charset="0"/>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192283146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115361654"/>
              </p:ext>
            </p:extLst>
          </p:nvPr>
        </p:nvGraphicFramePr>
        <p:xfrm>
          <a:off x="0" y="-76201"/>
          <a:ext cx="9144000" cy="12807536"/>
        </p:xfrm>
        <a:graphic>
          <a:graphicData uri="http://schemas.openxmlformats.org/drawingml/2006/table">
            <a:tbl>
              <a:tblPr firstRow="1" bandRow="1">
                <a:tableStyleId>{5C22544A-7EE6-4342-B048-85BDC9FD1C3A}</a:tableStyleId>
              </a:tblPr>
              <a:tblGrid>
                <a:gridCol w="457200"/>
                <a:gridCol w="3200400"/>
                <a:gridCol w="1524000"/>
                <a:gridCol w="1447800"/>
                <a:gridCol w="2514600"/>
              </a:tblGrid>
              <a:tr h="1249679">
                <a:tc>
                  <a:txBody>
                    <a:bodyPr/>
                    <a:lstStyle/>
                    <a:p>
                      <a:endParaRPr lang="en-US" sz="1600" b="1" i="0" u="none" strike="noStrike" baseline="0" dirty="0" smtClean="0">
                        <a:solidFill>
                          <a:srgbClr val="FF0000"/>
                        </a:solidFill>
                        <a:latin typeface="Power Geez Unicode1" pitchFamily="2" charset="0"/>
                      </a:endParaRPr>
                    </a:p>
                    <a:p>
                      <a:r>
                        <a:rPr lang="am-ET" sz="1600" b="1" i="0" u="none" strike="noStrike" baseline="0" dirty="0" smtClean="0">
                          <a:solidFill>
                            <a:srgbClr val="FF0000"/>
                          </a:solidFill>
                          <a:latin typeface="Visual Geez Unicode"/>
                        </a:rPr>
                        <a:t>ተ.ቁ 	</a:t>
                      </a:r>
                      <a:r>
                        <a:rPr lang="en-US" sz="1600" b="1" i="0" u="none" strike="noStrike" baseline="0" dirty="0" smtClean="0">
                          <a:solidFill>
                            <a:srgbClr val="FF0000"/>
                          </a:solidFill>
                          <a:latin typeface="Power Geez Unicode1" pitchFamily="2" charset="0"/>
                        </a:rPr>
                        <a:t> </a:t>
                      </a:r>
                      <a:endParaRPr lang="am-ET" sz="1600" b="1" i="0" u="none" strike="noStrike" baseline="0" dirty="0" smtClean="0">
                        <a:solidFill>
                          <a:srgbClr val="FF0000"/>
                        </a:solidFill>
                        <a:latin typeface="Visual Geez Unicode"/>
                      </a:endParaRPr>
                    </a:p>
                  </a:txBody>
                  <a:tcPr/>
                </a:tc>
                <a:tc>
                  <a:txBody>
                    <a:bodyPr/>
                    <a:lstStyle/>
                    <a:p>
                      <a:endParaRPr lang="en-US" sz="1600" b="1" i="0" u="none" strike="noStrike" baseline="0" dirty="0" smtClean="0">
                        <a:solidFill>
                          <a:srgbClr val="FF0000"/>
                        </a:solidFill>
                        <a:latin typeface="Power Geez Unicode1" pitchFamily="2" charset="0"/>
                      </a:endParaRPr>
                    </a:p>
                    <a:p>
                      <a:r>
                        <a:rPr lang="en-US" sz="1600" b="1" i="0" u="none" strike="noStrike" baseline="0" dirty="0" err="1" smtClean="0">
                          <a:solidFill>
                            <a:srgbClr val="FF0000"/>
                          </a:solidFill>
                          <a:latin typeface="Power Geez Unicode1" pitchFamily="2" charset="0"/>
                        </a:rPr>
                        <a:t>የጥፋት</a:t>
                      </a:r>
                      <a:r>
                        <a:rPr lang="en-US" sz="1600" b="1" i="0" u="none" strike="noStrike" baseline="0" dirty="0" smtClean="0">
                          <a:solidFill>
                            <a:srgbClr val="FF0000"/>
                          </a:solidFill>
                          <a:latin typeface="Power Geez Unicode1" pitchFamily="2" charset="0"/>
                        </a:rPr>
                        <a:t> </a:t>
                      </a:r>
                      <a:r>
                        <a:rPr lang="en-US" sz="1600" b="1" i="0" u="none" strike="noStrike" baseline="0" dirty="0" err="1" smtClean="0">
                          <a:solidFill>
                            <a:srgbClr val="FF0000"/>
                          </a:solidFill>
                          <a:latin typeface="Power Geez Unicode1" pitchFamily="2" charset="0"/>
                        </a:rPr>
                        <a:t>አይነቶች</a:t>
                      </a:r>
                      <a:endParaRPr lang="am-ET" sz="1600" b="1" i="0" u="none" strike="noStrike" baseline="0" dirty="0" smtClean="0">
                        <a:solidFill>
                          <a:srgbClr val="FF0000"/>
                        </a:solidFill>
                        <a:latin typeface="Visual Geez Unicode"/>
                      </a:endParaRPr>
                    </a:p>
                  </a:txBody>
                  <a:tcPr/>
                </a:tc>
                <a:tc>
                  <a:txBody>
                    <a:bodyPr/>
                    <a:lstStyle/>
                    <a:p>
                      <a:endParaRPr lang="en-US" sz="1600" b="1" i="0" u="none" strike="noStrike" baseline="0" dirty="0" smtClean="0">
                        <a:solidFill>
                          <a:srgbClr val="FF0000"/>
                        </a:solidFill>
                        <a:latin typeface="Power Geez Unicode1" pitchFamily="2" charset="0"/>
                      </a:endParaRPr>
                    </a:p>
                    <a:p>
                      <a:r>
                        <a:rPr lang="en-US" sz="1600" b="1" i="0" u="none" strike="noStrike" baseline="0" dirty="0" err="1" smtClean="0">
                          <a:solidFill>
                            <a:srgbClr val="FF0000"/>
                          </a:solidFill>
                          <a:latin typeface="Power Geez Unicode1" pitchFamily="2" charset="0"/>
                        </a:rPr>
                        <a:t>ቀድሞ</a:t>
                      </a:r>
                      <a:r>
                        <a:rPr lang="en-US" sz="1600" b="1" i="0" u="none" strike="noStrike" baseline="0" dirty="0" smtClean="0">
                          <a:solidFill>
                            <a:srgbClr val="FF0000"/>
                          </a:solidFill>
                          <a:latin typeface="Power Geez Unicode1" pitchFamily="2" charset="0"/>
                        </a:rPr>
                        <a:t> በነበረው150/2015 </a:t>
                      </a:r>
                      <a:r>
                        <a:rPr lang="en-US" sz="1600" b="1" i="0" u="none" strike="noStrike" baseline="0" dirty="0" err="1" smtClean="0">
                          <a:solidFill>
                            <a:srgbClr val="FF0000"/>
                          </a:solidFill>
                          <a:latin typeface="Power Geez Unicode1" pitchFamily="2" charset="0"/>
                        </a:rPr>
                        <a:t>የተቀመጠ</a:t>
                      </a:r>
                      <a:r>
                        <a:rPr lang="en-US" sz="1600" b="1" i="0" u="none" strike="noStrike" baseline="0" dirty="0" smtClean="0">
                          <a:solidFill>
                            <a:srgbClr val="FF0000"/>
                          </a:solidFill>
                          <a:latin typeface="Power Geez Unicode1" pitchFamily="2" charset="0"/>
                        </a:rPr>
                        <a:t> </a:t>
                      </a:r>
                      <a:r>
                        <a:rPr lang="en-US" sz="1600" b="1" i="0" u="none" strike="noStrike" baseline="0" dirty="0" err="1" smtClean="0">
                          <a:solidFill>
                            <a:srgbClr val="FF0000"/>
                          </a:solidFill>
                          <a:latin typeface="Power Geez Unicode1" pitchFamily="2" charset="0"/>
                        </a:rPr>
                        <a:t>ቅጣት</a:t>
                      </a:r>
                      <a:endParaRPr lang="am-ET" sz="1600" b="1" i="0" u="none" strike="noStrike" baseline="0" dirty="0" smtClean="0">
                        <a:solidFill>
                          <a:srgbClr val="FF0000"/>
                        </a:solidFill>
                        <a:latin typeface="Visual Geez Unicode"/>
                      </a:endParaRPr>
                    </a:p>
                  </a:txBody>
                  <a:tcPr/>
                </a:tc>
                <a:tc>
                  <a:txBody>
                    <a:bodyPr/>
                    <a:lstStyle/>
                    <a:p>
                      <a:endParaRPr lang="en-US" sz="1600" b="1" i="0" u="none" strike="noStrike" baseline="0" dirty="0" smtClean="0">
                        <a:solidFill>
                          <a:srgbClr val="FF0000"/>
                        </a:solidFill>
                        <a:latin typeface="Power Geez Unicode1" pitchFamily="2" charset="0"/>
                      </a:endParaRPr>
                    </a:p>
                    <a:p>
                      <a:pPr algn="just"/>
                      <a:r>
                        <a:rPr lang="en-US" sz="1600" b="1" i="0" u="none" strike="noStrike" baseline="0" dirty="0" err="1" smtClean="0">
                          <a:solidFill>
                            <a:schemeClr val="tx1"/>
                          </a:solidFill>
                          <a:latin typeface="Power Geez Unicode1" pitchFamily="2" charset="0"/>
                        </a:rPr>
                        <a:t>አሁን</a:t>
                      </a:r>
                      <a:r>
                        <a:rPr lang="en-US" sz="1600" b="1" i="0" u="none" strike="noStrike" baseline="0" dirty="0" smtClean="0">
                          <a:solidFill>
                            <a:schemeClr val="tx1"/>
                          </a:solidFill>
                          <a:latin typeface="Power Geez Unicode1" pitchFamily="2" charset="0"/>
                        </a:rPr>
                        <a:t> </a:t>
                      </a:r>
                      <a:r>
                        <a:rPr lang="en-US" sz="1600" b="1" i="0" u="none" strike="noStrike" baseline="0" dirty="0" err="1" smtClean="0">
                          <a:solidFill>
                            <a:schemeClr val="tx1"/>
                          </a:solidFill>
                          <a:latin typeface="Power Geez Unicode1" pitchFamily="2" charset="0"/>
                        </a:rPr>
                        <a:t>በተሸሻለው</a:t>
                      </a:r>
                      <a:r>
                        <a:rPr lang="en-US" sz="1600" b="1" i="0" u="none" strike="noStrike" baseline="0" dirty="0" smtClean="0">
                          <a:solidFill>
                            <a:schemeClr val="tx1"/>
                          </a:solidFill>
                          <a:latin typeface="Power Geez Unicode1" pitchFamily="2" charset="0"/>
                        </a:rPr>
                        <a:t> 167/2016 </a:t>
                      </a:r>
                      <a:r>
                        <a:rPr lang="en-US" sz="1600" b="1" i="0" u="none" strike="noStrike" baseline="0" dirty="0" err="1" smtClean="0">
                          <a:solidFill>
                            <a:schemeClr val="tx1"/>
                          </a:solidFill>
                          <a:latin typeface="Power Geez Unicode1" pitchFamily="2" charset="0"/>
                        </a:rPr>
                        <a:t>የተቀመጠ</a:t>
                      </a:r>
                      <a:r>
                        <a:rPr lang="en-US" sz="1600" b="1" i="0" u="none" strike="noStrike" baseline="0" dirty="0" smtClean="0">
                          <a:solidFill>
                            <a:schemeClr val="tx1"/>
                          </a:solidFill>
                          <a:latin typeface="Power Geez Unicode1" pitchFamily="2" charset="0"/>
                        </a:rPr>
                        <a:t> </a:t>
                      </a:r>
                      <a:r>
                        <a:rPr lang="en-US" sz="1600" b="1" i="0" u="none" strike="noStrike" baseline="0" dirty="0" err="1" smtClean="0">
                          <a:solidFill>
                            <a:schemeClr val="tx1"/>
                          </a:solidFill>
                          <a:latin typeface="Power Geez Unicode1" pitchFamily="2" charset="0"/>
                        </a:rPr>
                        <a:t>ቅጣት</a:t>
                      </a:r>
                      <a:endParaRPr lang="am-ET" sz="1600" b="1" i="0" u="none" strike="noStrike" baseline="0" dirty="0" smtClean="0">
                        <a:solidFill>
                          <a:schemeClr val="tx1"/>
                        </a:solidFill>
                        <a:latin typeface="Visual Geez Unicode"/>
                      </a:endParaRPr>
                    </a:p>
                  </a:txBody>
                  <a:tcPr/>
                </a:tc>
                <a:tc>
                  <a:txBody>
                    <a:bodyPr/>
                    <a:lstStyle/>
                    <a:p>
                      <a:endParaRPr lang="en-US" sz="1800" b="1" dirty="0" smtClean="0">
                        <a:solidFill>
                          <a:srgbClr val="FF0000"/>
                        </a:solidFill>
                        <a:latin typeface="Power Geez Unicode1" pitchFamily="2" charset="0"/>
                      </a:endParaRPr>
                    </a:p>
                    <a:p>
                      <a:r>
                        <a:rPr lang="en-US" sz="1800" b="1" dirty="0" err="1" smtClean="0">
                          <a:solidFill>
                            <a:srgbClr val="FF0000"/>
                          </a:solidFill>
                          <a:latin typeface="Power Geez Unicode1" pitchFamily="2" charset="0"/>
                        </a:rPr>
                        <a:t>ከህገ</a:t>
                      </a:r>
                      <a:r>
                        <a:rPr lang="en-US" sz="1800" b="1" baseline="0" dirty="0" smtClean="0">
                          <a:solidFill>
                            <a:srgbClr val="FF0000"/>
                          </a:solidFill>
                          <a:latin typeface="Power Geez Unicode1" pitchFamily="2" charset="0"/>
                        </a:rPr>
                        <a:t> </a:t>
                      </a:r>
                      <a:r>
                        <a:rPr lang="en-US" sz="1800" b="1" baseline="0" dirty="0" err="1" smtClean="0">
                          <a:solidFill>
                            <a:srgbClr val="FF0000"/>
                          </a:solidFill>
                          <a:latin typeface="Power Geez Unicode1" pitchFamily="2" charset="0"/>
                        </a:rPr>
                        <a:t>ወጥ</a:t>
                      </a:r>
                      <a:r>
                        <a:rPr lang="en-US" sz="1800" b="1" baseline="0" dirty="0" smtClean="0">
                          <a:solidFill>
                            <a:srgbClr val="FF0000"/>
                          </a:solidFill>
                          <a:latin typeface="Power Geez Unicode1" pitchFamily="2" charset="0"/>
                        </a:rPr>
                        <a:t> </a:t>
                      </a:r>
                      <a:r>
                        <a:rPr lang="en-US" sz="1800" b="1" baseline="0" dirty="0" err="1" smtClean="0">
                          <a:solidFill>
                            <a:srgbClr val="FF0000"/>
                          </a:solidFill>
                          <a:latin typeface="Power Geez Unicode1" pitchFamily="2" charset="0"/>
                        </a:rPr>
                        <a:t>ፈፃሚው</a:t>
                      </a:r>
                      <a:r>
                        <a:rPr lang="en-US" sz="1800" b="1" baseline="0" dirty="0" smtClean="0">
                          <a:solidFill>
                            <a:srgbClr val="FF0000"/>
                          </a:solidFill>
                          <a:latin typeface="Power Geez Unicode1" pitchFamily="2" charset="0"/>
                        </a:rPr>
                        <a:t> </a:t>
                      </a:r>
                      <a:r>
                        <a:rPr lang="en-US" sz="1800" b="1" baseline="0" dirty="0" err="1" smtClean="0">
                          <a:solidFill>
                            <a:srgbClr val="FF0000"/>
                          </a:solidFill>
                          <a:latin typeface="Power Geez Unicode1" pitchFamily="2" charset="0"/>
                        </a:rPr>
                        <a:t>የሚጠበቅ</a:t>
                      </a:r>
                      <a:endParaRPr lang="en-US" sz="1800" b="1" dirty="0">
                        <a:solidFill>
                          <a:srgbClr val="FF0000"/>
                        </a:solidFill>
                        <a:latin typeface="Power Geez Unicode1" pitchFamily="2" charset="0"/>
                      </a:endParaRPr>
                    </a:p>
                  </a:txBody>
                  <a:tcPr/>
                </a:tc>
              </a:tr>
              <a:tr h="6751321">
                <a:tc>
                  <a:txBody>
                    <a:bodyPr/>
                    <a:lstStyle/>
                    <a:p>
                      <a:endParaRPr lang="en-US" dirty="0"/>
                    </a:p>
                  </a:txBody>
                  <a:tcPr/>
                </a:tc>
                <a:tc>
                  <a:txBody>
                    <a:bodyPr/>
                    <a:lstStyle/>
                    <a:p>
                      <a:pPr algn="just"/>
                      <a:r>
                        <a:rPr lang="am-ET" sz="1600" b="1" i="0" u="none" strike="noStrike" kern="1200" baseline="0" dirty="0" smtClean="0">
                          <a:solidFill>
                            <a:schemeClr val="dk1"/>
                          </a:solidFill>
                          <a:latin typeface="+mn-lt"/>
                          <a:ea typeface="+mn-ea"/>
                          <a:cs typeface="+mn-cs"/>
                        </a:rPr>
                        <a:t>በአትክልትና ፍራፍሬ የገበያ ማዕከላትና የተለያዩ የገበያ ማዕከላት የሚገኙ ግለሰቦችና ድርጅቶች የተረፈ ምርታቸውን ደረቅ ቆሻሻ </a:t>
                      </a:r>
                    </a:p>
                    <a:p>
                      <a:pPr algn="just"/>
                      <a:r>
                        <a:rPr lang="am-ET" sz="1600" b="1" i="0" u="none" strike="noStrike" kern="1200" baseline="0" dirty="0" smtClean="0">
                          <a:solidFill>
                            <a:srgbClr val="FF0000"/>
                          </a:solidFill>
                          <a:latin typeface="+mn-lt"/>
                          <a:ea typeface="+mn-ea"/>
                          <a:cs typeface="+mn-cs"/>
                        </a:rPr>
                        <a:t>19.1</a:t>
                      </a:r>
                      <a:r>
                        <a:rPr lang="am-ET" sz="1600" b="1" i="0" u="none" strike="noStrike" kern="1200" baseline="0" dirty="0" smtClean="0">
                          <a:solidFill>
                            <a:schemeClr val="dk1"/>
                          </a:solidFill>
                          <a:latin typeface="+mn-lt"/>
                          <a:ea typeface="+mn-ea"/>
                          <a:cs typeface="+mn-cs"/>
                        </a:rPr>
                        <a:t> ከንግድ ማዕከሉ ግቢ ውጭ ወይም መንገድ ዳር ተረፈ ምርት ቆሻሻ ያከማቸ ያስቀመጠና የጣለ፤ </a:t>
                      </a:r>
                    </a:p>
                    <a:p>
                      <a:pPr algn="just"/>
                      <a:r>
                        <a:rPr lang="am-ET" sz="1600" b="1" i="0" u="none" strike="noStrike" kern="1200" baseline="0" dirty="0" smtClean="0">
                          <a:solidFill>
                            <a:srgbClr val="FF0000"/>
                          </a:solidFill>
                          <a:latin typeface="+mn-lt"/>
                          <a:ea typeface="+mn-ea"/>
                          <a:cs typeface="+mn-cs"/>
                        </a:rPr>
                        <a:t>19.2</a:t>
                      </a:r>
                      <a:r>
                        <a:rPr lang="am-ET" sz="1600" b="1" i="0" u="none" strike="noStrike" kern="1200" baseline="0" dirty="0" smtClean="0">
                          <a:solidFill>
                            <a:schemeClr val="dk1"/>
                          </a:solidFill>
                          <a:latin typeface="+mn-lt"/>
                          <a:ea typeface="+mn-ea"/>
                          <a:cs typeface="+mn-cs"/>
                        </a:rPr>
                        <a:t> ከተሸከርካሪ ላይ አትክልትና ፍራፍሬ ሲጭንና ሲያወርድ የሚወዳድቁ የአትክልት ትርፍራፊ ቆሻሻ ወዲያው ያላጸዳ፤ </a:t>
                      </a:r>
                    </a:p>
                    <a:p>
                      <a:pPr algn="just"/>
                      <a:r>
                        <a:rPr lang="am-ET" sz="1600" b="1" i="0" u="none" strike="noStrike" kern="1200" baseline="0" dirty="0" smtClean="0">
                          <a:solidFill>
                            <a:srgbClr val="FF0000"/>
                          </a:solidFill>
                          <a:latin typeface="+mn-lt"/>
                          <a:ea typeface="+mn-ea"/>
                          <a:cs typeface="+mn-cs"/>
                        </a:rPr>
                        <a:t>19.3</a:t>
                      </a:r>
                      <a:r>
                        <a:rPr lang="am-ET" sz="1600" b="1" i="0" u="none" strike="noStrike" kern="1200" baseline="0" dirty="0" smtClean="0">
                          <a:solidFill>
                            <a:schemeClr val="dk1"/>
                          </a:solidFill>
                          <a:latin typeface="+mn-lt"/>
                          <a:ea typeface="+mn-ea"/>
                          <a:cs typeface="+mn-cs"/>
                        </a:rPr>
                        <a:t> የገበያ ማዕከሉን ደረቅ ቆሻሻ በራሱ ወጭ ሰብስቦ ኤጀንሲው በፈቀደው ህጋዊ ማስወገጃ ቦታ ወይም የመልሶ መጠቀምና ኡደት ማእከላት ያላስወገደ፤ </a:t>
                      </a:r>
                    </a:p>
                    <a:p>
                      <a:pPr algn="just"/>
                      <a:r>
                        <a:rPr lang="am-ET" sz="1600" b="1" i="0" u="none" strike="noStrike" kern="1200" baseline="0" dirty="0" smtClean="0">
                          <a:solidFill>
                            <a:srgbClr val="FF0000"/>
                          </a:solidFill>
                          <a:latin typeface="+mn-lt"/>
                          <a:ea typeface="+mn-ea"/>
                          <a:cs typeface="+mn-cs"/>
                        </a:rPr>
                        <a:t>19.4</a:t>
                      </a:r>
                      <a:r>
                        <a:rPr lang="am-ET" sz="1600" b="1" i="0" u="none" strike="noStrike" kern="1200" baseline="0" dirty="0" smtClean="0">
                          <a:solidFill>
                            <a:schemeClr val="dk1"/>
                          </a:solidFill>
                          <a:latin typeface="+mn-lt"/>
                          <a:ea typeface="+mn-ea"/>
                          <a:cs typeface="+mn-cs"/>
                        </a:rPr>
                        <a:t> ከመደብሩ ፊት ለፊት የመደብር ጥራጊ፤ በሽያጭ ወቅት የተከሰቱ የእቃ ማሸጊያ፤ የጫት ገራባ፤ ካርቶን የመሳሰሉትን ካስቀመጠ፤ </a:t>
                      </a:r>
                    </a:p>
                    <a:p>
                      <a:pPr algn="just"/>
                      <a:r>
                        <a:rPr lang="en-US" sz="1600" b="1" i="0" u="none" strike="noStrike" kern="1200" baseline="0" dirty="0" smtClean="0">
                          <a:solidFill>
                            <a:schemeClr val="dk1"/>
                          </a:solidFill>
                          <a:latin typeface="Power Geez Unicode1" pitchFamily="2" charset="0"/>
                          <a:ea typeface="+mn-ea"/>
                          <a:cs typeface="+mn-cs"/>
                        </a:rPr>
                        <a:t>	</a:t>
                      </a:r>
                    </a:p>
                  </a:txBody>
                  <a:tcPr/>
                </a:tc>
                <a:tc>
                  <a:txBody>
                    <a:bodyPr/>
                    <a:lstStyle/>
                    <a:p>
                      <a:endParaRPr lang="en-US" dirty="0" smtClean="0"/>
                    </a:p>
                    <a:p>
                      <a:endParaRPr lang="en-US" dirty="0" smtClean="0"/>
                    </a:p>
                    <a:p>
                      <a:endParaRPr lang="en-US" dirty="0" smtClean="0"/>
                    </a:p>
                    <a:p>
                      <a:endParaRPr lang="en-US" dirty="0" smtClean="0"/>
                    </a:p>
                    <a:p>
                      <a:pPr algn="just"/>
                      <a:r>
                        <a:rPr lang="am-ET" sz="1800" b="1" i="0" u="none" strike="noStrike" kern="1200" baseline="0" dirty="0" smtClean="0">
                          <a:solidFill>
                            <a:srgbClr val="FF0000"/>
                          </a:solidFill>
                          <a:latin typeface="+mn-lt"/>
                          <a:ea typeface="+mn-ea"/>
                          <a:cs typeface="+mn-cs"/>
                        </a:rPr>
                        <a:t>ብር </a:t>
                      </a:r>
                      <a:r>
                        <a:rPr lang="en-US" sz="1800" b="1" i="0" u="none" strike="noStrike" kern="1200" baseline="0" dirty="0" smtClean="0">
                          <a:solidFill>
                            <a:srgbClr val="FF0000"/>
                          </a:solidFill>
                          <a:latin typeface="+mn-lt"/>
                          <a:ea typeface="+mn-ea"/>
                          <a:cs typeface="+mn-cs"/>
                        </a:rPr>
                        <a:t>2</a:t>
                      </a:r>
                      <a:r>
                        <a:rPr lang="am-ET" sz="1800" b="1" i="0" u="none" strike="noStrike" kern="1200" baseline="0" dirty="0" smtClean="0">
                          <a:solidFill>
                            <a:srgbClr val="FF0000"/>
                          </a:solidFill>
                          <a:latin typeface="+mn-lt"/>
                          <a:ea typeface="+mn-ea"/>
                          <a:cs typeface="+mn-cs"/>
                        </a:rPr>
                        <a:t>,000.00 </a:t>
                      </a:r>
                    </a:p>
                    <a:p>
                      <a:endParaRPr lang="en-US" dirty="0" smtClean="0"/>
                    </a:p>
                    <a:p>
                      <a:endParaRPr lang="en-US" dirty="0" smtClean="0"/>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rgbClr val="FF0000"/>
                          </a:solidFill>
                          <a:latin typeface="+mn-lt"/>
                          <a:ea typeface="+mn-ea"/>
                          <a:cs typeface="+mn-cs"/>
                        </a:rPr>
                        <a:t>ብር </a:t>
                      </a:r>
                      <a:r>
                        <a:rPr lang="en-US" sz="2800" b="1" i="0" u="none" strike="noStrike" kern="1200" baseline="0" dirty="0" smtClean="0">
                          <a:solidFill>
                            <a:srgbClr val="FF0000"/>
                          </a:solidFill>
                          <a:latin typeface="+mn-lt"/>
                          <a:ea typeface="+mn-ea"/>
                          <a:cs typeface="+mn-cs"/>
                        </a:rPr>
                        <a:t>2</a:t>
                      </a:r>
                      <a:r>
                        <a:rPr lang="am-ET" sz="1800" b="1" i="0" u="none" strike="noStrike" kern="1200" baseline="0" dirty="0" smtClean="0">
                          <a:solidFill>
                            <a:srgbClr val="FF0000"/>
                          </a:solidFill>
                          <a:latin typeface="+mn-lt"/>
                          <a:ea typeface="+mn-ea"/>
                          <a:cs typeface="+mn-cs"/>
                        </a:rPr>
                        <a:t>00.00 </a:t>
                      </a:r>
                    </a:p>
                    <a:p>
                      <a:endParaRPr lang="en-US" dirty="0" smtClean="0"/>
                    </a:p>
                    <a:p>
                      <a:endParaRPr lang="en-US" dirty="0" smtClean="0"/>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rgbClr val="FF0000"/>
                          </a:solidFill>
                          <a:latin typeface="+mn-lt"/>
                          <a:ea typeface="+mn-ea"/>
                          <a:cs typeface="+mn-cs"/>
                        </a:rPr>
                        <a:t>ብር</a:t>
                      </a:r>
                      <a:endParaRPr lang="en-US" sz="1800" b="1" i="0" u="none" strike="noStrike" kern="1200" baseline="0" dirty="0" smtClean="0">
                        <a:solidFill>
                          <a:srgbClr val="FF0000"/>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rgbClr val="FF0000"/>
                          </a:solidFill>
                          <a:latin typeface="+mn-lt"/>
                          <a:ea typeface="+mn-ea"/>
                          <a:cs typeface="+mn-cs"/>
                        </a:rPr>
                        <a:t>5,000.00 </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rgbClr val="FF0000"/>
                          </a:solidFill>
                          <a:latin typeface="+mn-lt"/>
                          <a:ea typeface="+mn-ea"/>
                          <a:cs typeface="+mn-cs"/>
                        </a:rPr>
                        <a:t>ብር </a:t>
                      </a:r>
                      <a:endParaRPr lang="en-US" sz="1800" b="1" i="0" u="none" strike="noStrike" kern="1200" baseline="0" dirty="0" smtClean="0">
                        <a:solidFill>
                          <a:srgbClr val="FF0000"/>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800" b="1" i="0" u="none" strike="noStrike" kern="1200" baseline="0" dirty="0" smtClean="0">
                          <a:solidFill>
                            <a:srgbClr val="FF0000"/>
                          </a:solidFill>
                          <a:latin typeface="+mn-lt"/>
                          <a:ea typeface="+mn-ea"/>
                          <a:cs typeface="+mn-cs"/>
                        </a:rPr>
                        <a:t>3</a:t>
                      </a:r>
                      <a:r>
                        <a:rPr lang="am-ET" sz="1800" b="1" i="0" u="none" strike="noStrike" kern="1200" baseline="0" dirty="0" smtClean="0">
                          <a:solidFill>
                            <a:srgbClr val="FF0000"/>
                          </a:solidFill>
                          <a:latin typeface="+mn-lt"/>
                          <a:ea typeface="+mn-ea"/>
                          <a:cs typeface="+mn-cs"/>
                        </a:rPr>
                        <a:t>00.00 </a:t>
                      </a:r>
                    </a:p>
                  </a:txBody>
                  <a:tcPr/>
                </a:tc>
                <a:tc>
                  <a:txBody>
                    <a:bodyPr/>
                    <a:lstStyle/>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ብር 50,000.00 </a:t>
                      </a:r>
                    </a:p>
                    <a:p>
                      <a:pPr algn="just"/>
                      <a:endParaRPr lang="en-US" sz="1800" b="1" i="0" u="none" strike="noStrike" kern="1200" baseline="0" dirty="0" smtClean="0">
                        <a:solidFill>
                          <a:schemeClr val="dk1"/>
                        </a:solidFill>
                        <a:latin typeface="Power Geez Unicode1" pitchFamily="2" charset="0"/>
                        <a:ea typeface="+mn-ea"/>
                        <a:cs typeface="+mn-cs"/>
                      </a:endParaRPr>
                    </a:p>
                    <a:p>
                      <a:pPr algn="just"/>
                      <a:r>
                        <a:rPr lang="am-ET" sz="1800" b="1" i="0" u="none" strike="noStrike" kern="1200" baseline="0" dirty="0" smtClean="0">
                          <a:solidFill>
                            <a:schemeClr val="dk1"/>
                          </a:solidFill>
                          <a:latin typeface="+mn-lt"/>
                          <a:ea typeface="+mn-ea"/>
                          <a:cs typeface="+mn-cs"/>
                        </a:rPr>
                        <a:t>ብር 5,000.00 </a:t>
                      </a:r>
                    </a:p>
                    <a:p>
                      <a:pPr algn="just"/>
                      <a:endParaRPr lang="en-US" sz="1800" b="1" i="0" u="none" strike="noStrike" kern="1200" baseline="0" dirty="0" smtClean="0">
                        <a:solidFill>
                          <a:schemeClr val="dk1"/>
                        </a:solidFill>
                        <a:latin typeface="Power Geez Unicode1" pitchFamily="2" charset="0"/>
                        <a:ea typeface="+mn-ea"/>
                        <a:cs typeface="+mn-cs"/>
                      </a:endParaRPr>
                    </a:p>
                    <a:p>
                      <a:pPr algn="just"/>
                      <a:endParaRPr lang="en-US" sz="1800" b="1" i="0" u="none" strike="noStrike" kern="1200" baseline="0" dirty="0" smtClean="0">
                        <a:solidFill>
                          <a:schemeClr val="dk1"/>
                        </a:solidFill>
                        <a:latin typeface="Power Geez Unicode1" pitchFamily="2" charset="0"/>
                        <a:ea typeface="+mn-ea"/>
                        <a:cs typeface="+mn-cs"/>
                      </a:endParaRPr>
                    </a:p>
                    <a:p>
                      <a:pPr algn="just"/>
                      <a:endParaRPr lang="en-US" sz="1800" b="1" i="0" u="none" strike="noStrike" kern="1200" baseline="0" dirty="0" smtClean="0">
                        <a:solidFill>
                          <a:schemeClr val="dk1"/>
                        </a:solidFill>
                        <a:latin typeface="Power Geez Unicode1" pitchFamily="2" charset="0"/>
                        <a:ea typeface="+mn-ea"/>
                        <a:cs typeface="+mn-cs"/>
                      </a:endParaRPr>
                    </a:p>
                    <a:p>
                      <a:pPr algn="just"/>
                      <a:r>
                        <a:rPr lang="am-ET" sz="1800" b="1" i="0" u="none" strike="noStrike" kern="1200" baseline="0" dirty="0" smtClean="0">
                          <a:solidFill>
                            <a:schemeClr val="dk1"/>
                          </a:solidFill>
                          <a:latin typeface="+mn-lt"/>
                          <a:ea typeface="+mn-ea"/>
                          <a:cs typeface="+mn-cs"/>
                        </a:rPr>
                        <a:t>ብር 50,000.00 </a:t>
                      </a:r>
                    </a:p>
                    <a:p>
                      <a:pPr algn="just"/>
                      <a:endParaRPr lang="en-US" sz="1800" b="1" i="0" u="none" strike="noStrike" kern="1200" baseline="0" dirty="0" smtClean="0">
                        <a:solidFill>
                          <a:schemeClr val="dk1"/>
                        </a:solidFill>
                        <a:latin typeface="Power Geez Unicode1" pitchFamily="2" charset="0"/>
                        <a:ea typeface="+mn-ea"/>
                        <a:cs typeface="+mn-cs"/>
                      </a:endParaRPr>
                    </a:p>
                    <a:p>
                      <a:pPr algn="just"/>
                      <a:endParaRPr lang="en-US" sz="1800" b="1" i="0" u="none" strike="noStrike" kern="1200" baseline="0" dirty="0" smtClean="0">
                        <a:solidFill>
                          <a:schemeClr val="dk1"/>
                        </a:solidFill>
                        <a:latin typeface="Power Geez Unicode1" pitchFamily="2" charset="0"/>
                        <a:ea typeface="+mn-ea"/>
                        <a:cs typeface="+mn-cs"/>
                      </a:endParaRPr>
                    </a:p>
                    <a:p>
                      <a:pPr algn="just"/>
                      <a:r>
                        <a:rPr lang="am-ET" sz="1800" b="1" i="0" u="none" strike="noStrike" kern="1200" baseline="0" dirty="0" smtClean="0">
                          <a:solidFill>
                            <a:schemeClr val="dk1"/>
                          </a:solidFill>
                          <a:latin typeface="+mn-lt"/>
                          <a:ea typeface="+mn-ea"/>
                          <a:cs typeface="+mn-cs"/>
                        </a:rPr>
                        <a:t>ብር 20,000.00</a:t>
                      </a:r>
                      <a:r>
                        <a:rPr lang="am-ET" sz="1800" b="0" i="0" u="none" strike="noStrike" kern="1200" baseline="0" dirty="0" smtClean="0">
                          <a:solidFill>
                            <a:schemeClr val="dk1"/>
                          </a:solidFill>
                          <a:latin typeface="+mn-lt"/>
                          <a:ea typeface="+mn-ea"/>
                          <a:cs typeface="+mn-cs"/>
                        </a:rPr>
                        <a:t> 	</a:t>
                      </a:r>
                    </a:p>
                  </a:txBody>
                  <a:tcPr/>
                </a:tc>
                <a:tc>
                  <a:txBody>
                    <a:bodyPr/>
                    <a:lstStyle/>
                    <a:p>
                      <a:endParaRPr lang="en-US" dirty="0" smtClean="0"/>
                    </a:p>
                    <a:p>
                      <a:endParaRPr lang="en-US" dirty="0" smtClean="0"/>
                    </a:p>
                    <a:p>
                      <a:endParaRPr lang="en-US" dirty="0" smtClean="0"/>
                    </a:p>
                    <a:p>
                      <a:endParaRPr lang="en-US" dirty="0" smtClean="0"/>
                    </a:p>
                    <a:p>
                      <a:endParaRPr lang="en-US" dirty="0" smtClean="0"/>
                    </a:p>
                    <a:p>
                      <a:endParaRPr lang="en-US"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sz="1800" b="1" i="0" u="none" strike="noStrike" kern="1200" baseline="0" dirty="0" smtClean="0">
                          <a:solidFill>
                            <a:schemeClr val="dk1"/>
                          </a:solidFill>
                          <a:latin typeface="+mn-lt"/>
                          <a:ea typeface="+mn-ea"/>
                          <a:cs typeface="+mn-cs"/>
                        </a:rPr>
                        <a:t>              </a:t>
                      </a:r>
                      <a:r>
                        <a:rPr lang="am-ET" sz="1800" b="1" i="0" u="none" strike="noStrike" kern="1200" baseline="0" dirty="0" smtClean="0">
                          <a:solidFill>
                            <a:schemeClr val="dk1"/>
                          </a:solidFill>
                          <a:latin typeface="+mn-lt"/>
                          <a:ea typeface="+mn-ea"/>
                          <a:cs typeface="+mn-cs"/>
                        </a:rPr>
                        <a:t>በሰንጠረዡ የተቀመጠውን የቅጣት ክፍያ መጠን መክፈልና አካባቢውን ማጽዳት 	</a:t>
                      </a:r>
                    </a:p>
                  </a:txBody>
                  <a:tcPr/>
                </a:tc>
              </a:tr>
              <a:tr h="4501735">
                <a:tc>
                  <a:txBody>
                    <a:bodyPr/>
                    <a:lstStyle/>
                    <a:p>
                      <a:endParaRPr lang="en-US" dirty="0" smtClean="0"/>
                    </a:p>
                    <a:p>
                      <a:endParaRPr lang="en-US" dirty="0" smtClean="0"/>
                    </a:p>
                    <a:p>
                      <a:endParaRPr lang="en-US" dirty="0" smtClean="0"/>
                    </a:p>
                    <a:p>
                      <a:endParaRPr lang="en-US" dirty="0" smtClean="0"/>
                    </a:p>
                    <a:p>
                      <a:endParaRPr lang="en-US" dirty="0" smtClean="0"/>
                    </a:p>
                    <a:p>
                      <a:r>
                        <a:rPr lang="en-US" dirty="0" smtClean="0"/>
                        <a:t>19</a:t>
                      </a:r>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r>
            </a:tbl>
          </a:graphicData>
        </a:graphic>
      </p:graphicFrame>
    </p:spTree>
    <p:extLst>
      <p:ext uri="{BB962C8B-B14F-4D97-AF65-F5344CB8AC3E}">
        <p14:creationId xmlns:p14="http://schemas.microsoft.com/office/powerpoint/2010/main" val="68330094"/>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588672972"/>
              </p:ext>
            </p:extLst>
          </p:nvPr>
        </p:nvGraphicFramePr>
        <p:xfrm>
          <a:off x="0" y="304800"/>
          <a:ext cx="9067800" cy="8654256"/>
        </p:xfrm>
        <a:graphic>
          <a:graphicData uri="http://schemas.openxmlformats.org/drawingml/2006/table">
            <a:tbl>
              <a:tblPr firstRow="1" bandRow="1">
                <a:tableStyleId>{5C22544A-7EE6-4342-B048-85BDC9FD1C3A}</a:tableStyleId>
              </a:tblPr>
              <a:tblGrid>
                <a:gridCol w="711199"/>
                <a:gridCol w="4089401"/>
                <a:gridCol w="1295400"/>
                <a:gridCol w="1600200"/>
                <a:gridCol w="1371600"/>
              </a:tblGrid>
              <a:tr h="628260">
                <a:tc>
                  <a:txBody>
                    <a:bodyPr/>
                    <a:lstStyle/>
                    <a:p>
                      <a:r>
                        <a:rPr lang="am-ET" sz="1800" b="0" i="0" u="none" strike="noStrike" baseline="0" dirty="0" smtClean="0">
                          <a:solidFill>
                            <a:srgbClr val="000000"/>
                          </a:solidFill>
                          <a:latin typeface="Visual Geez Unicode"/>
                        </a:rPr>
                        <a:t>ተ.ቁ</a:t>
                      </a:r>
                      <a:r>
                        <a:rPr lang="am-ET" sz="1400" b="0" i="0" u="none" strike="noStrike" baseline="0" dirty="0" smtClean="0">
                          <a:solidFill>
                            <a:srgbClr val="000000"/>
                          </a:solidFill>
                          <a:latin typeface="Visual Geez Unicode"/>
                        </a:rPr>
                        <a:t> 	</a:t>
                      </a:r>
                      <a:r>
                        <a:rPr lang="en-US" sz="1400" b="0" i="0" u="none" strike="noStrike" baseline="0" dirty="0" smtClean="0">
                          <a:solidFill>
                            <a:srgbClr val="000000"/>
                          </a:solidFill>
                          <a:latin typeface="Power Geez Unicode1" pitchFamily="2" charset="0"/>
                        </a:rPr>
                        <a:t> </a:t>
                      </a:r>
                      <a:endParaRPr lang="am-ET" sz="1400" b="0" i="0" u="none" strike="noStrike" baseline="0" dirty="0" smtClean="0">
                        <a:solidFill>
                          <a:srgbClr val="000000"/>
                        </a:solidFill>
                        <a:latin typeface="Visual Geez Unicode"/>
                      </a:endParaRPr>
                    </a:p>
                  </a:txBody>
                  <a:tcPr/>
                </a:tc>
                <a:tc>
                  <a:txBody>
                    <a:bodyPr/>
                    <a:lstStyle/>
                    <a:p>
                      <a:r>
                        <a:rPr lang="en-US" sz="1800" b="1" i="0" u="none" strike="noStrike" baseline="0" dirty="0" err="1" smtClean="0">
                          <a:solidFill>
                            <a:srgbClr val="FF0000"/>
                          </a:solidFill>
                          <a:latin typeface="Power Geez Unicode1" pitchFamily="2" charset="0"/>
                        </a:rPr>
                        <a:t>የጥፋት</a:t>
                      </a:r>
                      <a:r>
                        <a:rPr lang="en-US" sz="1800" b="1" i="0" u="none" strike="noStrike" baseline="0" dirty="0" smtClean="0">
                          <a:solidFill>
                            <a:srgbClr val="FF0000"/>
                          </a:solidFill>
                          <a:latin typeface="Power Geez Unicode1" pitchFamily="2" charset="0"/>
                        </a:rPr>
                        <a:t> </a:t>
                      </a:r>
                      <a:r>
                        <a:rPr lang="en-US" sz="1800" b="1" i="0" u="none" strike="noStrike" baseline="0" dirty="0" err="1" smtClean="0">
                          <a:solidFill>
                            <a:srgbClr val="FF0000"/>
                          </a:solidFill>
                          <a:latin typeface="Power Geez Unicode1" pitchFamily="2" charset="0"/>
                        </a:rPr>
                        <a:t>አይነቶች</a:t>
                      </a:r>
                      <a:endParaRPr lang="am-ET" sz="1800" b="1" i="0" u="none" strike="noStrike" baseline="0" dirty="0" smtClean="0">
                        <a:solidFill>
                          <a:srgbClr val="FF0000"/>
                        </a:solidFill>
                        <a:latin typeface="Visual Geez Unicode"/>
                      </a:endParaRPr>
                    </a:p>
                  </a:txBody>
                  <a:tcPr/>
                </a:tc>
                <a:tc>
                  <a:txBody>
                    <a:bodyPr/>
                    <a:lstStyle/>
                    <a:p>
                      <a:r>
                        <a:rPr lang="en-US" sz="1400" b="0" i="0" u="none" strike="noStrike" baseline="0" dirty="0" err="1" smtClean="0">
                          <a:solidFill>
                            <a:srgbClr val="000000"/>
                          </a:solidFill>
                          <a:latin typeface="Power Geez Unicode1" pitchFamily="2" charset="0"/>
                        </a:rPr>
                        <a:t>ቀድሞ</a:t>
                      </a:r>
                      <a:r>
                        <a:rPr lang="en-US" sz="1400" b="0" i="0" u="none" strike="noStrike" baseline="0" dirty="0" smtClean="0">
                          <a:solidFill>
                            <a:srgbClr val="000000"/>
                          </a:solidFill>
                          <a:latin typeface="Power Geez Unicode1" pitchFamily="2" charset="0"/>
                        </a:rPr>
                        <a:t> በነበረው150/2015 </a:t>
                      </a:r>
                      <a:r>
                        <a:rPr lang="en-US" sz="1400" b="0" i="0" u="none" strike="noStrike" baseline="0" dirty="0" err="1" smtClean="0">
                          <a:solidFill>
                            <a:srgbClr val="000000"/>
                          </a:solidFill>
                          <a:latin typeface="Power Geez Unicode1" pitchFamily="2" charset="0"/>
                        </a:rPr>
                        <a:t>የተቀመጠ</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ቅጣት</a:t>
                      </a:r>
                      <a:endParaRPr lang="am-ET" sz="1400" b="0" i="0" u="none" strike="noStrike" baseline="0" dirty="0" smtClean="0">
                        <a:solidFill>
                          <a:srgbClr val="000000"/>
                        </a:solidFill>
                        <a:latin typeface="Visual Geez Unicode"/>
                      </a:endParaRPr>
                    </a:p>
                  </a:txBody>
                  <a:tcPr/>
                </a:tc>
                <a:tc>
                  <a:txBody>
                    <a:bodyPr/>
                    <a:lstStyle/>
                    <a:p>
                      <a:r>
                        <a:rPr lang="en-US" sz="1400" b="0" i="0" u="none" strike="noStrike" baseline="0" dirty="0" err="1" smtClean="0">
                          <a:solidFill>
                            <a:srgbClr val="000000"/>
                          </a:solidFill>
                          <a:latin typeface="Power Geez Unicode1" pitchFamily="2" charset="0"/>
                        </a:rPr>
                        <a:t>አሁን</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በተሸሻለው</a:t>
                      </a:r>
                      <a:r>
                        <a:rPr lang="en-US" sz="1400" b="0" i="0" u="none" strike="noStrike" baseline="0" dirty="0" smtClean="0">
                          <a:solidFill>
                            <a:srgbClr val="000000"/>
                          </a:solidFill>
                          <a:latin typeface="Power Geez Unicode1" pitchFamily="2" charset="0"/>
                        </a:rPr>
                        <a:t> 167/16 </a:t>
                      </a:r>
                      <a:r>
                        <a:rPr lang="en-US" sz="1400" b="0" i="0" u="none" strike="noStrike" baseline="0" dirty="0" err="1" smtClean="0">
                          <a:solidFill>
                            <a:srgbClr val="000000"/>
                          </a:solidFill>
                          <a:latin typeface="Power Geez Unicode1" pitchFamily="2" charset="0"/>
                        </a:rPr>
                        <a:t>የተቀመጠ</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ቅጣት</a:t>
                      </a:r>
                      <a:endParaRPr lang="am-ET" sz="1400" b="0" i="0" u="none" strike="noStrike" baseline="0" dirty="0" smtClean="0">
                        <a:solidFill>
                          <a:srgbClr val="000000"/>
                        </a:solidFill>
                        <a:latin typeface="Visual Geez Unicode"/>
                      </a:endParaRPr>
                    </a:p>
                  </a:txBody>
                  <a:tcPr/>
                </a:tc>
                <a:tc>
                  <a:txBody>
                    <a:bodyPr/>
                    <a:lstStyle/>
                    <a:p>
                      <a:r>
                        <a:rPr lang="en-US" sz="1600" dirty="0" err="1" smtClean="0">
                          <a:solidFill>
                            <a:schemeClr val="tx1"/>
                          </a:solidFill>
                          <a:latin typeface="Power Geez Unicode1" pitchFamily="2" charset="0"/>
                        </a:rPr>
                        <a:t>ከህገ</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ወጥ</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ፈፃሚው</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የሚጠበቅ</a:t>
                      </a:r>
                      <a:endParaRPr lang="en-US" sz="1600" dirty="0">
                        <a:solidFill>
                          <a:schemeClr val="tx1"/>
                        </a:solidFill>
                        <a:latin typeface="Power Geez Unicode1" pitchFamily="2" charset="0"/>
                      </a:endParaRPr>
                    </a:p>
                  </a:txBody>
                  <a:tcPr/>
                </a:tc>
              </a:tr>
              <a:tr h="5684520">
                <a:tc>
                  <a:txBody>
                    <a:bodyPr/>
                    <a:lstStyle/>
                    <a:p>
                      <a:endParaRPr lang="en-US" sz="2400" dirty="0" smtClean="0">
                        <a:latin typeface="Power Geez Unicode1" pitchFamily="2" charset="0"/>
                      </a:endParaRPr>
                    </a:p>
                    <a:p>
                      <a:endParaRPr lang="en-US" sz="2400" dirty="0" smtClean="0">
                        <a:latin typeface="Power Geez Unicode1" pitchFamily="2" charset="0"/>
                      </a:endParaRPr>
                    </a:p>
                    <a:p>
                      <a:r>
                        <a:rPr lang="en-US" sz="2400" dirty="0" smtClean="0">
                          <a:latin typeface="Power Geez Unicode1" pitchFamily="2" charset="0"/>
                        </a:rPr>
                        <a:t>20</a:t>
                      </a: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r>
                        <a:rPr lang="en-US" sz="2400" dirty="0" smtClean="0">
                          <a:latin typeface="Power Geez Unicode1" pitchFamily="2" charset="0"/>
                        </a:rPr>
                        <a:t>21</a:t>
                      </a: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endParaRPr lang="en-US" sz="1800" b="0"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rgbClr val="FF0000"/>
                          </a:solidFill>
                          <a:latin typeface="+mn-lt"/>
                          <a:ea typeface="+mn-ea"/>
                          <a:cs typeface="+mn-cs"/>
                        </a:rPr>
                        <a:t>20.1</a:t>
                      </a:r>
                      <a:r>
                        <a:rPr lang="am-ET" sz="1800" b="1" i="0" u="none" strike="noStrike" kern="1200" baseline="0" dirty="0" smtClean="0">
                          <a:solidFill>
                            <a:schemeClr val="dk1"/>
                          </a:solidFill>
                          <a:latin typeface="+mn-lt"/>
                          <a:ea typeface="+mn-ea"/>
                          <a:cs typeface="+mn-cs"/>
                        </a:rPr>
                        <a:t> ከግንባታ ወይም ከፍርስራሽ የሚመነጭ ደረቅ ቆሻሻን ባልተፈቀደ ቦታ የጣለ ግለሰብ/ድርጅት </a:t>
                      </a:r>
                      <a:endParaRPr lang="en-US" sz="1800" b="1" i="0" u="none" strike="noStrike" kern="1200" baseline="0" dirty="0" smtClean="0">
                        <a:solidFill>
                          <a:schemeClr val="dk1"/>
                        </a:solidFill>
                        <a:latin typeface="+mn-lt"/>
                        <a:ea typeface="+mn-ea"/>
                        <a:cs typeface="+mn-cs"/>
                      </a:endParaRPr>
                    </a:p>
                    <a:p>
                      <a:pPr algn="just"/>
                      <a:endParaRPr lang="am-ET"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rgbClr val="FF0000"/>
                          </a:solidFill>
                          <a:latin typeface="+mn-lt"/>
                          <a:ea typeface="+mn-ea"/>
                          <a:cs typeface="+mn-cs"/>
                        </a:rPr>
                        <a:t>20.2</a:t>
                      </a:r>
                      <a:r>
                        <a:rPr lang="am-ET" sz="1800" b="1" i="0" u="none" strike="noStrike" kern="1200" baseline="0" dirty="0" smtClean="0">
                          <a:solidFill>
                            <a:schemeClr val="dk1"/>
                          </a:solidFill>
                          <a:latin typeface="+mn-lt"/>
                          <a:ea typeface="+mn-ea"/>
                          <a:cs typeface="+mn-cs"/>
                        </a:rPr>
                        <a:t> </a:t>
                      </a:r>
                      <a:r>
                        <a:rPr lang="am-ET" sz="1800" b="1" i="0" u="none" strike="noStrike" kern="1200" baseline="0" dirty="0" smtClean="0">
                          <a:solidFill>
                            <a:srgbClr val="7030A0"/>
                          </a:solidFill>
                          <a:latin typeface="+mn-lt"/>
                          <a:ea typeface="+mn-ea"/>
                          <a:cs typeface="+mn-cs"/>
                        </a:rPr>
                        <a:t>በከግንባታ ማዕከል በተሽከርካሪ ጎማ እንቅስቃሴ ወይም በጭነት ወቅት በሚንጠባጠብ አፈር፤ ጭቃ፤ ፍርስራሽ የመሳሰሉትን ምክንያት በሚፈጠር ቆሻሻ አካባቢውና መንገዱ ያበላሸ የግንባታ ባለቤት </a:t>
                      </a:r>
                    </a:p>
                    <a:p>
                      <a:r>
                        <a:rPr lang="en-US" sz="1800" b="0" i="0" u="none" strike="noStrike" kern="1200" baseline="0" dirty="0" smtClean="0">
                          <a:solidFill>
                            <a:schemeClr val="dk1"/>
                          </a:solidFill>
                          <a:latin typeface="+mn-lt"/>
                          <a:ea typeface="+mn-ea"/>
                          <a:cs typeface="+mn-cs"/>
                        </a:rPr>
                        <a:t>	</a:t>
                      </a:r>
                      <a:endParaRPr lang="en-US" sz="24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የአጥንትና የስጋ ተረፈ ምርትን ባልተፈቀደ ቦታ የጣለ </a:t>
                      </a:r>
                    </a:p>
                    <a:p>
                      <a:pPr algn="just"/>
                      <a:r>
                        <a:rPr lang="am-ET" sz="1800" b="1" i="0" u="none" strike="noStrike" kern="1200" baseline="0" dirty="0" smtClean="0">
                          <a:solidFill>
                            <a:schemeClr val="dk1"/>
                          </a:solidFill>
                          <a:latin typeface="+mn-lt"/>
                          <a:ea typeface="+mn-ea"/>
                          <a:cs typeface="+mn-cs"/>
                        </a:rPr>
                        <a:t>ግለሰብ/ </a:t>
                      </a:r>
                    </a:p>
                    <a:p>
                      <a:pPr algn="just"/>
                      <a:r>
                        <a:rPr lang="am-ET" sz="1800" b="1" i="0" u="none" strike="noStrike" kern="1200" baseline="0" dirty="0" smtClean="0">
                          <a:solidFill>
                            <a:schemeClr val="dk1"/>
                          </a:solidFill>
                          <a:latin typeface="+mn-lt"/>
                          <a:ea typeface="+mn-ea"/>
                          <a:cs typeface="+mn-cs"/>
                        </a:rPr>
                        <a:t>ድርጅት </a:t>
                      </a:r>
                      <a:r>
                        <a:rPr lang="am-ET" sz="1800" b="0" i="0" u="none" strike="noStrike" kern="1200" baseline="0" dirty="0" smtClean="0">
                          <a:solidFill>
                            <a:schemeClr val="dk1"/>
                          </a:solidFill>
                          <a:latin typeface="+mn-lt"/>
                          <a:ea typeface="+mn-ea"/>
                          <a:cs typeface="+mn-cs"/>
                        </a:rPr>
                        <a:t>	</a:t>
                      </a:r>
                    </a:p>
                    <a:p>
                      <a:pPr algn="just"/>
                      <a:endParaRPr lang="en-US" sz="24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	</a:t>
                      </a:r>
                      <a:endParaRPr lang="en-US" sz="1800" b="0" i="0" u="none" strike="noStrike" kern="1200" baseline="0" dirty="0" smtClean="0">
                        <a:solidFill>
                          <a:schemeClr val="dk1"/>
                        </a:solidFill>
                        <a:latin typeface="+mn-lt"/>
                        <a:ea typeface="+mn-ea"/>
                        <a:cs typeface="+mn-cs"/>
                      </a:endParaRPr>
                    </a:p>
                    <a:p>
                      <a:endParaRPr lang="en-US" sz="1800" b="0" i="0" u="none" strike="noStrike" kern="1200" baseline="0" dirty="0" smtClean="0">
                        <a:solidFill>
                          <a:schemeClr val="dk1"/>
                        </a:solidFill>
                        <a:latin typeface="+mn-lt"/>
                        <a:ea typeface="+mn-ea"/>
                        <a:cs typeface="+mn-cs"/>
                      </a:endParaRPr>
                    </a:p>
                  </a:txBody>
                  <a:tcPr>
                    <a:lnB w="12700" cap="flat" cmpd="sng" algn="ctr">
                      <a:solidFill>
                        <a:schemeClr val="tx1"/>
                      </a:solidFill>
                      <a:prstDash val="solid"/>
                      <a:round/>
                      <a:headEnd type="none" w="med" len="med"/>
                      <a:tailEnd type="none" w="med" len="med"/>
                    </a:lnB>
                  </a:tcPr>
                </a:tc>
                <a:tc>
                  <a:txBody>
                    <a:bodyPr/>
                    <a:lstStyle/>
                    <a:p>
                      <a:r>
                        <a:rPr lang="en-US" sz="2400" dirty="0" smtClean="0">
                          <a:latin typeface="Power Geez Unicode1" pitchFamily="2" charset="0"/>
                        </a:rPr>
                        <a:t> </a:t>
                      </a:r>
                    </a:p>
                    <a:p>
                      <a:pPr marL="0" marR="0" indent="0" algn="l" defTabSz="914400" rtl="0" eaLnBrk="1" fontAlgn="auto" latinLnBrk="0" hangingPunct="1">
                        <a:lnSpc>
                          <a:spcPct val="100000"/>
                        </a:lnSpc>
                        <a:spcBef>
                          <a:spcPts val="0"/>
                        </a:spcBef>
                        <a:spcAft>
                          <a:spcPts val="0"/>
                        </a:spcAft>
                        <a:buClrTx/>
                        <a:buSzTx/>
                        <a:buFontTx/>
                        <a:buNone/>
                        <a:tabLst/>
                        <a:defRPr/>
                      </a:pPr>
                      <a:r>
                        <a:rPr lang="am-ET" sz="2000" b="1" i="0" u="none" strike="noStrike" kern="1200" baseline="0" dirty="0" smtClean="0">
                          <a:solidFill>
                            <a:srgbClr val="FF0000"/>
                          </a:solidFill>
                          <a:latin typeface="+mn-lt"/>
                          <a:ea typeface="+mn-ea"/>
                          <a:cs typeface="+mn-cs"/>
                        </a:rPr>
                        <a:t>ብር 5,000.00 </a:t>
                      </a:r>
                    </a:p>
                    <a:p>
                      <a:endParaRPr lang="en-US" sz="2400" b="1" dirty="0" smtClean="0">
                        <a:latin typeface="Power Geez Unicode1" pitchFamily="2"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2000" b="1" i="0" u="none" strike="noStrike" kern="1200" baseline="0" dirty="0" smtClean="0">
                          <a:solidFill>
                            <a:srgbClr val="FF0000"/>
                          </a:solidFill>
                          <a:latin typeface="+mn-lt"/>
                          <a:ea typeface="+mn-ea"/>
                          <a:cs typeface="+mn-cs"/>
                        </a:rPr>
                        <a:t>ብር </a:t>
                      </a:r>
                      <a:r>
                        <a:rPr lang="en-US" sz="2000" b="1" i="0" u="none" strike="noStrike" kern="1200" baseline="0" dirty="0" smtClean="0">
                          <a:solidFill>
                            <a:srgbClr val="FF0000"/>
                          </a:solidFill>
                          <a:latin typeface="+mn-lt"/>
                          <a:ea typeface="+mn-ea"/>
                          <a:cs typeface="+mn-cs"/>
                        </a:rPr>
                        <a:t>2</a:t>
                      </a:r>
                      <a:r>
                        <a:rPr lang="am-ET" sz="2000" b="1" i="0" u="none" strike="noStrike" kern="1200" baseline="0" dirty="0" smtClean="0">
                          <a:solidFill>
                            <a:srgbClr val="FF0000"/>
                          </a:solidFill>
                          <a:latin typeface="+mn-lt"/>
                          <a:ea typeface="+mn-ea"/>
                          <a:cs typeface="+mn-cs"/>
                        </a:rPr>
                        <a:t>,000.00 </a:t>
                      </a:r>
                    </a:p>
                    <a:p>
                      <a:endParaRPr lang="en-US" sz="2400" b="1" dirty="0" smtClean="0">
                        <a:latin typeface="Power Geez Unicode1" pitchFamily="2" charset="0"/>
                      </a:endParaRPr>
                    </a:p>
                    <a:p>
                      <a:endParaRPr lang="en-US" sz="2400" b="1" dirty="0" smtClean="0">
                        <a:latin typeface="Power Geez Unicode1" pitchFamily="2" charset="0"/>
                      </a:endParaRPr>
                    </a:p>
                    <a:p>
                      <a:endParaRPr lang="en-US" sz="2400" b="1" dirty="0" smtClean="0">
                        <a:latin typeface="Power Geez Unicode1" pitchFamily="2" charset="0"/>
                      </a:endParaRPr>
                    </a:p>
                    <a:p>
                      <a:endParaRPr lang="en-US" sz="2400" b="1" dirty="0" smtClean="0">
                        <a:latin typeface="Power Geez Unicode1" pitchFamily="2"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2400" b="1" i="0" u="none" strike="noStrike" kern="1200" baseline="0" dirty="0" smtClean="0">
                          <a:solidFill>
                            <a:srgbClr val="FF0000"/>
                          </a:solidFill>
                          <a:latin typeface="+mn-lt"/>
                          <a:ea typeface="+mn-ea"/>
                          <a:cs typeface="+mn-cs"/>
                        </a:rPr>
                        <a:t>ብር </a:t>
                      </a:r>
                      <a:r>
                        <a:rPr lang="en-US" sz="2000" b="1" i="0" u="none" strike="noStrike" kern="1200" baseline="0" dirty="0" smtClean="0">
                          <a:solidFill>
                            <a:srgbClr val="FF0000"/>
                          </a:solidFill>
                          <a:latin typeface="+mn-lt"/>
                          <a:ea typeface="+mn-ea"/>
                          <a:cs typeface="+mn-cs"/>
                        </a:rPr>
                        <a:t>1</a:t>
                      </a:r>
                      <a:r>
                        <a:rPr lang="am-ET" sz="2000" b="1" i="0" u="none" strike="noStrike" kern="1200" baseline="0" dirty="0" smtClean="0">
                          <a:solidFill>
                            <a:srgbClr val="FF0000"/>
                          </a:solidFill>
                          <a:latin typeface="+mn-lt"/>
                          <a:ea typeface="+mn-ea"/>
                          <a:cs typeface="+mn-cs"/>
                        </a:rPr>
                        <a:t>,000.00 </a:t>
                      </a:r>
                      <a:endParaRPr lang="am-ET" sz="2400" b="1" i="0" u="none" strike="noStrike" kern="1200" baseline="0" dirty="0" smtClean="0">
                        <a:solidFill>
                          <a:srgbClr val="FF0000"/>
                        </a:solidFill>
                        <a:latin typeface="+mn-lt"/>
                        <a:ea typeface="+mn-ea"/>
                        <a:cs typeface="+mn-cs"/>
                      </a:endParaRPr>
                    </a:p>
                    <a:p>
                      <a:endParaRPr lang="en-US" sz="2400" b="1" dirty="0" smtClean="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endParaRPr lang="en-US" sz="1800" b="1" dirty="0" smtClean="0">
                        <a:latin typeface="Power Geez Unicode1" pitchFamily="2" charset="0"/>
                      </a:endParaRPr>
                    </a:p>
                    <a:p>
                      <a:r>
                        <a:rPr lang="am-ET" sz="1800" b="1" i="0" u="none" strike="noStrike" kern="1200" baseline="0" dirty="0" smtClean="0">
                          <a:solidFill>
                            <a:schemeClr val="dk1"/>
                          </a:solidFill>
                          <a:latin typeface="+mn-lt"/>
                          <a:ea typeface="+mn-ea"/>
                          <a:cs typeface="+mn-cs"/>
                        </a:rPr>
                        <a:t>ብር 5,000.00 ለአሻከርከሪ/ ብር 50000.00 ለድርጅት </a:t>
                      </a:r>
                    </a:p>
                    <a:p>
                      <a:pPr algn="just"/>
                      <a:r>
                        <a:rPr lang="am-ET" sz="1800" b="1" i="0" u="none" strike="noStrike" kern="1200" baseline="0" dirty="0" smtClean="0">
                          <a:solidFill>
                            <a:srgbClr val="7030A0"/>
                          </a:solidFill>
                          <a:latin typeface="+mn-lt"/>
                          <a:ea typeface="+mn-ea"/>
                          <a:cs typeface="+mn-cs"/>
                        </a:rPr>
                        <a:t>ብር 5,000.00 ለአሽከርካሪ/ ብር 50000.00 ለድርጅት </a:t>
                      </a:r>
                      <a:r>
                        <a:rPr lang="am-ET" sz="1800" b="0" i="0" u="none" strike="noStrike" kern="1200" baseline="0" dirty="0" smtClean="0">
                          <a:solidFill>
                            <a:srgbClr val="7030A0"/>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	</a:t>
                      </a:r>
                    </a:p>
                    <a:p>
                      <a:endParaRPr lang="en-US" sz="1800" b="1" i="0" u="none" strike="noStrike" kern="1200" baseline="0" dirty="0" smtClean="0">
                        <a:solidFill>
                          <a:schemeClr val="dk1"/>
                        </a:solidFill>
                        <a:latin typeface="Power Geez Unicode1" pitchFamily="2"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 </a:t>
                      </a:r>
                      <a:endParaRPr lang="en-US" sz="1800" b="0" i="0" u="none" strike="noStrike" kern="1200" baseline="0" dirty="0" smtClean="0">
                        <a:solidFill>
                          <a:schemeClr val="dk1"/>
                        </a:solidFill>
                        <a:latin typeface="+mn-lt"/>
                        <a:ea typeface="+mn-ea"/>
                        <a:cs typeface="+mn-cs"/>
                      </a:endParaRPr>
                    </a:p>
                    <a:p>
                      <a:r>
                        <a:rPr lang="am-ET" sz="1800" b="1" i="0" u="none" strike="noStrike" kern="1200" baseline="0" dirty="0" smtClean="0">
                          <a:solidFill>
                            <a:schemeClr val="dk1"/>
                          </a:solidFill>
                          <a:latin typeface="+mn-lt"/>
                          <a:ea typeface="+mn-ea"/>
                          <a:cs typeface="+mn-cs"/>
                        </a:rPr>
                        <a:t>ብር 5,000.00 </a:t>
                      </a:r>
                    </a:p>
                    <a:p>
                      <a:r>
                        <a:rPr lang="am-ET" sz="1800" b="1" i="0" u="none" strike="noStrike" kern="1200" baseline="0" dirty="0" smtClean="0">
                          <a:solidFill>
                            <a:schemeClr val="dk1"/>
                          </a:solidFill>
                          <a:latin typeface="+mn-lt"/>
                          <a:ea typeface="+mn-ea"/>
                          <a:cs typeface="+mn-cs"/>
                        </a:rPr>
                        <a:t>ብር 50,000.00 </a:t>
                      </a:r>
                      <a:r>
                        <a:rPr lang="am-ET" sz="1800" b="0" i="0" u="none" strike="noStrike" kern="1200" baseline="0" dirty="0" smtClean="0">
                          <a:solidFill>
                            <a:schemeClr val="dk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am-ET" sz="1800" b="1" i="0" u="none" strike="noStrike" kern="1200" baseline="0" dirty="0" smtClean="0">
                        <a:solidFill>
                          <a:schemeClr val="dk1"/>
                        </a:solidFill>
                        <a:latin typeface="+mn-lt"/>
                        <a:ea typeface="+mn-ea"/>
                        <a:cs typeface="+mn-cs"/>
                      </a:endParaRPr>
                    </a:p>
                  </a:txBody>
                  <a:tcPr>
                    <a:lnB w="12700" cap="flat" cmpd="sng" algn="ctr">
                      <a:solidFill>
                        <a:schemeClr val="tx1"/>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txBody>
                  <a:tcPr>
                    <a:lnB w="12700" cap="flat" cmpd="sng" algn="ctr">
                      <a:solidFill>
                        <a:schemeClr val="tx1"/>
                      </a:solidFill>
                      <a:prstDash val="solid"/>
                      <a:round/>
                      <a:headEnd type="none" w="med" len="med"/>
                      <a:tailEnd type="none" w="med" len="med"/>
                    </a:lnB>
                  </a:tcPr>
                </a:tc>
              </a:tr>
              <a:tr h="2024856">
                <a:tc>
                  <a:txBody>
                    <a:bodyPr/>
                    <a:lstStyle/>
                    <a:p>
                      <a:endParaRPr lang="en-US" sz="2400" dirty="0" smtClean="0">
                        <a:latin typeface="Power Geez Unicode1" pitchFamily="2" charset="0"/>
                      </a:endParaRPr>
                    </a:p>
                    <a:p>
                      <a:endParaRPr lang="en-US" sz="2400" dirty="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am-ET" sz="2400" b="1" i="0" u="none" strike="noStrike" kern="1200" baseline="0" dirty="0" smtClean="0">
                          <a:solidFill>
                            <a:schemeClr val="dk1"/>
                          </a:solidFill>
                          <a:latin typeface="+mn-lt"/>
                          <a:ea typeface="+mn-ea"/>
                          <a:cs typeface="+mn-cs"/>
                        </a:rPr>
                        <a:t>	</a:t>
                      </a:r>
                    </a:p>
                    <a:p>
                      <a:pPr algn="just"/>
                      <a:r>
                        <a:rPr lang="en-US" sz="1400" b="1" dirty="0" smtClean="0">
                          <a:effectLst/>
                          <a:latin typeface="Power Geez Unicode1" pitchFamily="2" charset="0"/>
                          <a:ea typeface="Times New Roman"/>
                          <a:cs typeface="Visual Geez Unicode"/>
                        </a:rPr>
                        <a:t>     </a:t>
                      </a:r>
                      <a:endParaRPr lang="en-US" sz="3200" b="1"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28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1800" b="1" dirty="0" smtClean="0">
                        <a:latin typeface="Power Geez Unicode1" pitchFamily="2" charset="0"/>
                      </a:endParaRPr>
                    </a:p>
                    <a:p>
                      <a:pPr marL="0" marR="0" algn="ctr">
                        <a:spcBef>
                          <a:spcPts val="1000"/>
                        </a:spcBef>
                        <a:spcAft>
                          <a:spcPts val="0"/>
                        </a:spcAft>
                      </a:pPr>
                      <a:endParaRPr lang="en-US" sz="2800" b="0" dirty="0" smtClean="0">
                        <a:solidFill>
                          <a:srgbClr val="4F81BD"/>
                        </a:solidFill>
                        <a:effectLst/>
                        <a:latin typeface="Power Geez Unicode1" pitchFamily="2" charset="0"/>
                        <a:ea typeface="Times New Roman"/>
                        <a:cs typeface="Visual Geez Unicode"/>
                      </a:endParaRPr>
                    </a:p>
                    <a:p>
                      <a:endParaRPr lang="en-US" sz="2800" dirty="0" smtClean="0">
                        <a:latin typeface="Power Geez Unicode1" pitchFamily="2" charset="0"/>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1893751328"/>
      </p:ext>
    </p:extLst>
  </p:cSld>
  <p:clrMapOvr>
    <a:masterClrMapping/>
  </p:clrMapOvr>
  <p:transition spd="slow">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486882528"/>
              </p:ext>
            </p:extLst>
          </p:nvPr>
        </p:nvGraphicFramePr>
        <p:xfrm>
          <a:off x="0" y="304800"/>
          <a:ext cx="9067800" cy="8882856"/>
        </p:xfrm>
        <a:graphic>
          <a:graphicData uri="http://schemas.openxmlformats.org/drawingml/2006/table">
            <a:tbl>
              <a:tblPr firstRow="1" bandRow="1">
                <a:tableStyleId>{5C22544A-7EE6-4342-B048-85BDC9FD1C3A}</a:tableStyleId>
              </a:tblPr>
              <a:tblGrid>
                <a:gridCol w="711199"/>
                <a:gridCol w="4089401"/>
                <a:gridCol w="1295400"/>
                <a:gridCol w="1600200"/>
                <a:gridCol w="1371600"/>
              </a:tblGrid>
              <a:tr h="628260">
                <a:tc>
                  <a:txBody>
                    <a:bodyPr/>
                    <a:lstStyle/>
                    <a:p>
                      <a:r>
                        <a:rPr lang="am-ET" sz="1800" b="0" i="0" u="none" strike="noStrike" baseline="0" dirty="0" smtClean="0">
                          <a:solidFill>
                            <a:srgbClr val="000000"/>
                          </a:solidFill>
                          <a:latin typeface="Visual Geez Unicode"/>
                        </a:rPr>
                        <a:t>ተ.ቁ</a:t>
                      </a:r>
                      <a:r>
                        <a:rPr lang="am-ET" sz="1400" b="0" i="0" u="none" strike="noStrike" baseline="0" dirty="0" smtClean="0">
                          <a:solidFill>
                            <a:srgbClr val="000000"/>
                          </a:solidFill>
                          <a:latin typeface="Visual Geez Unicode"/>
                        </a:rPr>
                        <a:t> 	</a:t>
                      </a:r>
                      <a:r>
                        <a:rPr lang="en-US" sz="1400" b="0" i="0" u="none" strike="noStrike" baseline="0" dirty="0" smtClean="0">
                          <a:solidFill>
                            <a:srgbClr val="000000"/>
                          </a:solidFill>
                          <a:latin typeface="Power Geez Unicode1" pitchFamily="2" charset="0"/>
                        </a:rPr>
                        <a:t> </a:t>
                      </a:r>
                      <a:endParaRPr lang="am-ET" sz="1400" b="0" i="0" u="none" strike="noStrike" baseline="0" dirty="0" smtClean="0">
                        <a:solidFill>
                          <a:srgbClr val="000000"/>
                        </a:solidFill>
                        <a:latin typeface="Visual Geez Unicode"/>
                      </a:endParaRPr>
                    </a:p>
                  </a:txBody>
                  <a:tcPr/>
                </a:tc>
                <a:tc>
                  <a:txBody>
                    <a:bodyPr/>
                    <a:lstStyle/>
                    <a:p>
                      <a:r>
                        <a:rPr lang="en-US" sz="1800" b="1" i="0" u="none" strike="noStrike" baseline="0" dirty="0" err="1" smtClean="0">
                          <a:solidFill>
                            <a:srgbClr val="FF0000"/>
                          </a:solidFill>
                          <a:latin typeface="Power Geez Unicode1" pitchFamily="2" charset="0"/>
                        </a:rPr>
                        <a:t>የጥፋት</a:t>
                      </a:r>
                      <a:r>
                        <a:rPr lang="en-US" sz="1800" b="1" i="0" u="none" strike="noStrike" baseline="0" dirty="0" smtClean="0">
                          <a:solidFill>
                            <a:srgbClr val="FF0000"/>
                          </a:solidFill>
                          <a:latin typeface="Power Geez Unicode1" pitchFamily="2" charset="0"/>
                        </a:rPr>
                        <a:t> </a:t>
                      </a:r>
                      <a:r>
                        <a:rPr lang="en-US" sz="1800" b="1" i="0" u="none" strike="noStrike" baseline="0" dirty="0" err="1" smtClean="0">
                          <a:solidFill>
                            <a:srgbClr val="FF0000"/>
                          </a:solidFill>
                          <a:latin typeface="Power Geez Unicode1" pitchFamily="2" charset="0"/>
                        </a:rPr>
                        <a:t>አይነቶች</a:t>
                      </a:r>
                      <a:endParaRPr lang="am-ET" sz="1800" b="1" i="0" u="none" strike="noStrike" baseline="0" dirty="0" smtClean="0">
                        <a:solidFill>
                          <a:srgbClr val="FF0000"/>
                        </a:solidFill>
                        <a:latin typeface="Visual Geez Unicode"/>
                      </a:endParaRPr>
                    </a:p>
                  </a:txBody>
                  <a:tcPr/>
                </a:tc>
                <a:tc>
                  <a:txBody>
                    <a:bodyPr/>
                    <a:lstStyle/>
                    <a:p>
                      <a:r>
                        <a:rPr lang="en-US" sz="1400" b="0" i="0" u="none" strike="noStrike" baseline="0" dirty="0" err="1" smtClean="0">
                          <a:solidFill>
                            <a:srgbClr val="000000"/>
                          </a:solidFill>
                          <a:latin typeface="Power Geez Unicode1" pitchFamily="2" charset="0"/>
                        </a:rPr>
                        <a:t>ቀድሞ</a:t>
                      </a:r>
                      <a:r>
                        <a:rPr lang="en-US" sz="1400" b="0" i="0" u="none" strike="noStrike" baseline="0" dirty="0" smtClean="0">
                          <a:solidFill>
                            <a:srgbClr val="000000"/>
                          </a:solidFill>
                          <a:latin typeface="Power Geez Unicode1" pitchFamily="2" charset="0"/>
                        </a:rPr>
                        <a:t> በነበረው150/2015 </a:t>
                      </a:r>
                      <a:r>
                        <a:rPr lang="en-US" sz="1400" b="0" i="0" u="none" strike="noStrike" baseline="0" dirty="0" err="1" smtClean="0">
                          <a:solidFill>
                            <a:srgbClr val="000000"/>
                          </a:solidFill>
                          <a:latin typeface="Power Geez Unicode1" pitchFamily="2" charset="0"/>
                        </a:rPr>
                        <a:t>የተቀመጠ</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ቅጣት</a:t>
                      </a:r>
                      <a:endParaRPr lang="am-ET" sz="1400" b="0" i="0" u="none" strike="noStrike" baseline="0" dirty="0" smtClean="0">
                        <a:solidFill>
                          <a:srgbClr val="000000"/>
                        </a:solidFill>
                        <a:latin typeface="Visual Geez Unicode"/>
                      </a:endParaRPr>
                    </a:p>
                  </a:txBody>
                  <a:tcPr/>
                </a:tc>
                <a:tc>
                  <a:txBody>
                    <a:bodyPr/>
                    <a:lstStyle/>
                    <a:p>
                      <a:r>
                        <a:rPr lang="en-US" sz="1400" b="0" i="0" u="none" strike="noStrike" baseline="0" dirty="0" err="1" smtClean="0">
                          <a:solidFill>
                            <a:srgbClr val="000000"/>
                          </a:solidFill>
                          <a:latin typeface="Power Geez Unicode1" pitchFamily="2" charset="0"/>
                        </a:rPr>
                        <a:t>አሁን</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በተሸሻለው</a:t>
                      </a:r>
                      <a:r>
                        <a:rPr lang="en-US" sz="1400" b="0" i="0" u="none" strike="noStrike" baseline="0" dirty="0" smtClean="0">
                          <a:solidFill>
                            <a:srgbClr val="000000"/>
                          </a:solidFill>
                          <a:latin typeface="Power Geez Unicode1" pitchFamily="2" charset="0"/>
                        </a:rPr>
                        <a:t> 167/16 </a:t>
                      </a:r>
                      <a:r>
                        <a:rPr lang="en-US" sz="1400" b="0" i="0" u="none" strike="noStrike" baseline="0" dirty="0" err="1" smtClean="0">
                          <a:solidFill>
                            <a:srgbClr val="000000"/>
                          </a:solidFill>
                          <a:latin typeface="Power Geez Unicode1" pitchFamily="2" charset="0"/>
                        </a:rPr>
                        <a:t>የተቀመጠ</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ቅጣት</a:t>
                      </a:r>
                      <a:endParaRPr lang="am-ET" sz="1400" b="0" i="0" u="none" strike="noStrike" baseline="0" dirty="0" smtClean="0">
                        <a:solidFill>
                          <a:srgbClr val="000000"/>
                        </a:solidFill>
                        <a:latin typeface="Visual Geez Unicode"/>
                      </a:endParaRPr>
                    </a:p>
                  </a:txBody>
                  <a:tcPr/>
                </a:tc>
                <a:tc>
                  <a:txBody>
                    <a:bodyPr/>
                    <a:lstStyle/>
                    <a:p>
                      <a:r>
                        <a:rPr lang="en-US" sz="1600" dirty="0" err="1" smtClean="0">
                          <a:solidFill>
                            <a:schemeClr val="tx1"/>
                          </a:solidFill>
                          <a:latin typeface="Power Geez Unicode1" pitchFamily="2" charset="0"/>
                        </a:rPr>
                        <a:t>ከህገ</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ወጥ</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ፈፃሚው</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የሚጠበቅ</a:t>
                      </a:r>
                      <a:endParaRPr lang="en-US" sz="1600" dirty="0">
                        <a:solidFill>
                          <a:schemeClr val="tx1"/>
                        </a:solidFill>
                        <a:latin typeface="Power Geez Unicode1" pitchFamily="2" charset="0"/>
                      </a:endParaRPr>
                    </a:p>
                  </a:txBody>
                  <a:tcPr/>
                </a:tc>
              </a:tr>
              <a:tr h="5684520">
                <a:tc>
                  <a:txBody>
                    <a:bodyPr/>
                    <a:lstStyle/>
                    <a:p>
                      <a:endParaRPr lang="en-US" sz="2400" dirty="0" smtClean="0">
                        <a:latin typeface="Power Geez Unicode1" pitchFamily="2" charset="0"/>
                      </a:endParaRPr>
                    </a:p>
                    <a:p>
                      <a:endParaRPr lang="en-US" sz="2400" dirty="0" smtClean="0">
                        <a:latin typeface="Power Geez Unicode1" pitchFamily="2" charset="0"/>
                      </a:endParaRPr>
                    </a:p>
                    <a:p>
                      <a:r>
                        <a:rPr lang="en-US" sz="2400" dirty="0" smtClean="0">
                          <a:latin typeface="Power Geez Unicode1" pitchFamily="2" charset="0"/>
                        </a:rPr>
                        <a:t>22</a:t>
                      </a: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r>
                        <a:rPr lang="en-US" sz="2400" dirty="0" smtClean="0">
                          <a:latin typeface="Power Geez Unicode1" pitchFamily="2" charset="0"/>
                        </a:rPr>
                        <a:t>23</a:t>
                      </a: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endParaRPr lang="en-US" sz="1800" b="1" i="0" u="none" strike="noStrike" kern="1200" baseline="0" dirty="0" smtClean="0">
                        <a:solidFill>
                          <a:schemeClr val="dk1"/>
                        </a:solidFill>
                        <a:latin typeface="Power Geez Unicode1" pitchFamily="2" charset="0"/>
                        <a:ea typeface="+mn-ea"/>
                        <a:cs typeface="+mn-cs"/>
                      </a:endParaRPr>
                    </a:p>
                    <a:p>
                      <a:pPr algn="just"/>
                      <a:endParaRPr lang="en-US" sz="2400" b="1" i="0" u="none" strike="noStrike" kern="1200" baseline="0" dirty="0" smtClean="0">
                        <a:solidFill>
                          <a:schemeClr val="dk1"/>
                        </a:solidFill>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ከጽዳት አስተዳደር ኤጀንሲ ህጋዊ ፈቃድ ውጭ ማንኛውንም አደገኛ ደረቅ ቆሻሻ ወይም ተገቢነት የሌለውን ደረቅ ቆሻሻ ወደ ማስወገጃ ቦታ፤ ማቃጠያ ማዕከል፤ ቅብብሎሽ ጣቢያ ወይም የመልሶ መጠቀምና ኡደት ማዕከል ያጓጓዘ ድርጅት/ማህበር/ግለሰብ/ተቋም፤ 	</a:t>
                      </a:r>
                    </a:p>
                    <a:p>
                      <a:pPr algn="just"/>
                      <a:endParaRPr lang="en-US" sz="1800" b="1" i="0" u="none" strike="noStrike" kern="1200" baseline="0" dirty="0" smtClean="0">
                        <a:solidFill>
                          <a:schemeClr val="dk1"/>
                        </a:solidFill>
                        <a:latin typeface="Power Geez Unicode1" pitchFamily="2" charset="0"/>
                        <a:ea typeface="+mn-ea"/>
                        <a:cs typeface="+mn-cs"/>
                      </a:endParaRPr>
                    </a:p>
                    <a:p>
                      <a:pPr algn="just"/>
                      <a:r>
                        <a:rPr lang="am-ET" sz="1800" b="1" i="0" u="none" strike="noStrike" kern="1200" baseline="0" dirty="0" smtClean="0">
                          <a:solidFill>
                            <a:schemeClr val="dk1"/>
                          </a:solidFill>
                          <a:latin typeface="+mn-lt"/>
                          <a:ea typeface="+mn-ea"/>
                          <a:cs typeface="+mn-cs"/>
                        </a:rPr>
                        <a:t>	</a:t>
                      </a:r>
                      <a:endParaRPr lang="en-US" sz="1800" b="1" i="0" u="none" strike="noStrike" kern="1200" baseline="0" dirty="0" smtClean="0">
                        <a:solidFill>
                          <a:schemeClr val="dk1"/>
                        </a:solidFill>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አገልግሎት የማይሰጡ የኤሌክትሮኒክስ ቁሳቁሶችን በተለየ መልኩ በመለየት በአግባቡ እና አካባቢውን በማይበክል መንገድ እንዲወገድ ያላደረገ ማንኛውም ሰው፤ 	</a:t>
                      </a:r>
                    </a:p>
                    <a:p>
                      <a:pPr algn="just"/>
                      <a:endParaRPr lang="en-US" sz="1800" b="1" i="0" u="none" strike="noStrike" kern="1200" baseline="0" dirty="0" smtClean="0">
                        <a:solidFill>
                          <a:schemeClr val="dk1"/>
                        </a:solidFill>
                        <a:latin typeface="Power Geez Unicode1" pitchFamily="2" charset="0"/>
                        <a:ea typeface="+mn-ea"/>
                        <a:cs typeface="+mn-cs"/>
                      </a:endParaRPr>
                    </a:p>
                  </a:txBody>
                  <a:tcPr>
                    <a:lnB w="12700" cap="flat" cmpd="sng" algn="ctr">
                      <a:solidFill>
                        <a:schemeClr val="tx1"/>
                      </a:solidFill>
                      <a:prstDash val="solid"/>
                      <a:round/>
                      <a:headEnd type="none" w="med" len="med"/>
                      <a:tailEnd type="none" w="med" len="med"/>
                    </a:lnB>
                  </a:tcPr>
                </a:tc>
                <a:tc>
                  <a:txBody>
                    <a:bodyPr/>
                    <a:lstStyle/>
                    <a:p>
                      <a:r>
                        <a:rPr lang="en-US" sz="2400" dirty="0" smtClean="0">
                          <a:latin typeface="Power Geez Unicode1" pitchFamily="2" charset="0"/>
                        </a:rPr>
                        <a:t> </a:t>
                      </a:r>
                    </a:p>
                    <a:p>
                      <a:endParaRPr lang="en-US" sz="2400" b="1" dirty="0" smtClean="0">
                        <a:latin typeface="Power Geez Unicode1" pitchFamily="2"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2000" b="1" i="0" u="none" strike="noStrike" kern="1200" baseline="0" dirty="0" smtClean="0">
                          <a:solidFill>
                            <a:srgbClr val="FF0000"/>
                          </a:solidFill>
                          <a:latin typeface="+mn-lt"/>
                          <a:ea typeface="+mn-ea"/>
                          <a:cs typeface="+mn-cs"/>
                        </a:rPr>
                        <a:t>ብር</a:t>
                      </a:r>
                      <a:r>
                        <a:rPr lang="am-ET" sz="2400" b="1" i="0" u="none" strike="noStrike" kern="1200" baseline="0" dirty="0" smtClean="0">
                          <a:solidFill>
                            <a:schemeClr val="dk1"/>
                          </a:solidFill>
                          <a:latin typeface="+mn-lt"/>
                          <a:ea typeface="+mn-ea"/>
                          <a:cs typeface="+mn-cs"/>
                        </a:rPr>
                        <a:t> </a:t>
                      </a:r>
                      <a:r>
                        <a:rPr lang="en-US" sz="2400" b="1" i="0" u="none" strike="noStrike" kern="1200" baseline="0" dirty="0" smtClean="0">
                          <a:solidFill>
                            <a:srgbClr val="FF0000"/>
                          </a:solidFill>
                          <a:latin typeface="+mn-lt"/>
                          <a:ea typeface="+mn-ea"/>
                          <a:cs typeface="+mn-cs"/>
                        </a:rPr>
                        <a:t>10</a:t>
                      </a:r>
                      <a:r>
                        <a:rPr lang="am-ET" sz="1800" b="1" i="0" u="none" strike="noStrike" kern="1200" baseline="0" dirty="0" smtClean="0">
                          <a:solidFill>
                            <a:srgbClr val="FF0000"/>
                          </a:solidFill>
                          <a:latin typeface="+mn-lt"/>
                          <a:ea typeface="+mn-ea"/>
                          <a:cs typeface="+mn-cs"/>
                        </a:rPr>
                        <a:t>,000.00 </a:t>
                      </a:r>
                    </a:p>
                    <a:p>
                      <a:endParaRPr lang="en-US" sz="2400" b="1" dirty="0" smtClean="0">
                        <a:latin typeface="Power Geez Unicode1" pitchFamily="2" charset="0"/>
                      </a:endParaRPr>
                    </a:p>
                    <a:p>
                      <a:endParaRPr lang="en-US" sz="2400" b="1" dirty="0" smtClean="0">
                        <a:latin typeface="Power Geez Unicode1" pitchFamily="2" charset="0"/>
                      </a:endParaRPr>
                    </a:p>
                    <a:p>
                      <a:endParaRPr lang="en-US" sz="2400" b="1" dirty="0" smtClean="0">
                        <a:latin typeface="Power Geez Unicode1" pitchFamily="2" charset="0"/>
                      </a:endParaRPr>
                    </a:p>
                    <a:p>
                      <a:endParaRPr lang="en-US" sz="2400" b="1" dirty="0" smtClean="0">
                        <a:latin typeface="Power Geez Unicode1" pitchFamily="2"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2000" b="1" i="0" u="none" strike="noStrike" kern="1200" baseline="0" dirty="0" smtClean="0">
                          <a:solidFill>
                            <a:srgbClr val="FF0000"/>
                          </a:solidFill>
                          <a:latin typeface="+mn-lt"/>
                          <a:ea typeface="+mn-ea"/>
                          <a:cs typeface="+mn-cs"/>
                        </a:rPr>
                        <a:t>ብር </a:t>
                      </a:r>
                      <a:r>
                        <a:rPr lang="en-US" sz="2000" b="1" i="0" u="none" strike="noStrike" kern="1200" baseline="0" dirty="0" smtClean="0">
                          <a:solidFill>
                            <a:srgbClr val="FF0000"/>
                          </a:solidFill>
                          <a:latin typeface="+mn-lt"/>
                          <a:ea typeface="+mn-ea"/>
                          <a:cs typeface="+mn-cs"/>
                        </a:rPr>
                        <a:t>1</a:t>
                      </a:r>
                      <a:r>
                        <a:rPr lang="am-ET" sz="2000" b="1" i="0" u="none" strike="noStrike" kern="1200" baseline="0" dirty="0" smtClean="0">
                          <a:solidFill>
                            <a:srgbClr val="FF0000"/>
                          </a:solidFill>
                          <a:latin typeface="+mn-lt"/>
                          <a:ea typeface="+mn-ea"/>
                          <a:cs typeface="+mn-cs"/>
                        </a:rPr>
                        <a:t>,000.00 </a:t>
                      </a:r>
                    </a:p>
                    <a:p>
                      <a:endParaRPr lang="en-US" sz="2400" b="1" dirty="0" smtClean="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endParaRPr lang="en-US" sz="1800" b="1" dirty="0" smtClean="0">
                        <a:latin typeface="Power Geez Unicode1" pitchFamily="2" charset="0"/>
                      </a:endParaRPr>
                    </a:p>
                    <a:p>
                      <a:r>
                        <a:rPr lang="am-ET" sz="1800" b="0" i="0" u="none" strike="noStrike" kern="1200" baseline="0" dirty="0" smtClean="0">
                          <a:solidFill>
                            <a:schemeClr val="dk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ብር 50,000.00 </a:t>
                      </a:r>
                      <a:r>
                        <a:rPr lang="am-ET" sz="1800" b="0" i="0" u="none" strike="noStrike" kern="1200" baseline="0" dirty="0" smtClean="0">
                          <a:solidFill>
                            <a:schemeClr val="dk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ብር 10,000.00 </a:t>
                      </a:r>
                      <a:r>
                        <a:rPr lang="am-ET" sz="1800" b="0" i="0" u="none" strike="noStrike" kern="1200" baseline="0" dirty="0" smtClean="0">
                          <a:solidFill>
                            <a:schemeClr val="dk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am-ET" sz="1800" b="1" i="0" u="none" strike="noStrike" kern="1200" baseline="0" dirty="0" smtClean="0">
                        <a:solidFill>
                          <a:schemeClr val="dk1"/>
                        </a:solidFill>
                        <a:latin typeface="+mn-lt"/>
                        <a:ea typeface="+mn-ea"/>
                        <a:cs typeface="+mn-cs"/>
                      </a:endParaRPr>
                    </a:p>
                  </a:txBody>
                  <a:tcPr>
                    <a:lnB w="12700" cap="flat" cmpd="sng" algn="ctr">
                      <a:solidFill>
                        <a:schemeClr val="tx1"/>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600" b="1" i="0" u="none" strike="noStrike" kern="1200" baseline="0" dirty="0" smtClean="0">
                          <a:solidFill>
                            <a:schemeClr val="dk1"/>
                          </a:solidFill>
                          <a:latin typeface="+mn-lt"/>
                          <a:ea typeface="+mn-ea"/>
                          <a:cs typeface="+mn-cs"/>
                        </a:rPr>
                        <a:t>በሰንጠረዡ የተቀመጠውን የቅጣት ክፍያ መጠን መክፈልና ያመጣውን ቆሻሻ መመለስ </a:t>
                      </a:r>
                      <a:r>
                        <a:rPr lang="am-ET" sz="1800" b="0" i="0" u="none" strike="noStrike" kern="1200" baseline="0" dirty="0" smtClean="0">
                          <a:solidFill>
                            <a:schemeClr val="dk1"/>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rgbClr val="FF0000"/>
                          </a:solidFill>
                          <a:latin typeface="+mn-lt"/>
                          <a:ea typeface="+mn-ea"/>
                          <a:cs typeface="+mn-cs"/>
                        </a:rPr>
                        <a:t>በሰንጠረዡ የተቀመጠውን የቅጣት ክፍያ መጠን መክፈልና የጣለውን ቆሻሻ ማንሳት 	</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txBody>
                  <a:tcPr>
                    <a:lnB w="12700" cap="flat" cmpd="sng" algn="ctr">
                      <a:solidFill>
                        <a:schemeClr val="tx1"/>
                      </a:solidFill>
                      <a:prstDash val="solid"/>
                      <a:round/>
                      <a:headEnd type="none" w="med" len="med"/>
                      <a:tailEnd type="none" w="med" len="med"/>
                    </a:lnB>
                  </a:tcPr>
                </a:tc>
              </a:tr>
              <a:tr h="2024856">
                <a:tc>
                  <a:txBody>
                    <a:bodyPr/>
                    <a:lstStyle/>
                    <a:p>
                      <a:endParaRPr lang="en-US" sz="2400" dirty="0" smtClean="0">
                        <a:latin typeface="Power Geez Unicode1" pitchFamily="2" charset="0"/>
                      </a:endParaRPr>
                    </a:p>
                    <a:p>
                      <a:endParaRPr lang="en-US" sz="2400" dirty="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am-ET" sz="2400" b="1" i="0" u="none" strike="noStrike" kern="1200" baseline="0" dirty="0" smtClean="0">
                          <a:solidFill>
                            <a:schemeClr val="dk1"/>
                          </a:solidFill>
                          <a:latin typeface="+mn-lt"/>
                          <a:ea typeface="+mn-ea"/>
                          <a:cs typeface="+mn-cs"/>
                        </a:rPr>
                        <a:t>	</a:t>
                      </a:r>
                    </a:p>
                    <a:p>
                      <a:pPr algn="just"/>
                      <a:r>
                        <a:rPr lang="en-US" sz="1400" b="1" dirty="0" smtClean="0">
                          <a:effectLst/>
                          <a:latin typeface="Power Geez Unicode1" pitchFamily="2" charset="0"/>
                          <a:ea typeface="Times New Roman"/>
                          <a:cs typeface="Visual Geez Unicode"/>
                        </a:rPr>
                        <a:t>     </a:t>
                      </a:r>
                      <a:endParaRPr lang="en-US" sz="3200" b="1"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28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1800" b="1" dirty="0" smtClean="0">
                        <a:latin typeface="Power Geez Unicode1" pitchFamily="2" charset="0"/>
                      </a:endParaRPr>
                    </a:p>
                    <a:p>
                      <a:pPr marL="0" marR="0" algn="ctr">
                        <a:spcBef>
                          <a:spcPts val="1000"/>
                        </a:spcBef>
                        <a:spcAft>
                          <a:spcPts val="0"/>
                        </a:spcAft>
                      </a:pPr>
                      <a:endParaRPr lang="en-US" sz="2800" b="0" dirty="0" smtClean="0">
                        <a:solidFill>
                          <a:srgbClr val="4F81BD"/>
                        </a:solidFill>
                        <a:effectLst/>
                        <a:latin typeface="Power Geez Unicode1" pitchFamily="2" charset="0"/>
                        <a:ea typeface="Times New Roman"/>
                        <a:cs typeface="Visual Geez Unicode"/>
                      </a:endParaRPr>
                    </a:p>
                    <a:p>
                      <a:endParaRPr lang="en-US" sz="2800" dirty="0" smtClean="0">
                        <a:latin typeface="Power Geez Unicode1" pitchFamily="2" charset="0"/>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308135444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507808656"/>
              </p:ext>
            </p:extLst>
          </p:nvPr>
        </p:nvGraphicFramePr>
        <p:xfrm>
          <a:off x="0" y="304800"/>
          <a:ext cx="9067800" cy="9279096"/>
        </p:xfrm>
        <a:graphic>
          <a:graphicData uri="http://schemas.openxmlformats.org/drawingml/2006/table">
            <a:tbl>
              <a:tblPr firstRow="1" bandRow="1">
                <a:tableStyleId>{5C22544A-7EE6-4342-B048-85BDC9FD1C3A}</a:tableStyleId>
              </a:tblPr>
              <a:tblGrid>
                <a:gridCol w="711199"/>
                <a:gridCol w="4089401"/>
                <a:gridCol w="1295400"/>
                <a:gridCol w="1600200"/>
                <a:gridCol w="1371600"/>
              </a:tblGrid>
              <a:tr h="628260">
                <a:tc>
                  <a:txBody>
                    <a:bodyPr/>
                    <a:lstStyle/>
                    <a:p>
                      <a:r>
                        <a:rPr lang="am-ET" sz="1800" b="0" i="0" u="none" strike="noStrike" baseline="0" dirty="0" smtClean="0">
                          <a:solidFill>
                            <a:srgbClr val="000000"/>
                          </a:solidFill>
                          <a:latin typeface="Visual Geez Unicode"/>
                        </a:rPr>
                        <a:t>ተ.ቁ</a:t>
                      </a:r>
                      <a:r>
                        <a:rPr lang="am-ET" sz="1400" b="0" i="0" u="none" strike="noStrike" baseline="0" dirty="0" smtClean="0">
                          <a:solidFill>
                            <a:srgbClr val="000000"/>
                          </a:solidFill>
                          <a:latin typeface="Visual Geez Unicode"/>
                        </a:rPr>
                        <a:t> 	</a:t>
                      </a:r>
                      <a:r>
                        <a:rPr lang="en-US" sz="1400" b="0" i="0" u="none" strike="noStrike" baseline="0" dirty="0" smtClean="0">
                          <a:solidFill>
                            <a:srgbClr val="000000"/>
                          </a:solidFill>
                          <a:latin typeface="Power Geez Unicode1" pitchFamily="2" charset="0"/>
                        </a:rPr>
                        <a:t> </a:t>
                      </a:r>
                      <a:endParaRPr lang="am-ET" sz="1400" b="0" i="0" u="none" strike="noStrike" baseline="0" dirty="0" smtClean="0">
                        <a:solidFill>
                          <a:srgbClr val="000000"/>
                        </a:solidFill>
                        <a:latin typeface="Visual Geez Unicode"/>
                      </a:endParaRPr>
                    </a:p>
                  </a:txBody>
                  <a:tcPr/>
                </a:tc>
                <a:tc>
                  <a:txBody>
                    <a:bodyPr/>
                    <a:lstStyle/>
                    <a:p>
                      <a:r>
                        <a:rPr lang="en-US" sz="1800" b="1" i="0" u="none" strike="noStrike" baseline="0" dirty="0" err="1" smtClean="0">
                          <a:solidFill>
                            <a:srgbClr val="FF0000"/>
                          </a:solidFill>
                          <a:latin typeface="Power Geez Unicode1" pitchFamily="2" charset="0"/>
                        </a:rPr>
                        <a:t>የጥፋት</a:t>
                      </a:r>
                      <a:r>
                        <a:rPr lang="en-US" sz="1800" b="1" i="0" u="none" strike="noStrike" baseline="0" dirty="0" smtClean="0">
                          <a:solidFill>
                            <a:srgbClr val="FF0000"/>
                          </a:solidFill>
                          <a:latin typeface="Power Geez Unicode1" pitchFamily="2" charset="0"/>
                        </a:rPr>
                        <a:t> </a:t>
                      </a:r>
                      <a:r>
                        <a:rPr lang="en-US" sz="1800" b="1" i="0" u="none" strike="noStrike" baseline="0" dirty="0" err="1" smtClean="0">
                          <a:solidFill>
                            <a:srgbClr val="FF0000"/>
                          </a:solidFill>
                          <a:latin typeface="Power Geez Unicode1" pitchFamily="2" charset="0"/>
                        </a:rPr>
                        <a:t>አይነቶች</a:t>
                      </a:r>
                      <a:endParaRPr lang="am-ET" sz="1800" b="1" i="0" u="none" strike="noStrike" baseline="0" dirty="0" smtClean="0">
                        <a:solidFill>
                          <a:srgbClr val="FF0000"/>
                        </a:solidFill>
                        <a:latin typeface="Visual Geez Unicode"/>
                      </a:endParaRPr>
                    </a:p>
                  </a:txBody>
                  <a:tcPr/>
                </a:tc>
                <a:tc>
                  <a:txBody>
                    <a:bodyPr/>
                    <a:lstStyle/>
                    <a:p>
                      <a:r>
                        <a:rPr lang="en-US" sz="1400" b="1" i="0" u="none" strike="noStrike" baseline="0" dirty="0" err="1" smtClean="0">
                          <a:solidFill>
                            <a:srgbClr val="000000"/>
                          </a:solidFill>
                          <a:latin typeface="Power Geez Unicode1" pitchFamily="2" charset="0"/>
                        </a:rPr>
                        <a:t>ቀድሞ</a:t>
                      </a:r>
                      <a:r>
                        <a:rPr lang="en-US" sz="1400" b="1" i="0" u="none" strike="noStrike" baseline="0" dirty="0" smtClean="0">
                          <a:solidFill>
                            <a:srgbClr val="000000"/>
                          </a:solidFill>
                          <a:latin typeface="Power Geez Unicode1" pitchFamily="2" charset="0"/>
                        </a:rPr>
                        <a:t> በነበረው150/2015 </a:t>
                      </a:r>
                      <a:r>
                        <a:rPr lang="en-US" sz="1400" b="1" i="0" u="none" strike="noStrike" baseline="0" dirty="0" err="1" smtClean="0">
                          <a:solidFill>
                            <a:srgbClr val="000000"/>
                          </a:solidFill>
                          <a:latin typeface="Power Geez Unicode1" pitchFamily="2" charset="0"/>
                        </a:rPr>
                        <a:t>የተቀመጠ</a:t>
                      </a:r>
                      <a:r>
                        <a:rPr lang="en-US" sz="1400" b="1" i="0" u="none" strike="noStrike" baseline="0" dirty="0" smtClean="0">
                          <a:solidFill>
                            <a:srgbClr val="000000"/>
                          </a:solidFill>
                          <a:latin typeface="Power Geez Unicode1" pitchFamily="2" charset="0"/>
                        </a:rPr>
                        <a:t> </a:t>
                      </a:r>
                      <a:r>
                        <a:rPr lang="en-US" sz="1400" b="1" i="0" u="none" strike="noStrike" baseline="0" dirty="0" err="1" smtClean="0">
                          <a:solidFill>
                            <a:srgbClr val="000000"/>
                          </a:solidFill>
                          <a:latin typeface="Power Geez Unicode1" pitchFamily="2" charset="0"/>
                        </a:rPr>
                        <a:t>ቅጣት</a:t>
                      </a:r>
                      <a:endParaRPr lang="am-ET" sz="1400" b="1" i="0" u="none" strike="noStrike" baseline="0" dirty="0" smtClean="0">
                        <a:solidFill>
                          <a:srgbClr val="000000"/>
                        </a:solidFill>
                        <a:latin typeface="Visual Geez Unicode"/>
                      </a:endParaRPr>
                    </a:p>
                  </a:txBody>
                  <a:tcPr/>
                </a:tc>
                <a:tc>
                  <a:txBody>
                    <a:bodyPr/>
                    <a:lstStyle/>
                    <a:p>
                      <a:r>
                        <a:rPr lang="en-US" sz="1400" b="1" i="0" u="none" strike="noStrike" baseline="0" dirty="0" err="1" smtClean="0">
                          <a:solidFill>
                            <a:srgbClr val="000000"/>
                          </a:solidFill>
                          <a:latin typeface="Power Geez Unicode1" pitchFamily="2" charset="0"/>
                        </a:rPr>
                        <a:t>አሁን</a:t>
                      </a:r>
                      <a:r>
                        <a:rPr lang="en-US" sz="1400" b="1" i="0" u="none" strike="noStrike" baseline="0" dirty="0" smtClean="0">
                          <a:solidFill>
                            <a:srgbClr val="000000"/>
                          </a:solidFill>
                          <a:latin typeface="Power Geez Unicode1" pitchFamily="2" charset="0"/>
                        </a:rPr>
                        <a:t> </a:t>
                      </a:r>
                      <a:r>
                        <a:rPr lang="en-US" sz="1400" b="1" i="0" u="none" strike="noStrike" baseline="0" dirty="0" err="1" smtClean="0">
                          <a:solidFill>
                            <a:srgbClr val="000000"/>
                          </a:solidFill>
                          <a:latin typeface="Power Geez Unicode1" pitchFamily="2" charset="0"/>
                        </a:rPr>
                        <a:t>በተሸሻለው</a:t>
                      </a:r>
                      <a:r>
                        <a:rPr lang="en-US" sz="1400" b="1" i="0" u="none" strike="noStrike" baseline="0" dirty="0" smtClean="0">
                          <a:solidFill>
                            <a:srgbClr val="000000"/>
                          </a:solidFill>
                          <a:latin typeface="Power Geez Unicode1" pitchFamily="2" charset="0"/>
                        </a:rPr>
                        <a:t> 167/16 </a:t>
                      </a:r>
                      <a:r>
                        <a:rPr lang="en-US" sz="1400" b="1" i="0" u="none" strike="noStrike" baseline="0" dirty="0" err="1" smtClean="0">
                          <a:solidFill>
                            <a:srgbClr val="000000"/>
                          </a:solidFill>
                          <a:latin typeface="Power Geez Unicode1" pitchFamily="2" charset="0"/>
                        </a:rPr>
                        <a:t>የተቀመጠ</a:t>
                      </a:r>
                      <a:r>
                        <a:rPr lang="en-US" sz="1400" b="1" i="0" u="none" strike="noStrike" baseline="0" dirty="0" smtClean="0">
                          <a:solidFill>
                            <a:srgbClr val="000000"/>
                          </a:solidFill>
                          <a:latin typeface="Power Geez Unicode1" pitchFamily="2" charset="0"/>
                        </a:rPr>
                        <a:t> </a:t>
                      </a:r>
                      <a:r>
                        <a:rPr lang="en-US" sz="1400" b="1" i="0" u="none" strike="noStrike" baseline="0" dirty="0" err="1" smtClean="0">
                          <a:solidFill>
                            <a:srgbClr val="000000"/>
                          </a:solidFill>
                          <a:latin typeface="Power Geez Unicode1" pitchFamily="2" charset="0"/>
                        </a:rPr>
                        <a:t>ቅጣት</a:t>
                      </a:r>
                      <a:endParaRPr lang="am-ET" sz="1400" b="1" i="0" u="none" strike="noStrike" baseline="0" dirty="0" smtClean="0">
                        <a:solidFill>
                          <a:srgbClr val="000000"/>
                        </a:solidFill>
                        <a:latin typeface="Visual Geez Unicode"/>
                      </a:endParaRPr>
                    </a:p>
                  </a:txBody>
                  <a:tcPr/>
                </a:tc>
                <a:tc>
                  <a:txBody>
                    <a:bodyPr/>
                    <a:lstStyle/>
                    <a:p>
                      <a:r>
                        <a:rPr lang="en-US" sz="1600" dirty="0" err="1" smtClean="0">
                          <a:solidFill>
                            <a:schemeClr val="tx1"/>
                          </a:solidFill>
                          <a:latin typeface="Power Geez Unicode1" pitchFamily="2" charset="0"/>
                        </a:rPr>
                        <a:t>ከህገ</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ወጥ</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ፈፃሚው</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የሚጠበቅ</a:t>
                      </a:r>
                      <a:endParaRPr lang="en-US" sz="1600" dirty="0">
                        <a:solidFill>
                          <a:schemeClr val="tx1"/>
                        </a:solidFill>
                        <a:latin typeface="Power Geez Unicode1" pitchFamily="2" charset="0"/>
                      </a:endParaRPr>
                    </a:p>
                  </a:txBody>
                  <a:tcPr/>
                </a:tc>
              </a:tr>
              <a:tr h="5608320">
                <a:tc>
                  <a:txBody>
                    <a:bodyPr/>
                    <a:lstStyle/>
                    <a:p>
                      <a:endParaRPr lang="en-US" sz="2400" dirty="0" smtClean="0">
                        <a:latin typeface="Power Geez Unicode1" pitchFamily="2" charset="0"/>
                      </a:endParaRPr>
                    </a:p>
                    <a:p>
                      <a:endParaRPr lang="en-US" sz="2400" dirty="0" smtClean="0">
                        <a:latin typeface="Power Geez Unicode1" pitchFamily="2" charset="0"/>
                      </a:endParaRPr>
                    </a:p>
                    <a:p>
                      <a:r>
                        <a:rPr lang="en-US" sz="2400" dirty="0" smtClean="0">
                          <a:latin typeface="Power Geez Unicode1" pitchFamily="2" charset="0"/>
                        </a:rPr>
                        <a:t>24</a:t>
                      </a: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r>
                        <a:rPr lang="en-US" sz="2400" dirty="0" smtClean="0">
                          <a:latin typeface="Power Geez Unicode1" pitchFamily="2" charset="0"/>
                        </a:rPr>
                        <a:t>25</a:t>
                      </a: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endParaRPr lang="en-US" sz="1800" b="1" i="0" u="none" strike="noStrike" kern="1200" baseline="0" dirty="0" smtClean="0">
                        <a:solidFill>
                          <a:schemeClr val="dk1"/>
                        </a:solidFill>
                        <a:latin typeface="Power Geez Unicode1" pitchFamily="2" charset="0"/>
                        <a:ea typeface="+mn-ea"/>
                        <a:cs typeface="+mn-cs"/>
                      </a:endParaRPr>
                    </a:p>
                    <a:p>
                      <a:pPr algn="just"/>
                      <a:endParaRPr lang="en-US" sz="2400" b="1" i="0" u="none" strike="noStrike" kern="1200" baseline="0" dirty="0" smtClean="0">
                        <a:solidFill>
                          <a:schemeClr val="dk1"/>
                        </a:solidFill>
                        <a:latin typeface="Power Geez Unicode1" pitchFamily="2" charset="0"/>
                        <a:ea typeface="+mn-ea"/>
                        <a:cs typeface="+mn-cs"/>
                      </a:endParaRPr>
                    </a:p>
                    <a:p>
                      <a:pPr algn="just"/>
                      <a:r>
                        <a:rPr lang="am-ET" sz="1800" b="1" i="0" u="none" strike="noStrike" kern="1200" baseline="0" dirty="0" smtClean="0">
                          <a:solidFill>
                            <a:schemeClr val="dk1"/>
                          </a:solidFill>
                          <a:latin typeface="+mn-lt"/>
                          <a:ea typeface="+mn-ea"/>
                          <a:cs typeface="+mn-cs"/>
                        </a:rPr>
                        <a:t>ከመኖሪያ ቤት ወይም ከድርጅት ግቢ ውጭ ያለውን የአካባቢ ንጹህና አረንጓዴ አድርጎ አለመጠበቅ፡- </a:t>
                      </a:r>
                    </a:p>
                    <a:p>
                      <a:pPr algn="just"/>
                      <a:r>
                        <a:rPr lang="am-ET" sz="1800" b="1" i="0" u="none" strike="noStrike" kern="1200" baseline="0" dirty="0" smtClean="0">
                          <a:solidFill>
                            <a:srgbClr val="FF0000"/>
                          </a:solidFill>
                          <a:latin typeface="+mn-lt"/>
                          <a:ea typeface="+mn-ea"/>
                          <a:cs typeface="+mn-cs"/>
                        </a:rPr>
                        <a:t>2</a:t>
                      </a:r>
                      <a:r>
                        <a:rPr lang="en-US" sz="1800" b="1" i="0" u="none" strike="noStrike" kern="1200" baseline="0" dirty="0" smtClean="0">
                          <a:solidFill>
                            <a:srgbClr val="FF0000"/>
                          </a:solidFill>
                          <a:latin typeface="Power Geez Unicode1" pitchFamily="2" charset="0"/>
                          <a:ea typeface="+mn-ea"/>
                          <a:cs typeface="+mn-cs"/>
                        </a:rPr>
                        <a:t>4</a:t>
                      </a:r>
                      <a:r>
                        <a:rPr lang="am-ET" sz="1800" b="1" i="0" u="none" strike="noStrike" kern="1200" baseline="0" dirty="0" smtClean="0">
                          <a:solidFill>
                            <a:srgbClr val="FF0000"/>
                          </a:solidFill>
                          <a:latin typeface="+mn-lt"/>
                          <a:ea typeface="+mn-ea"/>
                          <a:cs typeface="+mn-cs"/>
                        </a:rPr>
                        <a:t>.1. </a:t>
                      </a:r>
                      <a:r>
                        <a:rPr lang="am-ET" sz="1800" b="1" i="0" u="none" strike="noStrike" kern="1200" baseline="0" dirty="0" smtClean="0">
                          <a:solidFill>
                            <a:schemeClr val="dk1"/>
                          </a:solidFill>
                          <a:latin typeface="+mn-lt"/>
                          <a:ea typeface="+mn-ea"/>
                          <a:cs typeface="+mn-cs"/>
                        </a:rPr>
                        <a:t>ከመኖሪያ ቤት አጥር ግቢ ውጭ እስከ 5 ሜትር ርቀት አለማጽዳት፤ </a:t>
                      </a:r>
                      <a:endParaRPr lang="en-US" sz="1800" b="1" i="0" u="none" strike="noStrike" kern="1200" baseline="0" dirty="0" smtClean="0">
                        <a:solidFill>
                          <a:schemeClr val="dk1"/>
                        </a:solidFill>
                        <a:latin typeface="+mn-lt"/>
                        <a:ea typeface="+mn-ea"/>
                        <a:cs typeface="+mn-cs"/>
                      </a:endParaRPr>
                    </a:p>
                    <a:p>
                      <a:pPr algn="just"/>
                      <a:endParaRPr lang="am-ET"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rgbClr val="FF0000"/>
                          </a:solidFill>
                          <a:latin typeface="+mn-lt"/>
                          <a:ea typeface="+mn-ea"/>
                          <a:cs typeface="+mn-cs"/>
                        </a:rPr>
                        <a:t>2</a:t>
                      </a:r>
                      <a:r>
                        <a:rPr lang="en-US" sz="1800" b="1" i="0" u="none" strike="noStrike" kern="1200" baseline="0" dirty="0" smtClean="0">
                          <a:solidFill>
                            <a:srgbClr val="FF0000"/>
                          </a:solidFill>
                          <a:latin typeface="Power Geez Unicode1" pitchFamily="2" charset="0"/>
                          <a:ea typeface="+mn-ea"/>
                          <a:cs typeface="+mn-cs"/>
                        </a:rPr>
                        <a:t>4</a:t>
                      </a:r>
                      <a:r>
                        <a:rPr lang="am-ET" sz="1800" b="1" i="0" u="none" strike="noStrike" kern="1200" baseline="0" dirty="0" smtClean="0">
                          <a:solidFill>
                            <a:srgbClr val="FF0000"/>
                          </a:solidFill>
                          <a:latin typeface="+mn-lt"/>
                          <a:ea typeface="+mn-ea"/>
                          <a:cs typeface="+mn-cs"/>
                        </a:rPr>
                        <a:t>.2. </a:t>
                      </a:r>
                      <a:r>
                        <a:rPr lang="am-ET" sz="1800" b="1" i="0" u="none" strike="noStrike" kern="1200" baseline="0" dirty="0" smtClean="0">
                          <a:solidFill>
                            <a:schemeClr val="dk1"/>
                          </a:solidFill>
                          <a:latin typeface="+mn-lt"/>
                          <a:ea typeface="+mn-ea"/>
                          <a:cs typeface="+mn-cs"/>
                        </a:rPr>
                        <a:t>ከድርጅት/ተቋም አጥር ግቢ ውጭ እስከ 10 ሜትር አለማጽዳት፤ </a:t>
                      </a:r>
                      <a:r>
                        <a:rPr lang="am-ET" sz="1800" b="0" i="0" u="none" strike="noStrike" kern="1200" baseline="0" dirty="0" smtClean="0">
                          <a:solidFill>
                            <a:schemeClr val="dk1"/>
                          </a:solidFill>
                          <a:latin typeface="+mn-lt"/>
                          <a:ea typeface="+mn-ea"/>
                          <a:cs typeface="+mn-cs"/>
                        </a:rPr>
                        <a:t>	</a:t>
                      </a: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	</a:t>
                      </a:r>
                      <a:endParaRPr lang="en-US" sz="1800" b="1" i="0" u="none" strike="noStrike" kern="1200" baseline="0" dirty="0" smtClean="0">
                        <a:solidFill>
                          <a:schemeClr val="dk1"/>
                        </a:solidFill>
                        <a:latin typeface="Power Geez Unicode1" pitchFamily="2" charset="0"/>
                        <a:ea typeface="+mn-ea"/>
                        <a:cs typeface="+mn-cs"/>
                      </a:endParaRPr>
                    </a:p>
                    <a:p>
                      <a:pPr algn="just"/>
                      <a:r>
                        <a:rPr lang="am-ET" sz="1800" b="1" i="0" u="none" strike="noStrike" kern="1200" baseline="0" dirty="0" smtClean="0">
                          <a:solidFill>
                            <a:schemeClr val="dk1"/>
                          </a:solidFill>
                          <a:latin typeface="+mn-lt"/>
                          <a:ea typeface="+mn-ea"/>
                          <a:cs typeface="+mn-cs"/>
                        </a:rPr>
                        <a:t>ወቅታዊና ልዩ ዝግጅት አከናውኖ በዓሉ ሲጠናቀቅ በዕለቱና ወዲያው ዝግጅቱ የተከናወነበትን አካባቢ ከቆሻሻ ያላጸዳ የፕሮግራሙ አዘጋጅ፤ </a:t>
                      </a:r>
                      <a:r>
                        <a:rPr lang="am-ET" sz="1800" b="0" i="0" u="none" strike="noStrike" kern="1200" baseline="0" dirty="0" smtClean="0">
                          <a:solidFill>
                            <a:schemeClr val="dk1"/>
                          </a:solidFill>
                          <a:latin typeface="+mn-lt"/>
                          <a:ea typeface="+mn-ea"/>
                          <a:cs typeface="+mn-cs"/>
                        </a:rPr>
                        <a:t>	</a:t>
                      </a:r>
                    </a:p>
                  </a:txBody>
                  <a:tcPr>
                    <a:lnB w="12700" cap="flat" cmpd="sng" algn="ctr">
                      <a:solidFill>
                        <a:schemeClr val="tx1"/>
                      </a:solidFill>
                      <a:prstDash val="solid"/>
                      <a:round/>
                      <a:headEnd type="none" w="med" len="med"/>
                      <a:tailEnd type="none" w="med" len="med"/>
                    </a:lnB>
                  </a:tcPr>
                </a:tc>
                <a:tc>
                  <a:txBody>
                    <a:bodyPr/>
                    <a:lstStyle/>
                    <a:p>
                      <a:r>
                        <a:rPr lang="en-US" sz="2400" dirty="0" smtClean="0">
                          <a:latin typeface="Power Geez Unicode1" pitchFamily="2" charset="0"/>
                        </a:rPr>
                        <a:t> </a:t>
                      </a:r>
                    </a:p>
                    <a:p>
                      <a:endParaRPr lang="en-US" sz="2400" b="1" dirty="0" smtClean="0">
                        <a:latin typeface="Power Geez Unicode1" pitchFamily="2" charset="0"/>
                      </a:endParaRPr>
                    </a:p>
                    <a:p>
                      <a:endParaRPr lang="en-US" sz="2400" b="1" dirty="0" smtClean="0">
                        <a:latin typeface="Power Geez Unicode1" pitchFamily="2"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2000" b="1" i="0" u="none" strike="noStrike" kern="1200" baseline="0" dirty="0" smtClean="0">
                          <a:solidFill>
                            <a:srgbClr val="FF0000"/>
                          </a:solidFill>
                          <a:latin typeface="+mn-lt"/>
                          <a:ea typeface="+mn-ea"/>
                          <a:cs typeface="+mn-cs"/>
                        </a:rPr>
                        <a:t>ብር </a:t>
                      </a:r>
                      <a:r>
                        <a:rPr lang="en-US" sz="2000" b="1" i="0" u="none" strike="noStrike" kern="1200" baseline="0" dirty="0" smtClean="0">
                          <a:solidFill>
                            <a:srgbClr val="FF0000"/>
                          </a:solidFill>
                          <a:latin typeface="+mn-lt"/>
                          <a:ea typeface="+mn-ea"/>
                          <a:cs typeface="+mn-cs"/>
                        </a:rPr>
                        <a:t>3</a:t>
                      </a:r>
                      <a:r>
                        <a:rPr lang="am-ET" sz="2000" b="1" i="0" u="none" strike="noStrike" kern="1200" baseline="0" dirty="0" smtClean="0">
                          <a:solidFill>
                            <a:srgbClr val="FF0000"/>
                          </a:solidFill>
                          <a:latin typeface="+mn-lt"/>
                          <a:ea typeface="+mn-ea"/>
                          <a:cs typeface="+mn-cs"/>
                        </a:rPr>
                        <a:t>00.00 </a:t>
                      </a:r>
                    </a:p>
                    <a:p>
                      <a:endParaRPr lang="en-US" sz="2400" b="1" dirty="0" smtClean="0">
                        <a:latin typeface="Power Geez Unicode1" pitchFamily="2" charset="0"/>
                      </a:endParaRPr>
                    </a:p>
                    <a:p>
                      <a:endParaRPr lang="en-US" sz="2400" b="1" dirty="0" smtClean="0">
                        <a:latin typeface="Power Geez Unicode1" pitchFamily="2"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2000" b="1" i="0" u="none" strike="noStrike" kern="1200" baseline="0" dirty="0" smtClean="0">
                          <a:solidFill>
                            <a:srgbClr val="FF0000"/>
                          </a:solidFill>
                          <a:latin typeface="+mn-lt"/>
                          <a:ea typeface="+mn-ea"/>
                          <a:cs typeface="+mn-cs"/>
                        </a:rPr>
                        <a:t>ብር 5,000.00 </a:t>
                      </a:r>
                    </a:p>
                    <a:p>
                      <a:endParaRPr lang="en-US" sz="2400" b="1" dirty="0" smtClean="0">
                        <a:latin typeface="Power Geez Unicode1" pitchFamily="2" charset="0"/>
                      </a:endParaRPr>
                    </a:p>
                    <a:p>
                      <a:endParaRPr lang="en-US" sz="2400" b="1" dirty="0" smtClean="0">
                        <a:latin typeface="Power Geez Unicode1" pitchFamily="2"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2000" b="1" i="0" u="none" strike="noStrike" kern="1200" baseline="0" dirty="0" smtClean="0">
                          <a:solidFill>
                            <a:srgbClr val="FF0000"/>
                          </a:solidFill>
                          <a:latin typeface="+mn-lt"/>
                          <a:ea typeface="+mn-ea"/>
                          <a:cs typeface="+mn-cs"/>
                        </a:rPr>
                        <a:t>ብር 5,000.00 </a:t>
                      </a:r>
                    </a:p>
                    <a:p>
                      <a:endParaRPr lang="en-US" sz="2400" b="1" dirty="0" smtClean="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endParaRPr lang="en-US" sz="1800" b="1" dirty="0" smtClean="0">
                        <a:latin typeface="Power Geez Unicode1" pitchFamily="2" charset="0"/>
                      </a:endParaRPr>
                    </a:p>
                    <a:p>
                      <a:r>
                        <a:rPr lang="am-ET" sz="1800" b="0" i="0" u="none" strike="noStrike" kern="1200" baseline="0" dirty="0" smtClean="0">
                          <a:solidFill>
                            <a:schemeClr val="dk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ብር</a:t>
                      </a:r>
                      <a:endParaRPr lang="en-US" sz="1800" b="1" i="0" u="none" strike="noStrike" kern="1200" baseline="0" dirty="0" smtClean="0">
                        <a:solidFill>
                          <a:schemeClr val="dk1"/>
                        </a:solidFill>
                        <a:latin typeface="Power Geez Unicode1" pitchFamily="2" charset="0"/>
                        <a:ea typeface="+mn-ea"/>
                        <a:cs typeface="+mn-cs"/>
                      </a:endParaRPr>
                    </a:p>
                    <a:p>
                      <a:pPr algn="just"/>
                      <a:r>
                        <a:rPr lang="am-ET" sz="1800" b="1" i="0" u="none" strike="noStrike" kern="1200" baseline="0" dirty="0" smtClean="0">
                          <a:solidFill>
                            <a:schemeClr val="dk1"/>
                          </a:solidFill>
                          <a:latin typeface="+mn-lt"/>
                          <a:ea typeface="+mn-ea"/>
                          <a:cs typeface="+mn-cs"/>
                        </a:rPr>
                        <a:t> 20</a:t>
                      </a:r>
                      <a:r>
                        <a:rPr lang="en-US" sz="1800" b="1" i="0" u="none" strike="noStrike" kern="1200" baseline="0" dirty="0" smtClean="0">
                          <a:solidFill>
                            <a:schemeClr val="dk1"/>
                          </a:solidFill>
                          <a:latin typeface="+mn-lt"/>
                          <a:ea typeface="+mn-ea"/>
                          <a:cs typeface="+mn-cs"/>
                        </a:rPr>
                        <a:t>.</a:t>
                      </a:r>
                      <a:r>
                        <a:rPr lang="am-ET" sz="1800" b="1" i="0" u="none" strike="noStrike" kern="1200" baseline="0" dirty="0" smtClean="0">
                          <a:solidFill>
                            <a:schemeClr val="dk1"/>
                          </a:solidFill>
                          <a:latin typeface="+mn-lt"/>
                          <a:ea typeface="+mn-ea"/>
                          <a:cs typeface="+mn-cs"/>
                        </a:rPr>
                        <a:t>000.00</a:t>
                      </a:r>
                      <a:endParaRPr lang="en-US" sz="1800" b="1" i="0" u="none" strike="noStrike" kern="1200" baseline="0" dirty="0" smtClean="0">
                        <a:solidFill>
                          <a:schemeClr val="dk1"/>
                        </a:solidFill>
                        <a:latin typeface="Power Geez Unicode1" pitchFamily="2" charset="0"/>
                        <a:ea typeface="+mn-ea"/>
                        <a:cs typeface="+mn-cs"/>
                      </a:endParaRPr>
                    </a:p>
                    <a:p>
                      <a:pPr algn="just"/>
                      <a:r>
                        <a:rPr lang="am-ET" sz="1800" b="1" i="0" u="none" strike="noStrike" kern="1200" baseline="0" dirty="0" smtClean="0">
                          <a:solidFill>
                            <a:schemeClr val="dk1"/>
                          </a:solidFill>
                          <a:latin typeface="+mn-lt"/>
                          <a:ea typeface="+mn-ea"/>
                          <a:cs typeface="+mn-cs"/>
                        </a:rPr>
                        <a:t> </a:t>
                      </a:r>
                      <a:endParaRPr lang="en-US" sz="1800" b="1" i="0" u="none" strike="noStrike" kern="1200" baseline="0" dirty="0" smtClean="0">
                        <a:solidFill>
                          <a:schemeClr val="dk1"/>
                        </a:solidFill>
                        <a:latin typeface="+mn-lt"/>
                        <a:ea typeface="+mn-ea"/>
                        <a:cs typeface="+mn-cs"/>
                      </a:endParaRPr>
                    </a:p>
                    <a:p>
                      <a:pPr algn="just"/>
                      <a:endParaRPr lang="am-ET"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ብር 100,000.00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0" i="0" u="none" strike="noStrike"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am-ET" sz="1800" b="0" i="0" u="none" strike="noStrike" kern="1200" baseline="0" dirty="0" smtClean="0">
                          <a:solidFill>
                            <a:schemeClr val="dk1"/>
                          </a:solidFill>
                          <a:latin typeface="+mn-lt"/>
                          <a:ea typeface="+mn-ea"/>
                          <a:cs typeface="+mn-cs"/>
                        </a:rPr>
                        <a:t>	</a:t>
                      </a: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ብር </a:t>
                      </a:r>
                      <a:r>
                        <a:rPr lang="en-US" sz="1800" b="1" i="0" u="none" strike="noStrike" kern="1200" baseline="0" dirty="0" smtClean="0">
                          <a:solidFill>
                            <a:schemeClr val="dk1"/>
                          </a:solidFill>
                          <a:latin typeface="+mn-lt"/>
                          <a:ea typeface="+mn-ea"/>
                          <a:cs typeface="+mn-cs"/>
                        </a:rPr>
                        <a:t>5</a:t>
                      </a:r>
                      <a:r>
                        <a:rPr lang="am-ET" sz="1800" b="1" i="0" u="none" strike="noStrike" kern="1200" baseline="0" dirty="0" smtClean="0">
                          <a:solidFill>
                            <a:schemeClr val="dk1"/>
                          </a:solidFill>
                          <a:latin typeface="+mn-lt"/>
                          <a:ea typeface="+mn-ea"/>
                          <a:cs typeface="+mn-cs"/>
                        </a:rPr>
                        <a:t>0,000.00 </a:t>
                      </a:r>
                      <a:r>
                        <a:rPr lang="am-ET" sz="1800" b="0" i="0" u="none" strike="noStrike" kern="1200" baseline="0" dirty="0" smtClean="0">
                          <a:solidFill>
                            <a:schemeClr val="dk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am-ET" sz="1800" b="1" i="0" u="none" strike="noStrike" kern="1200" baseline="0" dirty="0" smtClean="0">
                        <a:solidFill>
                          <a:schemeClr val="dk1"/>
                        </a:solidFill>
                        <a:latin typeface="+mn-lt"/>
                        <a:ea typeface="+mn-ea"/>
                        <a:cs typeface="+mn-cs"/>
                      </a:endParaRPr>
                    </a:p>
                  </a:txBody>
                  <a:tcPr>
                    <a:lnB w="12700" cap="flat" cmpd="sng" algn="ctr">
                      <a:solidFill>
                        <a:schemeClr val="tx1"/>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600" b="1" i="0" u="none" strike="noStrike" kern="1200" baseline="0" dirty="0" smtClean="0">
                          <a:solidFill>
                            <a:schemeClr val="dk1"/>
                          </a:solidFill>
                          <a:latin typeface="+mn-lt"/>
                          <a:ea typeface="+mn-ea"/>
                          <a:cs typeface="+mn-cs"/>
                        </a:rPr>
                        <a:t>በሰንጠረዡ የተቀመጠውን የቅጣት ክፍያ መጠን መክፈልና ያመጣውን ቆሻሻ መመለስ </a:t>
                      </a:r>
                      <a:r>
                        <a:rPr lang="am-ET" sz="1800" b="0" i="0" u="none" strike="noStrike" kern="1200" baseline="0" dirty="0" smtClean="0">
                          <a:solidFill>
                            <a:schemeClr val="dk1"/>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sz="2400" b="1" kern="1200" dirty="0" smtClean="0">
                        <a:solidFill>
                          <a:schemeClr val="dk1"/>
                        </a:solidFill>
                        <a:effectLst/>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rgbClr val="FF0000"/>
                          </a:solidFill>
                          <a:latin typeface="+mn-lt"/>
                          <a:ea typeface="+mn-ea"/>
                          <a:cs typeface="+mn-cs"/>
                        </a:rPr>
                        <a:t>በሰንጠረዡ የተቀመጠውን የቅጣት ክፍያ መጠን መክፈልና ያቆሸሸውን አካባቢ ማጽዳት </a:t>
                      </a:r>
                      <a:r>
                        <a:rPr lang="am-ET" sz="1800" b="0" i="0" u="none" strike="noStrike" kern="1200" baseline="0" dirty="0" smtClean="0">
                          <a:solidFill>
                            <a:schemeClr val="dk1"/>
                          </a:solidFill>
                          <a:latin typeface="+mn-lt"/>
                          <a:ea typeface="+mn-ea"/>
                          <a:cs typeface="+mn-cs"/>
                        </a:rPr>
                        <a:t>	</a:t>
                      </a:r>
                    </a:p>
                  </a:txBody>
                  <a:tcPr>
                    <a:lnB w="12700" cap="flat" cmpd="sng" algn="ctr">
                      <a:solidFill>
                        <a:schemeClr val="tx1"/>
                      </a:solidFill>
                      <a:prstDash val="solid"/>
                      <a:round/>
                      <a:headEnd type="none" w="med" len="med"/>
                      <a:tailEnd type="none" w="med" len="med"/>
                    </a:lnB>
                  </a:tcPr>
                </a:tc>
              </a:tr>
              <a:tr h="2024856">
                <a:tc>
                  <a:txBody>
                    <a:bodyPr/>
                    <a:lstStyle/>
                    <a:p>
                      <a:endParaRPr lang="en-US" sz="2400" dirty="0" smtClean="0">
                        <a:latin typeface="Power Geez Unicode1" pitchFamily="2" charset="0"/>
                      </a:endParaRPr>
                    </a:p>
                    <a:p>
                      <a:endParaRPr lang="en-US" sz="2400" dirty="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am-ET" sz="2400" b="1" i="0" u="none" strike="noStrike" kern="1200" baseline="0" dirty="0" smtClean="0">
                          <a:solidFill>
                            <a:schemeClr val="dk1"/>
                          </a:solidFill>
                          <a:latin typeface="+mn-lt"/>
                          <a:ea typeface="+mn-ea"/>
                          <a:cs typeface="+mn-cs"/>
                        </a:rPr>
                        <a:t>	</a:t>
                      </a:r>
                    </a:p>
                    <a:p>
                      <a:pPr algn="just"/>
                      <a:r>
                        <a:rPr lang="en-US" sz="1400" b="1" dirty="0" smtClean="0">
                          <a:effectLst/>
                          <a:latin typeface="Power Geez Unicode1" pitchFamily="2" charset="0"/>
                          <a:ea typeface="Times New Roman"/>
                          <a:cs typeface="Visual Geez Unicode"/>
                        </a:rPr>
                        <a:t>     </a:t>
                      </a:r>
                      <a:endParaRPr lang="en-US" sz="3200" b="1"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28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1800" b="1" dirty="0" smtClean="0">
                        <a:latin typeface="Power Geez Unicode1" pitchFamily="2" charset="0"/>
                      </a:endParaRPr>
                    </a:p>
                    <a:p>
                      <a:pPr marL="0" marR="0" algn="ctr">
                        <a:spcBef>
                          <a:spcPts val="1000"/>
                        </a:spcBef>
                        <a:spcAft>
                          <a:spcPts val="0"/>
                        </a:spcAft>
                      </a:pPr>
                      <a:endParaRPr lang="en-US" sz="2800" b="0" dirty="0" smtClean="0">
                        <a:solidFill>
                          <a:srgbClr val="4F81BD"/>
                        </a:solidFill>
                        <a:effectLst/>
                        <a:latin typeface="Power Geez Unicode1" pitchFamily="2" charset="0"/>
                        <a:ea typeface="Times New Roman"/>
                        <a:cs typeface="Visual Geez Unicode"/>
                      </a:endParaRPr>
                    </a:p>
                    <a:p>
                      <a:endParaRPr lang="en-US" sz="2800" dirty="0" smtClean="0">
                        <a:latin typeface="Power Geez Unicode1" pitchFamily="2" charset="0"/>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64381851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63924523"/>
              </p:ext>
            </p:extLst>
          </p:nvPr>
        </p:nvGraphicFramePr>
        <p:xfrm>
          <a:off x="0" y="304800"/>
          <a:ext cx="9067800" cy="8791416"/>
        </p:xfrm>
        <a:graphic>
          <a:graphicData uri="http://schemas.openxmlformats.org/drawingml/2006/table">
            <a:tbl>
              <a:tblPr firstRow="1" bandRow="1">
                <a:tableStyleId>{5C22544A-7EE6-4342-B048-85BDC9FD1C3A}</a:tableStyleId>
              </a:tblPr>
              <a:tblGrid>
                <a:gridCol w="711199"/>
                <a:gridCol w="4089401"/>
                <a:gridCol w="1295400"/>
                <a:gridCol w="1371600"/>
                <a:gridCol w="1600200"/>
              </a:tblGrid>
              <a:tr h="628260">
                <a:tc>
                  <a:txBody>
                    <a:bodyPr/>
                    <a:lstStyle/>
                    <a:p>
                      <a:r>
                        <a:rPr lang="am-ET" sz="1800" b="0" i="0" u="none" strike="noStrike" baseline="0" dirty="0" smtClean="0">
                          <a:solidFill>
                            <a:srgbClr val="000000"/>
                          </a:solidFill>
                          <a:latin typeface="Visual Geez Unicode"/>
                        </a:rPr>
                        <a:t>ተ.ቁ</a:t>
                      </a:r>
                      <a:r>
                        <a:rPr lang="am-ET" sz="1400" b="0" i="0" u="none" strike="noStrike" baseline="0" dirty="0" smtClean="0">
                          <a:solidFill>
                            <a:srgbClr val="000000"/>
                          </a:solidFill>
                          <a:latin typeface="Visual Geez Unicode"/>
                        </a:rPr>
                        <a:t> 	</a:t>
                      </a:r>
                      <a:r>
                        <a:rPr lang="en-US" sz="1400" b="0" i="0" u="none" strike="noStrike" baseline="0" dirty="0" smtClean="0">
                          <a:solidFill>
                            <a:srgbClr val="000000"/>
                          </a:solidFill>
                          <a:latin typeface="Power Geez Unicode1" pitchFamily="2" charset="0"/>
                        </a:rPr>
                        <a:t> </a:t>
                      </a:r>
                      <a:endParaRPr lang="am-ET" sz="1400" b="0" i="0" u="none" strike="noStrike" baseline="0" dirty="0" smtClean="0">
                        <a:solidFill>
                          <a:srgbClr val="000000"/>
                        </a:solidFill>
                        <a:latin typeface="Visual Geez Unicode"/>
                      </a:endParaRPr>
                    </a:p>
                  </a:txBody>
                  <a:tcPr/>
                </a:tc>
                <a:tc>
                  <a:txBody>
                    <a:bodyPr/>
                    <a:lstStyle/>
                    <a:p>
                      <a:r>
                        <a:rPr lang="en-US" sz="1800" b="1" i="0" u="none" strike="noStrike" baseline="0" dirty="0" err="1" smtClean="0">
                          <a:solidFill>
                            <a:srgbClr val="FF0000"/>
                          </a:solidFill>
                          <a:latin typeface="Power Geez Unicode1" pitchFamily="2" charset="0"/>
                        </a:rPr>
                        <a:t>የጥፋት</a:t>
                      </a:r>
                      <a:r>
                        <a:rPr lang="en-US" sz="1800" b="1" i="0" u="none" strike="noStrike" baseline="0" dirty="0" smtClean="0">
                          <a:solidFill>
                            <a:srgbClr val="FF0000"/>
                          </a:solidFill>
                          <a:latin typeface="Power Geez Unicode1" pitchFamily="2" charset="0"/>
                        </a:rPr>
                        <a:t> </a:t>
                      </a:r>
                      <a:r>
                        <a:rPr lang="en-US" sz="1800" b="1" i="0" u="none" strike="noStrike" baseline="0" dirty="0" err="1" smtClean="0">
                          <a:solidFill>
                            <a:srgbClr val="FF0000"/>
                          </a:solidFill>
                          <a:latin typeface="Power Geez Unicode1" pitchFamily="2" charset="0"/>
                        </a:rPr>
                        <a:t>አይነቶች</a:t>
                      </a:r>
                      <a:endParaRPr lang="am-ET" sz="1800" b="1" i="0" u="none" strike="noStrike" baseline="0" dirty="0" smtClean="0">
                        <a:solidFill>
                          <a:srgbClr val="FF0000"/>
                        </a:solidFill>
                        <a:latin typeface="Visual Geez Unicode"/>
                      </a:endParaRPr>
                    </a:p>
                  </a:txBody>
                  <a:tcPr/>
                </a:tc>
                <a:tc>
                  <a:txBody>
                    <a:bodyPr/>
                    <a:lstStyle/>
                    <a:p>
                      <a:pPr algn="just"/>
                      <a:r>
                        <a:rPr lang="en-US" sz="1400" b="1" i="0" u="none" strike="noStrike" baseline="0" dirty="0" err="1" smtClean="0">
                          <a:solidFill>
                            <a:srgbClr val="FF0000"/>
                          </a:solidFill>
                          <a:latin typeface="Power Geez Unicode1" pitchFamily="2" charset="0"/>
                        </a:rPr>
                        <a:t>ቀድሞ</a:t>
                      </a:r>
                      <a:r>
                        <a:rPr lang="en-US" sz="1400" b="1" i="0" u="none" strike="noStrike" baseline="0" dirty="0" smtClean="0">
                          <a:solidFill>
                            <a:srgbClr val="FF0000"/>
                          </a:solidFill>
                          <a:latin typeface="Power Geez Unicode1" pitchFamily="2" charset="0"/>
                        </a:rPr>
                        <a:t> በነበረው150/2015 </a:t>
                      </a:r>
                      <a:r>
                        <a:rPr lang="en-US" sz="1400" b="1" i="0" u="none" strike="noStrike" baseline="0" dirty="0" err="1" smtClean="0">
                          <a:solidFill>
                            <a:srgbClr val="FF0000"/>
                          </a:solidFill>
                          <a:latin typeface="Power Geez Unicode1" pitchFamily="2" charset="0"/>
                        </a:rPr>
                        <a:t>የተቀመጠ</a:t>
                      </a:r>
                      <a:r>
                        <a:rPr lang="en-US" sz="1400" b="1" i="0" u="none" strike="noStrike" baseline="0" dirty="0" smtClean="0">
                          <a:solidFill>
                            <a:srgbClr val="FF0000"/>
                          </a:solidFill>
                          <a:latin typeface="Power Geez Unicode1" pitchFamily="2" charset="0"/>
                        </a:rPr>
                        <a:t> </a:t>
                      </a:r>
                      <a:r>
                        <a:rPr lang="en-US" sz="1400" b="1" i="0" u="none" strike="noStrike" baseline="0" dirty="0" err="1" smtClean="0">
                          <a:solidFill>
                            <a:srgbClr val="FF0000"/>
                          </a:solidFill>
                          <a:latin typeface="Power Geez Unicode1" pitchFamily="2" charset="0"/>
                        </a:rPr>
                        <a:t>ቅጣት</a:t>
                      </a:r>
                      <a:endParaRPr lang="am-ET" sz="1400" b="1" i="0" u="none" strike="noStrike" baseline="0" dirty="0" smtClean="0">
                        <a:solidFill>
                          <a:srgbClr val="FF0000"/>
                        </a:solidFill>
                        <a:latin typeface="Visual Geez Unicode"/>
                      </a:endParaRPr>
                    </a:p>
                  </a:txBody>
                  <a:tcPr/>
                </a:tc>
                <a:tc>
                  <a:txBody>
                    <a:bodyPr/>
                    <a:lstStyle/>
                    <a:p>
                      <a:r>
                        <a:rPr lang="en-US" sz="1400" b="1" i="0" u="none" strike="noStrike" baseline="0" dirty="0" err="1" smtClean="0">
                          <a:solidFill>
                            <a:srgbClr val="000000"/>
                          </a:solidFill>
                          <a:latin typeface="Power Geez Unicode1" pitchFamily="2" charset="0"/>
                        </a:rPr>
                        <a:t>አሁን</a:t>
                      </a:r>
                      <a:r>
                        <a:rPr lang="en-US" sz="1400" b="1" i="0" u="none" strike="noStrike" baseline="0" dirty="0" smtClean="0">
                          <a:solidFill>
                            <a:srgbClr val="000000"/>
                          </a:solidFill>
                          <a:latin typeface="Power Geez Unicode1" pitchFamily="2" charset="0"/>
                        </a:rPr>
                        <a:t> </a:t>
                      </a:r>
                      <a:r>
                        <a:rPr lang="en-US" sz="1400" b="1" i="0" u="none" strike="noStrike" baseline="0" dirty="0" err="1" smtClean="0">
                          <a:solidFill>
                            <a:srgbClr val="000000"/>
                          </a:solidFill>
                          <a:latin typeface="Power Geez Unicode1" pitchFamily="2" charset="0"/>
                        </a:rPr>
                        <a:t>በተሸሻለው</a:t>
                      </a:r>
                      <a:r>
                        <a:rPr lang="en-US" sz="1400" b="1" i="0" u="none" strike="noStrike" baseline="0" dirty="0" smtClean="0">
                          <a:solidFill>
                            <a:srgbClr val="000000"/>
                          </a:solidFill>
                          <a:latin typeface="Power Geez Unicode1" pitchFamily="2" charset="0"/>
                        </a:rPr>
                        <a:t> 167/2016 </a:t>
                      </a:r>
                      <a:r>
                        <a:rPr lang="en-US" sz="1400" b="1" i="0" u="none" strike="noStrike" baseline="0" dirty="0" err="1" smtClean="0">
                          <a:solidFill>
                            <a:srgbClr val="000000"/>
                          </a:solidFill>
                          <a:latin typeface="Power Geez Unicode1" pitchFamily="2" charset="0"/>
                        </a:rPr>
                        <a:t>የተቀመጠ</a:t>
                      </a:r>
                      <a:r>
                        <a:rPr lang="en-US" sz="1400" b="1" i="0" u="none" strike="noStrike" baseline="0" dirty="0" smtClean="0">
                          <a:solidFill>
                            <a:srgbClr val="000000"/>
                          </a:solidFill>
                          <a:latin typeface="Power Geez Unicode1" pitchFamily="2" charset="0"/>
                        </a:rPr>
                        <a:t> </a:t>
                      </a:r>
                      <a:r>
                        <a:rPr lang="en-US" sz="1400" b="1" i="0" u="none" strike="noStrike" baseline="0" dirty="0" err="1" smtClean="0">
                          <a:solidFill>
                            <a:srgbClr val="000000"/>
                          </a:solidFill>
                          <a:latin typeface="Power Geez Unicode1" pitchFamily="2" charset="0"/>
                        </a:rPr>
                        <a:t>ቅጣት</a:t>
                      </a:r>
                      <a:endParaRPr lang="am-ET" sz="1400" b="1" i="0" u="none" strike="noStrike" baseline="0" dirty="0" smtClean="0">
                        <a:solidFill>
                          <a:srgbClr val="000000"/>
                        </a:solidFill>
                        <a:latin typeface="Visual Geez Unicode"/>
                      </a:endParaRPr>
                    </a:p>
                  </a:txBody>
                  <a:tcPr/>
                </a:tc>
                <a:tc>
                  <a:txBody>
                    <a:bodyPr/>
                    <a:lstStyle/>
                    <a:p>
                      <a:r>
                        <a:rPr lang="en-US" sz="1600" dirty="0" err="1" smtClean="0">
                          <a:solidFill>
                            <a:schemeClr val="tx1"/>
                          </a:solidFill>
                          <a:latin typeface="Power Geez Unicode1" pitchFamily="2" charset="0"/>
                        </a:rPr>
                        <a:t>ከህገ</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ወጥ</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ፈፃሚው</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የሚጠበቅ</a:t>
                      </a:r>
                      <a:endParaRPr lang="en-US" sz="1600" dirty="0">
                        <a:solidFill>
                          <a:schemeClr val="tx1"/>
                        </a:solidFill>
                        <a:latin typeface="Power Geez Unicode1" pitchFamily="2" charset="0"/>
                      </a:endParaRPr>
                    </a:p>
                  </a:txBody>
                  <a:tcPr/>
                </a:tc>
              </a:tr>
              <a:tr h="5608320">
                <a:tc>
                  <a:txBody>
                    <a:bodyPr/>
                    <a:lstStyle/>
                    <a:p>
                      <a:endParaRPr lang="en-US" sz="2400" dirty="0" smtClean="0">
                        <a:latin typeface="Power Geez Unicode1" pitchFamily="2" charset="0"/>
                      </a:endParaRPr>
                    </a:p>
                    <a:p>
                      <a:endParaRPr lang="en-US" sz="2400" dirty="0" smtClean="0">
                        <a:latin typeface="Power Geez Unicode1" pitchFamily="2" charset="0"/>
                      </a:endParaRPr>
                    </a:p>
                    <a:p>
                      <a:r>
                        <a:rPr lang="en-US" sz="2400" dirty="0" smtClean="0">
                          <a:latin typeface="Power Geez Unicode1" pitchFamily="2" charset="0"/>
                        </a:rPr>
                        <a:t>26</a:t>
                      </a: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r>
                        <a:rPr lang="en-US" sz="2400" dirty="0" smtClean="0">
                          <a:latin typeface="Power Geez Unicode1" pitchFamily="2" charset="0"/>
                        </a:rPr>
                        <a:t>27</a:t>
                      </a: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endParaRPr lang="en-US" sz="1800" b="1" i="0" u="none" strike="noStrike" kern="1200" baseline="0" dirty="0" smtClean="0">
                        <a:solidFill>
                          <a:schemeClr val="dk1"/>
                        </a:solidFill>
                        <a:latin typeface="Power Geez Unicode1" pitchFamily="2" charset="0"/>
                        <a:ea typeface="+mn-ea"/>
                        <a:cs typeface="+mn-cs"/>
                      </a:endParaRPr>
                    </a:p>
                    <a:p>
                      <a:pPr algn="just"/>
                      <a:endParaRPr lang="en-US" sz="2400" b="1" i="0" u="none" strike="noStrike" kern="1200" baseline="0" dirty="0" smtClean="0">
                        <a:solidFill>
                          <a:schemeClr val="dk1"/>
                        </a:solidFill>
                        <a:latin typeface="Power Geez Unicode1" pitchFamily="2" charset="0"/>
                        <a:ea typeface="+mn-ea"/>
                        <a:cs typeface="+mn-cs"/>
                      </a:endParaRPr>
                    </a:p>
                    <a:p>
                      <a:pPr algn="just"/>
                      <a:r>
                        <a:rPr lang="am-ET" sz="1800" b="1" i="0" u="none" strike="noStrike" kern="1200" baseline="0" dirty="0" smtClean="0">
                          <a:solidFill>
                            <a:schemeClr val="dk1"/>
                          </a:solidFill>
                          <a:latin typeface="+mn-lt"/>
                          <a:ea typeface="+mn-ea"/>
                          <a:cs typeface="+mn-cs"/>
                        </a:rPr>
                        <a:t>ዓመታዊ፤ ወርሃዊና ሳምንታዊ የእምነት በዓላት ሲከናወኑ ዝግጅቱ ሲጠናቀቅ የዝግጅቱ ባለቤት በዕለቱና ወዲያው አካባቢውን ካላጸዳ፤ 	</a:t>
                      </a: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	</a:t>
                      </a:r>
                      <a:endParaRPr lang="en-US" sz="1800" b="1" i="0" u="none" strike="noStrike" kern="1200" baseline="0" dirty="0" smtClean="0">
                        <a:solidFill>
                          <a:schemeClr val="dk1"/>
                        </a:solidFill>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የታክሲና ሚኒባስ ተራ አስከባሪ፤ የፓርኪንግ አገልግሎት የሚሰጥ ድርጅት፤ በጫማ ጥገናና ጽዳት (ሊስትሮ) የተሰማራ፤ በእረፍት ቀን (ቅዳሜና እሁድ) መንገድ ላይ የሚነግዱ ነጋዴ፤ ሕጋዊ ፈቃድ ያለው የእንስሳት የግብይት ማዕከላት እና የመሳሰሉትን የሚሰራበትን አካባቢ እስከ 5 ሜትር ዙሪያ ከቆሻሻ ጽዱ ያላደረገ ማንኛውም ሰው፤ </a:t>
                      </a:r>
                      <a:r>
                        <a:rPr lang="am-ET" sz="1800" b="0" i="0" u="none" strike="noStrike" kern="1200" baseline="0" dirty="0" smtClean="0">
                          <a:solidFill>
                            <a:schemeClr val="dk1"/>
                          </a:solidFill>
                          <a:latin typeface="+mn-lt"/>
                          <a:ea typeface="+mn-ea"/>
                          <a:cs typeface="+mn-cs"/>
                        </a:rPr>
                        <a:t>	</a:t>
                      </a:r>
                    </a:p>
                    <a:p>
                      <a:pPr algn="just"/>
                      <a:r>
                        <a:rPr lang="am-ET" sz="1800" b="0" i="0" u="none" strike="noStrike" kern="1200" baseline="0" dirty="0" smtClean="0">
                          <a:solidFill>
                            <a:schemeClr val="dk1"/>
                          </a:solidFill>
                          <a:latin typeface="+mn-lt"/>
                          <a:ea typeface="+mn-ea"/>
                          <a:cs typeface="+mn-cs"/>
                        </a:rPr>
                        <a:t>	</a:t>
                      </a:r>
                    </a:p>
                  </a:txBody>
                  <a:tcPr>
                    <a:lnB w="12700" cap="flat" cmpd="sng" algn="ctr">
                      <a:solidFill>
                        <a:schemeClr val="tx1"/>
                      </a:solidFill>
                      <a:prstDash val="solid"/>
                      <a:round/>
                      <a:headEnd type="none" w="med" len="med"/>
                      <a:tailEnd type="none" w="med" len="med"/>
                    </a:lnB>
                  </a:tcPr>
                </a:tc>
                <a:tc>
                  <a:txBody>
                    <a:bodyPr/>
                    <a:lstStyle/>
                    <a:p>
                      <a:r>
                        <a:rPr lang="en-US" sz="2400" dirty="0" smtClean="0">
                          <a:latin typeface="Power Geez Unicode1" pitchFamily="2" charset="0"/>
                        </a:rPr>
                        <a:t> </a:t>
                      </a:r>
                    </a:p>
                    <a:p>
                      <a:endParaRPr lang="en-US" sz="2400" b="1" dirty="0" smtClean="0">
                        <a:latin typeface="Power Geez Unicode1" pitchFamily="2"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2000" b="1" i="0" u="none" strike="noStrike" kern="1200" baseline="0" dirty="0" smtClean="0">
                          <a:solidFill>
                            <a:srgbClr val="FF0000"/>
                          </a:solidFill>
                          <a:latin typeface="+mn-lt"/>
                          <a:ea typeface="+mn-ea"/>
                          <a:cs typeface="+mn-cs"/>
                        </a:rPr>
                        <a:t>ብር </a:t>
                      </a:r>
                      <a:r>
                        <a:rPr lang="en-US" sz="2000" b="1" i="0" u="none" strike="noStrike" kern="1200" baseline="0" dirty="0" smtClean="0">
                          <a:solidFill>
                            <a:srgbClr val="FF0000"/>
                          </a:solidFill>
                          <a:latin typeface="+mn-lt"/>
                          <a:ea typeface="+mn-ea"/>
                          <a:cs typeface="+mn-cs"/>
                        </a:rPr>
                        <a:t>3</a:t>
                      </a:r>
                      <a:r>
                        <a:rPr lang="am-ET" sz="2000" b="1" i="0" u="none" strike="noStrike" kern="1200" baseline="0" dirty="0" smtClean="0">
                          <a:solidFill>
                            <a:srgbClr val="FF0000"/>
                          </a:solidFill>
                          <a:latin typeface="+mn-lt"/>
                          <a:ea typeface="+mn-ea"/>
                          <a:cs typeface="+mn-cs"/>
                        </a:rPr>
                        <a:t>,000.00 </a:t>
                      </a:r>
                    </a:p>
                    <a:p>
                      <a:endParaRPr lang="en-US" sz="2400" b="1" dirty="0" smtClean="0">
                        <a:latin typeface="Power Geez Unicode1" pitchFamily="2" charset="0"/>
                      </a:endParaRPr>
                    </a:p>
                    <a:p>
                      <a:endParaRPr lang="en-US" sz="2400" b="1" dirty="0" smtClean="0">
                        <a:latin typeface="Power Geez Unicode1" pitchFamily="2" charset="0"/>
                      </a:endParaRPr>
                    </a:p>
                    <a:p>
                      <a:endParaRPr lang="en-US" sz="2400" b="1" dirty="0" smtClean="0">
                        <a:latin typeface="Power Geez Unicode1" pitchFamily="2" charset="0"/>
                      </a:endParaRPr>
                    </a:p>
                    <a:p>
                      <a:endParaRPr lang="en-US" sz="2400" b="1" dirty="0" smtClean="0">
                        <a:latin typeface="Power Geez Unicode1" pitchFamily="2" charset="0"/>
                      </a:endParaRPr>
                    </a:p>
                    <a:p>
                      <a:endParaRPr lang="en-US" sz="2400" b="1" dirty="0" smtClean="0">
                        <a:latin typeface="Power Geez Unicode1" pitchFamily="2"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am-ET" sz="2400" b="1" i="0" u="none" strike="noStrike" kern="1200" baseline="0" dirty="0" smtClean="0">
                          <a:solidFill>
                            <a:srgbClr val="FF0000"/>
                          </a:solidFill>
                          <a:latin typeface="+mn-lt"/>
                          <a:ea typeface="+mn-ea"/>
                          <a:cs typeface="+mn-cs"/>
                        </a:rPr>
                        <a:t>ብር 500.00 </a:t>
                      </a:r>
                    </a:p>
                    <a:p>
                      <a:endParaRPr lang="en-US" sz="2400" b="1" dirty="0" smtClean="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endParaRPr lang="en-US" sz="1800" b="1" dirty="0" smtClean="0">
                        <a:latin typeface="Power Geez Unicode1" pitchFamily="2" charset="0"/>
                      </a:endParaRPr>
                    </a:p>
                    <a:p>
                      <a:r>
                        <a:rPr lang="am-ET" sz="1800" b="0" i="0" u="none" strike="noStrike" kern="1200" baseline="0" dirty="0" smtClean="0">
                          <a:solidFill>
                            <a:schemeClr val="dk1"/>
                          </a:solidFill>
                          <a:latin typeface="+mn-lt"/>
                          <a:ea typeface="+mn-ea"/>
                          <a:cs typeface="+mn-cs"/>
                        </a:rPr>
                        <a:t>	</a:t>
                      </a:r>
                      <a:endParaRPr lang="en-US"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ብር</a:t>
                      </a:r>
                      <a:endParaRPr lang="en-US" sz="1800" b="1" i="0" u="none" strike="noStrike" kern="1200" baseline="0" dirty="0" smtClean="0">
                        <a:solidFill>
                          <a:schemeClr val="dk1"/>
                        </a:solidFill>
                        <a:latin typeface="Power Geez Unicode1" pitchFamily="2" charset="0"/>
                        <a:ea typeface="+mn-ea"/>
                        <a:cs typeface="+mn-cs"/>
                      </a:endParaRPr>
                    </a:p>
                    <a:p>
                      <a:pPr algn="just"/>
                      <a:r>
                        <a:rPr lang="am-ET" sz="1800" b="1" i="0" u="none" strike="noStrike" kern="1200" baseline="0" dirty="0" smtClean="0">
                          <a:solidFill>
                            <a:schemeClr val="dk1"/>
                          </a:solidFill>
                          <a:latin typeface="+mn-lt"/>
                          <a:ea typeface="+mn-ea"/>
                          <a:cs typeface="+mn-cs"/>
                        </a:rPr>
                        <a:t> 20</a:t>
                      </a:r>
                      <a:r>
                        <a:rPr lang="en-US" sz="1800" b="1" i="0" u="none" strike="noStrike" kern="1200" baseline="0" dirty="0" smtClean="0">
                          <a:solidFill>
                            <a:schemeClr val="dk1"/>
                          </a:solidFill>
                          <a:latin typeface="+mn-lt"/>
                          <a:ea typeface="+mn-ea"/>
                          <a:cs typeface="+mn-cs"/>
                        </a:rPr>
                        <a:t>.</a:t>
                      </a:r>
                      <a:r>
                        <a:rPr lang="am-ET" sz="1800" b="1" i="0" u="none" strike="noStrike" kern="1200" baseline="0" dirty="0" smtClean="0">
                          <a:solidFill>
                            <a:schemeClr val="dk1"/>
                          </a:solidFill>
                          <a:latin typeface="+mn-lt"/>
                          <a:ea typeface="+mn-ea"/>
                          <a:cs typeface="+mn-cs"/>
                        </a:rPr>
                        <a:t>000.00</a:t>
                      </a:r>
                      <a:endParaRPr lang="en-US" sz="1800" b="1" i="0" u="none" strike="noStrike" kern="1200" baseline="0" dirty="0" smtClean="0">
                        <a:solidFill>
                          <a:schemeClr val="dk1"/>
                        </a:solidFill>
                        <a:latin typeface="Power Geez Unicode1" pitchFamily="2" charset="0"/>
                        <a:ea typeface="+mn-ea"/>
                        <a:cs typeface="+mn-cs"/>
                      </a:endParaRPr>
                    </a:p>
                    <a:p>
                      <a:pPr algn="just"/>
                      <a:r>
                        <a:rPr lang="am-ET" sz="1800" b="1" i="0" u="none" strike="noStrike" kern="1200" baseline="0" dirty="0" smtClean="0">
                          <a:solidFill>
                            <a:schemeClr val="dk1"/>
                          </a:solidFill>
                          <a:latin typeface="+mn-lt"/>
                          <a:ea typeface="+mn-ea"/>
                          <a:cs typeface="+mn-cs"/>
                        </a:rPr>
                        <a:t> </a:t>
                      </a:r>
                    </a:p>
                    <a:p>
                      <a:pPr algn="just"/>
                      <a:r>
                        <a:rPr lang="am-ET" sz="1800" b="0" i="0" u="none" strike="noStrike" kern="1200" baseline="0" dirty="0" smtClean="0">
                          <a:solidFill>
                            <a:schemeClr val="dk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tx1"/>
                          </a:solidFill>
                          <a:latin typeface="+mn-lt"/>
                          <a:ea typeface="+mn-ea"/>
                          <a:cs typeface="+mn-cs"/>
                        </a:rPr>
                        <a:t>ለግለሰብ ብር 2ዐዐዐ.ዐዐ </a:t>
                      </a:r>
                      <a:endParaRPr lang="en-US" sz="1800" b="1" i="0" u="none" strike="noStrike" kern="1200" baseline="0" dirty="0" smtClean="0">
                        <a:solidFill>
                          <a:schemeClr val="tx1"/>
                        </a:solidFill>
                        <a:latin typeface="+mn-lt"/>
                        <a:ea typeface="+mn-ea"/>
                        <a:cs typeface="+mn-cs"/>
                      </a:endParaRPr>
                    </a:p>
                    <a:p>
                      <a:pPr algn="just"/>
                      <a:endParaRPr lang="am-ET" sz="1800" b="1" i="0" u="none" strike="noStrike" kern="1200" baseline="0" dirty="0" smtClean="0">
                        <a:solidFill>
                          <a:schemeClr val="tx1"/>
                        </a:solidFill>
                        <a:latin typeface="+mn-lt"/>
                        <a:ea typeface="+mn-ea"/>
                        <a:cs typeface="+mn-cs"/>
                      </a:endParaRPr>
                    </a:p>
                    <a:p>
                      <a:pPr algn="just"/>
                      <a:r>
                        <a:rPr lang="am-ET" sz="1800" b="1" i="0" u="none" strike="noStrike" kern="1200" baseline="0" dirty="0" smtClean="0">
                          <a:solidFill>
                            <a:schemeClr val="tx1"/>
                          </a:solidFill>
                          <a:latin typeface="+mn-lt"/>
                          <a:ea typeface="+mn-ea"/>
                          <a:cs typeface="+mn-cs"/>
                        </a:rPr>
                        <a:t>ለድርጅት ብር 2ዐ,ዐዐዐ.ዐዐ 	</a:t>
                      </a:r>
                    </a:p>
                    <a:p>
                      <a:pPr marL="0" marR="0" indent="0" algn="l" defTabSz="914400" rtl="0" eaLnBrk="1" fontAlgn="auto" latinLnBrk="0" hangingPunct="1">
                        <a:lnSpc>
                          <a:spcPct val="100000"/>
                        </a:lnSpc>
                        <a:spcBef>
                          <a:spcPts val="0"/>
                        </a:spcBef>
                        <a:spcAft>
                          <a:spcPts val="0"/>
                        </a:spcAft>
                        <a:buClrTx/>
                        <a:buSzTx/>
                        <a:buFontTx/>
                        <a:buNone/>
                        <a:tabLst/>
                        <a:defRPr/>
                      </a:pPr>
                      <a:endParaRPr lang="am-ET" sz="1800" b="1" i="0" u="none" strike="noStrike" kern="1200" baseline="0" dirty="0" smtClean="0">
                        <a:solidFill>
                          <a:schemeClr val="dk1"/>
                        </a:solidFill>
                        <a:latin typeface="+mn-lt"/>
                        <a:ea typeface="+mn-ea"/>
                        <a:cs typeface="+mn-cs"/>
                      </a:endParaRPr>
                    </a:p>
                  </a:txBody>
                  <a:tcPr>
                    <a:lnB w="12700" cap="flat" cmpd="sng" algn="ctr">
                      <a:solidFill>
                        <a:schemeClr val="tx1"/>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1600" b="1" kern="1200" dirty="0" smtClean="0">
                        <a:solidFill>
                          <a:schemeClr val="dk1"/>
                        </a:solidFill>
                        <a:effectLst/>
                        <a:latin typeface="Power Geez Unicode1" pitchFamily="2" charset="0"/>
                        <a:ea typeface="+mn-ea"/>
                        <a:cs typeface="+mn-cs"/>
                      </a:endParaRPr>
                    </a:p>
                    <a:p>
                      <a:pPr algn="just"/>
                      <a:r>
                        <a:rPr lang="am-ET" sz="1800" b="1" i="0" u="none" strike="noStrike" kern="1200" baseline="0" dirty="0" smtClean="0">
                          <a:solidFill>
                            <a:schemeClr val="dk1"/>
                          </a:solidFill>
                          <a:latin typeface="+mn-lt"/>
                          <a:ea typeface="+mn-ea"/>
                          <a:cs typeface="+mn-cs"/>
                        </a:rPr>
                        <a:t>በሰንጠረዡ የተቀመጠውን የቅጣት ክፍያ መጠን መክፈልና ያቆሸሸውን አካባቢ ማጽዳት </a:t>
                      </a:r>
                      <a:r>
                        <a:rPr lang="am-ET" sz="1800" b="0" i="0" u="none" strike="noStrike" kern="1200" baseline="0" dirty="0" smtClean="0">
                          <a:solidFill>
                            <a:schemeClr val="dk1"/>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rgbClr val="FF0000"/>
                          </a:solidFill>
                          <a:latin typeface="+mn-lt"/>
                          <a:ea typeface="+mn-ea"/>
                          <a:cs typeface="+mn-cs"/>
                        </a:rPr>
                        <a:t> </a:t>
                      </a:r>
                      <a:endParaRPr lang="en-US" sz="1800" b="1" i="0" u="none" strike="noStrike" kern="1200" baseline="0" dirty="0" smtClean="0">
                        <a:solidFill>
                          <a:srgbClr val="FF0000"/>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rgbClr val="FF0000"/>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rgbClr val="FF0000"/>
                          </a:solidFill>
                          <a:latin typeface="+mn-lt"/>
                          <a:ea typeface="+mn-ea"/>
                          <a:cs typeface="+mn-cs"/>
                        </a:rPr>
                        <a:t>በሰንጠረዡ የተቀመጠውን የቅጣት ክፍያ መጠን መክፈልና አካባቢውን ጽዳት 	</a:t>
                      </a: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0" i="0" u="none" strike="noStrike" kern="1200" baseline="0" dirty="0" smtClean="0">
                          <a:solidFill>
                            <a:schemeClr val="dk1"/>
                          </a:solidFill>
                          <a:latin typeface="+mn-lt"/>
                          <a:ea typeface="+mn-ea"/>
                          <a:cs typeface="+mn-cs"/>
                        </a:rPr>
                        <a:t>	</a:t>
                      </a:r>
                    </a:p>
                  </a:txBody>
                  <a:tcPr>
                    <a:lnB w="12700" cap="flat" cmpd="sng" algn="ctr">
                      <a:solidFill>
                        <a:schemeClr val="tx1"/>
                      </a:solidFill>
                      <a:prstDash val="solid"/>
                      <a:round/>
                      <a:headEnd type="none" w="med" len="med"/>
                      <a:tailEnd type="none" w="med" len="med"/>
                    </a:lnB>
                  </a:tcPr>
                </a:tc>
              </a:tr>
              <a:tr h="2024856">
                <a:tc>
                  <a:txBody>
                    <a:bodyPr/>
                    <a:lstStyle/>
                    <a:p>
                      <a:endParaRPr lang="en-US" sz="2400" dirty="0" smtClean="0">
                        <a:latin typeface="Power Geez Unicode1" pitchFamily="2" charset="0"/>
                      </a:endParaRPr>
                    </a:p>
                    <a:p>
                      <a:endParaRPr lang="en-US" sz="2400" dirty="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am-ET" sz="2400" b="1" i="0" u="none" strike="noStrike" kern="1200" baseline="0" dirty="0" smtClean="0">
                          <a:solidFill>
                            <a:schemeClr val="dk1"/>
                          </a:solidFill>
                          <a:latin typeface="+mn-lt"/>
                          <a:ea typeface="+mn-ea"/>
                          <a:cs typeface="+mn-cs"/>
                        </a:rPr>
                        <a:t>	</a:t>
                      </a:r>
                    </a:p>
                    <a:p>
                      <a:pPr algn="just"/>
                      <a:r>
                        <a:rPr lang="en-US" sz="1400" b="1" dirty="0" smtClean="0">
                          <a:effectLst/>
                          <a:latin typeface="Power Geez Unicode1" pitchFamily="2" charset="0"/>
                          <a:ea typeface="Times New Roman"/>
                          <a:cs typeface="Visual Geez Unicode"/>
                        </a:rPr>
                        <a:t>     </a:t>
                      </a:r>
                      <a:endParaRPr lang="en-US" sz="3200" b="1"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28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1800" b="1" dirty="0" smtClean="0">
                        <a:latin typeface="Power Geez Unicode1" pitchFamily="2" charset="0"/>
                      </a:endParaRPr>
                    </a:p>
                    <a:p>
                      <a:pPr marL="0" marR="0" algn="ctr">
                        <a:spcBef>
                          <a:spcPts val="1000"/>
                        </a:spcBef>
                        <a:spcAft>
                          <a:spcPts val="0"/>
                        </a:spcAft>
                      </a:pPr>
                      <a:endParaRPr lang="en-US" sz="2800" b="0" dirty="0" smtClean="0">
                        <a:solidFill>
                          <a:srgbClr val="4F81BD"/>
                        </a:solidFill>
                        <a:effectLst/>
                        <a:latin typeface="Power Geez Unicode1" pitchFamily="2" charset="0"/>
                        <a:ea typeface="Times New Roman"/>
                        <a:cs typeface="Visual Geez Unicode"/>
                      </a:endParaRPr>
                    </a:p>
                    <a:p>
                      <a:endParaRPr lang="en-US" sz="2800" dirty="0" smtClean="0">
                        <a:latin typeface="Power Geez Unicode1" pitchFamily="2" charset="0"/>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3362188317"/>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940060711"/>
              </p:ext>
            </p:extLst>
          </p:nvPr>
        </p:nvGraphicFramePr>
        <p:xfrm>
          <a:off x="0" y="304800"/>
          <a:ext cx="9067800" cy="9004776"/>
        </p:xfrm>
        <a:graphic>
          <a:graphicData uri="http://schemas.openxmlformats.org/drawingml/2006/table">
            <a:tbl>
              <a:tblPr firstRow="1" bandRow="1">
                <a:tableStyleId>{5C22544A-7EE6-4342-B048-85BDC9FD1C3A}</a:tableStyleId>
              </a:tblPr>
              <a:tblGrid>
                <a:gridCol w="711199"/>
                <a:gridCol w="4089401"/>
                <a:gridCol w="1295400"/>
                <a:gridCol w="1371600"/>
                <a:gridCol w="1600200"/>
              </a:tblGrid>
              <a:tr h="628260">
                <a:tc>
                  <a:txBody>
                    <a:bodyPr/>
                    <a:lstStyle/>
                    <a:p>
                      <a:r>
                        <a:rPr lang="am-ET" sz="1800" b="0" i="0" u="none" strike="noStrike" baseline="0" dirty="0" smtClean="0">
                          <a:solidFill>
                            <a:srgbClr val="000000"/>
                          </a:solidFill>
                          <a:latin typeface="Visual Geez Unicode"/>
                        </a:rPr>
                        <a:t>ተ.ቁ</a:t>
                      </a:r>
                      <a:r>
                        <a:rPr lang="am-ET" sz="1400" b="0" i="0" u="none" strike="noStrike" baseline="0" dirty="0" smtClean="0">
                          <a:solidFill>
                            <a:srgbClr val="000000"/>
                          </a:solidFill>
                          <a:latin typeface="Visual Geez Unicode"/>
                        </a:rPr>
                        <a:t> 	</a:t>
                      </a:r>
                      <a:r>
                        <a:rPr lang="en-US" sz="1400" b="0" i="0" u="none" strike="noStrike" baseline="0" dirty="0" smtClean="0">
                          <a:solidFill>
                            <a:srgbClr val="000000"/>
                          </a:solidFill>
                          <a:latin typeface="Power Geez Unicode1" pitchFamily="2" charset="0"/>
                        </a:rPr>
                        <a:t> </a:t>
                      </a:r>
                      <a:endParaRPr lang="am-ET" sz="1400" b="0" i="0" u="none" strike="noStrike" baseline="0" dirty="0" smtClean="0">
                        <a:solidFill>
                          <a:srgbClr val="000000"/>
                        </a:solidFill>
                        <a:latin typeface="Visual Geez Unicode"/>
                      </a:endParaRPr>
                    </a:p>
                  </a:txBody>
                  <a:tcPr/>
                </a:tc>
                <a:tc>
                  <a:txBody>
                    <a:bodyPr/>
                    <a:lstStyle/>
                    <a:p>
                      <a:r>
                        <a:rPr lang="en-US" sz="1800" b="1" i="0" u="none" strike="noStrike" baseline="0" dirty="0" err="1" smtClean="0">
                          <a:solidFill>
                            <a:srgbClr val="FF0000"/>
                          </a:solidFill>
                          <a:latin typeface="Power Geez Unicode1" pitchFamily="2" charset="0"/>
                        </a:rPr>
                        <a:t>የጥፋት</a:t>
                      </a:r>
                      <a:r>
                        <a:rPr lang="en-US" sz="1800" b="1" i="0" u="none" strike="noStrike" baseline="0" dirty="0" smtClean="0">
                          <a:solidFill>
                            <a:srgbClr val="FF0000"/>
                          </a:solidFill>
                          <a:latin typeface="Power Geez Unicode1" pitchFamily="2" charset="0"/>
                        </a:rPr>
                        <a:t> </a:t>
                      </a:r>
                      <a:r>
                        <a:rPr lang="en-US" sz="1800" b="1" i="0" u="none" strike="noStrike" baseline="0" dirty="0" err="1" smtClean="0">
                          <a:solidFill>
                            <a:srgbClr val="FF0000"/>
                          </a:solidFill>
                          <a:latin typeface="Power Geez Unicode1" pitchFamily="2" charset="0"/>
                        </a:rPr>
                        <a:t>አይነቶች</a:t>
                      </a:r>
                      <a:endParaRPr lang="am-ET" sz="1800" b="1" i="0" u="none" strike="noStrike" baseline="0" dirty="0" smtClean="0">
                        <a:solidFill>
                          <a:srgbClr val="FF0000"/>
                        </a:solidFill>
                        <a:latin typeface="Visual Geez Unicode"/>
                      </a:endParaRPr>
                    </a:p>
                  </a:txBody>
                  <a:tcPr/>
                </a:tc>
                <a:tc>
                  <a:txBody>
                    <a:bodyPr/>
                    <a:lstStyle/>
                    <a:p>
                      <a:r>
                        <a:rPr lang="en-US" sz="1400" b="0" i="0" u="none" strike="noStrike" baseline="0" dirty="0" err="1" smtClean="0">
                          <a:solidFill>
                            <a:srgbClr val="000000"/>
                          </a:solidFill>
                          <a:latin typeface="Power Geez Unicode1" pitchFamily="2" charset="0"/>
                        </a:rPr>
                        <a:t>ቀድሞ</a:t>
                      </a:r>
                      <a:r>
                        <a:rPr lang="en-US" sz="1400" b="0" i="0" u="none" strike="noStrike" baseline="0" dirty="0" smtClean="0">
                          <a:solidFill>
                            <a:srgbClr val="000000"/>
                          </a:solidFill>
                          <a:latin typeface="Power Geez Unicode1" pitchFamily="2" charset="0"/>
                        </a:rPr>
                        <a:t> በነበረው150/2015 </a:t>
                      </a:r>
                      <a:r>
                        <a:rPr lang="en-US" sz="1400" b="0" i="0" u="none" strike="noStrike" baseline="0" dirty="0" err="1" smtClean="0">
                          <a:solidFill>
                            <a:srgbClr val="000000"/>
                          </a:solidFill>
                          <a:latin typeface="Power Geez Unicode1" pitchFamily="2" charset="0"/>
                        </a:rPr>
                        <a:t>የተቀመጠ</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ቅጣት</a:t>
                      </a:r>
                      <a:endParaRPr lang="am-ET" sz="1400" b="0" i="0" u="none" strike="noStrike" baseline="0" dirty="0" smtClean="0">
                        <a:solidFill>
                          <a:srgbClr val="000000"/>
                        </a:solidFill>
                        <a:latin typeface="Visual Geez Unicode"/>
                      </a:endParaRPr>
                    </a:p>
                  </a:txBody>
                  <a:tcPr/>
                </a:tc>
                <a:tc>
                  <a:txBody>
                    <a:bodyPr/>
                    <a:lstStyle/>
                    <a:p>
                      <a:r>
                        <a:rPr lang="en-US" sz="1400" b="0" i="0" u="none" strike="noStrike" baseline="0" dirty="0" err="1" smtClean="0">
                          <a:solidFill>
                            <a:srgbClr val="000000"/>
                          </a:solidFill>
                          <a:latin typeface="Power Geez Unicode1" pitchFamily="2" charset="0"/>
                        </a:rPr>
                        <a:t>አሁን</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በተሸሻለው</a:t>
                      </a:r>
                      <a:r>
                        <a:rPr lang="en-US" sz="1400" b="0" i="0" u="none" strike="noStrike" baseline="0" dirty="0" smtClean="0">
                          <a:solidFill>
                            <a:srgbClr val="000000"/>
                          </a:solidFill>
                          <a:latin typeface="Power Geez Unicode1" pitchFamily="2" charset="0"/>
                        </a:rPr>
                        <a:t> 167/16 </a:t>
                      </a:r>
                      <a:r>
                        <a:rPr lang="en-US" sz="1400" b="0" i="0" u="none" strike="noStrike" baseline="0" dirty="0" err="1" smtClean="0">
                          <a:solidFill>
                            <a:srgbClr val="000000"/>
                          </a:solidFill>
                          <a:latin typeface="Power Geez Unicode1" pitchFamily="2" charset="0"/>
                        </a:rPr>
                        <a:t>የተቀመጠ</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ቅጣት</a:t>
                      </a:r>
                      <a:endParaRPr lang="am-ET" sz="1400" b="0" i="0" u="none" strike="noStrike" baseline="0" dirty="0" smtClean="0">
                        <a:solidFill>
                          <a:srgbClr val="000000"/>
                        </a:solidFill>
                        <a:latin typeface="Visual Geez Unicode"/>
                      </a:endParaRPr>
                    </a:p>
                  </a:txBody>
                  <a:tcPr/>
                </a:tc>
                <a:tc>
                  <a:txBody>
                    <a:bodyPr/>
                    <a:lstStyle/>
                    <a:p>
                      <a:r>
                        <a:rPr lang="en-US" sz="1600" dirty="0" err="1" smtClean="0">
                          <a:solidFill>
                            <a:schemeClr val="tx1"/>
                          </a:solidFill>
                          <a:latin typeface="Power Geez Unicode1" pitchFamily="2" charset="0"/>
                        </a:rPr>
                        <a:t>ከህገ</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ወጥ</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ፈፃሚው</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የሚጠበቅ</a:t>
                      </a:r>
                      <a:endParaRPr lang="en-US" sz="1600" dirty="0">
                        <a:solidFill>
                          <a:schemeClr val="tx1"/>
                        </a:solidFill>
                        <a:latin typeface="Power Geez Unicode1" pitchFamily="2" charset="0"/>
                      </a:endParaRPr>
                    </a:p>
                  </a:txBody>
                  <a:tcPr/>
                </a:tc>
              </a:tr>
              <a:tr h="5318760">
                <a:tc>
                  <a:txBody>
                    <a:bodyPr/>
                    <a:lstStyle/>
                    <a:p>
                      <a:endParaRPr lang="en-US" sz="2400" dirty="0" smtClean="0">
                        <a:latin typeface="Power Geez Unicode1" pitchFamily="2" charset="0"/>
                      </a:endParaRPr>
                    </a:p>
                    <a:p>
                      <a:r>
                        <a:rPr lang="en-US" sz="2400" dirty="0" smtClean="0">
                          <a:latin typeface="Power Geez Unicode1" pitchFamily="2" charset="0"/>
                        </a:rPr>
                        <a:t>28</a:t>
                      </a: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r>
                        <a:rPr lang="en-US" sz="2400" dirty="0" smtClean="0">
                          <a:latin typeface="Power Geez Unicode1" pitchFamily="2" charset="0"/>
                        </a:rPr>
                        <a:t>29</a:t>
                      </a: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pPr algn="just"/>
                      <a:endParaRPr lang="en-US" sz="1600" b="1" i="0" u="none" strike="noStrike" kern="1200" baseline="0" dirty="0" smtClean="0">
                        <a:solidFill>
                          <a:schemeClr val="dk1"/>
                        </a:solidFill>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የባቡር ሀዲድ የተዘረጋባቸውን መስመሮችና የባቡር ፌርማታዎች ከደረቅ ቆሻሻ እንዲጸዳ ያላደረገ የቀላል ባቡር ድርጅት፤ 	</a:t>
                      </a: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	</a:t>
                      </a:r>
                      <a:endParaRPr lang="en-US" sz="1800" b="0"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rgbClr val="FF0000"/>
                          </a:solidFill>
                          <a:latin typeface="+mn-lt"/>
                          <a:ea typeface="+mn-ea"/>
                          <a:cs typeface="+mn-cs"/>
                        </a:rPr>
                        <a:t>29.1</a:t>
                      </a:r>
                      <a:r>
                        <a:rPr lang="am-ET" sz="1800" b="1" i="0" u="none" strike="noStrike" kern="1200" baseline="0" dirty="0" smtClean="0">
                          <a:solidFill>
                            <a:srgbClr val="7030A0"/>
                          </a:solidFill>
                          <a:latin typeface="+mn-lt"/>
                          <a:ea typeface="+mn-ea"/>
                          <a:cs typeface="+mn-cs"/>
                        </a:rPr>
                        <a:t> የጽዳት አስተዳደር ኤጀንሲ በሚያወጣው የጽዳት ንቅናቄ መመሪያ መሰረት የመንግስት መስሪያ ቤቶች፤ መንግስታዊ ያልሆኑ ድርጅቶች፤ የእምነት ተቋማት፤ ትምሀርት ቤቶች፤ ንግድ ድርጅቶች፤ አገልግሎት ሰጭ ድርጅቶች ሰራተኞቻቸውን አስተባብረው በጽዳት ንቅናቄው ተሳታፊ ያላደረገ ተቋም/ድርጅት፤ </a:t>
                      </a:r>
                    </a:p>
                    <a:p>
                      <a:pPr algn="just"/>
                      <a:r>
                        <a:rPr lang="am-ET" sz="1800" b="1" i="0" u="none" strike="noStrike" kern="1200" baseline="0" dirty="0" smtClean="0">
                          <a:solidFill>
                            <a:srgbClr val="FF0000"/>
                          </a:solidFill>
                          <a:latin typeface="+mn-lt"/>
                          <a:ea typeface="+mn-ea"/>
                          <a:cs typeface="+mn-cs"/>
                        </a:rPr>
                        <a:t>29.2</a:t>
                      </a:r>
                      <a:r>
                        <a:rPr lang="am-ET" sz="1800" b="1" i="0" u="none" strike="noStrike" kern="1200" baseline="0" dirty="0" smtClean="0">
                          <a:solidFill>
                            <a:srgbClr val="7030A0"/>
                          </a:solidFill>
                          <a:latin typeface="+mn-lt"/>
                          <a:ea typeface="+mn-ea"/>
                          <a:cs typeface="+mn-cs"/>
                        </a:rPr>
                        <a:t> </a:t>
                      </a:r>
                      <a:r>
                        <a:rPr lang="am-ET" sz="1800" b="1" i="0" u="none" strike="noStrike" kern="1200" baseline="0" dirty="0" smtClean="0">
                          <a:solidFill>
                            <a:schemeClr val="tx1"/>
                          </a:solidFill>
                          <a:latin typeface="+mn-lt"/>
                          <a:ea typeface="+mn-ea"/>
                          <a:cs typeface="+mn-cs"/>
                        </a:rPr>
                        <a:t>የጽዳት አስተዳደር ኤጀንሲ በሚያወጣው የጽዳት ንቅናቄ መመሪያ መሰረት በመኖሪያ አካባቢው በጽዳት ንቅናቄ ተሳታፊ ያልሆነ አባወራ ወይም እማወራ፤</a:t>
                      </a:r>
                      <a:r>
                        <a:rPr lang="am-ET" sz="1800" b="0" i="0" u="none" strike="noStrike" kern="1200" baseline="0" dirty="0" smtClean="0">
                          <a:solidFill>
                            <a:schemeClr val="tx1"/>
                          </a:solidFill>
                          <a:latin typeface="+mn-lt"/>
                          <a:ea typeface="+mn-ea"/>
                          <a:cs typeface="+mn-cs"/>
                        </a:rPr>
                        <a:t> </a:t>
                      </a:r>
                    </a:p>
                    <a:p>
                      <a:r>
                        <a:rPr lang="en-US" sz="1800" b="0" i="0" u="none" strike="noStrike" kern="1200" baseline="0" dirty="0" smtClean="0">
                          <a:solidFill>
                            <a:schemeClr val="dk1"/>
                          </a:solidFill>
                          <a:latin typeface="+mn-lt"/>
                          <a:ea typeface="+mn-ea"/>
                          <a:cs typeface="+mn-cs"/>
                        </a:rPr>
                        <a:t>	</a:t>
                      </a:r>
                    </a:p>
                  </a:txBody>
                  <a:tcPr>
                    <a:lnB w="12700" cap="flat" cmpd="sng" algn="ctr">
                      <a:solidFill>
                        <a:schemeClr val="tx1"/>
                      </a:solidFill>
                      <a:prstDash val="solid"/>
                      <a:round/>
                      <a:headEnd type="none" w="med" len="med"/>
                      <a:tailEnd type="none" w="med" len="med"/>
                    </a:lnB>
                  </a:tcPr>
                </a:tc>
                <a:tc>
                  <a:txBody>
                    <a:bodyPr/>
                    <a:lstStyle/>
                    <a:p>
                      <a:r>
                        <a:rPr lang="en-US" sz="2400" dirty="0" smtClean="0">
                          <a:latin typeface="Power Geez Unicode1" pitchFamily="2" charset="0"/>
                        </a:rPr>
                        <a:t> </a:t>
                      </a:r>
                    </a:p>
                    <a:p>
                      <a:endParaRPr lang="en-US" sz="2400" b="1" dirty="0" smtClean="0">
                        <a:latin typeface="Power Geez Unicode1" pitchFamily="2"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2000" b="1" i="0" u="none" strike="noStrike" kern="1200" baseline="0" dirty="0" smtClean="0">
                          <a:solidFill>
                            <a:srgbClr val="FF0000"/>
                          </a:solidFill>
                          <a:latin typeface="+mn-lt"/>
                          <a:ea typeface="+mn-ea"/>
                          <a:cs typeface="+mn-cs"/>
                        </a:rPr>
                        <a:t>ብር 5,000.00 </a:t>
                      </a:r>
                    </a:p>
                    <a:p>
                      <a:endParaRPr lang="en-US" sz="2400" b="1" dirty="0" smtClean="0">
                        <a:latin typeface="Power Geez Unicode1" pitchFamily="2" charset="0"/>
                      </a:endParaRPr>
                    </a:p>
                    <a:p>
                      <a:endParaRPr lang="en-US" sz="2400" b="1" dirty="0" smtClean="0">
                        <a:latin typeface="Power Geez Unicode1" pitchFamily="2" charset="0"/>
                      </a:endParaRPr>
                    </a:p>
                    <a:p>
                      <a:endParaRPr lang="en-US" sz="2400" b="1" dirty="0" smtClean="0">
                        <a:latin typeface="Power Geez Unicode1" pitchFamily="2" charset="0"/>
                      </a:endParaRPr>
                    </a:p>
                    <a:p>
                      <a:endParaRPr lang="en-US" sz="2400" b="1" dirty="0" smtClean="0">
                        <a:latin typeface="Power Geez Unicode1" pitchFamily="2"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2000" b="1" i="0" u="none" strike="noStrike" kern="1200" baseline="0" dirty="0" smtClean="0">
                          <a:solidFill>
                            <a:srgbClr val="FF0000"/>
                          </a:solidFill>
                          <a:latin typeface="+mn-lt"/>
                          <a:ea typeface="+mn-ea"/>
                          <a:cs typeface="+mn-cs"/>
                        </a:rPr>
                        <a:t>ብር </a:t>
                      </a:r>
                      <a:r>
                        <a:rPr lang="en-US" sz="2000" b="1" i="0" u="none" strike="noStrike" kern="1200" baseline="0" dirty="0" smtClean="0">
                          <a:solidFill>
                            <a:srgbClr val="FF0000"/>
                          </a:solidFill>
                          <a:latin typeface="+mn-lt"/>
                          <a:ea typeface="+mn-ea"/>
                          <a:cs typeface="+mn-cs"/>
                        </a:rPr>
                        <a:t>2</a:t>
                      </a:r>
                      <a:r>
                        <a:rPr lang="am-ET" sz="2000" b="1" i="0" u="none" strike="noStrike" kern="1200" baseline="0" dirty="0" smtClean="0">
                          <a:solidFill>
                            <a:srgbClr val="FF0000"/>
                          </a:solidFill>
                          <a:latin typeface="+mn-lt"/>
                          <a:ea typeface="+mn-ea"/>
                          <a:cs typeface="+mn-cs"/>
                        </a:rPr>
                        <a:t>,000.00 </a:t>
                      </a:r>
                    </a:p>
                    <a:p>
                      <a:endParaRPr lang="en-US" sz="2400" b="1" dirty="0" smtClean="0">
                        <a:latin typeface="Power Geez Unicode1" pitchFamily="2" charset="0"/>
                      </a:endParaRPr>
                    </a:p>
                    <a:p>
                      <a:endParaRPr lang="en-US" sz="2400" b="1" dirty="0" smtClean="0">
                        <a:latin typeface="Power Geez Unicode1" pitchFamily="2" charset="0"/>
                      </a:endParaRPr>
                    </a:p>
                    <a:p>
                      <a:pPr algn="just"/>
                      <a:r>
                        <a:rPr lang="en-US" sz="2000" b="1" dirty="0" err="1" smtClean="0">
                          <a:solidFill>
                            <a:srgbClr val="FF0000"/>
                          </a:solidFill>
                          <a:latin typeface="Power Geez Unicode1" pitchFamily="2" charset="0"/>
                        </a:rPr>
                        <a:t>ብር</a:t>
                      </a:r>
                      <a:r>
                        <a:rPr lang="en-US" sz="2000" b="1" baseline="0" dirty="0" smtClean="0">
                          <a:solidFill>
                            <a:srgbClr val="FF0000"/>
                          </a:solidFill>
                          <a:latin typeface="Power Geez Unicode1" pitchFamily="2" charset="0"/>
                        </a:rPr>
                        <a:t> 300</a:t>
                      </a:r>
                      <a:endParaRPr lang="en-US" sz="2000" b="1" dirty="0" smtClean="0">
                        <a:solidFill>
                          <a:srgbClr val="FF0000"/>
                        </a:solidFill>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endParaRPr lang="en-US" sz="1800" b="1" dirty="0" smtClean="0">
                        <a:latin typeface="Power Geez Unicode1" pitchFamily="2" charset="0"/>
                      </a:endParaRPr>
                    </a:p>
                    <a:p>
                      <a:r>
                        <a:rPr lang="am-ET" sz="1800" b="0" i="0" u="none" strike="noStrike" kern="1200" baseline="0" dirty="0" smtClean="0">
                          <a:solidFill>
                            <a:schemeClr val="dk1"/>
                          </a:solidFill>
                          <a:latin typeface="+mn-lt"/>
                          <a:ea typeface="+mn-ea"/>
                          <a:cs typeface="+mn-cs"/>
                        </a:rPr>
                        <a:t>	</a:t>
                      </a:r>
                      <a:endParaRPr lang="en-US"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ብር</a:t>
                      </a:r>
                      <a:endParaRPr lang="en-US" sz="1800" b="1" i="0" u="none" strike="noStrike" kern="1200" baseline="0" dirty="0" smtClean="0">
                        <a:solidFill>
                          <a:schemeClr val="dk1"/>
                        </a:solidFill>
                        <a:latin typeface="Power Geez Unicode1" pitchFamily="2" charset="0"/>
                        <a:ea typeface="+mn-ea"/>
                        <a:cs typeface="+mn-cs"/>
                      </a:endParaRPr>
                    </a:p>
                    <a:p>
                      <a:pPr algn="just"/>
                      <a:r>
                        <a:rPr lang="am-ET" sz="1800" b="1" i="0" u="none" strike="noStrike" kern="1200" baseline="0" dirty="0" smtClean="0">
                          <a:solidFill>
                            <a:schemeClr val="dk1"/>
                          </a:solidFill>
                          <a:latin typeface="+mn-lt"/>
                          <a:ea typeface="+mn-ea"/>
                          <a:cs typeface="+mn-cs"/>
                        </a:rPr>
                        <a:t> </a:t>
                      </a:r>
                      <a:r>
                        <a:rPr lang="en-US" sz="2000" b="1" i="0" u="none" strike="noStrike" kern="1200" baseline="0" dirty="0" smtClean="0">
                          <a:solidFill>
                            <a:schemeClr val="dk1"/>
                          </a:solidFill>
                          <a:latin typeface="Power Geez Unicode1" pitchFamily="2" charset="0"/>
                          <a:ea typeface="+mn-ea"/>
                          <a:cs typeface="+mn-cs"/>
                        </a:rPr>
                        <a:t>50.</a:t>
                      </a:r>
                      <a:r>
                        <a:rPr lang="am-ET" sz="2000" b="1" i="0" u="none" strike="noStrike" kern="1200" baseline="0" dirty="0" smtClean="0">
                          <a:solidFill>
                            <a:schemeClr val="dk1"/>
                          </a:solidFill>
                          <a:latin typeface="+mn-lt"/>
                          <a:ea typeface="+mn-ea"/>
                          <a:cs typeface="+mn-cs"/>
                        </a:rPr>
                        <a:t>000</a:t>
                      </a:r>
                      <a:r>
                        <a:rPr lang="en-US" sz="2000" b="1" i="0" u="none" strike="noStrike" kern="1200" baseline="0" dirty="0" smtClean="0">
                          <a:solidFill>
                            <a:schemeClr val="dk1"/>
                          </a:solidFill>
                          <a:latin typeface="+mn-lt"/>
                          <a:ea typeface="+mn-ea"/>
                          <a:cs typeface="+mn-cs"/>
                        </a:rPr>
                        <a:t>.00</a:t>
                      </a:r>
                      <a:endParaRPr lang="en-US" sz="2000" b="1" i="0" u="none" strike="noStrike" kern="1200" baseline="0" dirty="0" smtClean="0">
                        <a:solidFill>
                          <a:schemeClr val="dk1"/>
                        </a:solidFill>
                        <a:latin typeface="Power Geez Unicode1" pitchFamily="2" charset="0"/>
                        <a:ea typeface="+mn-ea"/>
                        <a:cs typeface="+mn-cs"/>
                      </a:endParaRPr>
                    </a:p>
                    <a:p>
                      <a:pPr algn="just"/>
                      <a:r>
                        <a:rPr lang="am-ET" sz="1800" b="1" i="0" u="none" strike="noStrike" kern="1200" baseline="0" dirty="0" smtClean="0">
                          <a:solidFill>
                            <a:schemeClr val="dk1"/>
                          </a:solidFill>
                          <a:latin typeface="+mn-lt"/>
                          <a:ea typeface="+mn-ea"/>
                          <a:cs typeface="+mn-cs"/>
                        </a:rPr>
                        <a:t> </a:t>
                      </a:r>
                    </a:p>
                    <a:p>
                      <a:pPr algn="just"/>
                      <a:r>
                        <a:rPr lang="am-ET" sz="1800" b="0" i="0" u="none" strike="noStrike" kern="1200" baseline="0" dirty="0" smtClean="0">
                          <a:solidFill>
                            <a:schemeClr val="dk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rgbClr val="FF0000"/>
                        </a:solidFill>
                        <a:latin typeface="+mn-lt"/>
                        <a:ea typeface="+mn-ea"/>
                        <a:cs typeface="+mn-cs"/>
                      </a:endParaRPr>
                    </a:p>
                    <a:p>
                      <a:pPr algn="just"/>
                      <a:r>
                        <a:rPr lang="am-ET" sz="1800" b="1" i="0" u="none" strike="noStrike" kern="1200" baseline="0" dirty="0" smtClean="0">
                          <a:solidFill>
                            <a:srgbClr val="7030A0"/>
                          </a:solidFill>
                          <a:latin typeface="+mn-lt"/>
                          <a:ea typeface="+mn-ea"/>
                          <a:cs typeface="+mn-cs"/>
                        </a:rPr>
                        <a:t>ለግለሰብ ብር </a:t>
                      </a:r>
                      <a:r>
                        <a:rPr lang="en-US" sz="1800" b="1" i="0" u="none" strike="noStrike" kern="1200" baseline="0" dirty="0" smtClean="0">
                          <a:solidFill>
                            <a:srgbClr val="7030A0"/>
                          </a:solidFill>
                          <a:latin typeface="+mn-lt"/>
                          <a:ea typeface="+mn-ea"/>
                          <a:cs typeface="+mn-cs"/>
                        </a:rPr>
                        <a:t>5</a:t>
                      </a:r>
                      <a:r>
                        <a:rPr lang="am-ET" sz="1800" b="1" i="0" u="none" strike="noStrike" kern="1200" baseline="0" dirty="0" smtClean="0">
                          <a:solidFill>
                            <a:srgbClr val="7030A0"/>
                          </a:solidFill>
                          <a:latin typeface="+mn-lt"/>
                          <a:ea typeface="+mn-ea"/>
                          <a:cs typeface="+mn-cs"/>
                        </a:rPr>
                        <a:t>ዐዐዐ </a:t>
                      </a:r>
                      <a:endParaRPr lang="en-US" sz="1800" b="1" i="0" u="none" strike="noStrike" kern="1200" baseline="0" dirty="0" smtClean="0">
                        <a:solidFill>
                          <a:srgbClr val="7030A0"/>
                        </a:solidFill>
                        <a:latin typeface="+mn-lt"/>
                        <a:ea typeface="+mn-ea"/>
                        <a:cs typeface="+mn-cs"/>
                      </a:endParaRPr>
                    </a:p>
                    <a:p>
                      <a:pPr algn="just"/>
                      <a:endParaRPr lang="en-US" sz="1800" b="1" i="0" u="none" strike="noStrike" kern="1200" baseline="0" dirty="0" smtClean="0">
                        <a:solidFill>
                          <a:srgbClr val="FF0000"/>
                        </a:solidFill>
                        <a:latin typeface="+mn-lt"/>
                        <a:ea typeface="+mn-ea"/>
                        <a:cs typeface="+mn-cs"/>
                      </a:endParaRPr>
                    </a:p>
                    <a:p>
                      <a:pPr algn="just"/>
                      <a:endParaRPr lang="am-ET" sz="1800" b="1" i="0" u="none" strike="noStrike" kern="1200" baseline="0" dirty="0" smtClean="0">
                        <a:solidFill>
                          <a:srgbClr val="FF0000"/>
                        </a:solidFill>
                        <a:latin typeface="+mn-lt"/>
                        <a:ea typeface="+mn-ea"/>
                        <a:cs typeface="+mn-cs"/>
                      </a:endParaRPr>
                    </a:p>
                    <a:p>
                      <a:pPr algn="just"/>
                      <a:r>
                        <a:rPr lang="am-ET" sz="1800" b="1" i="0" u="none" strike="noStrike" kern="1200" baseline="0" dirty="0" smtClean="0">
                          <a:solidFill>
                            <a:srgbClr val="7030A0"/>
                          </a:solidFill>
                          <a:latin typeface="+mn-lt"/>
                          <a:ea typeface="+mn-ea"/>
                          <a:cs typeface="+mn-cs"/>
                        </a:rPr>
                        <a:t>ለድርጅት ብር 2,ዐዐዐ </a:t>
                      </a:r>
                      <a:r>
                        <a:rPr lang="am-ET" sz="1800" b="1" i="0" u="none" strike="noStrike" kern="1200" baseline="0" dirty="0" smtClean="0">
                          <a:solidFill>
                            <a:schemeClr val="dk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am-ET" sz="1800" b="1" i="0" u="none" strike="noStrike" kern="1200" baseline="0" dirty="0" smtClean="0">
                        <a:solidFill>
                          <a:schemeClr val="dk1"/>
                        </a:solidFill>
                        <a:latin typeface="+mn-lt"/>
                        <a:ea typeface="+mn-ea"/>
                        <a:cs typeface="+mn-cs"/>
                      </a:endParaRPr>
                    </a:p>
                  </a:txBody>
                  <a:tcPr>
                    <a:lnB w="12700" cap="flat" cmpd="sng" algn="ctr">
                      <a:solidFill>
                        <a:schemeClr val="tx1"/>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900" b="1" kern="1200" dirty="0" smtClean="0">
                        <a:solidFill>
                          <a:schemeClr val="dk1"/>
                        </a:solidFill>
                        <a:effectLst/>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በሰንጠረዡ የተቀመጠውን የቅጣት ክፍያ መጠን መክፈልና አካባቢውን ከቆሻሻ ማጽዳት </a:t>
                      </a:r>
                      <a:r>
                        <a:rPr lang="am-ET" sz="1800" b="0" i="0" u="none" strike="noStrike" kern="1200" baseline="0" dirty="0" smtClean="0">
                          <a:solidFill>
                            <a:schemeClr val="dk1"/>
                          </a:solidFill>
                          <a:latin typeface="+mn-lt"/>
                          <a:ea typeface="+mn-ea"/>
                          <a:cs typeface="+mn-cs"/>
                        </a:rPr>
                        <a:t>	</a:t>
                      </a:r>
                    </a:p>
                    <a:p>
                      <a:pPr algn="just"/>
                      <a:r>
                        <a:rPr lang="am-ET" sz="1800" b="0" i="0" u="none" strike="noStrike" kern="1200" baseline="0" dirty="0" smtClean="0">
                          <a:solidFill>
                            <a:schemeClr val="dk1"/>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rgbClr val="FF0000"/>
                          </a:solidFill>
                          <a:latin typeface="+mn-lt"/>
                          <a:ea typeface="+mn-ea"/>
                          <a:cs typeface="+mn-cs"/>
                        </a:rPr>
                        <a:t> </a:t>
                      </a:r>
                      <a:endParaRPr lang="en-US" sz="1800" b="1" i="0" u="none" strike="noStrike" kern="1200" baseline="0" dirty="0" smtClean="0">
                        <a:solidFill>
                          <a:srgbClr val="FF0000"/>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rgbClr val="7030A0"/>
                          </a:solidFill>
                          <a:latin typeface="+mn-lt"/>
                          <a:ea typeface="+mn-ea"/>
                          <a:cs typeface="+mn-cs"/>
                        </a:rPr>
                        <a:t>በሰንጠረዡ የተቀመጠውን የቅጣት ክፍያ መጠን መክፈልና አካባቢውን ጽዳት 	</a:t>
                      </a: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0" i="0" u="none" strike="noStrike" kern="1200" baseline="0" dirty="0" smtClean="0">
                          <a:solidFill>
                            <a:schemeClr val="dk1"/>
                          </a:solidFill>
                          <a:latin typeface="+mn-lt"/>
                          <a:ea typeface="+mn-ea"/>
                          <a:cs typeface="+mn-cs"/>
                        </a:rPr>
                        <a:t>	</a:t>
                      </a:r>
                    </a:p>
                  </a:txBody>
                  <a:tcPr>
                    <a:lnB w="12700" cap="flat" cmpd="sng" algn="ctr">
                      <a:solidFill>
                        <a:schemeClr val="tx1"/>
                      </a:solidFill>
                      <a:prstDash val="solid"/>
                      <a:round/>
                      <a:headEnd type="none" w="med" len="med"/>
                      <a:tailEnd type="none" w="med" len="med"/>
                    </a:lnB>
                  </a:tcPr>
                </a:tc>
              </a:tr>
              <a:tr h="2024856">
                <a:tc>
                  <a:txBody>
                    <a:bodyPr/>
                    <a:lstStyle/>
                    <a:p>
                      <a:endParaRPr lang="en-US" sz="2400" dirty="0" smtClean="0">
                        <a:latin typeface="Power Geez Unicode1" pitchFamily="2" charset="0"/>
                      </a:endParaRPr>
                    </a:p>
                    <a:p>
                      <a:endParaRPr lang="en-US" sz="2400" dirty="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am-ET" sz="2400" b="1" i="0" u="none" strike="noStrike" kern="1200" baseline="0" dirty="0" smtClean="0">
                          <a:solidFill>
                            <a:schemeClr val="dk1"/>
                          </a:solidFill>
                          <a:latin typeface="+mn-lt"/>
                          <a:ea typeface="+mn-ea"/>
                          <a:cs typeface="+mn-cs"/>
                        </a:rPr>
                        <a:t>	</a:t>
                      </a:r>
                    </a:p>
                    <a:p>
                      <a:pPr algn="just"/>
                      <a:r>
                        <a:rPr lang="en-US" sz="1400" b="1" dirty="0" smtClean="0">
                          <a:effectLst/>
                          <a:latin typeface="Power Geez Unicode1" pitchFamily="2" charset="0"/>
                          <a:ea typeface="Times New Roman"/>
                          <a:cs typeface="Visual Geez Unicode"/>
                        </a:rPr>
                        <a:t>     </a:t>
                      </a:r>
                      <a:endParaRPr lang="en-US" sz="3200" b="1"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28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1800" b="1" dirty="0" smtClean="0">
                        <a:latin typeface="Power Geez Unicode1" pitchFamily="2" charset="0"/>
                      </a:endParaRPr>
                    </a:p>
                    <a:p>
                      <a:pPr marL="0" marR="0" algn="ctr">
                        <a:spcBef>
                          <a:spcPts val="1000"/>
                        </a:spcBef>
                        <a:spcAft>
                          <a:spcPts val="0"/>
                        </a:spcAft>
                      </a:pPr>
                      <a:endParaRPr lang="en-US" sz="2800" b="0" dirty="0" smtClean="0">
                        <a:solidFill>
                          <a:srgbClr val="4F81BD"/>
                        </a:solidFill>
                        <a:effectLst/>
                        <a:latin typeface="Power Geez Unicode1" pitchFamily="2" charset="0"/>
                        <a:ea typeface="Times New Roman"/>
                        <a:cs typeface="Visual Geez Unicode"/>
                      </a:endParaRPr>
                    </a:p>
                    <a:p>
                      <a:endParaRPr lang="en-US" sz="2800" dirty="0" smtClean="0">
                        <a:latin typeface="Power Geez Unicode1" pitchFamily="2" charset="0"/>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359965797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45227145"/>
              </p:ext>
            </p:extLst>
          </p:nvPr>
        </p:nvGraphicFramePr>
        <p:xfrm>
          <a:off x="0" y="304800"/>
          <a:ext cx="9067800" cy="10010616"/>
        </p:xfrm>
        <a:graphic>
          <a:graphicData uri="http://schemas.openxmlformats.org/drawingml/2006/table">
            <a:tbl>
              <a:tblPr firstRow="1" bandRow="1">
                <a:tableStyleId>{5C22544A-7EE6-4342-B048-85BDC9FD1C3A}</a:tableStyleId>
              </a:tblPr>
              <a:tblGrid>
                <a:gridCol w="711199"/>
                <a:gridCol w="4089401"/>
                <a:gridCol w="1295400"/>
                <a:gridCol w="1371600"/>
                <a:gridCol w="1600200"/>
              </a:tblGrid>
              <a:tr h="628260">
                <a:tc>
                  <a:txBody>
                    <a:bodyPr/>
                    <a:lstStyle/>
                    <a:p>
                      <a:r>
                        <a:rPr lang="am-ET" sz="1800" b="0" i="0" u="none" strike="noStrike" baseline="0" dirty="0" smtClean="0">
                          <a:solidFill>
                            <a:srgbClr val="000000"/>
                          </a:solidFill>
                          <a:latin typeface="Visual Geez Unicode"/>
                        </a:rPr>
                        <a:t>ተ.ቁ</a:t>
                      </a:r>
                      <a:r>
                        <a:rPr lang="am-ET" sz="1400" b="0" i="0" u="none" strike="noStrike" baseline="0" dirty="0" smtClean="0">
                          <a:solidFill>
                            <a:srgbClr val="000000"/>
                          </a:solidFill>
                          <a:latin typeface="Visual Geez Unicode"/>
                        </a:rPr>
                        <a:t> 	</a:t>
                      </a:r>
                      <a:r>
                        <a:rPr lang="en-US" sz="1400" b="0" i="0" u="none" strike="noStrike" baseline="0" dirty="0" smtClean="0">
                          <a:solidFill>
                            <a:srgbClr val="000000"/>
                          </a:solidFill>
                          <a:latin typeface="Power Geez Unicode1" pitchFamily="2" charset="0"/>
                        </a:rPr>
                        <a:t> </a:t>
                      </a:r>
                      <a:endParaRPr lang="am-ET" sz="1400" b="0" i="0" u="none" strike="noStrike" baseline="0" dirty="0" smtClean="0">
                        <a:solidFill>
                          <a:srgbClr val="000000"/>
                        </a:solidFill>
                        <a:latin typeface="Visual Geez Unicode"/>
                      </a:endParaRPr>
                    </a:p>
                  </a:txBody>
                  <a:tcPr/>
                </a:tc>
                <a:tc>
                  <a:txBody>
                    <a:bodyPr/>
                    <a:lstStyle/>
                    <a:p>
                      <a:r>
                        <a:rPr lang="en-US" sz="1800" b="1" i="0" u="none" strike="noStrike" baseline="0" dirty="0" err="1" smtClean="0">
                          <a:solidFill>
                            <a:srgbClr val="FF0000"/>
                          </a:solidFill>
                          <a:latin typeface="Power Geez Unicode1" pitchFamily="2" charset="0"/>
                        </a:rPr>
                        <a:t>የጥፋት</a:t>
                      </a:r>
                      <a:r>
                        <a:rPr lang="en-US" sz="1800" b="1" i="0" u="none" strike="noStrike" baseline="0" dirty="0" smtClean="0">
                          <a:solidFill>
                            <a:srgbClr val="FF0000"/>
                          </a:solidFill>
                          <a:latin typeface="Power Geez Unicode1" pitchFamily="2" charset="0"/>
                        </a:rPr>
                        <a:t> </a:t>
                      </a:r>
                      <a:r>
                        <a:rPr lang="en-US" sz="1800" b="1" i="0" u="none" strike="noStrike" baseline="0" dirty="0" err="1" smtClean="0">
                          <a:solidFill>
                            <a:srgbClr val="FF0000"/>
                          </a:solidFill>
                          <a:latin typeface="Power Geez Unicode1" pitchFamily="2" charset="0"/>
                        </a:rPr>
                        <a:t>አይነቶች</a:t>
                      </a:r>
                      <a:endParaRPr lang="am-ET" sz="1800" b="1" i="0" u="none" strike="noStrike" baseline="0" dirty="0" smtClean="0">
                        <a:solidFill>
                          <a:srgbClr val="FF0000"/>
                        </a:solidFill>
                        <a:latin typeface="Visual Geez Unicode"/>
                      </a:endParaRPr>
                    </a:p>
                  </a:txBody>
                  <a:tcPr/>
                </a:tc>
                <a:tc>
                  <a:txBody>
                    <a:bodyPr/>
                    <a:lstStyle/>
                    <a:p>
                      <a:r>
                        <a:rPr lang="en-US" sz="1600" b="1" i="0" u="none" strike="noStrike" baseline="0" dirty="0" err="1" smtClean="0">
                          <a:solidFill>
                            <a:srgbClr val="000000"/>
                          </a:solidFill>
                          <a:latin typeface="Power Geez Unicode1" pitchFamily="2" charset="0"/>
                        </a:rPr>
                        <a:t>ቀድሞ</a:t>
                      </a:r>
                      <a:r>
                        <a:rPr lang="en-US" sz="1600" b="1" i="0" u="none" strike="noStrike" baseline="0" dirty="0" smtClean="0">
                          <a:solidFill>
                            <a:srgbClr val="000000"/>
                          </a:solidFill>
                          <a:latin typeface="Power Geez Unicode1" pitchFamily="2" charset="0"/>
                        </a:rPr>
                        <a:t> በነበረው150/2015 </a:t>
                      </a:r>
                      <a:r>
                        <a:rPr lang="en-US" sz="1600" b="1" i="0" u="none" strike="noStrike" baseline="0" dirty="0" err="1" smtClean="0">
                          <a:solidFill>
                            <a:srgbClr val="000000"/>
                          </a:solidFill>
                          <a:latin typeface="Power Geez Unicode1" pitchFamily="2" charset="0"/>
                        </a:rPr>
                        <a:t>የተቀመጠ</a:t>
                      </a:r>
                      <a:r>
                        <a:rPr lang="en-US" sz="1600" b="1" i="0" u="none" strike="noStrike" baseline="0" dirty="0" smtClean="0">
                          <a:solidFill>
                            <a:srgbClr val="000000"/>
                          </a:solidFill>
                          <a:latin typeface="Power Geez Unicode1" pitchFamily="2" charset="0"/>
                        </a:rPr>
                        <a:t> </a:t>
                      </a:r>
                      <a:r>
                        <a:rPr lang="en-US" sz="1600" b="1" i="0" u="none" strike="noStrike" baseline="0" dirty="0" err="1" smtClean="0">
                          <a:solidFill>
                            <a:srgbClr val="000000"/>
                          </a:solidFill>
                          <a:latin typeface="Power Geez Unicode1" pitchFamily="2" charset="0"/>
                        </a:rPr>
                        <a:t>ቅጣት</a:t>
                      </a:r>
                      <a:endParaRPr lang="am-ET" sz="1600" b="1" i="0" u="none" strike="noStrike" baseline="0" dirty="0" smtClean="0">
                        <a:solidFill>
                          <a:srgbClr val="000000"/>
                        </a:solidFill>
                        <a:latin typeface="Visual Geez Unicode"/>
                      </a:endParaRPr>
                    </a:p>
                  </a:txBody>
                  <a:tcPr/>
                </a:tc>
                <a:tc>
                  <a:txBody>
                    <a:bodyPr/>
                    <a:lstStyle/>
                    <a:p>
                      <a:r>
                        <a:rPr lang="en-US" sz="1600" b="1" i="0" u="none" strike="noStrike" baseline="0" dirty="0" err="1" smtClean="0">
                          <a:solidFill>
                            <a:srgbClr val="000000"/>
                          </a:solidFill>
                          <a:latin typeface="Power Geez Unicode1" pitchFamily="2" charset="0"/>
                        </a:rPr>
                        <a:t>አሁን</a:t>
                      </a:r>
                      <a:r>
                        <a:rPr lang="en-US" sz="1600" b="1" i="0" u="none" strike="noStrike" baseline="0" dirty="0" smtClean="0">
                          <a:solidFill>
                            <a:srgbClr val="000000"/>
                          </a:solidFill>
                          <a:latin typeface="Power Geez Unicode1" pitchFamily="2" charset="0"/>
                        </a:rPr>
                        <a:t> </a:t>
                      </a:r>
                      <a:r>
                        <a:rPr lang="en-US" sz="1600" b="1" i="0" u="none" strike="noStrike" baseline="0" dirty="0" err="1" smtClean="0">
                          <a:solidFill>
                            <a:srgbClr val="000000"/>
                          </a:solidFill>
                          <a:latin typeface="Power Geez Unicode1" pitchFamily="2" charset="0"/>
                        </a:rPr>
                        <a:t>በተሸሻለው</a:t>
                      </a:r>
                      <a:r>
                        <a:rPr lang="en-US" sz="1600" b="1" i="0" u="none" strike="noStrike" baseline="0" dirty="0" smtClean="0">
                          <a:solidFill>
                            <a:srgbClr val="000000"/>
                          </a:solidFill>
                          <a:latin typeface="Power Geez Unicode1" pitchFamily="2" charset="0"/>
                        </a:rPr>
                        <a:t> 167/16 </a:t>
                      </a:r>
                      <a:r>
                        <a:rPr lang="en-US" sz="1600" b="1" i="0" u="none" strike="noStrike" baseline="0" dirty="0" err="1" smtClean="0">
                          <a:solidFill>
                            <a:srgbClr val="000000"/>
                          </a:solidFill>
                          <a:latin typeface="Power Geez Unicode1" pitchFamily="2" charset="0"/>
                        </a:rPr>
                        <a:t>የተቀመጠ</a:t>
                      </a:r>
                      <a:r>
                        <a:rPr lang="en-US" sz="1600" b="1" i="0" u="none" strike="noStrike" baseline="0" dirty="0" smtClean="0">
                          <a:solidFill>
                            <a:srgbClr val="000000"/>
                          </a:solidFill>
                          <a:latin typeface="Power Geez Unicode1" pitchFamily="2" charset="0"/>
                        </a:rPr>
                        <a:t> </a:t>
                      </a:r>
                      <a:r>
                        <a:rPr lang="en-US" sz="1600" b="1" i="0" u="none" strike="noStrike" baseline="0" dirty="0" err="1" smtClean="0">
                          <a:solidFill>
                            <a:srgbClr val="000000"/>
                          </a:solidFill>
                          <a:latin typeface="Power Geez Unicode1" pitchFamily="2" charset="0"/>
                        </a:rPr>
                        <a:t>ቅጣት</a:t>
                      </a:r>
                      <a:endParaRPr lang="am-ET" sz="1600" b="1" i="0" u="none" strike="noStrike" baseline="0" dirty="0" smtClean="0">
                        <a:solidFill>
                          <a:srgbClr val="000000"/>
                        </a:solidFill>
                        <a:latin typeface="Visual Geez Unicode"/>
                      </a:endParaRPr>
                    </a:p>
                  </a:txBody>
                  <a:tcPr/>
                </a:tc>
                <a:tc>
                  <a:txBody>
                    <a:bodyPr/>
                    <a:lstStyle/>
                    <a:p>
                      <a:r>
                        <a:rPr lang="en-US" sz="1600" dirty="0" err="1" smtClean="0">
                          <a:solidFill>
                            <a:schemeClr val="tx1"/>
                          </a:solidFill>
                          <a:latin typeface="Power Geez Unicode1" pitchFamily="2" charset="0"/>
                        </a:rPr>
                        <a:t>ከህገ</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ወጥ</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ፈፃሚው</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የሚጠበቅ</a:t>
                      </a:r>
                      <a:endParaRPr lang="en-US" sz="1600" dirty="0">
                        <a:solidFill>
                          <a:schemeClr val="tx1"/>
                        </a:solidFill>
                        <a:latin typeface="Power Geez Unicode1" pitchFamily="2" charset="0"/>
                      </a:endParaRPr>
                    </a:p>
                  </a:txBody>
                  <a:tcPr/>
                </a:tc>
              </a:tr>
              <a:tr h="5318760">
                <a:tc>
                  <a:txBody>
                    <a:bodyPr/>
                    <a:lstStyle/>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r>
                        <a:rPr lang="en-US" sz="2400" dirty="0" smtClean="0">
                          <a:latin typeface="Power Geez Unicode1" pitchFamily="2" charset="0"/>
                        </a:rPr>
                        <a:t>30</a:t>
                      </a: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pPr algn="just"/>
                      <a:endParaRPr lang="en-US" sz="1600" b="1" i="0" u="none" strike="noStrike" kern="1200" baseline="0" dirty="0" smtClean="0">
                        <a:solidFill>
                          <a:schemeClr val="dk1"/>
                        </a:solidFill>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2400" b="1" i="0" u="none" strike="noStrike" kern="1200" baseline="0" dirty="0" smtClean="0">
                          <a:solidFill>
                            <a:schemeClr val="dk1"/>
                          </a:solidFill>
                          <a:latin typeface="+mn-lt"/>
                          <a:ea typeface="+mn-ea"/>
                          <a:cs typeface="+mn-cs"/>
                        </a:rPr>
                        <a:t>ማንኛውም የጽዳት አገልግሎት የሚሰጥ </a:t>
                      </a:r>
                      <a:r>
                        <a:rPr lang="am-ET" sz="2400" b="1" i="0" u="none" strike="noStrike" kern="1200" baseline="0" dirty="0" smtClean="0">
                          <a:solidFill>
                            <a:srgbClr val="FF0000"/>
                          </a:solidFill>
                          <a:latin typeface="+mn-lt"/>
                          <a:ea typeface="+mn-ea"/>
                          <a:cs typeface="+mn-cs"/>
                        </a:rPr>
                        <a:t>ድርጅት/ማህበር/</a:t>
                      </a:r>
                      <a:r>
                        <a:rPr lang="am-ET" sz="2400" b="1" i="0" u="none" strike="noStrike" kern="1200" baseline="0" dirty="0" smtClean="0">
                          <a:solidFill>
                            <a:schemeClr val="dk1"/>
                          </a:solidFill>
                          <a:latin typeface="+mn-lt"/>
                          <a:ea typeface="+mn-ea"/>
                          <a:cs typeface="+mn-cs"/>
                        </a:rPr>
                        <a:t>ተቋም ጽዳት አስተዳደር ኤጀንሲ </a:t>
                      </a:r>
                      <a:r>
                        <a:rPr lang="am-ET" sz="2400" b="1" i="0" u="none" strike="noStrike" kern="1200" baseline="0" dirty="0" smtClean="0">
                          <a:solidFill>
                            <a:srgbClr val="FF0000"/>
                          </a:solidFill>
                          <a:latin typeface="+mn-lt"/>
                          <a:ea typeface="+mn-ea"/>
                          <a:cs typeface="+mn-cs"/>
                        </a:rPr>
                        <a:t>በሚያወጣው ስታንዳርድ </a:t>
                      </a:r>
                      <a:r>
                        <a:rPr lang="am-ET" sz="2400" b="1" i="0" u="none" strike="noStrike" kern="1200" baseline="0" dirty="0" smtClean="0">
                          <a:solidFill>
                            <a:schemeClr val="dk1"/>
                          </a:solidFill>
                          <a:latin typeface="+mn-lt"/>
                          <a:ea typeface="+mn-ea"/>
                          <a:cs typeface="+mn-cs"/>
                        </a:rPr>
                        <a:t>መሰረት ሰራተኞቹ/አባላቱ የደህንነት መጠበቂያ ግብዓት ሳይጠቀም አገልግሎት ከሰጠ ወይም ንጽህናውን ያልጠበቀ የደህንነት መጠበቂያ ግብዓት ተጠቅሞ አገልግሎት ከሰጠ፤ </a:t>
                      </a:r>
                      <a:r>
                        <a:rPr lang="am-ET" sz="2400" b="0" i="0" u="none" strike="noStrike" kern="1200" baseline="0" dirty="0" smtClean="0">
                          <a:solidFill>
                            <a:schemeClr val="dk1"/>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endParaRPr lang="am-ET" sz="1800" b="0" i="0" u="none" strike="noStrike" kern="1200" baseline="0" dirty="0" smtClean="0">
                        <a:solidFill>
                          <a:schemeClr val="dk1"/>
                        </a:solidFill>
                        <a:latin typeface="+mn-lt"/>
                        <a:ea typeface="+mn-ea"/>
                        <a:cs typeface="+mn-cs"/>
                      </a:endParaRPr>
                    </a:p>
                    <a:p>
                      <a:r>
                        <a:rPr lang="en-US" sz="1800" b="0" i="0" u="none" strike="noStrike" kern="1200" baseline="0" dirty="0" smtClean="0">
                          <a:solidFill>
                            <a:schemeClr val="dk1"/>
                          </a:solidFill>
                          <a:latin typeface="+mn-lt"/>
                          <a:ea typeface="+mn-ea"/>
                          <a:cs typeface="+mn-cs"/>
                        </a:rPr>
                        <a:t>	</a:t>
                      </a:r>
                    </a:p>
                  </a:txBody>
                  <a:tcPr>
                    <a:lnB w="12700" cap="flat" cmpd="sng" algn="ctr">
                      <a:solidFill>
                        <a:schemeClr val="tx1"/>
                      </a:solidFill>
                      <a:prstDash val="solid"/>
                      <a:round/>
                      <a:headEnd type="none" w="med" len="med"/>
                      <a:tailEnd type="none" w="med" len="med"/>
                    </a:lnB>
                  </a:tcPr>
                </a:tc>
                <a:tc>
                  <a:txBody>
                    <a:bodyPr/>
                    <a:lstStyle/>
                    <a:p>
                      <a:r>
                        <a:rPr lang="en-US" sz="2400" dirty="0" smtClean="0">
                          <a:latin typeface="Power Geez Unicode1" pitchFamily="2" charset="0"/>
                        </a:rPr>
                        <a:t> </a:t>
                      </a:r>
                    </a:p>
                    <a:p>
                      <a:endParaRPr lang="en-US" sz="2400" b="1" dirty="0" smtClean="0">
                        <a:latin typeface="Power Geez Unicode1" pitchFamily="2" charset="0"/>
                      </a:endParaRPr>
                    </a:p>
                    <a:p>
                      <a:endParaRPr lang="en-US" sz="2400" b="1" dirty="0" smtClean="0">
                        <a:latin typeface="Power Geez Unicode1" pitchFamily="2" charset="0"/>
                      </a:endParaRPr>
                    </a:p>
                    <a:p>
                      <a:endParaRPr lang="en-US" sz="2400" b="1" dirty="0" smtClean="0">
                        <a:latin typeface="Power Geez Unicode1" pitchFamily="2" charset="0"/>
                      </a:endParaRPr>
                    </a:p>
                    <a:p>
                      <a:endParaRPr lang="en-US" sz="2400" b="1" dirty="0" smtClean="0">
                        <a:latin typeface="Power Geez Unicode1" pitchFamily="2"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2000" b="1" i="0" u="none" strike="noStrike" kern="1200" baseline="0" dirty="0" smtClean="0">
                          <a:solidFill>
                            <a:srgbClr val="FF0000"/>
                          </a:solidFill>
                          <a:latin typeface="+mn-lt"/>
                          <a:ea typeface="+mn-ea"/>
                          <a:cs typeface="+mn-cs"/>
                        </a:rPr>
                        <a:t>ብር </a:t>
                      </a:r>
                      <a:r>
                        <a:rPr lang="en-US" sz="2000" b="1" i="0" u="none" strike="noStrike" kern="1200" baseline="0" dirty="0" smtClean="0">
                          <a:solidFill>
                            <a:srgbClr val="FF0000"/>
                          </a:solidFill>
                          <a:latin typeface="+mn-lt"/>
                          <a:ea typeface="+mn-ea"/>
                          <a:cs typeface="+mn-cs"/>
                        </a:rPr>
                        <a:t>2</a:t>
                      </a:r>
                      <a:r>
                        <a:rPr lang="am-ET" sz="2000" b="1" i="0" u="none" strike="noStrike" kern="1200" baseline="0" dirty="0" smtClean="0">
                          <a:solidFill>
                            <a:srgbClr val="FF0000"/>
                          </a:solidFill>
                          <a:latin typeface="+mn-lt"/>
                          <a:ea typeface="+mn-ea"/>
                          <a:cs typeface="+mn-cs"/>
                        </a:rPr>
                        <a:t>,000.00 </a:t>
                      </a:r>
                    </a:p>
                    <a:p>
                      <a:endParaRPr lang="en-US" sz="2400" b="1" dirty="0" smtClean="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endParaRPr lang="en-US" sz="1800" b="1" dirty="0" smtClean="0">
                        <a:latin typeface="Power Geez Unicode1" pitchFamily="2" charset="0"/>
                      </a:endParaRPr>
                    </a:p>
                    <a:p>
                      <a:r>
                        <a:rPr lang="am-ET" sz="1800" b="0" i="0" u="none" strike="noStrike" kern="1200" baseline="0" dirty="0" smtClean="0">
                          <a:solidFill>
                            <a:schemeClr val="dk1"/>
                          </a:solidFill>
                          <a:latin typeface="+mn-lt"/>
                          <a:ea typeface="+mn-ea"/>
                          <a:cs typeface="+mn-cs"/>
                        </a:rPr>
                        <a:t>	</a:t>
                      </a:r>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ብር</a:t>
                      </a:r>
                      <a:endParaRPr lang="en-US" sz="1800" b="1" i="0" u="none" strike="noStrike" kern="1200" baseline="0" dirty="0" smtClean="0">
                        <a:solidFill>
                          <a:schemeClr val="dk1"/>
                        </a:solidFill>
                        <a:latin typeface="Power Geez Unicode1" pitchFamily="2" charset="0"/>
                        <a:ea typeface="+mn-ea"/>
                        <a:cs typeface="+mn-cs"/>
                      </a:endParaRPr>
                    </a:p>
                    <a:p>
                      <a:pPr algn="just"/>
                      <a:r>
                        <a:rPr lang="am-ET" sz="1800" b="1" i="0" u="none" strike="noStrike" kern="1200" baseline="0" dirty="0" smtClean="0">
                          <a:solidFill>
                            <a:schemeClr val="dk1"/>
                          </a:solidFill>
                          <a:latin typeface="+mn-lt"/>
                          <a:ea typeface="+mn-ea"/>
                          <a:cs typeface="+mn-cs"/>
                        </a:rPr>
                        <a:t> </a:t>
                      </a:r>
                      <a:r>
                        <a:rPr lang="en-US" sz="2000" b="1" i="0" u="none" strike="noStrike" kern="1200" baseline="0" dirty="0" smtClean="0">
                          <a:solidFill>
                            <a:schemeClr val="dk1"/>
                          </a:solidFill>
                          <a:latin typeface="Power Geez Unicode1" pitchFamily="2" charset="0"/>
                          <a:ea typeface="+mn-ea"/>
                          <a:cs typeface="+mn-cs"/>
                        </a:rPr>
                        <a:t>5.</a:t>
                      </a:r>
                      <a:r>
                        <a:rPr lang="am-ET" sz="2000" b="1" i="0" u="none" strike="noStrike" kern="1200" baseline="0" dirty="0" smtClean="0">
                          <a:solidFill>
                            <a:schemeClr val="dk1"/>
                          </a:solidFill>
                          <a:latin typeface="+mn-lt"/>
                          <a:ea typeface="+mn-ea"/>
                          <a:cs typeface="+mn-cs"/>
                        </a:rPr>
                        <a:t>000</a:t>
                      </a:r>
                      <a:endParaRPr lang="en-US" sz="2000" b="1" i="0" u="none" strike="noStrike" kern="1200" baseline="0" dirty="0" smtClean="0">
                        <a:solidFill>
                          <a:schemeClr val="dk1"/>
                        </a:solidFill>
                        <a:latin typeface="Power Geez Unicode1" pitchFamily="2" charset="0"/>
                        <a:ea typeface="+mn-ea"/>
                        <a:cs typeface="+mn-cs"/>
                      </a:endParaRPr>
                    </a:p>
                    <a:p>
                      <a:pPr algn="just"/>
                      <a:r>
                        <a:rPr lang="am-ET" sz="1800" b="1" i="0" u="none" strike="noStrike" kern="1200" baseline="0" dirty="0" smtClean="0">
                          <a:solidFill>
                            <a:schemeClr val="dk1"/>
                          </a:solidFill>
                          <a:latin typeface="+mn-lt"/>
                          <a:ea typeface="+mn-ea"/>
                          <a:cs typeface="+mn-cs"/>
                        </a:rPr>
                        <a:t> </a:t>
                      </a:r>
                    </a:p>
                    <a:p>
                      <a:pPr algn="just"/>
                      <a:r>
                        <a:rPr lang="am-ET" sz="1800" b="0" i="0" u="none" strike="noStrike" kern="1200" baseline="0" dirty="0" smtClean="0">
                          <a:solidFill>
                            <a:schemeClr val="dk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rgbClr val="FF0000"/>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am-ET" sz="1800" b="1" i="0" u="none" strike="noStrike" kern="1200" baseline="0" dirty="0" smtClean="0">
                        <a:solidFill>
                          <a:schemeClr val="dk1"/>
                        </a:solidFill>
                        <a:latin typeface="+mn-lt"/>
                        <a:ea typeface="+mn-ea"/>
                        <a:cs typeface="+mn-cs"/>
                      </a:endParaRPr>
                    </a:p>
                  </a:txBody>
                  <a:tcPr>
                    <a:lnB w="12700" cap="flat" cmpd="sng" algn="ctr">
                      <a:solidFill>
                        <a:schemeClr val="tx1"/>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900" b="1" kern="1200" dirty="0" smtClean="0">
                        <a:solidFill>
                          <a:schemeClr val="dk1"/>
                        </a:solidFill>
                        <a:effectLst/>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በሰንጠረዡ የተቀመጠውን የቅጣት ክፍያ መጠን መክፈልና ንጹህ የደህንነት መጠበቂያ ግብዓት መጠቀም </a:t>
                      </a:r>
                      <a:r>
                        <a:rPr lang="am-ET" sz="1800" b="0" i="0" u="none" strike="noStrike" kern="1200" baseline="0" dirty="0" smtClean="0">
                          <a:solidFill>
                            <a:schemeClr val="dk1"/>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0" i="0" u="none" strike="noStrike" kern="1200" baseline="0" dirty="0" smtClean="0">
                          <a:solidFill>
                            <a:schemeClr val="dk1"/>
                          </a:solidFill>
                          <a:latin typeface="+mn-lt"/>
                          <a:ea typeface="+mn-ea"/>
                          <a:cs typeface="+mn-cs"/>
                        </a:rPr>
                        <a:t>	</a:t>
                      </a:r>
                    </a:p>
                    <a:p>
                      <a:pPr algn="just"/>
                      <a:r>
                        <a:rPr lang="am-ET" sz="1800" b="0" i="0" u="none" strike="noStrike" kern="1200" baseline="0" dirty="0" smtClean="0">
                          <a:solidFill>
                            <a:schemeClr val="dk1"/>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rgbClr val="FF0000"/>
                          </a:solidFill>
                          <a:latin typeface="+mn-lt"/>
                          <a:ea typeface="+mn-ea"/>
                          <a:cs typeface="+mn-cs"/>
                        </a:rPr>
                        <a:t> </a:t>
                      </a:r>
                      <a:endParaRPr lang="en-US" sz="1800" b="1" i="0" u="none" strike="noStrike" kern="1200" baseline="0" dirty="0" smtClean="0">
                        <a:solidFill>
                          <a:srgbClr val="FF0000"/>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rgbClr val="7030A0"/>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0" i="0" u="none" strike="noStrike" kern="1200" baseline="0" dirty="0" smtClean="0">
                          <a:solidFill>
                            <a:schemeClr val="dk1"/>
                          </a:solidFill>
                          <a:latin typeface="+mn-lt"/>
                          <a:ea typeface="+mn-ea"/>
                          <a:cs typeface="+mn-cs"/>
                        </a:rPr>
                        <a:t>	</a:t>
                      </a:r>
                    </a:p>
                  </a:txBody>
                  <a:tcPr>
                    <a:lnB w="12700" cap="flat" cmpd="sng" algn="ctr">
                      <a:solidFill>
                        <a:schemeClr val="tx1"/>
                      </a:solidFill>
                      <a:prstDash val="solid"/>
                      <a:round/>
                      <a:headEnd type="none" w="med" len="med"/>
                      <a:tailEnd type="none" w="med" len="med"/>
                    </a:lnB>
                  </a:tcPr>
                </a:tc>
              </a:tr>
              <a:tr h="2024856">
                <a:tc>
                  <a:txBody>
                    <a:bodyPr/>
                    <a:lstStyle/>
                    <a:p>
                      <a:endParaRPr lang="en-US" sz="2400" dirty="0" smtClean="0">
                        <a:latin typeface="Power Geez Unicode1" pitchFamily="2" charset="0"/>
                      </a:endParaRPr>
                    </a:p>
                    <a:p>
                      <a:endParaRPr lang="en-US" sz="2400" dirty="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am-ET" sz="2400" b="1" i="0" u="none" strike="noStrike" kern="1200" baseline="0" dirty="0" smtClean="0">
                          <a:solidFill>
                            <a:schemeClr val="dk1"/>
                          </a:solidFill>
                          <a:latin typeface="+mn-lt"/>
                          <a:ea typeface="+mn-ea"/>
                          <a:cs typeface="+mn-cs"/>
                        </a:rPr>
                        <a:t>	</a:t>
                      </a:r>
                    </a:p>
                    <a:p>
                      <a:pPr algn="just"/>
                      <a:r>
                        <a:rPr lang="en-US" sz="1400" b="1" dirty="0" smtClean="0">
                          <a:effectLst/>
                          <a:latin typeface="Power Geez Unicode1" pitchFamily="2" charset="0"/>
                          <a:ea typeface="Times New Roman"/>
                          <a:cs typeface="Visual Geez Unicode"/>
                        </a:rPr>
                        <a:t>     </a:t>
                      </a:r>
                      <a:endParaRPr lang="en-US" sz="3200" b="1"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28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1800" b="1" dirty="0" smtClean="0">
                        <a:latin typeface="Power Geez Unicode1" pitchFamily="2" charset="0"/>
                      </a:endParaRPr>
                    </a:p>
                    <a:p>
                      <a:pPr marL="0" marR="0" algn="ctr">
                        <a:spcBef>
                          <a:spcPts val="1000"/>
                        </a:spcBef>
                        <a:spcAft>
                          <a:spcPts val="0"/>
                        </a:spcAft>
                      </a:pPr>
                      <a:endParaRPr lang="en-US" sz="2800" b="0" dirty="0" smtClean="0">
                        <a:solidFill>
                          <a:srgbClr val="4F81BD"/>
                        </a:solidFill>
                        <a:effectLst/>
                        <a:latin typeface="Power Geez Unicode1" pitchFamily="2" charset="0"/>
                        <a:ea typeface="Times New Roman"/>
                        <a:cs typeface="Visual Geez Unicode"/>
                      </a:endParaRPr>
                    </a:p>
                    <a:p>
                      <a:endParaRPr lang="en-US" sz="2800" dirty="0" smtClean="0">
                        <a:latin typeface="Power Geez Unicode1" pitchFamily="2" charset="0"/>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3438076945"/>
      </p:ext>
    </p:extLst>
  </p:cSld>
  <p:clrMapOvr>
    <a:masterClrMapping/>
  </p:clrMapOvr>
  <p:transition spd="slow">
    <p:cove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151585666"/>
              </p:ext>
            </p:extLst>
          </p:nvPr>
        </p:nvGraphicFramePr>
        <p:xfrm>
          <a:off x="0" y="304800"/>
          <a:ext cx="9067800" cy="12083256"/>
        </p:xfrm>
        <a:graphic>
          <a:graphicData uri="http://schemas.openxmlformats.org/drawingml/2006/table">
            <a:tbl>
              <a:tblPr firstRow="1" bandRow="1">
                <a:tableStyleId>{5C22544A-7EE6-4342-B048-85BDC9FD1C3A}</a:tableStyleId>
              </a:tblPr>
              <a:tblGrid>
                <a:gridCol w="711199"/>
                <a:gridCol w="4089401"/>
                <a:gridCol w="1295400"/>
                <a:gridCol w="1371600"/>
                <a:gridCol w="1600200"/>
              </a:tblGrid>
              <a:tr h="628260">
                <a:tc>
                  <a:txBody>
                    <a:bodyPr/>
                    <a:lstStyle/>
                    <a:p>
                      <a:r>
                        <a:rPr lang="am-ET" sz="1800" b="0" i="0" u="none" strike="noStrike" baseline="0" dirty="0" smtClean="0">
                          <a:solidFill>
                            <a:srgbClr val="000000"/>
                          </a:solidFill>
                          <a:latin typeface="Visual Geez Unicode"/>
                        </a:rPr>
                        <a:t>ተ.ቁ</a:t>
                      </a:r>
                      <a:r>
                        <a:rPr lang="am-ET" sz="1400" b="0" i="0" u="none" strike="noStrike" baseline="0" dirty="0" smtClean="0">
                          <a:solidFill>
                            <a:srgbClr val="000000"/>
                          </a:solidFill>
                          <a:latin typeface="Visual Geez Unicode"/>
                        </a:rPr>
                        <a:t> 	</a:t>
                      </a:r>
                      <a:r>
                        <a:rPr lang="en-US" sz="1400" b="0" i="0" u="none" strike="noStrike" baseline="0" dirty="0" smtClean="0">
                          <a:solidFill>
                            <a:srgbClr val="000000"/>
                          </a:solidFill>
                          <a:latin typeface="Power Geez Unicode1" pitchFamily="2" charset="0"/>
                        </a:rPr>
                        <a:t> </a:t>
                      </a:r>
                      <a:endParaRPr lang="am-ET" sz="1400" b="0" i="0" u="none" strike="noStrike" baseline="0" dirty="0" smtClean="0">
                        <a:solidFill>
                          <a:srgbClr val="000000"/>
                        </a:solidFill>
                        <a:latin typeface="Visual Geez Unicode"/>
                      </a:endParaRPr>
                    </a:p>
                  </a:txBody>
                  <a:tcPr/>
                </a:tc>
                <a:tc>
                  <a:txBody>
                    <a:bodyPr/>
                    <a:lstStyle/>
                    <a:p>
                      <a:r>
                        <a:rPr lang="en-US" sz="1800" b="1" i="0" u="none" strike="noStrike" baseline="0" dirty="0" err="1" smtClean="0">
                          <a:solidFill>
                            <a:srgbClr val="FF0000"/>
                          </a:solidFill>
                          <a:latin typeface="Power Geez Unicode1" pitchFamily="2" charset="0"/>
                        </a:rPr>
                        <a:t>የጥፋት</a:t>
                      </a:r>
                      <a:r>
                        <a:rPr lang="en-US" sz="1800" b="1" i="0" u="none" strike="noStrike" baseline="0" dirty="0" smtClean="0">
                          <a:solidFill>
                            <a:srgbClr val="FF0000"/>
                          </a:solidFill>
                          <a:latin typeface="Power Geez Unicode1" pitchFamily="2" charset="0"/>
                        </a:rPr>
                        <a:t> </a:t>
                      </a:r>
                      <a:r>
                        <a:rPr lang="en-US" sz="1800" b="1" i="0" u="none" strike="noStrike" baseline="0" dirty="0" err="1" smtClean="0">
                          <a:solidFill>
                            <a:srgbClr val="FF0000"/>
                          </a:solidFill>
                          <a:latin typeface="Power Geez Unicode1" pitchFamily="2" charset="0"/>
                        </a:rPr>
                        <a:t>አይነቶች</a:t>
                      </a:r>
                      <a:endParaRPr lang="am-ET" sz="1800" b="1" i="0" u="none" strike="noStrike" baseline="0" dirty="0" smtClean="0">
                        <a:solidFill>
                          <a:srgbClr val="FF0000"/>
                        </a:solidFill>
                        <a:latin typeface="Visual Geez Unicode"/>
                      </a:endParaRPr>
                    </a:p>
                  </a:txBody>
                  <a:tcPr/>
                </a:tc>
                <a:tc>
                  <a:txBody>
                    <a:bodyPr/>
                    <a:lstStyle/>
                    <a:p>
                      <a:pPr algn="just"/>
                      <a:r>
                        <a:rPr lang="en-US" sz="1800" b="1" i="0" u="none" strike="noStrike" baseline="0" dirty="0" err="1" smtClean="0">
                          <a:solidFill>
                            <a:srgbClr val="000000"/>
                          </a:solidFill>
                          <a:latin typeface="Power Geez Unicode1" pitchFamily="2" charset="0"/>
                        </a:rPr>
                        <a:t>ቀድሞ</a:t>
                      </a:r>
                      <a:r>
                        <a:rPr lang="en-US" sz="1800" b="1" i="0" u="none" strike="noStrike" baseline="0" dirty="0" smtClean="0">
                          <a:solidFill>
                            <a:srgbClr val="000000"/>
                          </a:solidFill>
                          <a:latin typeface="Power Geez Unicode1" pitchFamily="2" charset="0"/>
                        </a:rPr>
                        <a:t> በነበረው150/2015 </a:t>
                      </a:r>
                      <a:r>
                        <a:rPr lang="en-US" sz="1800" b="1" i="0" u="none" strike="noStrike" baseline="0" dirty="0" err="1" smtClean="0">
                          <a:solidFill>
                            <a:srgbClr val="000000"/>
                          </a:solidFill>
                          <a:latin typeface="Power Geez Unicode1" pitchFamily="2" charset="0"/>
                        </a:rPr>
                        <a:t>የተቀመጠ</a:t>
                      </a:r>
                      <a:r>
                        <a:rPr lang="en-US" sz="1800" b="1" i="0" u="none" strike="noStrike" baseline="0" dirty="0" smtClean="0">
                          <a:solidFill>
                            <a:srgbClr val="000000"/>
                          </a:solidFill>
                          <a:latin typeface="Power Geez Unicode1" pitchFamily="2" charset="0"/>
                        </a:rPr>
                        <a:t> </a:t>
                      </a:r>
                      <a:r>
                        <a:rPr lang="en-US" sz="1800" b="1" i="0" u="none" strike="noStrike" baseline="0" dirty="0" err="1" smtClean="0">
                          <a:solidFill>
                            <a:srgbClr val="000000"/>
                          </a:solidFill>
                          <a:latin typeface="Power Geez Unicode1" pitchFamily="2" charset="0"/>
                        </a:rPr>
                        <a:t>ቅጣት</a:t>
                      </a:r>
                      <a:endParaRPr lang="am-ET" sz="1800" b="1" i="0" u="none" strike="noStrike" baseline="0" dirty="0" smtClean="0">
                        <a:solidFill>
                          <a:srgbClr val="000000"/>
                        </a:solidFill>
                        <a:latin typeface="Visual Geez Unicode"/>
                      </a:endParaRPr>
                    </a:p>
                  </a:txBody>
                  <a:tcPr/>
                </a:tc>
                <a:tc>
                  <a:txBody>
                    <a:bodyPr/>
                    <a:lstStyle/>
                    <a:p>
                      <a:pPr algn="just"/>
                      <a:r>
                        <a:rPr lang="en-US" sz="1800" b="1" i="0" u="none" strike="noStrike" baseline="0" dirty="0" err="1" smtClean="0">
                          <a:solidFill>
                            <a:srgbClr val="000000"/>
                          </a:solidFill>
                          <a:latin typeface="Power Geez Unicode1" pitchFamily="2" charset="0"/>
                        </a:rPr>
                        <a:t>አሁን</a:t>
                      </a:r>
                      <a:r>
                        <a:rPr lang="en-US" sz="1800" b="1" i="0" u="none" strike="noStrike" baseline="0" dirty="0" smtClean="0">
                          <a:solidFill>
                            <a:srgbClr val="000000"/>
                          </a:solidFill>
                          <a:latin typeface="Power Geez Unicode1" pitchFamily="2" charset="0"/>
                        </a:rPr>
                        <a:t> </a:t>
                      </a:r>
                      <a:r>
                        <a:rPr lang="en-US" sz="1800" b="1" i="0" u="none" strike="noStrike" baseline="0" dirty="0" err="1" smtClean="0">
                          <a:solidFill>
                            <a:srgbClr val="000000"/>
                          </a:solidFill>
                          <a:latin typeface="Power Geez Unicode1" pitchFamily="2" charset="0"/>
                        </a:rPr>
                        <a:t>በተሸሻለው</a:t>
                      </a:r>
                      <a:r>
                        <a:rPr lang="en-US" sz="1800" b="1" i="0" u="none" strike="noStrike" baseline="0" dirty="0" smtClean="0">
                          <a:solidFill>
                            <a:srgbClr val="000000"/>
                          </a:solidFill>
                          <a:latin typeface="Power Geez Unicode1" pitchFamily="2" charset="0"/>
                        </a:rPr>
                        <a:t> 167/16 </a:t>
                      </a:r>
                      <a:r>
                        <a:rPr lang="en-US" sz="1800" b="1" i="0" u="none" strike="noStrike" baseline="0" dirty="0" err="1" smtClean="0">
                          <a:solidFill>
                            <a:srgbClr val="000000"/>
                          </a:solidFill>
                          <a:latin typeface="Power Geez Unicode1" pitchFamily="2" charset="0"/>
                        </a:rPr>
                        <a:t>የተቀመጠ</a:t>
                      </a:r>
                      <a:r>
                        <a:rPr lang="en-US" sz="1800" b="1" i="0" u="none" strike="noStrike" baseline="0" dirty="0" smtClean="0">
                          <a:solidFill>
                            <a:srgbClr val="000000"/>
                          </a:solidFill>
                          <a:latin typeface="Power Geez Unicode1" pitchFamily="2" charset="0"/>
                        </a:rPr>
                        <a:t> </a:t>
                      </a:r>
                      <a:r>
                        <a:rPr lang="en-US" sz="1800" b="1" i="0" u="none" strike="noStrike" baseline="0" dirty="0" err="1" smtClean="0">
                          <a:solidFill>
                            <a:srgbClr val="000000"/>
                          </a:solidFill>
                          <a:latin typeface="Power Geez Unicode1" pitchFamily="2" charset="0"/>
                        </a:rPr>
                        <a:t>ቅጣት</a:t>
                      </a:r>
                      <a:endParaRPr lang="am-ET" sz="1800" b="1" i="0" u="none" strike="noStrike" baseline="0" dirty="0" smtClean="0">
                        <a:solidFill>
                          <a:srgbClr val="000000"/>
                        </a:solidFill>
                        <a:latin typeface="Visual Geez Unicode"/>
                      </a:endParaRPr>
                    </a:p>
                  </a:txBody>
                  <a:tcPr/>
                </a:tc>
                <a:tc>
                  <a:txBody>
                    <a:bodyPr/>
                    <a:lstStyle/>
                    <a:p>
                      <a:r>
                        <a:rPr lang="en-US" sz="1600" dirty="0" err="1" smtClean="0">
                          <a:solidFill>
                            <a:schemeClr val="tx1"/>
                          </a:solidFill>
                          <a:latin typeface="Power Geez Unicode1" pitchFamily="2" charset="0"/>
                        </a:rPr>
                        <a:t>ከህገ</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ወጥ</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ፈፃሚው</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የሚጠበቅ</a:t>
                      </a:r>
                      <a:endParaRPr lang="en-US" sz="1600" dirty="0">
                        <a:solidFill>
                          <a:schemeClr val="tx1"/>
                        </a:solidFill>
                        <a:latin typeface="Power Geez Unicode1" pitchFamily="2" charset="0"/>
                      </a:endParaRPr>
                    </a:p>
                  </a:txBody>
                  <a:tcPr/>
                </a:tc>
              </a:tr>
              <a:tr h="5318760">
                <a:tc>
                  <a:txBody>
                    <a:bodyPr/>
                    <a:lstStyle/>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r>
                        <a:rPr lang="en-US" sz="2400" dirty="0" smtClean="0">
                          <a:latin typeface="Power Geez Unicode1" pitchFamily="2" charset="0"/>
                        </a:rPr>
                        <a:t>31</a:t>
                      </a: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endParaRPr lang="en-US" sz="1800" b="0"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rgbClr val="FF0000"/>
                          </a:solidFill>
                          <a:latin typeface="+mn-lt"/>
                          <a:ea typeface="+mn-ea"/>
                          <a:cs typeface="+mn-cs"/>
                        </a:rPr>
                        <a:t>31.1.</a:t>
                      </a:r>
                      <a:r>
                        <a:rPr lang="am-ET" sz="1800" b="1" i="0" u="none" strike="noStrike" kern="1200" baseline="0" dirty="0" smtClean="0">
                          <a:solidFill>
                            <a:schemeClr val="dk1"/>
                          </a:solidFill>
                          <a:latin typeface="+mn-lt"/>
                          <a:ea typeface="+mn-ea"/>
                          <a:cs typeface="+mn-cs"/>
                        </a:rPr>
                        <a:t> ማንኛውም የጽዳት አገልግሎት የሚሰጥ የጽዳት ድርጅት በጽዳት አስተዳደር ኤጀንሲ ያልተፈቀደ ደረቅ ቆሻሻ በማስወገጃ ቦታ፤ መልሶ መጠቀም ማዕከል ወይም ወደ ማቃጠያ ማዕከላት አጓጉዞ ካመጣ፤ </a:t>
                      </a:r>
                    </a:p>
                    <a:p>
                      <a:pPr algn="just"/>
                      <a:r>
                        <a:rPr lang="am-ET" sz="1800" b="1" i="0" u="none" strike="noStrike" kern="1200" baseline="0" dirty="0" smtClean="0">
                          <a:solidFill>
                            <a:srgbClr val="FF0000"/>
                          </a:solidFill>
                          <a:latin typeface="+mn-lt"/>
                          <a:ea typeface="+mn-ea"/>
                          <a:cs typeface="+mn-cs"/>
                        </a:rPr>
                        <a:t>31.2. ከጽዳት አስተዳደር ኤጀንሲ ፈቃድ ውጭ ደረቅ ቆሻሻን </a:t>
                      </a:r>
                      <a:r>
                        <a:rPr lang="am-ET" sz="1800" b="1" i="0" u="none" strike="noStrike" kern="1200" baseline="0" dirty="0" smtClean="0">
                          <a:solidFill>
                            <a:schemeClr val="dk1"/>
                          </a:solidFill>
                          <a:latin typeface="+mn-lt"/>
                          <a:ea typeface="+mn-ea"/>
                          <a:cs typeface="+mn-cs"/>
                        </a:rPr>
                        <a:t>ከአዲስ አበባ ከተማ አስተዳደር ክልል ውጪ ወደ ከተማው ያስገባ ማንኛውም ሰው፤ </a:t>
                      </a:r>
                    </a:p>
                    <a:p>
                      <a:pPr algn="just"/>
                      <a:r>
                        <a:rPr lang="am-ET" sz="1800" b="1" i="0" u="none" strike="noStrike" kern="1200" baseline="0" dirty="0" smtClean="0">
                          <a:solidFill>
                            <a:srgbClr val="FF0000"/>
                          </a:solidFill>
                          <a:latin typeface="+mn-lt"/>
                          <a:ea typeface="+mn-ea"/>
                          <a:cs typeface="+mn-cs"/>
                        </a:rPr>
                        <a:t>31.3. </a:t>
                      </a:r>
                      <a:r>
                        <a:rPr lang="am-ET" sz="1800" b="1" i="0" u="none" strike="noStrike" kern="1200" baseline="0" dirty="0" smtClean="0">
                          <a:solidFill>
                            <a:schemeClr val="dk1"/>
                          </a:solidFill>
                          <a:latin typeface="+mn-lt"/>
                          <a:ea typeface="+mn-ea"/>
                          <a:cs typeface="+mn-cs"/>
                        </a:rPr>
                        <a:t>በመረብ ወይም በሸራ ያልተሸፈነ ደረቅ ቆሻሻ በተሽከርካሪ ጭኖ ወደ በማስወገጃ ቦታ፤ መልሶ መጠቀም ማዕከል ወይም ማቃጠያ ማዕከላት አጓጉዞ ያመጣ ድርጅት /ማህበር/ ግለሰብ/ ተቋም፤ </a:t>
                      </a:r>
                    </a:p>
                    <a:p>
                      <a:pPr algn="just"/>
                      <a:r>
                        <a:rPr lang="en-US" sz="2000" b="1" i="0" u="none" strike="noStrike" kern="1200" baseline="0" dirty="0" smtClean="0">
                          <a:solidFill>
                            <a:schemeClr val="dk1"/>
                          </a:solidFill>
                          <a:latin typeface="Power Geez Unicode1" pitchFamily="2" charset="0"/>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2400" b="0" i="0" u="none" strike="noStrike" kern="1200" baseline="0" dirty="0" smtClean="0">
                          <a:solidFill>
                            <a:schemeClr val="dk1"/>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endParaRPr lang="am-ET" sz="1800" b="0" i="0" u="none" strike="noStrike" kern="1200" baseline="0" dirty="0" smtClean="0">
                        <a:solidFill>
                          <a:schemeClr val="dk1"/>
                        </a:solidFill>
                        <a:latin typeface="+mn-lt"/>
                        <a:ea typeface="+mn-ea"/>
                        <a:cs typeface="+mn-cs"/>
                      </a:endParaRPr>
                    </a:p>
                    <a:p>
                      <a:r>
                        <a:rPr lang="en-US" sz="1800" b="0" i="0" u="none" strike="noStrike" kern="1200" baseline="0" dirty="0" smtClean="0">
                          <a:solidFill>
                            <a:schemeClr val="dk1"/>
                          </a:solidFill>
                          <a:latin typeface="+mn-lt"/>
                          <a:ea typeface="+mn-ea"/>
                          <a:cs typeface="+mn-cs"/>
                        </a:rPr>
                        <a:t>	</a:t>
                      </a:r>
                    </a:p>
                  </a:txBody>
                  <a:tcPr>
                    <a:lnB w="12700" cap="flat" cmpd="sng" algn="ctr">
                      <a:solidFill>
                        <a:schemeClr val="tx1"/>
                      </a:solidFill>
                      <a:prstDash val="solid"/>
                      <a:round/>
                      <a:headEnd type="none" w="med" len="med"/>
                      <a:tailEnd type="none" w="med" len="med"/>
                    </a:lnB>
                  </a:tcPr>
                </a:tc>
                <a:tc>
                  <a:txBody>
                    <a:bodyPr/>
                    <a:lstStyle/>
                    <a:p>
                      <a:r>
                        <a:rPr lang="en-US" sz="2400" dirty="0" smtClean="0">
                          <a:latin typeface="Power Geez Unicode1" pitchFamily="2" charset="0"/>
                        </a:rPr>
                        <a:t> </a:t>
                      </a:r>
                    </a:p>
                    <a:p>
                      <a:pPr marL="0" marR="0" indent="0" algn="just" defTabSz="914400" rtl="0" eaLnBrk="1" fontAlgn="auto" latinLnBrk="0" hangingPunct="1">
                        <a:lnSpc>
                          <a:spcPct val="100000"/>
                        </a:lnSpc>
                        <a:spcBef>
                          <a:spcPts val="0"/>
                        </a:spcBef>
                        <a:spcAft>
                          <a:spcPts val="0"/>
                        </a:spcAft>
                        <a:buClrTx/>
                        <a:buSzTx/>
                        <a:buFontTx/>
                        <a:buNone/>
                        <a:tabLst/>
                        <a:defRPr/>
                      </a:pPr>
                      <a:r>
                        <a:rPr lang="am-ET" sz="2000" b="1" i="0" u="none" strike="noStrike" kern="1200" baseline="0" dirty="0" smtClean="0">
                          <a:solidFill>
                            <a:srgbClr val="FF0000"/>
                          </a:solidFill>
                          <a:latin typeface="+mn-lt"/>
                          <a:ea typeface="+mn-ea"/>
                          <a:cs typeface="+mn-cs"/>
                        </a:rPr>
                        <a:t>ብር </a:t>
                      </a:r>
                      <a:r>
                        <a:rPr lang="en-US" sz="2000" b="1" i="0" u="none" strike="noStrike" kern="1200" baseline="0" dirty="0" smtClean="0">
                          <a:solidFill>
                            <a:srgbClr val="FF0000"/>
                          </a:solidFill>
                          <a:latin typeface="+mn-lt"/>
                          <a:ea typeface="+mn-ea"/>
                          <a:cs typeface="+mn-cs"/>
                        </a:rPr>
                        <a:t>10</a:t>
                      </a:r>
                      <a:r>
                        <a:rPr lang="am-ET" sz="2000" b="1" i="0" u="none" strike="noStrike" kern="1200" baseline="0" dirty="0" smtClean="0">
                          <a:solidFill>
                            <a:srgbClr val="FF0000"/>
                          </a:solidFill>
                          <a:latin typeface="+mn-lt"/>
                          <a:ea typeface="+mn-ea"/>
                          <a:cs typeface="+mn-cs"/>
                        </a:rPr>
                        <a:t>,000.00 </a:t>
                      </a:r>
                    </a:p>
                    <a:p>
                      <a:endParaRPr lang="en-US" sz="2400" b="1" dirty="0" smtClean="0">
                        <a:latin typeface="Power Geez Unicode1" pitchFamily="2" charset="0"/>
                      </a:endParaRPr>
                    </a:p>
                    <a:p>
                      <a:endParaRPr lang="en-US" sz="2400" b="1" dirty="0" smtClean="0">
                        <a:latin typeface="Power Geez Unicode1" pitchFamily="2" charset="0"/>
                      </a:endParaRPr>
                    </a:p>
                    <a:p>
                      <a:endParaRPr lang="en-US" sz="2400" b="1" dirty="0" smtClean="0">
                        <a:latin typeface="Power Geez Unicode1" pitchFamily="2"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2000" b="1" i="0" u="none" strike="noStrike" kern="1200" baseline="0" dirty="0" smtClean="0">
                          <a:solidFill>
                            <a:srgbClr val="FF0000"/>
                          </a:solidFill>
                          <a:latin typeface="+mn-lt"/>
                          <a:ea typeface="+mn-ea"/>
                          <a:cs typeface="+mn-cs"/>
                        </a:rPr>
                        <a:t>ብር </a:t>
                      </a:r>
                      <a:r>
                        <a:rPr lang="en-US" sz="2000" b="1" i="0" u="none" strike="noStrike" kern="1200" baseline="0" dirty="0" smtClean="0">
                          <a:solidFill>
                            <a:srgbClr val="FF0000"/>
                          </a:solidFill>
                          <a:latin typeface="+mn-lt"/>
                          <a:ea typeface="+mn-ea"/>
                          <a:cs typeface="+mn-cs"/>
                        </a:rPr>
                        <a:t>20</a:t>
                      </a:r>
                      <a:r>
                        <a:rPr lang="am-ET" sz="2000" b="1" i="0" u="none" strike="noStrike" kern="1200" baseline="0" dirty="0" smtClean="0">
                          <a:solidFill>
                            <a:srgbClr val="FF0000"/>
                          </a:solidFill>
                          <a:latin typeface="+mn-lt"/>
                          <a:ea typeface="+mn-ea"/>
                          <a:cs typeface="+mn-cs"/>
                        </a:rPr>
                        <a:t>,000.00 </a:t>
                      </a:r>
                    </a:p>
                    <a:p>
                      <a:endParaRPr lang="en-US" sz="2400" b="1" dirty="0" smtClean="0">
                        <a:latin typeface="Power Geez Unicode1" pitchFamily="2"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2000" b="1" i="0" u="none" strike="noStrike" kern="1200" baseline="0" dirty="0" smtClean="0">
                          <a:solidFill>
                            <a:srgbClr val="FF0000"/>
                          </a:solidFill>
                          <a:latin typeface="+mn-lt"/>
                          <a:ea typeface="+mn-ea"/>
                          <a:cs typeface="+mn-cs"/>
                        </a:rPr>
                        <a:t>ብር </a:t>
                      </a:r>
                      <a:r>
                        <a:rPr lang="en-US" sz="2000" b="1" i="0" u="none" strike="noStrike" kern="1200" baseline="0" dirty="0" smtClean="0">
                          <a:solidFill>
                            <a:srgbClr val="FF0000"/>
                          </a:solidFill>
                          <a:latin typeface="+mn-lt"/>
                          <a:ea typeface="+mn-ea"/>
                          <a:cs typeface="+mn-cs"/>
                        </a:rPr>
                        <a:t>1</a:t>
                      </a:r>
                      <a:r>
                        <a:rPr lang="am-ET" sz="2000" b="1" i="0" u="none" strike="noStrike" kern="1200" baseline="0" dirty="0" smtClean="0">
                          <a:solidFill>
                            <a:srgbClr val="FF0000"/>
                          </a:solidFill>
                          <a:latin typeface="+mn-lt"/>
                          <a:ea typeface="+mn-ea"/>
                          <a:cs typeface="+mn-cs"/>
                        </a:rPr>
                        <a:t>,000.00 </a:t>
                      </a:r>
                    </a:p>
                    <a:p>
                      <a:endParaRPr lang="en-US" sz="2400" b="1" dirty="0" smtClean="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endParaRPr lang="en-US" sz="1800" b="1" dirty="0" smtClean="0">
                        <a:latin typeface="Power Geez Unicode1" pitchFamily="2" charset="0"/>
                      </a:endParaRPr>
                    </a:p>
                    <a:p>
                      <a:endParaRPr lang="en-US" sz="1800" b="0"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ብር 50,000.00 </a:t>
                      </a:r>
                      <a:endParaRPr lang="en-US" sz="1800" b="1" i="0" u="none" strike="noStrike" kern="1200" baseline="0" dirty="0" smtClean="0">
                        <a:solidFill>
                          <a:schemeClr val="dk1"/>
                        </a:solidFill>
                        <a:latin typeface="Power Geez Unicode1" pitchFamily="2" charset="0"/>
                        <a:ea typeface="+mn-ea"/>
                        <a:cs typeface="+mn-cs"/>
                      </a:endParaRPr>
                    </a:p>
                    <a:p>
                      <a:pPr algn="just"/>
                      <a:endParaRPr lang="en-US" sz="1800" b="1" i="0" u="none" strike="noStrike" kern="1200" baseline="0" dirty="0" smtClean="0">
                        <a:solidFill>
                          <a:schemeClr val="dk1"/>
                        </a:solidFill>
                        <a:latin typeface="Power Geez Unicode1" pitchFamily="2" charset="0"/>
                        <a:ea typeface="+mn-ea"/>
                        <a:cs typeface="+mn-cs"/>
                      </a:endParaRPr>
                    </a:p>
                    <a:p>
                      <a:pPr algn="just"/>
                      <a:endParaRPr lang="en-US" sz="1800" b="1" i="0" u="none" strike="noStrike" kern="1200" baseline="0" dirty="0" smtClean="0">
                        <a:solidFill>
                          <a:schemeClr val="dk1"/>
                        </a:solidFill>
                        <a:latin typeface="Power Geez Unicode1" pitchFamily="2" charset="0"/>
                        <a:ea typeface="+mn-ea"/>
                        <a:cs typeface="+mn-cs"/>
                      </a:endParaRPr>
                    </a:p>
                    <a:p>
                      <a:pPr algn="just"/>
                      <a:endParaRPr lang="am-ET"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ብር 100,000.00</a:t>
                      </a:r>
                      <a:endParaRPr lang="en-US" sz="1800" b="1" i="0" u="none" strike="noStrike" kern="1200" baseline="0" dirty="0" smtClean="0">
                        <a:solidFill>
                          <a:schemeClr val="dk1"/>
                        </a:solidFill>
                        <a:latin typeface="Power Geez Unicode1" pitchFamily="2" charset="0"/>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am-ET"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ብር 10,000.00 	</a:t>
                      </a: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 </a:t>
                      </a:r>
                    </a:p>
                    <a:p>
                      <a:pPr algn="just"/>
                      <a:r>
                        <a:rPr lang="am-ET" sz="1800" b="0" i="0" u="none" strike="noStrike" kern="1200" baseline="0" dirty="0" smtClean="0">
                          <a:solidFill>
                            <a:schemeClr val="dk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rgbClr val="FF0000"/>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am-ET" sz="1800" b="1" i="0" u="none" strike="noStrike" kern="1200" baseline="0" dirty="0" smtClean="0">
                        <a:solidFill>
                          <a:schemeClr val="dk1"/>
                        </a:solidFill>
                        <a:latin typeface="+mn-lt"/>
                        <a:ea typeface="+mn-ea"/>
                        <a:cs typeface="+mn-cs"/>
                      </a:endParaRPr>
                    </a:p>
                  </a:txBody>
                  <a:tcPr>
                    <a:lnB w="12700" cap="flat" cmpd="sng" algn="ctr">
                      <a:solidFill>
                        <a:schemeClr val="tx1"/>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900" b="1" kern="1200" dirty="0" smtClean="0">
                        <a:solidFill>
                          <a:schemeClr val="dk1"/>
                        </a:solidFill>
                        <a:effectLst/>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በሰንጠረዡ የተቀመጠውን የቅጣት ክፍያ መጠን መክፈልና ቆሻሻውን ወደ መጣበት ቦታ መመለስ 	</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0" i="0" u="none" strike="noStrike" kern="1200" baseline="0" dirty="0" smtClean="0">
                          <a:solidFill>
                            <a:schemeClr val="dk1"/>
                          </a:solidFill>
                          <a:latin typeface="+mn-lt"/>
                          <a:ea typeface="+mn-ea"/>
                          <a:cs typeface="+mn-cs"/>
                        </a:rPr>
                        <a:t>	</a:t>
                      </a:r>
                    </a:p>
                    <a:p>
                      <a:pPr algn="just"/>
                      <a:r>
                        <a:rPr lang="am-ET" sz="1800" b="0" i="0" u="none" strike="noStrike" kern="1200" baseline="0" dirty="0" smtClean="0">
                          <a:solidFill>
                            <a:schemeClr val="dk1"/>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rgbClr val="FF0000"/>
                          </a:solidFill>
                          <a:latin typeface="+mn-lt"/>
                          <a:ea typeface="+mn-ea"/>
                          <a:cs typeface="+mn-cs"/>
                        </a:rPr>
                        <a:t> </a:t>
                      </a:r>
                      <a:endParaRPr lang="en-US" sz="1800" b="1" i="0" u="none" strike="noStrike" kern="1200" baseline="0" dirty="0" smtClean="0">
                        <a:solidFill>
                          <a:srgbClr val="FF0000"/>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rgbClr val="7030A0"/>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0" i="0" u="none" strike="noStrike" kern="1200" baseline="0" dirty="0" smtClean="0">
                          <a:solidFill>
                            <a:schemeClr val="dk1"/>
                          </a:solidFill>
                          <a:latin typeface="+mn-lt"/>
                          <a:ea typeface="+mn-ea"/>
                          <a:cs typeface="+mn-cs"/>
                        </a:rPr>
                        <a:t>	</a:t>
                      </a:r>
                    </a:p>
                  </a:txBody>
                  <a:tcPr>
                    <a:lnB w="12700" cap="flat" cmpd="sng" algn="ctr">
                      <a:solidFill>
                        <a:schemeClr val="tx1"/>
                      </a:solidFill>
                      <a:prstDash val="solid"/>
                      <a:round/>
                      <a:headEnd type="none" w="med" len="med"/>
                      <a:tailEnd type="none" w="med" len="med"/>
                    </a:lnB>
                  </a:tcPr>
                </a:tc>
              </a:tr>
              <a:tr h="2024856">
                <a:tc>
                  <a:txBody>
                    <a:bodyPr/>
                    <a:lstStyle/>
                    <a:p>
                      <a:endParaRPr lang="en-US" sz="2400" dirty="0" smtClean="0">
                        <a:latin typeface="Power Geez Unicode1" pitchFamily="2" charset="0"/>
                      </a:endParaRPr>
                    </a:p>
                    <a:p>
                      <a:endParaRPr lang="en-US" sz="2400" dirty="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am-ET" sz="2400" b="1" i="0" u="none" strike="noStrike" kern="1200" baseline="0" dirty="0" smtClean="0">
                          <a:solidFill>
                            <a:schemeClr val="dk1"/>
                          </a:solidFill>
                          <a:latin typeface="+mn-lt"/>
                          <a:ea typeface="+mn-ea"/>
                          <a:cs typeface="+mn-cs"/>
                        </a:rPr>
                        <a:t>	</a:t>
                      </a:r>
                    </a:p>
                    <a:p>
                      <a:pPr algn="just"/>
                      <a:r>
                        <a:rPr lang="en-US" sz="1400" b="1" dirty="0" smtClean="0">
                          <a:effectLst/>
                          <a:latin typeface="Power Geez Unicode1" pitchFamily="2" charset="0"/>
                          <a:ea typeface="Times New Roman"/>
                          <a:cs typeface="Visual Geez Unicode"/>
                        </a:rPr>
                        <a:t>     </a:t>
                      </a:r>
                      <a:endParaRPr lang="en-US" sz="3200" b="1"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28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1800" b="1" dirty="0" smtClean="0">
                        <a:latin typeface="Power Geez Unicode1" pitchFamily="2" charset="0"/>
                      </a:endParaRPr>
                    </a:p>
                    <a:p>
                      <a:pPr marL="0" marR="0" algn="ctr">
                        <a:spcBef>
                          <a:spcPts val="1000"/>
                        </a:spcBef>
                        <a:spcAft>
                          <a:spcPts val="0"/>
                        </a:spcAft>
                      </a:pPr>
                      <a:endParaRPr lang="en-US" sz="2800" b="0" dirty="0" smtClean="0">
                        <a:solidFill>
                          <a:srgbClr val="4F81BD"/>
                        </a:solidFill>
                        <a:effectLst/>
                        <a:latin typeface="Power Geez Unicode1" pitchFamily="2" charset="0"/>
                        <a:ea typeface="Times New Roman"/>
                        <a:cs typeface="Visual Geez Unicode"/>
                      </a:endParaRPr>
                    </a:p>
                    <a:p>
                      <a:endParaRPr lang="en-US" sz="2800" dirty="0" smtClean="0">
                        <a:latin typeface="Power Geez Unicode1" pitchFamily="2" charset="0"/>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6712436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263616420"/>
              </p:ext>
            </p:extLst>
          </p:nvPr>
        </p:nvGraphicFramePr>
        <p:xfrm>
          <a:off x="0" y="304800"/>
          <a:ext cx="9067800" cy="12327096"/>
        </p:xfrm>
        <a:graphic>
          <a:graphicData uri="http://schemas.openxmlformats.org/drawingml/2006/table">
            <a:tbl>
              <a:tblPr firstRow="1" bandRow="1">
                <a:tableStyleId>{5C22544A-7EE6-4342-B048-85BDC9FD1C3A}</a:tableStyleId>
              </a:tblPr>
              <a:tblGrid>
                <a:gridCol w="711199"/>
                <a:gridCol w="4089401"/>
                <a:gridCol w="1295400"/>
                <a:gridCol w="1371600"/>
                <a:gridCol w="1600200"/>
              </a:tblGrid>
              <a:tr h="628260">
                <a:tc>
                  <a:txBody>
                    <a:bodyPr/>
                    <a:lstStyle/>
                    <a:p>
                      <a:r>
                        <a:rPr lang="am-ET" sz="1800" b="0" i="0" u="none" strike="noStrike" baseline="0" dirty="0" smtClean="0">
                          <a:solidFill>
                            <a:srgbClr val="000000"/>
                          </a:solidFill>
                          <a:latin typeface="Visual Geez Unicode"/>
                        </a:rPr>
                        <a:t>ተ.ቁ</a:t>
                      </a:r>
                      <a:r>
                        <a:rPr lang="am-ET" sz="1400" b="0" i="0" u="none" strike="noStrike" baseline="0" dirty="0" smtClean="0">
                          <a:solidFill>
                            <a:srgbClr val="000000"/>
                          </a:solidFill>
                          <a:latin typeface="Visual Geez Unicode"/>
                        </a:rPr>
                        <a:t> 	</a:t>
                      </a:r>
                      <a:r>
                        <a:rPr lang="en-US" sz="1400" b="0" i="0" u="none" strike="noStrike" baseline="0" dirty="0" smtClean="0">
                          <a:solidFill>
                            <a:srgbClr val="000000"/>
                          </a:solidFill>
                          <a:latin typeface="Power Geez Unicode1" pitchFamily="2" charset="0"/>
                        </a:rPr>
                        <a:t> </a:t>
                      </a:r>
                      <a:endParaRPr lang="am-ET" sz="1400" b="0" i="0" u="none" strike="noStrike" baseline="0" dirty="0" smtClean="0">
                        <a:solidFill>
                          <a:srgbClr val="000000"/>
                        </a:solidFill>
                        <a:latin typeface="Visual Geez Unicode"/>
                      </a:endParaRPr>
                    </a:p>
                  </a:txBody>
                  <a:tcPr/>
                </a:tc>
                <a:tc>
                  <a:txBody>
                    <a:bodyPr/>
                    <a:lstStyle/>
                    <a:p>
                      <a:r>
                        <a:rPr lang="en-US" sz="1800" b="1" i="0" u="none" strike="noStrike" baseline="0" dirty="0" err="1" smtClean="0">
                          <a:solidFill>
                            <a:srgbClr val="FF0000"/>
                          </a:solidFill>
                          <a:latin typeface="Power Geez Unicode1" pitchFamily="2" charset="0"/>
                        </a:rPr>
                        <a:t>የጥፋት</a:t>
                      </a:r>
                      <a:r>
                        <a:rPr lang="en-US" sz="1800" b="1" i="0" u="none" strike="noStrike" baseline="0" dirty="0" smtClean="0">
                          <a:solidFill>
                            <a:srgbClr val="FF0000"/>
                          </a:solidFill>
                          <a:latin typeface="Power Geez Unicode1" pitchFamily="2" charset="0"/>
                        </a:rPr>
                        <a:t> </a:t>
                      </a:r>
                      <a:r>
                        <a:rPr lang="en-US" sz="1800" b="1" i="0" u="none" strike="noStrike" baseline="0" dirty="0" err="1" smtClean="0">
                          <a:solidFill>
                            <a:srgbClr val="FF0000"/>
                          </a:solidFill>
                          <a:latin typeface="Power Geez Unicode1" pitchFamily="2" charset="0"/>
                        </a:rPr>
                        <a:t>አይነቶች</a:t>
                      </a:r>
                      <a:endParaRPr lang="am-ET" sz="1800" b="1" i="0" u="none" strike="noStrike" baseline="0" dirty="0" smtClean="0">
                        <a:solidFill>
                          <a:srgbClr val="FF0000"/>
                        </a:solidFill>
                        <a:latin typeface="Visual Geez Unicode"/>
                      </a:endParaRPr>
                    </a:p>
                  </a:txBody>
                  <a:tcPr/>
                </a:tc>
                <a:tc>
                  <a:txBody>
                    <a:bodyPr/>
                    <a:lstStyle/>
                    <a:p>
                      <a:r>
                        <a:rPr lang="en-US" sz="1400" b="0" i="0" u="none" strike="noStrike" baseline="0" dirty="0" err="1" smtClean="0">
                          <a:solidFill>
                            <a:srgbClr val="000000"/>
                          </a:solidFill>
                          <a:latin typeface="Power Geez Unicode1" pitchFamily="2" charset="0"/>
                        </a:rPr>
                        <a:t>ቀድሞ</a:t>
                      </a:r>
                      <a:r>
                        <a:rPr lang="en-US" sz="1400" b="0" i="0" u="none" strike="noStrike" baseline="0" dirty="0" smtClean="0">
                          <a:solidFill>
                            <a:srgbClr val="000000"/>
                          </a:solidFill>
                          <a:latin typeface="Power Geez Unicode1" pitchFamily="2" charset="0"/>
                        </a:rPr>
                        <a:t> በነበረው150/2015 </a:t>
                      </a:r>
                      <a:r>
                        <a:rPr lang="en-US" sz="1400" b="0" i="0" u="none" strike="noStrike" baseline="0" dirty="0" err="1" smtClean="0">
                          <a:solidFill>
                            <a:srgbClr val="000000"/>
                          </a:solidFill>
                          <a:latin typeface="Power Geez Unicode1" pitchFamily="2" charset="0"/>
                        </a:rPr>
                        <a:t>የተቀመጠ</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ቅጣት</a:t>
                      </a:r>
                      <a:endParaRPr lang="am-ET" sz="1400" b="0" i="0" u="none" strike="noStrike" baseline="0" dirty="0" smtClean="0">
                        <a:solidFill>
                          <a:srgbClr val="000000"/>
                        </a:solidFill>
                        <a:latin typeface="Visual Geez Unicode"/>
                      </a:endParaRPr>
                    </a:p>
                  </a:txBody>
                  <a:tcPr/>
                </a:tc>
                <a:tc>
                  <a:txBody>
                    <a:bodyPr/>
                    <a:lstStyle/>
                    <a:p>
                      <a:r>
                        <a:rPr lang="en-US" sz="1400" b="0" i="0" u="none" strike="noStrike" baseline="0" dirty="0" err="1" smtClean="0">
                          <a:solidFill>
                            <a:srgbClr val="000000"/>
                          </a:solidFill>
                          <a:latin typeface="Power Geez Unicode1" pitchFamily="2" charset="0"/>
                        </a:rPr>
                        <a:t>አሁን</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በተሸሻለው</a:t>
                      </a:r>
                      <a:r>
                        <a:rPr lang="en-US" sz="1400" b="0" i="0" u="none" strike="noStrike" baseline="0" dirty="0" smtClean="0">
                          <a:solidFill>
                            <a:srgbClr val="000000"/>
                          </a:solidFill>
                          <a:latin typeface="Power Geez Unicode1" pitchFamily="2" charset="0"/>
                        </a:rPr>
                        <a:t> 167/16 </a:t>
                      </a:r>
                      <a:r>
                        <a:rPr lang="en-US" sz="1400" b="0" i="0" u="none" strike="noStrike" baseline="0" dirty="0" err="1" smtClean="0">
                          <a:solidFill>
                            <a:srgbClr val="000000"/>
                          </a:solidFill>
                          <a:latin typeface="Power Geez Unicode1" pitchFamily="2" charset="0"/>
                        </a:rPr>
                        <a:t>የተቀመጠ</a:t>
                      </a:r>
                      <a:r>
                        <a:rPr lang="en-US" sz="1400" b="0" i="0" u="none" strike="noStrike" baseline="0" dirty="0" smtClean="0">
                          <a:solidFill>
                            <a:srgbClr val="000000"/>
                          </a:solidFill>
                          <a:latin typeface="Power Geez Unicode1" pitchFamily="2" charset="0"/>
                        </a:rPr>
                        <a:t> </a:t>
                      </a:r>
                      <a:r>
                        <a:rPr lang="en-US" sz="1400" b="0" i="0" u="none" strike="noStrike" baseline="0" dirty="0" err="1" smtClean="0">
                          <a:solidFill>
                            <a:srgbClr val="000000"/>
                          </a:solidFill>
                          <a:latin typeface="Power Geez Unicode1" pitchFamily="2" charset="0"/>
                        </a:rPr>
                        <a:t>ቅጣት</a:t>
                      </a:r>
                      <a:endParaRPr lang="am-ET" sz="1400" b="0" i="0" u="none" strike="noStrike" baseline="0" dirty="0" smtClean="0">
                        <a:solidFill>
                          <a:srgbClr val="000000"/>
                        </a:solidFill>
                        <a:latin typeface="Visual Geez Unicode"/>
                      </a:endParaRPr>
                    </a:p>
                  </a:txBody>
                  <a:tcPr/>
                </a:tc>
                <a:tc>
                  <a:txBody>
                    <a:bodyPr/>
                    <a:lstStyle/>
                    <a:p>
                      <a:r>
                        <a:rPr lang="en-US" sz="1600" dirty="0" err="1" smtClean="0">
                          <a:solidFill>
                            <a:schemeClr val="tx1"/>
                          </a:solidFill>
                          <a:latin typeface="Power Geez Unicode1" pitchFamily="2" charset="0"/>
                        </a:rPr>
                        <a:t>ከህገ</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ወጥ</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ፈፃሚው</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የሚጠበቅ</a:t>
                      </a:r>
                      <a:endParaRPr lang="en-US" sz="1600" dirty="0">
                        <a:solidFill>
                          <a:schemeClr val="tx1"/>
                        </a:solidFill>
                        <a:latin typeface="Power Geez Unicode1" pitchFamily="2" charset="0"/>
                      </a:endParaRPr>
                    </a:p>
                  </a:txBody>
                  <a:tcPr/>
                </a:tc>
              </a:tr>
              <a:tr h="5318760">
                <a:tc>
                  <a:txBody>
                    <a:bodyPr/>
                    <a:lstStyle/>
                    <a:p>
                      <a:endParaRPr lang="en-US" sz="2400" dirty="0" smtClean="0">
                        <a:latin typeface="Power Geez Unicode1" pitchFamily="2" charset="0"/>
                      </a:endParaRPr>
                    </a:p>
                    <a:p>
                      <a:r>
                        <a:rPr lang="en-US" sz="2400" dirty="0" smtClean="0">
                          <a:latin typeface="Power Geez Unicode1" pitchFamily="2" charset="0"/>
                        </a:rPr>
                        <a:t>32</a:t>
                      </a: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smtClean="0">
                        <a:latin typeface="Power Geez Unicode1" pitchFamily="2" charset="0"/>
                      </a:endParaRPr>
                    </a:p>
                    <a:p>
                      <a:r>
                        <a:rPr lang="en-US" sz="2400" smtClean="0">
                          <a:latin typeface="Power Geez Unicode1" pitchFamily="2" charset="0"/>
                        </a:rPr>
                        <a:t>33</a:t>
                      </a:r>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endParaRPr lang="en-US" sz="1800" b="0" i="0" u="none" strike="noStrike" kern="1200" baseline="0" dirty="0" smtClean="0">
                        <a:solidFill>
                          <a:schemeClr val="dk1"/>
                        </a:solidFill>
                        <a:latin typeface="+mn-lt"/>
                        <a:ea typeface="+mn-ea"/>
                        <a:cs typeface="+mn-cs"/>
                      </a:endParaRPr>
                    </a:p>
                    <a:p>
                      <a:pPr algn="just"/>
                      <a:r>
                        <a:rPr lang="am-ET" sz="2000" b="1" i="0" u="none" strike="noStrike" kern="1200" baseline="0" dirty="0" smtClean="0">
                          <a:solidFill>
                            <a:srgbClr val="7030A0"/>
                          </a:solidFill>
                          <a:latin typeface="+mn-lt"/>
                          <a:ea typeface="+mn-ea"/>
                          <a:cs typeface="+mn-cs"/>
                        </a:rPr>
                        <a:t>ማንኛውም የግል ጽዳት ድርጅት ወይም ማህበር ከተመደበበት የስራ ቦታ ወይም ምደባ ውጭ ደረቅ ቆሻሻ ከሰበሰበ፤ </a:t>
                      </a:r>
                      <a:r>
                        <a:rPr lang="am-ET" sz="2000" b="1" i="0" u="none" strike="noStrike" kern="1200" baseline="0" dirty="0" smtClean="0">
                          <a:solidFill>
                            <a:schemeClr val="dk1"/>
                          </a:solidFill>
                          <a:latin typeface="+mn-lt"/>
                          <a:ea typeface="+mn-ea"/>
                          <a:cs typeface="+mn-cs"/>
                        </a:rPr>
                        <a:t>	</a:t>
                      </a:r>
                    </a:p>
                    <a:p>
                      <a:pPr algn="just"/>
                      <a:endParaRPr lang="en-US" sz="2000" b="1" i="0" u="none" strike="noStrike" kern="1200" baseline="0" dirty="0" smtClean="0">
                        <a:solidFill>
                          <a:schemeClr val="dk1"/>
                        </a:solidFill>
                        <a:latin typeface="Power Geez Unicode1" pitchFamily="2" charset="0"/>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am-ET"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ሰራተኞች በቸልተኝት ወይም ሆን ብለው በመንገድ ዳር የተተከሉ አትክልት ውሃ ሲያጠጡ አፈር ወደ መንገዱ እንዲወጣ እና መንገድ እንዲቆሽሽ ያደረጉ፤ 	</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am-ET" sz="1800" b="0" i="0" u="none" strike="noStrike" kern="1200" baseline="0" dirty="0" smtClean="0">
                        <a:solidFill>
                          <a:schemeClr val="dk1"/>
                        </a:solidFill>
                        <a:latin typeface="+mn-lt"/>
                        <a:ea typeface="+mn-ea"/>
                        <a:cs typeface="+mn-cs"/>
                      </a:endParaRPr>
                    </a:p>
                    <a:p>
                      <a:r>
                        <a:rPr lang="en-US" sz="1800" b="0" i="0" u="none" strike="noStrike" kern="1200" baseline="0" dirty="0" smtClean="0">
                          <a:solidFill>
                            <a:schemeClr val="dk1"/>
                          </a:solidFill>
                          <a:latin typeface="+mn-lt"/>
                          <a:ea typeface="+mn-ea"/>
                          <a:cs typeface="+mn-cs"/>
                        </a:rPr>
                        <a:t>	</a:t>
                      </a:r>
                    </a:p>
                  </a:txBody>
                  <a:tcPr>
                    <a:lnB w="12700" cap="flat" cmpd="sng" algn="ctr">
                      <a:solidFill>
                        <a:schemeClr val="tx1"/>
                      </a:solidFill>
                      <a:prstDash val="solid"/>
                      <a:round/>
                      <a:headEnd type="none" w="med" len="med"/>
                      <a:tailEnd type="none" w="med" len="med"/>
                    </a:lnB>
                  </a:tcPr>
                </a:tc>
                <a:tc>
                  <a:txBody>
                    <a:bodyPr/>
                    <a:lstStyle/>
                    <a:p>
                      <a:r>
                        <a:rPr lang="en-US" sz="2400" dirty="0" smtClean="0">
                          <a:latin typeface="Power Geez Unicode1" pitchFamily="2" charset="0"/>
                        </a:rPr>
                        <a:t> </a:t>
                      </a:r>
                    </a:p>
                    <a:p>
                      <a:endParaRPr lang="en-US" sz="1200" b="1" dirty="0" smtClean="0">
                        <a:latin typeface="Power Geez Unicode1" pitchFamily="2"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2000" b="1" i="0" u="none" strike="noStrike" kern="1200" baseline="0" dirty="0" smtClean="0">
                          <a:solidFill>
                            <a:srgbClr val="FF0000"/>
                          </a:solidFill>
                          <a:latin typeface="+mn-lt"/>
                          <a:ea typeface="+mn-ea"/>
                          <a:cs typeface="+mn-cs"/>
                        </a:rPr>
                        <a:t>ብር </a:t>
                      </a:r>
                      <a:r>
                        <a:rPr lang="en-US" sz="3200" b="1" i="0" u="none" strike="noStrike" kern="1200" baseline="0" dirty="0" smtClean="0">
                          <a:solidFill>
                            <a:srgbClr val="FF0000"/>
                          </a:solidFill>
                          <a:latin typeface="+mn-lt"/>
                          <a:ea typeface="+mn-ea"/>
                          <a:cs typeface="+mn-cs"/>
                        </a:rPr>
                        <a:t>2</a:t>
                      </a:r>
                      <a:r>
                        <a:rPr lang="am-ET" sz="3200" b="1" i="0" u="none" strike="noStrike" kern="1200" baseline="0" dirty="0" smtClean="0">
                          <a:solidFill>
                            <a:srgbClr val="FF0000"/>
                          </a:solidFill>
                          <a:latin typeface="+mn-lt"/>
                          <a:ea typeface="+mn-ea"/>
                          <a:cs typeface="+mn-cs"/>
                        </a:rPr>
                        <a:t>,</a:t>
                      </a:r>
                      <a:r>
                        <a:rPr lang="am-ET" sz="2000" b="1" i="0" u="none" strike="noStrike" kern="1200" baseline="0" dirty="0" smtClean="0">
                          <a:solidFill>
                            <a:srgbClr val="FF0000"/>
                          </a:solidFill>
                          <a:latin typeface="+mn-lt"/>
                          <a:ea typeface="+mn-ea"/>
                          <a:cs typeface="+mn-cs"/>
                        </a:rPr>
                        <a:t>000.00 </a:t>
                      </a:r>
                    </a:p>
                    <a:p>
                      <a:endParaRPr lang="en-US" sz="2400" b="1" dirty="0" smtClean="0">
                        <a:latin typeface="Power Geez Unicode1" pitchFamily="2" charset="0"/>
                      </a:endParaRPr>
                    </a:p>
                    <a:p>
                      <a:endParaRPr lang="en-US" sz="2400" b="1" dirty="0" smtClean="0">
                        <a:latin typeface="Power Geez Unicode1" pitchFamily="2" charset="0"/>
                      </a:endParaRPr>
                    </a:p>
                    <a:p>
                      <a:endParaRPr lang="en-US" sz="2400" b="1" dirty="0" smtClean="0">
                        <a:latin typeface="Power Geez Unicode1" pitchFamily="2" charset="0"/>
                      </a:endParaRPr>
                    </a:p>
                    <a:p>
                      <a:endParaRPr lang="en-US" sz="2400" b="1" dirty="0" smtClean="0">
                        <a:latin typeface="Power Geez Unicode1" pitchFamily="2" charset="0"/>
                      </a:endParaRPr>
                    </a:p>
                    <a:p>
                      <a:endParaRPr lang="en-US" sz="2400" b="1" dirty="0" smtClean="0">
                        <a:latin typeface="Power Geez Unicode1" pitchFamily="2" charset="0"/>
                      </a:endParaRPr>
                    </a:p>
                    <a:p>
                      <a:endParaRPr lang="en-US" sz="2400" b="1" dirty="0" smtClean="0">
                        <a:latin typeface="Power Geez Unicode1" pitchFamily="2" charset="0"/>
                      </a:endParaRPr>
                    </a:p>
                    <a:p>
                      <a:r>
                        <a:rPr lang="en-US" sz="2400" b="1" dirty="0" err="1" smtClean="0">
                          <a:solidFill>
                            <a:srgbClr val="FF0000"/>
                          </a:solidFill>
                          <a:latin typeface="Power Geez Unicode1" pitchFamily="2" charset="0"/>
                        </a:rPr>
                        <a:t>አዲስ</a:t>
                      </a:r>
                      <a:endParaRPr lang="en-US" sz="2400" b="1" dirty="0" smtClean="0">
                        <a:solidFill>
                          <a:srgbClr val="FF0000"/>
                        </a:solidFill>
                        <a:latin typeface="Power Geez Unicode1" pitchFamily="2" charset="0"/>
                      </a:endParaRPr>
                    </a:p>
                    <a:p>
                      <a:r>
                        <a:rPr lang="en-US" sz="2400" b="1" dirty="0" err="1" smtClean="0">
                          <a:solidFill>
                            <a:srgbClr val="FF0000"/>
                          </a:solidFill>
                          <a:latin typeface="Power Geez Unicode1" pitchFamily="2" charset="0"/>
                        </a:rPr>
                        <a:t>የገባ</a:t>
                      </a:r>
                      <a:endParaRPr lang="en-US" sz="2400" b="1" dirty="0" smtClean="0">
                        <a:solidFill>
                          <a:srgbClr val="FF0000"/>
                        </a:solidFill>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endParaRPr lang="en-US" sz="1800" b="1" dirty="0" smtClean="0">
                        <a:latin typeface="Power Geez Unicode1" pitchFamily="2" charset="0"/>
                      </a:endParaRPr>
                    </a:p>
                    <a:p>
                      <a:endParaRPr lang="en-US" sz="1800" b="0"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rgbClr val="7030A0"/>
                          </a:solidFill>
                          <a:latin typeface="+mn-lt"/>
                          <a:ea typeface="+mn-ea"/>
                          <a:cs typeface="+mn-cs"/>
                        </a:rPr>
                        <a:t>ብር 50,000.00 </a:t>
                      </a:r>
                      <a:endParaRPr lang="en-US" sz="1800" b="1" i="0" u="none" strike="noStrike" kern="1200" baseline="0" dirty="0" smtClean="0">
                        <a:solidFill>
                          <a:srgbClr val="7030A0"/>
                        </a:solidFill>
                        <a:latin typeface="Power Geez Unicode1" pitchFamily="2" charset="0"/>
                        <a:ea typeface="+mn-ea"/>
                        <a:cs typeface="+mn-cs"/>
                      </a:endParaRPr>
                    </a:p>
                    <a:p>
                      <a:pPr algn="just"/>
                      <a:endParaRPr lang="en-US" sz="1800" b="1" i="0" u="none" strike="noStrike" kern="1200" baseline="0" dirty="0" smtClean="0">
                        <a:solidFill>
                          <a:schemeClr val="dk1"/>
                        </a:solidFill>
                        <a:latin typeface="Power Geez Unicode1" pitchFamily="2" charset="0"/>
                        <a:ea typeface="+mn-ea"/>
                        <a:cs typeface="+mn-cs"/>
                      </a:endParaRPr>
                    </a:p>
                    <a:p>
                      <a:pPr algn="just"/>
                      <a:endParaRPr lang="en-US" sz="1800" b="1" i="0" u="none" strike="noStrike" kern="1200" baseline="0" dirty="0" smtClean="0">
                        <a:solidFill>
                          <a:schemeClr val="dk1"/>
                        </a:solidFill>
                        <a:latin typeface="Power Geez Unicode1" pitchFamily="2" charset="0"/>
                        <a:ea typeface="+mn-ea"/>
                        <a:cs typeface="+mn-cs"/>
                      </a:endParaRPr>
                    </a:p>
                    <a:p>
                      <a:pPr algn="just"/>
                      <a:endParaRPr lang="am-ET"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ብር </a:t>
                      </a:r>
                      <a:r>
                        <a:rPr lang="en-US" sz="1800" b="1" i="0" u="none" strike="noStrike" kern="1200" baseline="0" dirty="0" smtClean="0">
                          <a:solidFill>
                            <a:schemeClr val="dk1"/>
                          </a:solidFill>
                          <a:latin typeface="+mn-lt"/>
                          <a:ea typeface="+mn-ea"/>
                          <a:cs typeface="+mn-cs"/>
                        </a:rPr>
                        <a:t>5</a:t>
                      </a:r>
                      <a:r>
                        <a:rPr lang="am-ET" sz="1800" b="1" i="0" u="none" strike="noStrike" kern="1200" baseline="0" dirty="0" smtClean="0">
                          <a:solidFill>
                            <a:schemeClr val="dk1"/>
                          </a:solidFill>
                          <a:latin typeface="+mn-lt"/>
                          <a:ea typeface="+mn-ea"/>
                          <a:cs typeface="+mn-cs"/>
                        </a:rPr>
                        <a:t>,000</a:t>
                      </a:r>
                      <a:endParaRPr lang="en-US" sz="1800" b="1" i="0" u="none" strike="noStrike" kern="1200" baseline="0" dirty="0" smtClean="0">
                        <a:solidFill>
                          <a:schemeClr val="dk1"/>
                        </a:solidFill>
                        <a:latin typeface="Power Geez Unicode1" pitchFamily="2" charset="0"/>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am-ET"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	</a:t>
                      </a: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 </a:t>
                      </a:r>
                    </a:p>
                    <a:p>
                      <a:pPr algn="just"/>
                      <a:r>
                        <a:rPr lang="am-ET" sz="1800" b="0" i="0" u="none" strike="noStrike" kern="1200" baseline="0" dirty="0" smtClean="0">
                          <a:solidFill>
                            <a:schemeClr val="dk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rgbClr val="FF0000"/>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am-ET" sz="1800" b="1" i="0" u="none" strike="noStrike" kern="1200" baseline="0" dirty="0" smtClean="0">
                        <a:solidFill>
                          <a:schemeClr val="dk1"/>
                        </a:solidFill>
                        <a:latin typeface="+mn-lt"/>
                        <a:ea typeface="+mn-ea"/>
                        <a:cs typeface="+mn-cs"/>
                      </a:endParaRPr>
                    </a:p>
                  </a:txBody>
                  <a:tcPr>
                    <a:lnB w="12700" cap="flat" cmpd="sng" algn="ctr">
                      <a:solidFill>
                        <a:schemeClr val="tx1"/>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900" b="1" kern="1200" dirty="0" smtClean="0">
                        <a:solidFill>
                          <a:schemeClr val="dk1"/>
                        </a:solidFill>
                        <a:effectLst/>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rgbClr val="7030A0"/>
                          </a:solidFill>
                          <a:latin typeface="+mn-lt"/>
                          <a:ea typeface="+mn-ea"/>
                          <a:cs typeface="+mn-cs"/>
                        </a:rPr>
                        <a:t>በሰንጠረዡ የተቀመጠውን የቅጣት ክፍያ መጠን መክፈል </a:t>
                      </a:r>
                      <a:r>
                        <a:rPr lang="am-ET" sz="1800" b="0" i="0" u="none" strike="noStrike" kern="1200" baseline="0" dirty="0" smtClean="0">
                          <a:solidFill>
                            <a:schemeClr val="dk1"/>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0" i="0" u="none" strike="noStrike" kern="1200" baseline="0" dirty="0" smtClean="0">
                          <a:solidFill>
                            <a:schemeClr val="dk1"/>
                          </a:solidFill>
                          <a:latin typeface="+mn-lt"/>
                          <a:ea typeface="+mn-ea"/>
                          <a:cs typeface="+mn-cs"/>
                        </a:rPr>
                        <a:t>	</a:t>
                      </a:r>
                    </a:p>
                    <a:p>
                      <a:pPr algn="just"/>
                      <a:endParaRPr lang="en-US" sz="1800" b="0" i="0" u="none" strike="noStrike" kern="1200" baseline="0" dirty="0" smtClean="0">
                        <a:solidFill>
                          <a:schemeClr val="dk1"/>
                        </a:solidFill>
                        <a:latin typeface="+mn-lt"/>
                        <a:ea typeface="+mn-ea"/>
                        <a:cs typeface="+mn-cs"/>
                      </a:endParaRPr>
                    </a:p>
                    <a:p>
                      <a:pPr algn="just"/>
                      <a:endParaRPr lang="en-US" sz="1800" b="0" i="0" u="none" strike="noStrike" kern="1200" baseline="0" dirty="0" smtClean="0">
                        <a:solidFill>
                          <a:schemeClr val="dk1"/>
                        </a:solidFill>
                        <a:latin typeface="+mn-lt"/>
                        <a:ea typeface="+mn-ea"/>
                        <a:cs typeface="+mn-cs"/>
                      </a:endParaRPr>
                    </a:p>
                    <a:p>
                      <a:pPr algn="just"/>
                      <a:endParaRPr lang="en-US" sz="1800" b="0"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በሰንጠረዡ የተቀመጠውን የቅጣት ክፍያ መጠን መክፈል 	</a:t>
                      </a:r>
                    </a:p>
                    <a:p>
                      <a:pPr algn="just"/>
                      <a:r>
                        <a:rPr lang="am-ET" sz="1800" b="0" i="0" u="none" strike="noStrike" kern="1200" baseline="0" dirty="0" smtClean="0">
                          <a:solidFill>
                            <a:schemeClr val="dk1"/>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rgbClr val="FF0000"/>
                          </a:solidFill>
                          <a:latin typeface="+mn-lt"/>
                          <a:ea typeface="+mn-ea"/>
                          <a:cs typeface="+mn-cs"/>
                        </a:rPr>
                        <a:t> </a:t>
                      </a:r>
                      <a:endParaRPr lang="en-US" sz="1800" b="1" i="0" u="none" strike="noStrike" kern="1200" baseline="0" dirty="0" smtClean="0">
                        <a:solidFill>
                          <a:srgbClr val="FF0000"/>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rgbClr val="7030A0"/>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0" i="0" u="none" strike="noStrike" kern="1200" baseline="0" dirty="0" smtClean="0">
                          <a:solidFill>
                            <a:schemeClr val="dk1"/>
                          </a:solidFill>
                          <a:latin typeface="+mn-lt"/>
                          <a:ea typeface="+mn-ea"/>
                          <a:cs typeface="+mn-cs"/>
                        </a:rPr>
                        <a:t>	</a:t>
                      </a:r>
                    </a:p>
                  </a:txBody>
                  <a:tcPr>
                    <a:lnB w="12700" cap="flat" cmpd="sng" algn="ctr">
                      <a:solidFill>
                        <a:schemeClr val="tx1"/>
                      </a:solidFill>
                      <a:prstDash val="solid"/>
                      <a:round/>
                      <a:headEnd type="none" w="med" len="med"/>
                      <a:tailEnd type="none" w="med" len="med"/>
                    </a:lnB>
                  </a:tcPr>
                </a:tc>
              </a:tr>
              <a:tr h="2024856">
                <a:tc>
                  <a:txBody>
                    <a:bodyPr/>
                    <a:lstStyle/>
                    <a:p>
                      <a:endParaRPr lang="en-US" sz="2400" dirty="0" smtClean="0">
                        <a:latin typeface="Power Geez Unicode1" pitchFamily="2" charset="0"/>
                      </a:endParaRPr>
                    </a:p>
                    <a:p>
                      <a:endParaRPr lang="en-US" sz="2400" dirty="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am-ET" sz="2400" b="1" i="0" u="none" strike="noStrike" kern="1200" baseline="0" dirty="0" smtClean="0">
                          <a:solidFill>
                            <a:schemeClr val="dk1"/>
                          </a:solidFill>
                          <a:latin typeface="+mn-lt"/>
                          <a:ea typeface="+mn-ea"/>
                          <a:cs typeface="+mn-cs"/>
                        </a:rPr>
                        <a:t>	</a:t>
                      </a:r>
                    </a:p>
                    <a:p>
                      <a:pPr algn="just"/>
                      <a:r>
                        <a:rPr lang="en-US" sz="1400" b="1" dirty="0" smtClean="0">
                          <a:effectLst/>
                          <a:latin typeface="Power Geez Unicode1" pitchFamily="2" charset="0"/>
                          <a:ea typeface="Times New Roman"/>
                          <a:cs typeface="Visual Geez Unicode"/>
                        </a:rPr>
                        <a:t>     </a:t>
                      </a:r>
                      <a:endParaRPr lang="en-US" sz="3200" b="1"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28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1800" b="1" dirty="0" smtClean="0">
                        <a:latin typeface="Power Geez Unicode1" pitchFamily="2" charset="0"/>
                      </a:endParaRPr>
                    </a:p>
                    <a:p>
                      <a:pPr marL="0" marR="0" algn="ctr">
                        <a:spcBef>
                          <a:spcPts val="1000"/>
                        </a:spcBef>
                        <a:spcAft>
                          <a:spcPts val="0"/>
                        </a:spcAft>
                      </a:pPr>
                      <a:endParaRPr lang="en-US" sz="2800" b="0" dirty="0" smtClean="0">
                        <a:solidFill>
                          <a:srgbClr val="4F81BD"/>
                        </a:solidFill>
                        <a:effectLst/>
                        <a:latin typeface="Power Geez Unicode1" pitchFamily="2" charset="0"/>
                        <a:ea typeface="Times New Roman"/>
                        <a:cs typeface="Visual Geez Unicode"/>
                      </a:endParaRPr>
                    </a:p>
                    <a:p>
                      <a:endParaRPr lang="en-US" sz="2800" dirty="0" smtClean="0">
                        <a:latin typeface="Power Geez Unicode1" pitchFamily="2" charset="0"/>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302011702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10017716"/>
              </p:ext>
            </p:extLst>
          </p:nvPr>
        </p:nvGraphicFramePr>
        <p:xfrm>
          <a:off x="0" y="304800"/>
          <a:ext cx="9067800" cy="10467816"/>
        </p:xfrm>
        <a:graphic>
          <a:graphicData uri="http://schemas.openxmlformats.org/drawingml/2006/table">
            <a:tbl>
              <a:tblPr firstRow="1" bandRow="1">
                <a:tableStyleId>{5C22544A-7EE6-4342-B048-85BDC9FD1C3A}</a:tableStyleId>
              </a:tblPr>
              <a:tblGrid>
                <a:gridCol w="711199"/>
                <a:gridCol w="4089401"/>
                <a:gridCol w="1295400"/>
                <a:gridCol w="1371600"/>
                <a:gridCol w="1600200"/>
              </a:tblGrid>
              <a:tr h="628260">
                <a:tc>
                  <a:txBody>
                    <a:bodyPr/>
                    <a:lstStyle/>
                    <a:p>
                      <a:r>
                        <a:rPr lang="am-ET" sz="1800" b="0" i="0" u="none" strike="noStrike" baseline="0" dirty="0" smtClean="0">
                          <a:solidFill>
                            <a:srgbClr val="000000"/>
                          </a:solidFill>
                          <a:latin typeface="Visual Geez Unicode"/>
                        </a:rPr>
                        <a:t>ተ.ቁ</a:t>
                      </a:r>
                      <a:r>
                        <a:rPr lang="am-ET" sz="1400" b="0" i="0" u="none" strike="noStrike" baseline="0" dirty="0" smtClean="0">
                          <a:solidFill>
                            <a:srgbClr val="000000"/>
                          </a:solidFill>
                          <a:latin typeface="Visual Geez Unicode"/>
                        </a:rPr>
                        <a:t> 	</a:t>
                      </a:r>
                      <a:r>
                        <a:rPr lang="en-US" sz="1400" b="0" i="0" u="none" strike="noStrike" baseline="0" dirty="0" smtClean="0">
                          <a:solidFill>
                            <a:srgbClr val="000000"/>
                          </a:solidFill>
                          <a:latin typeface="Power Geez Unicode1" pitchFamily="2" charset="0"/>
                        </a:rPr>
                        <a:t> </a:t>
                      </a:r>
                      <a:endParaRPr lang="am-ET" sz="1400" b="0" i="0" u="none" strike="noStrike" baseline="0" dirty="0" smtClean="0">
                        <a:solidFill>
                          <a:srgbClr val="000000"/>
                        </a:solidFill>
                        <a:latin typeface="Visual Geez Unicode"/>
                      </a:endParaRPr>
                    </a:p>
                  </a:txBody>
                  <a:tcPr/>
                </a:tc>
                <a:tc>
                  <a:txBody>
                    <a:bodyPr/>
                    <a:lstStyle/>
                    <a:p>
                      <a:r>
                        <a:rPr lang="en-US" sz="2400" b="1" i="0" u="none" strike="noStrike" baseline="0" dirty="0" err="1" smtClean="0">
                          <a:solidFill>
                            <a:srgbClr val="FFFF00"/>
                          </a:solidFill>
                          <a:latin typeface="Power Geez Unicode1" pitchFamily="2" charset="0"/>
                        </a:rPr>
                        <a:t>የጥፋት</a:t>
                      </a:r>
                      <a:r>
                        <a:rPr lang="en-US" sz="2400" b="1" i="0" u="none" strike="noStrike" baseline="0" dirty="0" smtClean="0">
                          <a:solidFill>
                            <a:srgbClr val="FFFF00"/>
                          </a:solidFill>
                          <a:latin typeface="Power Geez Unicode1" pitchFamily="2" charset="0"/>
                        </a:rPr>
                        <a:t> </a:t>
                      </a:r>
                      <a:r>
                        <a:rPr lang="en-US" sz="2400" b="1" i="0" u="none" strike="noStrike" baseline="0" dirty="0" err="1" smtClean="0">
                          <a:solidFill>
                            <a:srgbClr val="FFFF00"/>
                          </a:solidFill>
                          <a:latin typeface="Power Geez Unicode1" pitchFamily="2" charset="0"/>
                        </a:rPr>
                        <a:t>አይነቶች</a:t>
                      </a:r>
                      <a:endParaRPr lang="am-ET" sz="2400" b="1" i="0" u="none" strike="noStrike" baseline="0" dirty="0" smtClean="0">
                        <a:solidFill>
                          <a:srgbClr val="FFFF00"/>
                        </a:solidFill>
                        <a:latin typeface="Visual Geez Unicode"/>
                      </a:endParaRPr>
                    </a:p>
                  </a:txBody>
                  <a:tcPr/>
                </a:tc>
                <a:tc>
                  <a:txBody>
                    <a:bodyPr/>
                    <a:lstStyle/>
                    <a:p>
                      <a:r>
                        <a:rPr lang="en-US" sz="2000" b="1" i="0" u="none" strike="noStrike" baseline="0" dirty="0" err="1" smtClean="0">
                          <a:solidFill>
                            <a:srgbClr val="000000"/>
                          </a:solidFill>
                          <a:latin typeface="Power Geez Unicode1" pitchFamily="2" charset="0"/>
                        </a:rPr>
                        <a:t>ቀድሞ</a:t>
                      </a:r>
                      <a:r>
                        <a:rPr lang="en-US" sz="2000" b="1" i="0" u="none" strike="noStrike" baseline="0" dirty="0" smtClean="0">
                          <a:solidFill>
                            <a:srgbClr val="000000"/>
                          </a:solidFill>
                          <a:latin typeface="Power Geez Unicode1" pitchFamily="2" charset="0"/>
                        </a:rPr>
                        <a:t> በነበረው150/2015 </a:t>
                      </a:r>
                      <a:r>
                        <a:rPr lang="en-US" sz="2000" b="1" i="0" u="none" strike="noStrike" baseline="0" dirty="0" err="1" smtClean="0">
                          <a:solidFill>
                            <a:srgbClr val="000000"/>
                          </a:solidFill>
                          <a:latin typeface="Power Geez Unicode1" pitchFamily="2" charset="0"/>
                        </a:rPr>
                        <a:t>የተቀመጠ</a:t>
                      </a:r>
                      <a:r>
                        <a:rPr lang="en-US" sz="2000" b="1" i="0" u="none" strike="noStrike" baseline="0" dirty="0" smtClean="0">
                          <a:solidFill>
                            <a:srgbClr val="000000"/>
                          </a:solidFill>
                          <a:latin typeface="Power Geez Unicode1" pitchFamily="2" charset="0"/>
                        </a:rPr>
                        <a:t> </a:t>
                      </a:r>
                      <a:r>
                        <a:rPr lang="en-US" sz="2000" b="1" i="0" u="none" strike="noStrike" baseline="0" dirty="0" err="1" smtClean="0">
                          <a:solidFill>
                            <a:srgbClr val="000000"/>
                          </a:solidFill>
                          <a:latin typeface="Power Geez Unicode1" pitchFamily="2" charset="0"/>
                        </a:rPr>
                        <a:t>ቅጣት</a:t>
                      </a:r>
                      <a:endParaRPr lang="am-ET" sz="2000" b="1" i="0" u="none" strike="noStrike" baseline="0" dirty="0" smtClean="0">
                        <a:solidFill>
                          <a:srgbClr val="000000"/>
                        </a:solidFill>
                        <a:latin typeface="Visual Geez Unicode"/>
                      </a:endParaRPr>
                    </a:p>
                  </a:txBody>
                  <a:tcPr/>
                </a:tc>
                <a:tc>
                  <a:txBody>
                    <a:bodyPr/>
                    <a:lstStyle/>
                    <a:p>
                      <a:r>
                        <a:rPr lang="en-US" sz="2000" b="1" i="0" u="none" strike="noStrike" baseline="0" dirty="0" err="1" smtClean="0">
                          <a:solidFill>
                            <a:srgbClr val="000000"/>
                          </a:solidFill>
                          <a:latin typeface="Power Geez Unicode1" pitchFamily="2" charset="0"/>
                        </a:rPr>
                        <a:t>አሁን</a:t>
                      </a:r>
                      <a:r>
                        <a:rPr lang="en-US" sz="2000" b="1" i="0" u="none" strike="noStrike" baseline="0" dirty="0" smtClean="0">
                          <a:solidFill>
                            <a:srgbClr val="000000"/>
                          </a:solidFill>
                          <a:latin typeface="Power Geez Unicode1" pitchFamily="2" charset="0"/>
                        </a:rPr>
                        <a:t> </a:t>
                      </a:r>
                      <a:r>
                        <a:rPr lang="en-US" sz="2000" b="1" i="0" u="none" strike="noStrike" baseline="0" dirty="0" err="1" smtClean="0">
                          <a:solidFill>
                            <a:srgbClr val="000000"/>
                          </a:solidFill>
                          <a:latin typeface="Power Geez Unicode1" pitchFamily="2" charset="0"/>
                        </a:rPr>
                        <a:t>በተሸሻለው</a:t>
                      </a:r>
                      <a:r>
                        <a:rPr lang="en-US" sz="2000" b="1" i="0" u="none" strike="noStrike" baseline="0" dirty="0" smtClean="0">
                          <a:solidFill>
                            <a:srgbClr val="000000"/>
                          </a:solidFill>
                          <a:latin typeface="Power Geez Unicode1" pitchFamily="2" charset="0"/>
                        </a:rPr>
                        <a:t> 167/16 </a:t>
                      </a:r>
                      <a:r>
                        <a:rPr lang="en-US" sz="2000" b="1" i="0" u="none" strike="noStrike" baseline="0" dirty="0" err="1" smtClean="0">
                          <a:solidFill>
                            <a:srgbClr val="000000"/>
                          </a:solidFill>
                          <a:latin typeface="Power Geez Unicode1" pitchFamily="2" charset="0"/>
                        </a:rPr>
                        <a:t>የተቀመጠ</a:t>
                      </a:r>
                      <a:r>
                        <a:rPr lang="en-US" sz="2000" b="1" i="0" u="none" strike="noStrike" baseline="0" dirty="0" smtClean="0">
                          <a:solidFill>
                            <a:srgbClr val="000000"/>
                          </a:solidFill>
                          <a:latin typeface="Power Geez Unicode1" pitchFamily="2" charset="0"/>
                        </a:rPr>
                        <a:t> </a:t>
                      </a:r>
                      <a:r>
                        <a:rPr lang="en-US" sz="2000" b="1" i="0" u="none" strike="noStrike" baseline="0" dirty="0" err="1" smtClean="0">
                          <a:solidFill>
                            <a:srgbClr val="000000"/>
                          </a:solidFill>
                          <a:latin typeface="Power Geez Unicode1" pitchFamily="2" charset="0"/>
                        </a:rPr>
                        <a:t>ቅጣት</a:t>
                      </a:r>
                      <a:endParaRPr lang="am-ET" sz="2000" b="1" i="0" u="none" strike="noStrike" baseline="0" dirty="0" smtClean="0">
                        <a:solidFill>
                          <a:srgbClr val="000000"/>
                        </a:solidFill>
                        <a:latin typeface="Visual Geez Unicode"/>
                      </a:endParaRPr>
                    </a:p>
                  </a:txBody>
                  <a:tcPr/>
                </a:tc>
                <a:tc>
                  <a:txBody>
                    <a:bodyPr/>
                    <a:lstStyle/>
                    <a:p>
                      <a:r>
                        <a:rPr lang="en-US" sz="2000" dirty="0" err="1" smtClean="0">
                          <a:solidFill>
                            <a:schemeClr val="tx1"/>
                          </a:solidFill>
                          <a:latin typeface="Power Geez Unicode1" pitchFamily="2" charset="0"/>
                        </a:rPr>
                        <a:t>ከህገ</a:t>
                      </a:r>
                      <a:r>
                        <a:rPr lang="en-US" sz="2000" baseline="0" dirty="0" smtClean="0">
                          <a:solidFill>
                            <a:schemeClr val="tx1"/>
                          </a:solidFill>
                          <a:latin typeface="Power Geez Unicode1" pitchFamily="2" charset="0"/>
                        </a:rPr>
                        <a:t> </a:t>
                      </a:r>
                      <a:r>
                        <a:rPr lang="en-US" sz="2000" baseline="0" dirty="0" err="1" smtClean="0">
                          <a:solidFill>
                            <a:schemeClr val="tx1"/>
                          </a:solidFill>
                          <a:latin typeface="Power Geez Unicode1" pitchFamily="2" charset="0"/>
                        </a:rPr>
                        <a:t>ወጥ</a:t>
                      </a:r>
                      <a:r>
                        <a:rPr lang="en-US" sz="2000" baseline="0" dirty="0" smtClean="0">
                          <a:solidFill>
                            <a:schemeClr val="tx1"/>
                          </a:solidFill>
                          <a:latin typeface="Power Geez Unicode1" pitchFamily="2" charset="0"/>
                        </a:rPr>
                        <a:t> </a:t>
                      </a:r>
                      <a:r>
                        <a:rPr lang="en-US" sz="2000" baseline="0" dirty="0" err="1" smtClean="0">
                          <a:solidFill>
                            <a:schemeClr val="tx1"/>
                          </a:solidFill>
                          <a:latin typeface="Power Geez Unicode1" pitchFamily="2" charset="0"/>
                        </a:rPr>
                        <a:t>ፈፃሚው</a:t>
                      </a:r>
                      <a:r>
                        <a:rPr lang="en-US" sz="2000" baseline="0" dirty="0" smtClean="0">
                          <a:solidFill>
                            <a:schemeClr val="tx1"/>
                          </a:solidFill>
                          <a:latin typeface="Power Geez Unicode1" pitchFamily="2" charset="0"/>
                        </a:rPr>
                        <a:t> </a:t>
                      </a:r>
                      <a:r>
                        <a:rPr lang="en-US" sz="2000" baseline="0" dirty="0" err="1" smtClean="0">
                          <a:solidFill>
                            <a:schemeClr val="tx1"/>
                          </a:solidFill>
                          <a:latin typeface="Power Geez Unicode1" pitchFamily="2" charset="0"/>
                        </a:rPr>
                        <a:t>የሚጠበቅ</a:t>
                      </a:r>
                      <a:endParaRPr lang="en-US" sz="2000" dirty="0">
                        <a:solidFill>
                          <a:schemeClr val="tx1"/>
                        </a:solidFill>
                        <a:latin typeface="Power Geez Unicode1" pitchFamily="2" charset="0"/>
                      </a:endParaRPr>
                    </a:p>
                  </a:txBody>
                  <a:tcPr/>
                </a:tc>
              </a:tr>
              <a:tr h="5318760">
                <a:tc>
                  <a:txBody>
                    <a:bodyPr/>
                    <a:lstStyle/>
                    <a:p>
                      <a:endParaRPr lang="en-US" sz="2400" dirty="0" smtClean="0">
                        <a:latin typeface="Power Geez Unicode1" pitchFamily="2" charset="0"/>
                      </a:endParaRPr>
                    </a:p>
                    <a:p>
                      <a:r>
                        <a:rPr lang="en-US" sz="2400" dirty="0" smtClean="0">
                          <a:latin typeface="Power Geez Unicode1" pitchFamily="2" charset="0"/>
                        </a:rPr>
                        <a:t>34</a:t>
                      </a: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endParaRPr lang="en-US" sz="1800" b="0"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2800" b="1" i="0" u="none" strike="noStrike" kern="1200" baseline="0" dirty="0" smtClean="0">
                          <a:solidFill>
                            <a:schemeClr val="dk1"/>
                          </a:solidFill>
                          <a:latin typeface="+mn-lt"/>
                          <a:ea typeface="+mn-ea"/>
                          <a:cs typeface="+mn-cs"/>
                        </a:rPr>
                        <a:t>አንድ ተቋም/ድርጅት ከውሀ መውረጃ ቱቦ የተጠረገ ቆሻሻ ከመንገድ ዳር እስከ 2 ቀን ካላነሳ 	</a:t>
                      </a: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am-ET"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am-ET" sz="1800" b="0" i="0" u="none" strike="noStrike" kern="1200" baseline="0" dirty="0" smtClean="0">
                        <a:solidFill>
                          <a:schemeClr val="dk1"/>
                        </a:solidFill>
                        <a:latin typeface="+mn-lt"/>
                        <a:ea typeface="+mn-ea"/>
                        <a:cs typeface="+mn-cs"/>
                      </a:endParaRPr>
                    </a:p>
                    <a:p>
                      <a:r>
                        <a:rPr lang="en-US" sz="1800" b="0" i="0" u="none" strike="noStrike" kern="1200" baseline="0" dirty="0" smtClean="0">
                          <a:solidFill>
                            <a:schemeClr val="dk1"/>
                          </a:solidFill>
                          <a:latin typeface="+mn-lt"/>
                          <a:ea typeface="+mn-ea"/>
                          <a:cs typeface="+mn-cs"/>
                        </a:rPr>
                        <a:t>	</a:t>
                      </a:r>
                    </a:p>
                  </a:txBody>
                  <a:tcPr>
                    <a:lnB w="12700" cap="flat" cmpd="sng" algn="ctr">
                      <a:solidFill>
                        <a:schemeClr val="tx1"/>
                      </a:solidFill>
                      <a:prstDash val="solid"/>
                      <a:round/>
                      <a:headEnd type="none" w="med" len="med"/>
                      <a:tailEnd type="none" w="med" len="med"/>
                    </a:lnB>
                  </a:tcPr>
                </a:tc>
                <a:tc>
                  <a:txBody>
                    <a:bodyPr/>
                    <a:lstStyle/>
                    <a:p>
                      <a:r>
                        <a:rPr lang="en-US" sz="2400" dirty="0" smtClean="0">
                          <a:latin typeface="Power Geez Unicode1" pitchFamily="2" charset="0"/>
                        </a:rPr>
                        <a:t> </a:t>
                      </a:r>
                    </a:p>
                    <a:p>
                      <a:r>
                        <a:rPr lang="en-US" sz="2400" b="1" dirty="0" err="1" smtClean="0">
                          <a:solidFill>
                            <a:srgbClr val="FF0000"/>
                          </a:solidFill>
                          <a:latin typeface="Power Geez Unicode1" pitchFamily="2" charset="0"/>
                        </a:rPr>
                        <a:t>አዲስ</a:t>
                      </a:r>
                      <a:endParaRPr lang="en-US" sz="2400" b="1" dirty="0" smtClean="0">
                        <a:solidFill>
                          <a:srgbClr val="FF0000"/>
                        </a:solidFill>
                        <a:latin typeface="Power Geez Unicode1" pitchFamily="2" charset="0"/>
                      </a:endParaRPr>
                    </a:p>
                    <a:p>
                      <a:r>
                        <a:rPr lang="en-US" sz="2400" b="1" dirty="0" err="1" smtClean="0">
                          <a:solidFill>
                            <a:srgbClr val="FF0000"/>
                          </a:solidFill>
                          <a:latin typeface="Power Geez Unicode1" pitchFamily="2" charset="0"/>
                        </a:rPr>
                        <a:t>የገባ</a:t>
                      </a:r>
                      <a:endParaRPr lang="en-US" sz="2400" b="1" dirty="0" smtClean="0">
                        <a:solidFill>
                          <a:srgbClr val="FF0000"/>
                        </a:solidFill>
                        <a:latin typeface="Power Geez Unicode1" pitchFamily="2" charset="0"/>
                      </a:endParaRPr>
                    </a:p>
                    <a:p>
                      <a:endParaRPr lang="en-US" sz="2400" b="1" dirty="0" smtClean="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endParaRPr lang="en-US" sz="1800" b="1" dirty="0" smtClean="0">
                        <a:latin typeface="Power Geez Unicode1" pitchFamily="2" charset="0"/>
                      </a:endParaRPr>
                    </a:p>
                    <a:p>
                      <a:endParaRPr lang="en-US" sz="1800" b="0"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3200" b="1" i="0" u="none" strike="noStrike" kern="1200" baseline="0" dirty="0" smtClean="0">
                          <a:solidFill>
                            <a:schemeClr val="dk1"/>
                          </a:solidFill>
                          <a:latin typeface="+mn-lt"/>
                          <a:ea typeface="+mn-ea"/>
                          <a:cs typeface="+mn-cs"/>
                        </a:rPr>
                        <a:t>ብር 20000 </a:t>
                      </a:r>
                      <a:r>
                        <a:rPr lang="am-ET" sz="1800" b="0" i="0" u="none" strike="noStrike" kern="1200" baseline="0" dirty="0" smtClean="0">
                          <a:solidFill>
                            <a:schemeClr val="dk1"/>
                          </a:solidFill>
                          <a:latin typeface="+mn-lt"/>
                          <a:ea typeface="+mn-ea"/>
                          <a:cs typeface="+mn-cs"/>
                        </a:rPr>
                        <a:t>	</a:t>
                      </a:r>
                    </a:p>
                    <a:p>
                      <a:pPr algn="just"/>
                      <a:r>
                        <a:rPr lang="am-ET" sz="1800" b="1" i="0" u="none" strike="noStrike" kern="1200" baseline="0" dirty="0" smtClean="0">
                          <a:solidFill>
                            <a:schemeClr val="dk1"/>
                          </a:solidFill>
                          <a:latin typeface="+mn-lt"/>
                          <a:ea typeface="+mn-ea"/>
                          <a:cs typeface="+mn-cs"/>
                        </a:rPr>
                        <a:t>	</a:t>
                      </a: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 </a:t>
                      </a:r>
                    </a:p>
                    <a:p>
                      <a:pPr algn="just"/>
                      <a:r>
                        <a:rPr lang="am-ET" sz="1800" b="0" i="0" u="none" strike="noStrike" kern="1200" baseline="0" dirty="0" smtClean="0">
                          <a:solidFill>
                            <a:schemeClr val="dk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rgbClr val="FF0000"/>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am-ET" sz="1800" b="1" i="0" u="none" strike="noStrike" kern="1200" baseline="0" dirty="0" smtClean="0">
                        <a:solidFill>
                          <a:schemeClr val="dk1"/>
                        </a:solidFill>
                        <a:latin typeface="+mn-lt"/>
                        <a:ea typeface="+mn-ea"/>
                        <a:cs typeface="+mn-cs"/>
                      </a:endParaRPr>
                    </a:p>
                  </a:txBody>
                  <a:tcPr>
                    <a:lnB w="12700" cap="flat" cmpd="sng" algn="ctr">
                      <a:solidFill>
                        <a:schemeClr val="tx1"/>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900" b="1" kern="1200" dirty="0" smtClean="0">
                        <a:solidFill>
                          <a:schemeClr val="dk1"/>
                        </a:solidFill>
                        <a:effectLst/>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2400" b="1" i="0" u="none" strike="noStrike" kern="1200" baseline="0" dirty="0" smtClean="0">
                          <a:solidFill>
                            <a:schemeClr val="dk1"/>
                          </a:solidFill>
                          <a:latin typeface="+mn-lt"/>
                          <a:ea typeface="+mn-ea"/>
                          <a:cs typeface="+mn-cs"/>
                        </a:rPr>
                        <a:t>በሰንጠረዡ የተቀመጠውን የቅጣት ክፍያ መጠን መክፈልና አካባቢውን ማጽዳት 	</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rgbClr val="FF0000"/>
                          </a:solidFill>
                          <a:latin typeface="+mn-lt"/>
                          <a:ea typeface="+mn-ea"/>
                          <a:cs typeface="+mn-cs"/>
                        </a:rPr>
                        <a:t> </a:t>
                      </a:r>
                      <a:endParaRPr lang="en-US" sz="1800" b="1" i="0" u="none" strike="noStrike" kern="1200" baseline="0" dirty="0" smtClean="0">
                        <a:solidFill>
                          <a:srgbClr val="FF0000"/>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rgbClr val="7030A0"/>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0" i="0" u="none" strike="noStrike" kern="1200" baseline="0" dirty="0" smtClean="0">
                          <a:solidFill>
                            <a:schemeClr val="dk1"/>
                          </a:solidFill>
                          <a:latin typeface="+mn-lt"/>
                          <a:ea typeface="+mn-ea"/>
                          <a:cs typeface="+mn-cs"/>
                        </a:rPr>
                        <a:t>	</a:t>
                      </a:r>
                    </a:p>
                  </a:txBody>
                  <a:tcPr>
                    <a:lnB w="12700" cap="flat" cmpd="sng" algn="ctr">
                      <a:solidFill>
                        <a:schemeClr val="tx1"/>
                      </a:solidFill>
                      <a:prstDash val="solid"/>
                      <a:round/>
                      <a:headEnd type="none" w="med" len="med"/>
                      <a:tailEnd type="none" w="med" len="med"/>
                    </a:lnB>
                  </a:tcPr>
                </a:tc>
              </a:tr>
              <a:tr h="2024856">
                <a:tc>
                  <a:txBody>
                    <a:bodyPr/>
                    <a:lstStyle/>
                    <a:p>
                      <a:endParaRPr lang="en-US" sz="2400" dirty="0" smtClean="0">
                        <a:latin typeface="Power Geez Unicode1" pitchFamily="2" charset="0"/>
                      </a:endParaRPr>
                    </a:p>
                    <a:p>
                      <a:endParaRPr lang="en-US" sz="2400" dirty="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am-ET" sz="2400" b="1" i="0" u="none" strike="noStrike" kern="1200" baseline="0" dirty="0" smtClean="0">
                          <a:solidFill>
                            <a:schemeClr val="dk1"/>
                          </a:solidFill>
                          <a:latin typeface="+mn-lt"/>
                          <a:ea typeface="+mn-ea"/>
                          <a:cs typeface="+mn-cs"/>
                        </a:rPr>
                        <a:t>	</a:t>
                      </a:r>
                    </a:p>
                    <a:p>
                      <a:pPr algn="just"/>
                      <a:r>
                        <a:rPr lang="en-US" sz="1400" b="1" dirty="0" smtClean="0">
                          <a:effectLst/>
                          <a:latin typeface="Power Geez Unicode1" pitchFamily="2" charset="0"/>
                          <a:ea typeface="Times New Roman"/>
                          <a:cs typeface="Visual Geez Unicode"/>
                        </a:rPr>
                        <a:t>     </a:t>
                      </a:r>
                      <a:endParaRPr lang="en-US" sz="3200" b="1"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28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1800" b="1" dirty="0" smtClean="0">
                        <a:latin typeface="Power Geez Unicode1" pitchFamily="2" charset="0"/>
                      </a:endParaRPr>
                    </a:p>
                    <a:p>
                      <a:pPr marL="0" marR="0" algn="ctr">
                        <a:spcBef>
                          <a:spcPts val="1000"/>
                        </a:spcBef>
                        <a:spcAft>
                          <a:spcPts val="0"/>
                        </a:spcAft>
                      </a:pPr>
                      <a:endParaRPr lang="en-US" sz="2800" b="0" dirty="0" smtClean="0">
                        <a:solidFill>
                          <a:srgbClr val="4F81BD"/>
                        </a:solidFill>
                        <a:effectLst/>
                        <a:latin typeface="Power Geez Unicode1" pitchFamily="2" charset="0"/>
                        <a:ea typeface="Times New Roman"/>
                        <a:cs typeface="Visual Geez Unicode"/>
                      </a:endParaRPr>
                    </a:p>
                    <a:p>
                      <a:endParaRPr lang="en-US" sz="2800" dirty="0" smtClean="0">
                        <a:latin typeface="Power Geez Unicode1" pitchFamily="2" charset="0"/>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451831267"/>
      </p:ext>
    </p:extLst>
  </p:cSld>
  <p:clrMapOvr>
    <a:masterClrMapping/>
  </p:clrMapOvr>
  <p:transition spd="slow">
    <p:cove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048848846"/>
              </p:ext>
            </p:extLst>
          </p:nvPr>
        </p:nvGraphicFramePr>
        <p:xfrm>
          <a:off x="0" y="304800"/>
          <a:ext cx="9067800" cy="12509976"/>
        </p:xfrm>
        <a:graphic>
          <a:graphicData uri="http://schemas.openxmlformats.org/drawingml/2006/table">
            <a:tbl>
              <a:tblPr firstRow="1" bandRow="1">
                <a:tableStyleId>{5C22544A-7EE6-4342-B048-85BDC9FD1C3A}</a:tableStyleId>
              </a:tblPr>
              <a:tblGrid>
                <a:gridCol w="711199"/>
                <a:gridCol w="4089401"/>
                <a:gridCol w="1295400"/>
                <a:gridCol w="1371600"/>
                <a:gridCol w="1600200"/>
              </a:tblGrid>
              <a:tr h="628260">
                <a:tc>
                  <a:txBody>
                    <a:bodyPr/>
                    <a:lstStyle/>
                    <a:p>
                      <a:r>
                        <a:rPr lang="am-ET" sz="1800" b="0" i="0" u="none" strike="noStrike" baseline="0" dirty="0" smtClean="0">
                          <a:solidFill>
                            <a:srgbClr val="000000"/>
                          </a:solidFill>
                          <a:latin typeface="Visual Geez Unicode"/>
                        </a:rPr>
                        <a:t>ተ.ቁ</a:t>
                      </a:r>
                      <a:r>
                        <a:rPr lang="am-ET" sz="1400" b="0" i="0" u="none" strike="noStrike" baseline="0" dirty="0" smtClean="0">
                          <a:solidFill>
                            <a:srgbClr val="000000"/>
                          </a:solidFill>
                          <a:latin typeface="Visual Geez Unicode"/>
                        </a:rPr>
                        <a:t> 	</a:t>
                      </a:r>
                      <a:r>
                        <a:rPr lang="en-US" sz="1400" b="0" i="0" u="none" strike="noStrike" baseline="0" dirty="0" smtClean="0">
                          <a:solidFill>
                            <a:srgbClr val="000000"/>
                          </a:solidFill>
                          <a:latin typeface="Power Geez Unicode1" pitchFamily="2" charset="0"/>
                        </a:rPr>
                        <a:t> </a:t>
                      </a:r>
                      <a:endParaRPr lang="am-ET" sz="1400" b="0" i="0" u="none" strike="noStrike" baseline="0" dirty="0" smtClean="0">
                        <a:solidFill>
                          <a:srgbClr val="000000"/>
                        </a:solidFill>
                        <a:latin typeface="Visual Geez Unicode"/>
                      </a:endParaRPr>
                    </a:p>
                  </a:txBody>
                  <a:tcPr/>
                </a:tc>
                <a:tc>
                  <a:txBody>
                    <a:bodyPr/>
                    <a:lstStyle/>
                    <a:p>
                      <a:r>
                        <a:rPr lang="en-US" sz="1800" b="1" i="0" u="none" strike="noStrike" baseline="0" dirty="0" err="1" smtClean="0">
                          <a:solidFill>
                            <a:srgbClr val="FF0000"/>
                          </a:solidFill>
                          <a:latin typeface="Power Geez Unicode1" pitchFamily="2" charset="0"/>
                        </a:rPr>
                        <a:t>የጥፋት</a:t>
                      </a:r>
                      <a:r>
                        <a:rPr lang="en-US" sz="1800" b="1" i="0" u="none" strike="noStrike" baseline="0" dirty="0" smtClean="0">
                          <a:solidFill>
                            <a:srgbClr val="FF0000"/>
                          </a:solidFill>
                          <a:latin typeface="Power Geez Unicode1" pitchFamily="2" charset="0"/>
                        </a:rPr>
                        <a:t> </a:t>
                      </a:r>
                      <a:r>
                        <a:rPr lang="en-US" sz="1800" b="1" i="0" u="none" strike="noStrike" baseline="0" dirty="0" err="1" smtClean="0">
                          <a:solidFill>
                            <a:srgbClr val="FF0000"/>
                          </a:solidFill>
                          <a:latin typeface="Power Geez Unicode1" pitchFamily="2" charset="0"/>
                        </a:rPr>
                        <a:t>አይነቶች</a:t>
                      </a:r>
                      <a:endParaRPr lang="am-ET" sz="1800" b="1" i="0" u="none" strike="noStrike" baseline="0" dirty="0" smtClean="0">
                        <a:solidFill>
                          <a:srgbClr val="FF0000"/>
                        </a:solidFill>
                        <a:latin typeface="Visual Geez Unicode"/>
                      </a:endParaRPr>
                    </a:p>
                  </a:txBody>
                  <a:tcPr/>
                </a:tc>
                <a:tc>
                  <a:txBody>
                    <a:bodyPr/>
                    <a:lstStyle/>
                    <a:p>
                      <a:pPr algn="just"/>
                      <a:r>
                        <a:rPr lang="en-US" sz="1800" b="1" i="0" u="none" strike="noStrike" baseline="0" dirty="0" err="1" smtClean="0">
                          <a:solidFill>
                            <a:srgbClr val="000000"/>
                          </a:solidFill>
                          <a:latin typeface="Power Geez Unicode1" pitchFamily="2" charset="0"/>
                        </a:rPr>
                        <a:t>ቀድሞ</a:t>
                      </a:r>
                      <a:r>
                        <a:rPr lang="en-US" sz="1800" b="1" i="0" u="none" strike="noStrike" baseline="0" dirty="0" smtClean="0">
                          <a:solidFill>
                            <a:srgbClr val="000000"/>
                          </a:solidFill>
                          <a:latin typeface="Power Geez Unicode1" pitchFamily="2" charset="0"/>
                        </a:rPr>
                        <a:t> በነበረው150/2015 </a:t>
                      </a:r>
                      <a:r>
                        <a:rPr lang="en-US" sz="1800" b="1" i="0" u="none" strike="noStrike" baseline="0" dirty="0" err="1" smtClean="0">
                          <a:solidFill>
                            <a:srgbClr val="000000"/>
                          </a:solidFill>
                          <a:latin typeface="Power Geez Unicode1" pitchFamily="2" charset="0"/>
                        </a:rPr>
                        <a:t>የተቀመጠ</a:t>
                      </a:r>
                      <a:r>
                        <a:rPr lang="en-US" sz="1800" b="1" i="0" u="none" strike="noStrike" baseline="0" dirty="0" smtClean="0">
                          <a:solidFill>
                            <a:srgbClr val="000000"/>
                          </a:solidFill>
                          <a:latin typeface="Power Geez Unicode1" pitchFamily="2" charset="0"/>
                        </a:rPr>
                        <a:t> </a:t>
                      </a:r>
                      <a:r>
                        <a:rPr lang="en-US" sz="1800" b="1" i="0" u="none" strike="noStrike" baseline="0" dirty="0" err="1" smtClean="0">
                          <a:solidFill>
                            <a:srgbClr val="000000"/>
                          </a:solidFill>
                          <a:latin typeface="Power Geez Unicode1" pitchFamily="2" charset="0"/>
                        </a:rPr>
                        <a:t>ቅጣት</a:t>
                      </a:r>
                      <a:endParaRPr lang="am-ET" sz="1800" b="1" i="0" u="none" strike="noStrike" baseline="0" dirty="0" smtClean="0">
                        <a:solidFill>
                          <a:srgbClr val="000000"/>
                        </a:solidFill>
                        <a:latin typeface="Visual Geez Unicode"/>
                      </a:endParaRPr>
                    </a:p>
                  </a:txBody>
                  <a:tcPr/>
                </a:tc>
                <a:tc>
                  <a:txBody>
                    <a:bodyPr/>
                    <a:lstStyle/>
                    <a:p>
                      <a:pPr algn="just"/>
                      <a:r>
                        <a:rPr lang="en-US" sz="1800" b="1" i="0" u="none" strike="noStrike" baseline="0" dirty="0" err="1" smtClean="0">
                          <a:solidFill>
                            <a:srgbClr val="000000"/>
                          </a:solidFill>
                          <a:latin typeface="Power Geez Unicode1" pitchFamily="2" charset="0"/>
                        </a:rPr>
                        <a:t>አሁን</a:t>
                      </a:r>
                      <a:r>
                        <a:rPr lang="en-US" sz="1800" b="1" i="0" u="none" strike="noStrike" baseline="0" dirty="0" smtClean="0">
                          <a:solidFill>
                            <a:srgbClr val="000000"/>
                          </a:solidFill>
                          <a:latin typeface="Power Geez Unicode1" pitchFamily="2" charset="0"/>
                        </a:rPr>
                        <a:t> </a:t>
                      </a:r>
                      <a:r>
                        <a:rPr lang="en-US" sz="1800" b="1" i="0" u="none" strike="noStrike" baseline="0" dirty="0" err="1" smtClean="0">
                          <a:solidFill>
                            <a:srgbClr val="000000"/>
                          </a:solidFill>
                          <a:latin typeface="Power Geez Unicode1" pitchFamily="2" charset="0"/>
                        </a:rPr>
                        <a:t>በተሸሻለው</a:t>
                      </a:r>
                      <a:r>
                        <a:rPr lang="en-US" sz="1800" b="1" i="0" u="none" strike="noStrike" baseline="0" dirty="0" smtClean="0">
                          <a:solidFill>
                            <a:srgbClr val="000000"/>
                          </a:solidFill>
                          <a:latin typeface="Power Geez Unicode1" pitchFamily="2" charset="0"/>
                        </a:rPr>
                        <a:t> 167/16 </a:t>
                      </a:r>
                      <a:r>
                        <a:rPr lang="en-US" sz="1800" b="1" i="0" u="none" strike="noStrike" baseline="0" dirty="0" err="1" smtClean="0">
                          <a:solidFill>
                            <a:srgbClr val="000000"/>
                          </a:solidFill>
                          <a:latin typeface="Power Geez Unicode1" pitchFamily="2" charset="0"/>
                        </a:rPr>
                        <a:t>የተቀመጠ</a:t>
                      </a:r>
                      <a:r>
                        <a:rPr lang="en-US" sz="1800" b="1" i="0" u="none" strike="noStrike" baseline="0" dirty="0" smtClean="0">
                          <a:solidFill>
                            <a:srgbClr val="000000"/>
                          </a:solidFill>
                          <a:latin typeface="Power Geez Unicode1" pitchFamily="2" charset="0"/>
                        </a:rPr>
                        <a:t> </a:t>
                      </a:r>
                      <a:r>
                        <a:rPr lang="en-US" sz="1800" b="1" i="0" u="none" strike="noStrike" baseline="0" dirty="0" err="1" smtClean="0">
                          <a:solidFill>
                            <a:srgbClr val="000000"/>
                          </a:solidFill>
                          <a:latin typeface="Power Geez Unicode1" pitchFamily="2" charset="0"/>
                        </a:rPr>
                        <a:t>ቅጣት</a:t>
                      </a:r>
                      <a:endParaRPr lang="am-ET" sz="1800" b="1" i="0" u="none" strike="noStrike" baseline="0" dirty="0" smtClean="0">
                        <a:solidFill>
                          <a:srgbClr val="000000"/>
                        </a:solidFill>
                        <a:latin typeface="Visual Geez Unicode"/>
                      </a:endParaRPr>
                    </a:p>
                  </a:txBody>
                  <a:tcPr/>
                </a:tc>
                <a:tc>
                  <a:txBody>
                    <a:bodyPr/>
                    <a:lstStyle/>
                    <a:p>
                      <a:r>
                        <a:rPr lang="en-US" sz="1600" dirty="0" err="1" smtClean="0">
                          <a:solidFill>
                            <a:schemeClr val="tx1"/>
                          </a:solidFill>
                          <a:latin typeface="Power Geez Unicode1" pitchFamily="2" charset="0"/>
                        </a:rPr>
                        <a:t>ከህገ</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ወጥ</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ፈፃሚው</a:t>
                      </a:r>
                      <a:r>
                        <a:rPr lang="en-US" sz="1600" baseline="0" dirty="0" smtClean="0">
                          <a:solidFill>
                            <a:schemeClr val="tx1"/>
                          </a:solidFill>
                          <a:latin typeface="Power Geez Unicode1" pitchFamily="2" charset="0"/>
                        </a:rPr>
                        <a:t> </a:t>
                      </a:r>
                      <a:r>
                        <a:rPr lang="en-US" sz="1600" baseline="0" dirty="0" err="1" smtClean="0">
                          <a:solidFill>
                            <a:schemeClr val="tx1"/>
                          </a:solidFill>
                          <a:latin typeface="Power Geez Unicode1" pitchFamily="2" charset="0"/>
                        </a:rPr>
                        <a:t>የሚጠበቅ</a:t>
                      </a:r>
                      <a:endParaRPr lang="en-US" sz="1600" dirty="0">
                        <a:solidFill>
                          <a:schemeClr val="tx1"/>
                        </a:solidFill>
                        <a:latin typeface="Power Geez Unicode1" pitchFamily="2" charset="0"/>
                      </a:endParaRPr>
                    </a:p>
                  </a:txBody>
                  <a:tcPr/>
                </a:tc>
              </a:tr>
              <a:tr h="5318760">
                <a:tc>
                  <a:txBody>
                    <a:bodyPr/>
                    <a:lstStyle/>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r>
                        <a:rPr lang="en-US" sz="2400" dirty="0" smtClean="0">
                          <a:latin typeface="Power Geez Unicode1" pitchFamily="2" charset="0"/>
                        </a:rPr>
                        <a:t>35</a:t>
                      </a: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r>
                        <a:rPr lang="en-US" sz="2400" dirty="0" smtClean="0">
                          <a:latin typeface="Power Geez Unicode1" pitchFamily="2" charset="0"/>
                        </a:rPr>
                        <a:t>36</a:t>
                      </a: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endParaRPr lang="en-US" sz="1800" b="0"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am-ET" sz="1800" b="0"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rgbClr val="FF0000"/>
                          </a:solidFill>
                          <a:latin typeface="+mn-lt"/>
                          <a:ea typeface="+mn-ea"/>
                          <a:cs typeface="+mn-cs"/>
                        </a:rPr>
                        <a:t>ማንኛውም ሰው ለግንባታ መከለያ </a:t>
                      </a:r>
                      <a:r>
                        <a:rPr lang="am-ET" sz="1800" b="1" i="0" u="none" strike="noStrike" kern="1200" baseline="0" dirty="0" smtClean="0">
                          <a:solidFill>
                            <a:schemeClr val="dk1"/>
                          </a:solidFill>
                          <a:latin typeface="+mn-lt"/>
                          <a:ea typeface="+mn-ea"/>
                          <a:cs typeface="+mn-cs"/>
                        </a:rPr>
                        <a:t>በታጠረ አጥር </a:t>
                      </a:r>
                      <a:r>
                        <a:rPr lang="am-ET" sz="1800" b="1" i="0" u="none" strike="noStrike" kern="1200" baseline="0" dirty="0" smtClean="0">
                          <a:solidFill>
                            <a:srgbClr val="FF0000"/>
                          </a:solidFill>
                          <a:latin typeface="+mn-lt"/>
                          <a:ea typeface="+mn-ea"/>
                          <a:cs typeface="+mn-cs"/>
                        </a:rPr>
                        <a:t>ወይም በሕንጻ አጥር </a:t>
                      </a:r>
                      <a:r>
                        <a:rPr lang="am-ET" sz="1800" b="1" i="0" u="none" strike="noStrike" kern="1200" baseline="0" dirty="0" smtClean="0">
                          <a:solidFill>
                            <a:schemeClr val="dk1"/>
                          </a:solidFill>
                          <a:latin typeface="+mn-lt"/>
                          <a:ea typeface="+mn-ea"/>
                          <a:cs typeface="+mn-cs"/>
                        </a:rPr>
                        <a:t>ላይ ስዕል የሳለ ወይም ጽሁፍ የጻፈ፣ </a:t>
                      </a:r>
                      <a:r>
                        <a:rPr lang="am-ET" sz="1800" b="1" i="0" u="none" strike="noStrike" kern="1200" baseline="0" dirty="0" smtClean="0">
                          <a:solidFill>
                            <a:srgbClr val="FF0000"/>
                          </a:solidFill>
                          <a:latin typeface="+mn-lt"/>
                          <a:ea typeface="+mn-ea"/>
                          <a:cs typeface="+mn-cs"/>
                        </a:rPr>
                        <a:t>ማስታወቂያ</a:t>
                      </a:r>
                      <a:r>
                        <a:rPr lang="am-ET" sz="1800" b="1" i="0" u="none" strike="noStrike" kern="1200" baseline="0" dirty="0" smtClean="0">
                          <a:solidFill>
                            <a:schemeClr val="dk1"/>
                          </a:solidFill>
                          <a:latin typeface="+mn-lt"/>
                          <a:ea typeface="+mn-ea"/>
                          <a:cs typeface="+mn-cs"/>
                        </a:rPr>
                        <a:t> ወይም ጽሁፍ የለጠፈ፣ ያንጠለጠለ፣ በኤሌክትሪክ ወይም በስልክ ምሶሶ፣ በድልድይ ስር ምሶሶ፤ በአፈር መደገፊያ ግንብ፣ ለግንባታ መከለያ በታጠረ አጥር፣ በሕንጻ አጥር ላይ ማስታወቂያ ወይም ጽሁፍ የለጠፈ</a:t>
                      </a: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chemeClr val="dk1"/>
                          </a:solidFill>
                          <a:latin typeface="+mn-lt"/>
                          <a:ea typeface="+mn-ea"/>
                          <a:cs typeface="+mn-cs"/>
                        </a:rPr>
                        <a:t> </a:t>
                      </a:r>
                      <a:r>
                        <a:rPr lang="am-ET" sz="1800" b="0" i="0" u="none" strike="noStrike" kern="1200" baseline="0" dirty="0" smtClean="0">
                          <a:solidFill>
                            <a:schemeClr val="dk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r>
                        <a:rPr lang="am-ET" sz="1800" b="0" i="0" u="none" strike="noStrike" kern="1200" baseline="0" dirty="0" smtClean="0">
                          <a:solidFill>
                            <a:schemeClr val="dk1"/>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r>
                        <a:rPr lang="am-ET" sz="2000" b="1" i="0" u="none" strike="noStrike" kern="1200" baseline="0" dirty="0" smtClean="0">
                          <a:solidFill>
                            <a:srgbClr val="7030A0"/>
                          </a:solidFill>
                          <a:latin typeface="+mn-lt"/>
                          <a:ea typeface="+mn-ea"/>
                          <a:cs typeface="+mn-cs"/>
                        </a:rPr>
                        <a:t>መኪና ባልተፈቀደ ቦታ በማጠብ ወይም በማሳጠብ አካባቢው እንዲቆሽሽ ያደረገ ማንኛውም ሰው፤ </a:t>
                      </a:r>
                      <a:r>
                        <a:rPr lang="am-ET" sz="2000" b="1" i="0" u="none" strike="noStrike" kern="1200" baseline="0" dirty="0" smtClean="0">
                          <a:solidFill>
                            <a:schemeClr val="dk1"/>
                          </a:solidFill>
                          <a:latin typeface="+mn-lt"/>
                          <a:ea typeface="+mn-ea"/>
                          <a:cs typeface="+mn-cs"/>
                        </a:rPr>
                        <a:t>	</a:t>
                      </a:r>
                    </a:p>
                    <a:p>
                      <a:endParaRPr lang="en-US" sz="1800" b="0" i="0" u="none" strike="noStrike" kern="1200" baseline="0" dirty="0" smtClean="0">
                        <a:solidFill>
                          <a:schemeClr val="dk1"/>
                        </a:solidFill>
                        <a:latin typeface="+mn-lt"/>
                        <a:ea typeface="+mn-ea"/>
                        <a:cs typeface="+mn-cs"/>
                      </a:endParaRPr>
                    </a:p>
                  </a:txBody>
                  <a:tcPr>
                    <a:lnB w="12700" cap="flat" cmpd="sng" algn="ctr">
                      <a:solidFill>
                        <a:schemeClr val="tx1"/>
                      </a:solidFill>
                      <a:prstDash val="solid"/>
                      <a:round/>
                      <a:headEnd type="none" w="med" len="med"/>
                      <a:tailEnd type="none" w="med" len="med"/>
                    </a:lnB>
                  </a:tcPr>
                </a:tc>
                <a:tc>
                  <a:txBody>
                    <a:bodyPr/>
                    <a:lstStyle/>
                    <a:p>
                      <a:r>
                        <a:rPr lang="en-US" sz="2400" dirty="0" smtClean="0">
                          <a:latin typeface="Power Geez Unicode1" pitchFamily="2" charset="0"/>
                        </a:rPr>
                        <a:t> </a:t>
                      </a:r>
                    </a:p>
                    <a:p>
                      <a:endParaRPr lang="en-US" sz="2400" b="1" dirty="0" smtClean="0">
                        <a:latin typeface="Power Geez Unicode1" pitchFamily="2" charset="0"/>
                      </a:endParaRPr>
                    </a:p>
                    <a:p>
                      <a:r>
                        <a:rPr lang="en-US" sz="2400" b="1" dirty="0" err="1" smtClean="0">
                          <a:solidFill>
                            <a:srgbClr val="FF0000"/>
                          </a:solidFill>
                          <a:latin typeface="Power Geez Unicode1" pitchFamily="2" charset="0"/>
                        </a:rPr>
                        <a:t>አዲስ</a:t>
                      </a:r>
                      <a:r>
                        <a:rPr lang="en-US" sz="2400" b="1" dirty="0" smtClean="0">
                          <a:solidFill>
                            <a:srgbClr val="FF0000"/>
                          </a:solidFill>
                          <a:latin typeface="Power Geez Unicode1" pitchFamily="2" charset="0"/>
                        </a:rPr>
                        <a:t> </a:t>
                      </a:r>
                      <a:r>
                        <a:rPr lang="en-US" sz="2400" b="1" dirty="0" err="1" smtClean="0">
                          <a:solidFill>
                            <a:srgbClr val="FF0000"/>
                          </a:solidFill>
                          <a:latin typeface="Power Geez Unicode1" pitchFamily="2" charset="0"/>
                        </a:rPr>
                        <a:t>የገባ</a:t>
                      </a:r>
                      <a:r>
                        <a:rPr lang="en-US" sz="2400" b="1" baseline="0" dirty="0" smtClean="0">
                          <a:latin typeface="Power Geez Unicode1" pitchFamily="2" charset="0"/>
                        </a:rPr>
                        <a:t> </a:t>
                      </a:r>
                    </a:p>
                    <a:p>
                      <a:endParaRPr lang="en-US" sz="2400" b="1" baseline="0" dirty="0" smtClean="0">
                        <a:latin typeface="Power Geez Unicode1" pitchFamily="2" charset="0"/>
                      </a:endParaRPr>
                    </a:p>
                    <a:p>
                      <a:endParaRPr lang="en-US" sz="2400" b="1" baseline="0" dirty="0" smtClean="0">
                        <a:latin typeface="Power Geez Unicode1" pitchFamily="2" charset="0"/>
                      </a:endParaRPr>
                    </a:p>
                    <a:p>
                      <a:endParaRPr lang="en-US" sz="2400" b="1" baseline="0" dirty="0" smtClean="0">
                        <a:latin typeface="Power Geez Unicode1" pitchFamily="2" charset="0"/>
                      </a:endParaRPr>
                    </a:p>
                    <a:p>
                      <a:endParaRPr lang="en-US" sz="2400" b="1" baseline="0" dirty="0" smtClean="0">
                        <a:latin typeface="Power Geez Unicode1" pitchFamily="2" charset="0"/>
                      </a:endParaRPr>
                    </a:p>
                    <a:p>
                      <a:endParaRPr lang="en-US" sz="2400" b="1" baseline="0" dirty="0" smtClean="0">
                        <a:latin typeface="Power Geez Unicode1" pitchFamily="2" charset="0"/>
                      </a:endParaRPr>
                    </a:p>
                    <a:p>
                      <a:endParaRPr lang="en-US" sz="2400" b="1" baseline="0" dirty="0" smtClean="0">
                        <a:latin typeface="Power Geez Unicode1" pitchFamily="2" charset="0"/>
                      </a:endParaRPr>
                    </a:p>
                    <a:p>
                      <a:r>
                        <a:rPr lang="en-US" sz="2400" b="1" dirty="0" err="1" smtClean="0">
                          <a:solidFill>
                            <a:srgbClr val="FF0000"/>
                          </a:solidFill>
                          <a:latin typeface="Power Geez Unicode1" pitchFamily="2" charset="0"/>
                        </a:rPr>
                        <a:t>አዲስ</a:t>
                      </a:r>
                      <a:endParaRPr lang="en-US" sz="2400" b="1" dirty="0" smtClean="0">
                        <a:solidFill>
                          <a:srgbClr val="FF0000"/>
                        </a:solidFill>
                        <a:latin typeface="Power Geez Unicode1" pitchFamily="2" charset="0"/>
                      </a:endParaRPr>
                    </a:p>
                    <a:p>
                      <a:r>
                        <a:rPr lang="en-US" sz="2400" b="1" dirty="0" err="1" smtClean="0">
                          <a:solidFill>
                            <a:srgbClr val="FF0000"/>
                          </a:solidFill>
                          <a:latin typeface="Power Geez Unicode1" pitchFamily="2" charset="0"/>
                        </a:rPr>
                        <a:t>የገባ</a:t>
                      </a:r>
                      <a:endParaRPr lang="en-US" sz="2400" b="1" dirty="0" smtClean="0">
                        <a:latin typeface="Power Geez Unicode1" pitchFamily="2" charset="0"/>
                      </a:endParaRPr>
                    </a:p>
                  </a:txBody>
                  <a:tcPr>
                    <a:lnB w="12700" cap="flat" cmpd="sng" algn="ctr">
                      <a:solidFill>
                        <a:schemeClr val="tx1"/>
                      </a:solidFill>
                      <a:prstDash val="solid"/>
                      <a:round/>
                      <a:headEnd type="none" w="med" len="med"/>
                      <a:tailEnd type="none" w="med" len="med"/>
                    </a:lnB>
                  </a:tcPr>
                </a:tc>
                <a:tc>
                  <a:txBody>
                    <a:bodyPr/>
                    <a:lstStyle/>
                    <a:p>
                      <a:endParaRPr lang="en-US" sz="1800" b="1" dirty="0" smtClean="0">
                        <a:latin typeface="Power Geez Unicode1" pitchFamily="2"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2000" b="1" i="0" u="none" strike="noStrike" kern="1200" baseline="0" dirty="0" smtClean="0">
                          <a:solidFill>
                            <a:schemeClr val="dk1"/>
                          </a:solidFill>
                          <a:latin typeface="+mn-lt"/>
                          <a:ea typeface="+mn-ea"/>
                          <a:cs typeface="+mn-cs"/>
                        </a:rPr>
                        <a:t>ለግለሰብ ብር 2000 	</a:t>
                      </a:r>
                    </a:p>
                    <a:p>
                      <a:endParaRPr lang="en-US" sz="1800" b="0"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am-ET"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r>
                        <a:rPr lang="am-ET" sz="2000" b="1" i="0" u="none" strike="noStrike" kern="1200" baseline="0" dirty="0" smtClean="0">
                          <a:solidFill>
                            <a:schemeClr val="dk1"/>
                          </a:solidFill>
                          <a:latin typeface="+mn-lt"/>
                          <a:ea typeface="+mn-ea"/>
                          <a:cs typeface="+mn-cs"/>
                        </a:rPr>
                        <a:t>ለድርጅት ብር 25000 </a:t>
                      </a:r>
                      <a:r>
                        <a:rPr lang="am-ET" sz="1800" b="0" i="0" u="none" strike="noStrike" kern="1200" baseline="0" dirty="0" smtClean="0">
                          <a:solidFill>
                            <a:schemeClr val="dk1"/>
                          </a:solidFill>
                          <a:latin typeface="+mn-lt"/>
                          <a:ea typeface="+mn-ea"/>
                          <a:cs typeface="+mn-cs"/>
                        </a:rPr>
                        <a:t>	</a:t>
                      </a: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rgbClr val="FF0000"/>
                          </a:solidFill>
                          <a:latin typeface="+mn-lt"/>
                          <a:ea typeface="+mn-ea"/>
                          <a:cs typeface="+mn-cs"/>
                        </a:rPr>
                        <a:t>ያጠበ</a:t>
                      </a:r>
                      <a:r>
                        <a:rPr lang="am-ET" sz="1800" b="1" i="0" u="none" strike="noStrike" kern="1200" baseline="0" dirty="0" smtClean="0">
                          <a:solidFill>
                            <a:srgbClr val="7030A0"/>
                          </a:solidFill>
                          <a:latin typeface="+mn-lt"/>
                          <a:ea typeface="+mn-ea"/>
                          <a:cs typeface="+mn-cs"/>
                        </a:rPr>
                        <a:t> ብር </a:t>
                      </a:r>
                      <a:r>
                        <a:rPr lang="am-ET" sz="1800" b="1" i="0" u="none" strike="noStrike" kern="1200" baseline="0" dirty="0" smtClean="0">
                          <a:solidFill>
                            <a:srgbClr val="002060"/>
                          </a:solidFill>
                          <a:latin typeface="+mn-lt"/>
                          <a:ea typeface="+mn-ea"/>
                          <a:cs typeface="+mn-cs"/>
                        </a:rPr>
                        <a:t>2</a:t>
                      </a:r>
                      <a:r>
                        <a:rPr lang="en-US" sz="1800" b="1" i="0" u="none" strike="noStrike" kern="1200" baseline="0" dirty="0" smtClean="0">
                          <a:solidFill>
                            <a:srgbClr val="002060"/>
                          </a:solidFill>
                          <a:latin typeface="+mn-lt"/>
                          <a:ea typeface="+mn-ea"/>
                          <a:cs typeface="+mn-cs"/>
                        </a:rPr>
                        <a:t>.</a:t>
                      </a:r>
                      <a:r>
                        <a:rPr lang="am-ET" sz="1800" b="1" i="0" u="none" strike="noStrike" kern="1200" baseline="0" dirty="0" smtClean="0">
                          <a:solidFill>
                            <a:srgbClr val="002060"/>
                          </a:solidFill>
                          <a:latin typeface="+mn-lt"/>
                          <a:ea typeface="+mn-ea"/>
                          <a:cs typeface="+mn-cs"/>
                        </a:rPr>
                        <a:t>000.00 </a:t>
                      </a:r>
                    </a:p>
                    <a:p>
                      <a:pPr algn="just"/>
                      <a:r>
                        <a:rPr lang="am-ET" sz="1800" b="1" i="0" u="none" strike="noStrike" kern="1200" baseline="0" dirty="0" smtClean="0">
                          <a:solidFill>
                            <a:srgbClr val="FF0000"/>
                          </a:solidFill>
                          <a:latin typeface="+mn-lt"/>
                          <a:ea typeface="+mn-ea"/>
                          <a:cs typeface="+mn-cs"/>
                        </a:rPr>
                        <a:t>ያሳጠበ</a:t>
                      </a:r>
                      <a:r>
                        <a:rPr lang="am-ET" sz="1800" b="1" i="0" u="none" strike="noStrike" kern="1200" baseline="0" dirty="0" smtClean="0">
                          <a:solidFill>
                            <a:srgbClr val="7030A0"/>
                          </a:solidFill>
                          <a:latin typeface="+mn-lt"/>
                          <a:ea typeface="+mn-ea"/>
                          <a:cs typeface="+mn-cs"/>
                        </a:rPr>
                        <a:t> ብር </a:t>
                      </a:r>
                      <a:r>
                        <a:rPr lang="am-ET" sz="1800" b="1" i="0" u="none" strike="noStrike" kern="1200" baseline="0" dirty="0" smtClean="0">
                          <a:solidFill>
                            <a:srgbClr val="002060"/>
                          </a:solidFill>
                          <a:latin typeface="+mn-lt"/>
                          <a:ea typeface="+mn-ea"/>
                          <a:cs typeface="+mn-cs"/>
                        </a:rPr>
                        <a:t>20,000.00</a:t>
                      </a:r>
                      <a:r>
                        <a:rPr lang="am-ET" sz="1800" b="1" i="0" u="none" strike="noStrike" kern="1200" baseline="0" dirty="0" smtClean="0">
                          <a:solidFill>
                            <a:srgbClr val="7030A0"/>
                          </a:solidFill>
                          <a:latin typeface="+mn-lt"/>
                          <a:ea typeface="+mn-ea"/>
                          <a:cs typeface="+mn-cs"/>
                        </a:rPr>
                        <a:t> </a:t>
                      </a:r>
                      <a:r>
                        <a:rPr lang="am-ET" sz="1800" b="0" i="0" u="none" strike="noStrike" kern="1200" baseline="0" dirty="0" smtClean="0">
                          <a:solidFill>
                            <a:srgbClr val="7030A0"/>
                          </a:solidFill>
                          <a:latin typeface="+mn-lt"/>
                          <a:ea typeface="+mn-ea"/>
                          <a:cs typeface="+mn-cs"/>
                        </a:rPr>
                        <a:t>	</a:t>
                      </a: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chemeClr val="dk1"/>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 </a:t>
                      </a:r>
                    </a:p>
                    <a:p>
                      <a:pPr algn="just"/>
                      <a:r>
                        <a:rPr lang="am-ET" sz="1800" b="0" i="0" u="none" strike="noStrike" kern="1200" baseline="0" dirty="0" smtClean="0">
                          <a:solidFill>
                            <a:schemeClr val="dk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algn="just"/>
                      <a:endParaRPr lang="en-US" sz="1800" b="1" i="0" u="none" strike="noStrike" kern="1200" baseline="0" dirty="0" smtClean="0">
                        <a:solidFill>
                          <a:srgbClr val="FF0000"/>
                        </a:solidFill>
                        <a:latin typeface="+mn-lt"/>
                        <a:ea typeface="+mn-ea"/>
                        <a:cs typeface="+mn-cs"/>
                      </a:endParaRPr>
                    </a:p>
                    <a:p>
                      <a:pPr algn="just"/>
                      <a:r>
                        <a:rPr lang="am-ET" sz="1800" b="1" i="0" u="none" strike="noStrike" kern="1200" baseline="0" dirty="0" smtClean="0">
                          <a:solidFill>
                            <a:schemeClr val="dk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am-ET" sz="1800" b="1" i="0" u="none" strike="noStrike" kern="1200" baseline="0" dirty="0" smtClean="0">
                        <a:solidFill>
                          <a:schemeClr val="dk1"/>
                        </a:solidFill>
                        <a:latin typeface="+mn-lt"/>
                        <a:ea typeface="+mn-ea"/>
                        <a:cs typeface="+mn-cs"/>
                      </a:endParaRPr>
                    </a:p>
                  </a:txBody>
                  <a:tcPr>
                    <a:lnB w="12700" cap="flat" cmpd="sng" algn="ctr">
                      <a:solidFill>
                        <a:schemeClr val="tx1"/>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900" b="1" kern="1200" dirty="0" smtClean="0">
                        <a:solidFill>
                          <a:schemeClr val="dk1"/>
                        </a:solidFill>
                        <a:effectLst/>
                        <a:latin typeface="Power Geez Unicode1" pitchFamily="2" charset="0"/>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1"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rgbClr val="FF0000"/>
                          </a:solidFill>
                          <a:latin typeface="+mn-lt"/>
                          <a:ea typeface="+mn-ea"/>
                          <a:cs typeface="+mn-cs"/>
                        </a:rPr>
                        <a:t> </a:t>
                      </a:r>
                      <a:endParaRPr lang="en-US" sz="1800" b="1" i="0" u="none" strike="noStrike" kern="1200" baseline="0" dirty="0" smtClean="0">
                        <a:solidFill>
                          <a:srgbClr val="FF0000"/>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rgbClr val="7030A0"/>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r>
                        <a:rPr lang="am-ET" sz="2000" b="1" i="0" u="none" strike="noStrike" kern="1200" baseline="0" dirty="0" smtClean="0">
                          <a:solidFill>
                            <a:schemeClr val="dk1"/>
                          </a:solidFill>
                          <a:latin typeface="+mn-lt"/>
                          <a:ea typeface="+mn-ea"/>
                          <a:cs typeface="+mn-cs"/>
                        </a:rPr>
                        <a:t>በሰንጠረዡ የተቀመጠውን የቅጣት ክፍያ መጠን መክፈል </a:t>
                      </a:r>
                      <a:r>
                        <a:rPr lang="am-ET" sz="1800" b="0" i="0" u="none" strike="noStrike" kern="1200" baseline="0" dirty="0" smtClean="0">
                          <a:solidFill>
                            <a:schemeClr val="dk1"/>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0"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0"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0"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b="0" i="0" u="none" strike="noStrike" kern="1200" baseline="0" dirty="0" smtClean="0">
                        <a:solidFill>
                          <a:schemeClr val="dk1"/>
                        </a:solidFill>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1" i="0" u="none" strike="noStrike" kern="1200" baseline="0" dirty="0" smtClean="0">
                          <a:solidFill>
                            <a:srgbClr val="7030A0"/>
                          </a:solidFill>
                          <a:latin typeface="+mn-lt"/>
                          <a:ea typeface="+mn-ea"/>
                          <a:cs typeface="+mn-cs"/>
                        </a:rPr>
                        <a:t>በሰንጠረዡ የተቀመጠውን የቅጣትና አካባቢውን ማጽዳት </a:t>
                      </a:r>
                      <a:r>
                        <a:rPr lang="am-ET" sz="1800" b="0" i="0" u="none" strike="noStrike" kern="1200" baseline="0" dirty="0" smtClean="0">
                          <a:solidFill>
                            <a:schemeClr val="dk1"/>
                          </a:solidFill>
                          <a:latin typeface="+mn-lt"/>
                          <a:ea typeface="+mn-ea"/>
                          <a:cs typeface="+mn-cs"/>
                        </a:rPr>
                        <a:t>	</a:t>
                      </a:r>
                    </a:p>
                    <a:p>
                      <a:pPr marL="0" marR="0" indent="0" algn="just" defTabSz="914400" rtl="0" eaLnBrk="1" fontAlgn="auto" latinLnBrk="0" hangingPunct="1">
                        <a:lnSpc>
                          <a:spcPct val="100000"/>
                        </a:lnSpc>
                        <a:spcBef>
                          <a:spcPts val="0"/>
                        </a:spcBef>
                        <a:spcAft>
                          <a:spcPts val="0"/>
                        </a:spcAft>
                        <a:buClrTx/>
                        <a:buSzTx/>
                        <a:buFontTx/>
                        <a:buNone/>
                        <a:tabLst/>
                        <a:defRPr/>
                      </a:pPr>
                      <a:r>
                        <a:rPr lang="am-ET" sz="1800" b="0" i="0" u="none" strike="noStrike" kern="1200" baseline="0" dirty="0" smtClean="0">
                          <a:solidFill>
                            <a:schemeClr val="dk1"/>
                          </a:solidFill>
                          <a:latin typeface="+mn-lt"/>
                          <a:ea typeface="+mn-ea"/>
                          <a:cs typeface="+mn-cs"/>
                        </a:rPr>
                        <a:t>	</a:t>
                      </a:r>
                    </a:p>
                  </a:txBody>
                  <a:tcPr>
                    <a:lnB w="12700" cap="flat" cmpd="sng" algn="ctr">
                      <a:solidFill>
                        <a:schemeClr val="tx1"/>
                      </a:solidFill>
                      <a:prstDash val="solid"/>
                      <a:round/>
                      <a:headEnd type="none" w="med" len="med"/>
                      <a:tailEnd type="none" w="med" len="med"/>
                    </a:lnB>
                  </a:tcPr>
                </a:tc>
              </a:tr>
              <a:tr h="2024856">
                <a:tc>
                  <a:txBody>
                    <a:bodyPr/>
                    <a:lstStyle/>
                    <a:p>
                      <a:endParaRPr lang="en-US" sz="2400" dirty="0" smtClean="0">
                        <a:latin typeface="Power Geez Unicode1" pitchFamily="2" charset="0"/>
                      </a:endParaRPr>
                    </a:p>
                    <a:p>
                      <a:endParaRPr lang="en-US" sz="2400" dirty="0">
                        <a:latin typeface="Power Geez Unicode1" pitchFamily="2" charset="0"/>
                      </a:endParaRPr>
                    </a:p>
                    <a:p>
                      <a:endParaRPr lang="en-US" sz="2400" dirty="0" smtClean="0">
                        <a:latin typeface="Power Geez Unicode1" pitchFamily="2" charset="0"/>
                      </a:endParaRPr>
                    </a:p>
                    <a:p>
                      <a:endParaRPr lang="en-US" sz="24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am-ET" sz="2400" b="1" i="0" u="none" strike="noStrike" kern="1200" baseline="0" dirty="0" smtClean="0">
                          <a:solidFill>
                            <a:schemeClr val="dk1"/>
                          </a:solidFill>
                          <a:latin typeface="+mn-lt"/>
                          <a:ea typeface="+mn-ea"/>
                          <a:cs typeface="+mn-cs"/>
                        </a:rPr>
                        <a:t>	</a:t>
                      </a:r>
                    </a:p>
                    <a:p>
                      <a:pPr algn="just"/>
                      <a:r>
                        <a:rPr lang="en-US" sz="1400" b="1" dirty="0" smtClean="0">
                          <a:effectLst/>
                          <a:latin typeface="Power Geez Unicode1" pitchFamily="2" charset="0"/>
                          <a:ea typeface="Times New Roman"/>
                          <a:cs typeface="Visual Geez Unicode"/>
                        </a:rPr>
                        <a:t>     </a:t>
                      </a:r>
                      <a:endParaRPr lang="en-US" sz="3200" b="1"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2800" dirty="0" smtClean="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endParaRPr lang="en-US" sz="1800" b="1" dirty="0" smtClean="0">
                        <a:latin typeface="Power Geez Unicode1" pitchFamily="2" charset="0"/>
                      </a:endParaRPr>
                    </a:p>
                    <a:p>
                      <a:pPr marL="0" marR="0" algn="ctr">
                        <a:spcBef>
                          <a:spcPts val="1000"/>
                        </a:spcBef>
                        <a:spcAft>
                          <a:spcPts val="0"/>
                        </a:spcAft>
                      </a:pPr>
                      <a:endParaRPr lang="en-US" sz="2800" b="0" dirty="0" smtClean="0">
                        <a:solidFill>
                          <a:srgbClr val="4F81BD"/>
                        </a:solidFill>
                        <a:effectLst/>
                        <a:latin typeface="Power Geez Unicode1" pitchFamily="2" charset="0"/>
                        <a:ea typeface="Times New Roman"/>
                        <a:cs typeface="Visual Geez Unicode"/>
                      </a:endParaRPr>
                    </a:p>
                    <a:p>
                      <a:endParaRPr lang="en-US" sz="2800" dirty="0" smtClean="0">
                        <a:latin typeface="Power Geez Unicode1" pitchFamily="2" charset="0"/>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2000" b="1" kern="1200" dirty="0" smtClean="0">
                        <a:solidFill>
                          <a:schemeClr val="dk1"/>
                        </a:solidFill>
                        <a:effectLst/>
                        <a:latin typeface="Power Geez Unicode1" pitchFamily="2" charset="0"/>
                        <a:ea typeface="+mn-ea"/>
                        <a:cs typeface="+mn-cs"/>
                      </a:endParaRPr>
                    </a:p>
                    <a:p>
                      <a:endParaRPr lang="en-US" sz="2800" dirty="0">
                        <a:latin typeface="Power Geez Unicode1" pitchFamily="2" charset="0"/>
                      </a:endParaRPr>
                    </a:p>
                  </a:txBody>
                  <a:tcPr>
                    <a:lnT w="12700" cap="flat" cmpd="sng" algn="ctr">
                      <a:solidFill>
                        <a:schemeClr val="tx1"/>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1823982400"/>
      </p:ext>
    </p:extLst>
  </p:cSld>
  <p:clrMapOvr>
    <a:masterClrMapping/>
  </p:clrMapOvr>
  <p:transition spd="slow">
    <p:push dir="u"/>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1" y="1828800"/>
            <a:ext cx="8229600" cy="4724400"/>
          </a:xfrm>
        </p:spPr>
        <p:txBody>
          <a:bodyPr>
            <a:normAutofit/>
          </a:bodyPr>
          <a:lstStyle/>
          <a:p>
            <a:pPr marL="0" indent="0" algn="just">
              <a:buNone/>
            </a:pPr>
            <a:r>
              <a:rPr lang="am-ET" sz="2400" b="1" dirty="0">
                <a:solidFill>
                  <a:srgbClr val="FF0000"/>
                </a:solidFill>
              </a:rPr>
              <a:t>ማንኛውም ደንብ ተላላፊ የተወሰነበትን ቅጣት ከፈጸመበት ቀን ጀምሮ በተደጋጋሚ ተመሳሳይ የደንብ መተላለፍ የፈፀመ እንደሆነ</a:t>
            </a:r>
            <a:r>
              <a:rPr lang="am-ET" sz="2400" b="1" dirty="0" smtClean="0">
                <a:solidFill>
                  <a:srgbClr val="FF0000"/>
                </a:solidFill>
              </a:rPr>
              <a:t>፡-</a:t>
            </a:r>
            <a:endParaRPr lang="en-US" sz="2400" b="1" dirty="0" smtClean="0">
              <a:solidFill>
                <a:srgbClr val="FF0000"/>
              </a:solidFill>
              <a:latin typeface="Power Geez Unicode1" pitchFamily="2" charset="0"/>
            </a:endParaRPr>
          </a:p>
          <a:p>
            <a:pPr marL="0" indent="0" algn="just">
              <a:buNone/>
            </a:pPr>
            <a:r>
              <a:rPr lang="en-US" sz="2400" b="1" dirty="0" smtClean="0">
                <a:latin typeface="Power Geez Unicode1" pitchFamily="2" charset="0"/>
              </a:rPr>
              <a:t>1.</a:t>
            </a:r>
            <a:r>
              <a:rPr lang="am-ET" sz="2400" b="1" dirty="0" smtClean="0"/>
              <a:t>በመጀመሪያ </a:t>
            </a:r>
            <a:r>
              <a:rPr lang="am-ET" sz="2400" b="1" dirty="0"/>
              <a:t>ደንብ መተላለፍ በቅጣት ሰንጠረዥ የተገለጸውን አስተዳደራዊ የገንዘብ መቀጮ እጥፍ ይከፍላል፤ </a:t>
            </a:r>
            <a:endParaRPr lang="en-US" sz="2400" b="1" dirty="0" smtClean="0">
              <a:latin typeface="Power Geez Unicode1" pitchFamily="2" charset="0"/>
            </a:endParaRPr>
          </a:p>
          <a:p>
            <a:pPr marL="0" indent="0" algn="just">
              <a:buNone/>
            </a:pPr>
            <a:r>
              <a:rPr lang="am-ET" sz="2400" b="1" dirty="0" smtClean="0"/>
              <a:t>2</a:t>
            </a:r>
            <a:r>
              <a:rPr lang="am-ET" sz="2400" b="1" dirty="0"/>
              <a:t>. በዚህ አንቀጽ ንዑስ አንቀጽ (1) የተደነገገው እንደተጠበቀ ሆኖ፡- </a:t>
            </a:r>
            <a:endParaRPr lang="en-US" sz="2400" b="1" dirty="0" smtClean="0">
              <a:latin typeface="Power Geez Unicode1" pitchFamily="2" charset="0"/>
            </a:endParaRPr>
          </a:p>
          <a:p>
            <a:pPr marL="0" indent="0" algn="just">
              <a:buNone/>
            </a:pPr>
            <a:r>
              <a:rPr lang="am-ET" sz="2400" b="1" dirty="0" smtClean="0"/>
              <a:t>ሀ</a:t>
            </a:r>
            <a:r>
              <a:rPr lang="am-ET" sz="2400" b="1" dirty="0"/>
              <a:t>) የንግድ ሥራ የሚያከናውን ከሆነ የንግድ ሥራ ፈቃድ ይሰረዛል፤ የውሃ አቅርቦት ይቋረጣል፣ </a:t>
            </a:r>
            <a:endParaRPr lang="en-US" sz="2400" b="1" dirty="0" smtClean="0">
              <a:latin typeface="Power Geez Unicode1" pitchFamily="2" charset="0"/>
            </a:endParaRPr>
          </a:p>
          <a:p>
            <a:pPr marL="0" indent="0" algn="just">
              <a:buNone/>
            </a:pPr>
            <a:r>
              <a:rPr lang="am-ET" sz="2400" b="1" dirty="0" smtClean="0"/>
              <a:t>ለ</a:t>
            </a:r>
            <a:r>
              <a:rPr lang="am-ET" sz="2400" b="1" dirty="0"/>
              <a:t>) የግንባታ ሥራ የሚያከናውን ከሆነ የግንባታ ፈቃዱ ይሰረዛል፤ የውሃ አቅርቦት ይቋረጣል፤ </a:t>
            </a:r>
            <a:endParaRPr lang="en-US" sz="2400" b="1" dirty="0" smtClean="0">
              <a:latin typeface="Power Geez Unicode1" pitchFamily="2" charset="0"/>
            </a:endParaRPr>
          </a:p>
          <a:p>
            <a:pPr marL="0" indent="0" algn="just">
              <a:buNone/>
            </a:pPr>
            <a:r>
              <a:rPr lang="am-ET" sz="2400" b="1" dirty="0" smtClean="0"/>
              <a:t>ሐ</a:t>
            </a:r>
            <a:r>
              <a:rPr lang="am-ET" sz="2400" b="1" dirty="0"/>
              <a:t>) አሽከርካሪ ከሆነ የመንጃ ፈቃዱ ይሰረዛል</a:t>
            </a:r>
            <a:endParaRPr lang="en-US" sz="2400" b="1" dirty="0">
              <a:solidFill>
                <a:srgbClr val="FF0000"/>
              </a:solidFill>
              <a:latin typeface="Power Geez Unicode1" pitchFamily="2" charset="0"/>
            </a:endParaRPr>
          </a:p>
        </p:txBody>
      </p:sp>
      <p:sp>
        <p:nvSpPr>
          <p:cNvPr id="2" name="Title 1"/>
          <p:cNvSpPr>
            <a:spLocks noGrp="1"/>
          </p:cNvSpPr>
          <p:nvPr>
            <p:ph type="title"/>
          </p:nvPr>
        </p:nvSpPr>
        <p:spPr/>
        <p:txBody>
          <a:bodyPr>
            <a:normAutofit/>
          </a:bodyPr>
          <a:lstStyle/>
          <a:p>
            <a:pPr algn="just"/>
            <a:r>
              <a:rPr lang="am-ET" sz="3600" b="1" dirty="0"/>
              <a:t>ስለተደጋጋሚ ጥፋትና አስተዳደራዊ ቅጣት</a:t>
            </a:r>
            <a:endParaRPr lang="en-US" sz="3600" b="1" dirty="0">
              <a:latin typeface="Power Geez Unicode1" pitchFamily="2" charset="0"/>
            </a:endParaRPr>
          </a:p>
        </p:txBody>
      </p:sp>
    </p:spTree>
    <p:extLst>
      <p:ext uri="{BB962C8B-B14F-4D97-AF65-F5344CB8AC3E}">
        <p14:creationId xmlns:p14="http://schemas.microsoft.com/office/powerpoint/2010/main" val="2105188495"/>
      </p:ext>
    </p:extLst>
  </p:cSld>
  <p:clrMapOvr>
    <a:masterClrMapping/>
  </p:clrMapOvr>
  <p:transition spd="slow">
    <p:cove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a:bodyPr>
          <a:lstStyle/>
          <a:p>
            <a:pPr marL="0" indent="0" algn="just">
              <a:buNone/>
            </a:pPr>
            <a:endParaRPr lang="en-US" b="1" dirty="0" smtClean="0"/>
          </a:p>
          <a:p>
            <a:pPr marL="0" indent="0" algn="just">
              <a:buNone/>
            </a:pPr>
            <a:endParaRPr lang="en-US" b="1" dirty="0"/>
          </a:p>
          <a:p>
            <a:pPr marL="0" indent="0" algn="just">
              <a:buNone/>
            </a:pPr>
            <a:endParaRPr lang="en-US" b="1" dirty="0" smtClean="0"/>
          </a:p>
          <a:p>
            <a:pPr marL="0" indent="0" algn="just">
              <a:buNone/>
            </a:pPr>
            <a:r>
              <a:rPr lang="am-ET" sz="2800" b="1" dirty="0" smtClean="0"/>
              <a:t>መ</a:t>
            </a:r>
            <a:r>
              <a:rPr lang="am-ET" sz="2800" b="1" dirty="0"/>
              <a:t>) መኖሪያ ቤት ከሆነ የውሃ አቅርቦት ይቋረጣል</a:t>
            </a:r>
            <a:r>
              <a:rPr lang="am-ET" sz="2800" b="1" dirty="0" smtClean="0"/>
              <a:t>፤</a:t>
            </a:r>
            <a:endParaRPr lang="en-US" sz="2800" b="1" dirty="0" smtClean="0">
              <a:latin typeface="Power Geez Unicode1" pitchFamily="2" charset="0"/>
            </a:endParaRPr>
          </a:p>
          <a:p>
            <a:pPr marL="0" indent="0" algn="just">
              <a:buNone/>
            </a:pPr>
            <a:r>
              <a:rPr lang="am-ET" sz="2800" b="1" dirty="0" smtClean="0"/>
              <a:t> </a:t>
            </a:r>
            <a:r>
              <a:rPr lang="am-ET" sz="2800" b="1" dirty="0"/>
              <a:t>ሠ) መንግሥታዊ ወይም መንግሥታዊ ያልሆነ ድርጅት ከሆነ የውሃ አቅርቦት </a:t>
            </a:r>
            <a:r>
              <a:rPr lang="am-ET" sz="2800" b="1" dirty="0" smtClean="0"/>
              <a:t>ይቋረጣል</a:t>
            </a:r>
            <a:endParaRPr lang="en-US" sz="2800" b="1" dirty="0" smtClean="0">
              <a:latin typeface="Power Geez Unicode1" pitchFamily="2" charset="0"/>
            </a:endParaRPr>
          </a:p>
          <a:p>
            <a:pPr marL="0" indent="0" algn="just">
              <a:buNone/>
            </a:pPr>
            <a:r>
              <a:rPr lang="am-ET" sz="2800" b="1" dirty="0"/>
              <a:t>3. በዚህ አንቀጽ ንዑስ አንቀጽ (1) እና (2) መሠረት ክፍያውን ካልፈጸመ ወይም ግዴታውን ካልተወጣ ከሚመለከተው አካል ጋር በመተባበር ሥልጣን ላለው ፍርድ ቤት ክስ በመመስረት ክፍያውን እንዲከፍል ወይም ግዴታውን እንዲወጣ ይደረጋል፡</a:t>
            </a:r>
            <a:endParaRPr lang="en-US" b="1" dirty="0">
              <a:latin typeface="Power Geez Unicode1" pitchFamily="2" charset="0"/>
            </a:endParaRPr>
          </a:p>
        </p:txBody>
      </p:sp>
    </p:spTree>
    <p:extLst>
      <p:ext uri="{BB962C8B-B14F-4D97-AF65-F5344CB8AC3E}">
        <p14:creationId xmlns:p14="http://schemas.microsoft.com/office/powerpoint/2010/main" val="165969977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0"/>
            <a:ext cx="8305800" cy="5105400"/>
          </a:xfrm>
        </p:spPr>
        <p:txBody>
          <a:bodyPr>
            <a:noAutofit/>
          </a:bodyPr>
          <a:lstStyle/>
          <a:p>
            <a:pPr marL="0" indent="0" algn="just">
              <a:buNone/>
            </a:pPr>
            <a:endParaRPr lang="en-US" b="1" dirty="0" smtClean="0"/>
          </a:p>
          <a:p>
            <a:pPr marL="0" indent="0" algn="just">
              <a:buNone/>
            </a:pPr>
            <a:r>
              <a:rPr lang="am-ET" b="1" dirty="0" smtClean="0"/>
              <a:t>1</a:t>
            </a:r>
            <a:r>
              <a:rPr lang="am-ET" b="1" dirty="0"/>
              <a:t>. ባለሥልጣኑ በዚህ ደንብ አንቀጽ 15 ንዑስ አንቀጽ (2) መሠረት የተወሰነውን አስተዳደሪዊ የገንዘብ ቅጣት እና የተጣለበትን ሌላ አስተዳደራዊ ቅጣት በተመለከተ፡- </a:t>
            </a:r>
            <a:endParaRPr lang="en-US" b="1" dirty="0" smtClean="0">
              <a:latin typeface="Power Geez Unicode1" pitchFamily="2" charset="0"/>
            </a:endParaRPr>
          </a:p>
          <a:p>
            <a:pPr marL="0" indent="0" algn="just">
              <a:buNone/>
            </a:pPr>
            <a:r>
              <a:rPr lang="am-ET" b="1" dirty="0" smtClean="0"/>
              <a:t>ሀ</a:t>
            </a:r>
            <a:r>
              <a:rPr lang="am-ET" b="1" dirty="0"/>
              <a:t>) አስተዳደሪዊ የገንዘብ ቅጣቱን በወረዳው ጽሕፈት ቤት ያስፈጽማል፤ </a:t>
            </a:r>
            <a:endParaRPr lang="en-US" b="1" dirty="0" smtClean="0">
              <a:latin typeface="Power Geez Unicode1" pitchFamily="2" charset="0"/>
            </a:endParaRPr>
          </a:p>
          <a:p>
            <a:pPr marL="0" indent="0" algn="just">
              <a:buNone/>
            </a:pPr>
            <a:endParaRPr lang="en-US" b="1" dirty="0" smtClean="0">
              <a:latin typeface="Power Geez Unicode1" pitchFamily="2" charset="0"/>
            </a:endParaRPr>
          </a:p>
          <a:p>
            <a:pPr marL="0" indent="0" algn="just">
              <a:buNone/>
            </a:pPr>
            <a:r>
              <a:rPr lang="am-ET" b="1" dirty="0" smtClean="0"/>
              <a:t>ለ</a:t>
            </a:r>
            <a:r>
              <a:rPr lang="am-ET" b="1" dirty="0"/>
              <a:t>) አካባቢውን እንዲያጸዳ ወይም አካላዊ እንቅስቃሴ እንዲያደርግ ወይም ሌላ የጉልበት ሥራ እንዲሰራ የተወሰነበትን ደንብ ተላላፊ የደንብ ጥሰቱ የተፈጸመበት ቦታ ላይ ያስፈጽማል፤ </a:t>
            </a:r>
            <a:r>
              <a:rPr lang="am-ET" b="1" dirty="0">
                <a:solidFill>
                  <a:srgbClr val="FF0000"/>
                </a:solidFill>
              </a:rPr>
              <a:t>የአዲስ አበባ ከተማ ፖሊስ ኮሚሽን </a:t>
            </a:r>
            <a:r>
              <a:rPr lang="am-ET" b="1" dirty="0"/>
              <a:t>ከባለሥልጣኑ የድጋፍ ጥያቄ ሲቀርብለት ይተባበራል፤</a:t>
            </a:r>
            <a:endParaRPr lang="en-US" b="1" dirty="0">
              <a:latin typeface="Power Geez Unicode1" pitchFamily="2" charset="0"/>
            </a:endParaRPr>
          </a:p>
        </p:txBody>
      </p:sp>
      <p:sp>
        <p:nvSpPr>
          <p:cNvPr id="2" name="Title 1"/>
          <p:cNvSpPr>
            <a:spLocks noGrp="1"/>
          </p:cNvSpPr>
          <p:nvPr>
            <p:ph type="title"/>
          </p:nvPr>
        </p:nvSpPr>
        <p:spPr/>
        <p:txBody>
          <a:bodyPr>
            <a:normAutofit/>
          </a:bodyPr>
          <a:lstStyle/>
          <a:p>
            <a:r>
              <a:rPr lang="am-ET" sz="4000" b="1" dirty="0"/>
              <a:t>ቅጣትን ስለማስፈፀም </a:t>
            </a:r>
            <a:endParaRPr lang="en-US" sz="4000" b="1" dirty="0">
              <a:latin typeface="Power Geez Unicode1" pitchFamily="2" charset="0"/>
            </a:endParaRPr>
          </a:p>
        </p:txBody>
      </p:sp>
    </p:spTree>
    <p:extLst>
      <p:ext uri="{BB962C8B-B14F-4D97-AF65-F5344CB8AC3E}">
        <p14:creationId xmlns:p14="http://schemas.microsoft.com/office/powerpoint/2010/main" val="402969911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905000"/>
            <a:ext cx="8763001" cy="4221163"/>
          </a:xfrm>
        </p:spPr>
        <p:txBody>
          <a:bodyPr/>
          <a:lstStyle/>
          <a:p>
            <a:pPr marL="0" indent="0" algn="ctr">
              <a:buNone/>
            </a:pPr>
            <a:r>
              <a:rPr lang="am-ET" dirty="0" smtClean="0"/>
              <a:t> </a:t>
            </a:r>
            <a:r>
              <a:rPr lang="am-ET" sz="3600" b="1" dirty="0">
                <a:solidFill>
                  <a:srgbClr val="FF0000"/>
                </a:solidFill>
              </a:rPr>
              <a:t>ደንቡ የሚጸናበት ጊዜ </a:t>
            </a:r>
            <a:endParaRPr lang="en-US" sz="3600" b="1" dirty="0" smtClean="0">
              <a:solidFill>
                <a:srgbClr val="FF0000"/>
              </a:solidFill>
            </a:endParaRPr>
          </a:p>
          <a:p>
            <a:pPr marL="0" indent="0" algn="ctr">
              <a:buNone/>
            </a:pPr>
            <a:endParaRPr lang="en-US" sz="3600" b="1" dirty="0" smtClean="0">
              <a:solidFill>
                <a:srgbClr val="FF0000"/>
              </a:solidFill>
            </a:endParaRPr>
          </a:p>
          <a:p>
            <a:pPr algn="ctr">
              <a:buFont typeface="Wingdings" pitchFamily="2" charset="2"/>
              <a:buChar char="Ø"/>
            </a:pPr>
            <a:r>
              <a:rPr lang="am-ET" sz="3600" b="1" dirty="0" smtClean="0"/>
              <a:t>ይህ </a:t>
            </a:r>
            <a:r>
              <a:rPr lang="am-ET" sz="3600" b="1" dirty="0"/>
              <a:t>ደንብ ከሰኔ 10 ቀን 2016 ዓ.ም ጀምሮ የፀና ይሆናል፡፡</a:t>
            </a:r>
            <a:endParaRPr lang="en-US" sz="3600" b="1" dirty="0">
              <a:latin typeface="Power Geez Unicode1" pitchFamily="2" charset="0"/>
            </a:endParaRPr>
          </a:p>
        </p:txBody>
      </p:sp>
    </p:spTree>
    <p:extLst>
      <p:ext uri="{BB962C8B-B14F-4D97-AF65-F5344CB8AC3E}">
        <p14:creationId xmlns:p14="http://schemas.microsoft.com/office/powerpoint/2010/main" val="92337919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Wave 3"/>
          <p:cNvSpPr/>
          <p:nvPr/>
        </p:nvSpPr>
        <p:spPr>
          <a:xfrm>
            <a:off x="1295400" y="914400"/>
            <a:ext cx="6477000" cy="4800600"/>
          </a:xfrm>
          <a:prstGeom prst="wav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lnSpc>
                <a:spcPct val="150000"/>
              </a:lnSpc>
              <a:spcAft>
                <a:spcPts val="600"/>
              </a:spcAft>
            </a:pPr>
            <a:r>
              <a:rPr lang="en-US" sz="7200" dirty="0" smtClean="0">
                <a:solidFill>
                  <a:prstClr val="black"/>
                </a:solidFill>
                <a:latin typeface="Power Geez Unicode1"/>
                <a:ea typeface="MingLiU"/>
                <a:cs typeface="MingLiU"/>
              </a:rPr>
              <a:t> </a:t>
            </a:r>
            <a:r>
              <a:rPr lang="en-US" sz="7200" b="1" dirty="0" err="1" smtClean="0">
                <a:solidFill>
                  <a:prstClr val="black"/>
                </a:solidFill>
                <a:latin typeface="Power Geez Unicode1"/>
                <a:ea typeface="MingLiU"/>
                <a:cs typeface="MingLiU"/>
              </a:rPr>
              <a:t>አመሰግናለሁ</a:t>
            </a:r>
            <a:r>
              <a:rPr lang="en-US" sz="7200" b="1" dirty="0" smtClean="0">
                <a:solidFill>
                  <a:prstClr val="black"/>
                </a:solidFill>
                <a:latin typeface="Power Geez Unicode1"/>
                <a:ea typeface="MingLiU"/>
                <a:cs typeface="MingLiU"/>
              </a:rPr>
              <a:t> </a:t>
            </a:r>
            <a:r>
              <a:rPr lang="en-US" sz="7200" b="1" dirty="0">
                <a:solidFill>
                  <a:prstClr val="black"/>
                </a:solidFill>
                <a:latin typeface="Power Geez Unicode1"/>
                <a:ea typeface="MingLiU"/>
                <a:cs typeface="MingLiU"/>
              </a:rPr>
              <a:t>!</a:t>
            </a:r>
            <a:endParaRPr lang="en-US" sz="7200" b="1" dirty="0">
              <a:solidFill>
                <a:prstClr val="black"/>
              </a:solidFill>
              <a:latin typeface="Calibri"/>
              <a:ea typeface="Calibri"/>
              <a:cs typeface="Times New Roman"/>
            </a:endParaRPr>
          </a:p>
          <a:p>
            <a:pPr algn="ctr"/>
            <a:endParaRPr lang="en-US" dirty="0">
              <a:solidFill>
                <a:prstClr val="black"/>
              </a:solidFill>
            </a:endParaRPr>
          </a:p>
        </p:txBody>
      </p:sp>
    </p:spTree>
    <p:extLst>
      <p:ext uri="{BB962C8B-B14F-4D97-AF65-F5344CB8AC3E}">
        <p14:creationId xmlns:p14="http://schemas.microsoft.com/office/powerpoint/2010/main" val="390158749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aveform">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2507</TotalTime>
  <Words>2073</Words>
  <Application>Microsoft Office PowerPoint</Application>
  <PresentationFormat>On-screen Show (4:3)</PresentationFormat>
  <Paragraphs>1450</Paragraphs>
  <Slides>37</Slides>
  <Notes>1</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Waveform</vt:lpstr>
      <vt:lpstr>በአዲስ አበባ ከተማ አስተዳደር የደንብ ማስከበር ባለስልጣን  ለተለያዩ ህብረተሰብ ከፍሎችና ባለ ድርሻ አካላት በደንብ ቁጥር 167/2016 ላይ ግንዛቤ ለመፍጠር የተዘጋጀ ሰነድ</vt:lpstr>
      <vt:lpstr>የሰነዱ ይዘት</vt:lpstr>
      <vt:lpstr>የሰነዱ ርዕስ</vt:lpstr>
      <vt:lpstr>የሰነዱ አስፈላጊነት</vt:lpstr>
      <vt:lpstr>PowerPoint Presentation</vt:lpstr>
      <vt:lpstr>ደንቡን ለማሻሻል ያስፈለገበት</vt:lpstr>
      <vt:lpstr>ማሻሻያ የተደረጉባቸው አንቀጾች</vt:lpstr>
      <vt:lpstr>አንቀጾቹን ስናይ</vt:lpstr>
      <vt:lpstr> ከደንብ ቁጥር 150/2015 ካሉት 6 የቅጣት ሰንጠረዥ ውስጥ የተሻሻለው  የቅጣት ሰንጠረዥ 2 ሲሆን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ስለተደጋጋሚ ጥፋትና አስተዳደራዊ ቅጣት</vt:lpstr>
      <vt:lpstr>PowerPoint Presentation</vt:lpstr>
      <vt:lpstr>ቅጣትን ስለማስፈፀም </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 Vostro 3510</dc:creator>
  <cp:lastModifiedBy>Abeba CO</cp:lastModifiedBy>
  <cp:revision>165</cp:revision>
  <cp:lastPrinted>2024-08-30T12:17:10Z</cp:lastPrinted>
  <dcterms:created xsi:type="dcterms:W3CDTF">2024-08-07T10:22:50Z</dcterms:created>
  <dcterms:modified xsi:type="dcterms:W3CDTF">2025-03-18T00:26:38Z</dcterms:modified>
</cp:coreProperties>
</file>